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slides/charts/chart2.xml" ContentType="application/vnd.openxmlformats-officedocument.drawingml.chart+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Default Extension="xlsx" ContentType="application/vnd.openxmlformats-officedocument.spreadsheetml.sheet"/>
  <Override PartName="/ppt/intro/slideMasters/slideMaster1.xml" ContentType="application/vnd.openxmlformats-officedocument.presentationml.slideMaster+xml"/>
  <Override PartName="/ppt/intro/slideMasters/theme/theme2.xml" ContentType="application/vnd.openxmlformats-officedocument.theme+xml"/>
  <Override PartName="/ppt/intro/slideLayouts/slideLayout1.xml" ContentType="application/vnd.openxmlformats-officedocument.presentationml.slideLayout+xml"/>
  <Override PartName="/ppt/intro/notesMasters/notesMaster1.xml" ContentType="application/vnd.openxmlformats-officedocument.presentationml.notesMaster+xml"/>
  <Override PartName="/ppt/intro/notesMasters/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8f065978a3a146ad"/><Relationship Type="http://schemas.openxmlformats.org/officeDocument/2006/relationships/extended-properties" Target="docProps/app.xml" Id="Rcd8b8a65e58f40fb"/><Relationship Type="http://schemas.openxmlformats.org/officeDocument/2006/relationships/officeDocument" Target="ppt/presentation.xml" Id="R840b616588754a1b"/></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acb116201c84d94"/>
    <p:sldMasterId xmlns:ns0="http://schemas.openxmlformats.org/officeDocument/2006/relationships" id="2147483649" ns0:id="rId11"/>
  </p:sldMasterIdLst>
  <p:notesMasterIdLst>
    <p:notesMasterId xmlns:r="http://schemas.openxmlformats.org/officeDocument/2006/relationships" r:id="R0bd45b7f576f49f0"/>
    <p:notesMasterId xmlns:ns1="http://schemas.openxmlformats.org/officeDocument/2006/relationships" ns1:id="rId12"/>
  </p:notesMasterIdLst>
  <p:sldIdLst>
    <p:sldId xmlns:r="http://schemas.openxmlformats.org/officeDocument/2006/relationships" id="256" r:id="Reb0c527071544ed7"/>
    <p:sldId xmlns:r="http://schemas.openxmlformats.org/officeDocument/2006/relationships" id="257" r:id="R8a1eec560bb94887"/>
    <p:sldId xmlns:ns1="http://schemas.openxmlformats.org/officeDocument/2006/relationships" id="381" ns1:id="rId1"/>
    <p:sldId xmlns:ns1="http://schemas.openxmlformats.org/officeDocument/2006/relationships" id="382" ns1:id="rId2"/>
    <p:sldId xmlns:ns1="http://schemas.openxmlformats.org/officeDocument/2006/relationships" id="383" ns1:id="rId3"/>
    <p:sldId xmlns:ns1="http://schemas.openxmlformats.org/officeDocument/2006/relationships" id="384" ns1:id="rId4"/>
    <p:sldId xmlns:ns1="http://schemas.openxmlformats.org/officeDocument/2006/relationships" id="385" ns1:id="rId5"/>
    <p:sldId xmlns:ns1="http://schemas.openxmlformats.org/officeDocument/2006/relationships" id="386" ns1:id="rId6"/>
    <p:sldId xmlns:ns1="http://schemas.openxmlformats.org/officeDocument/2006/relationships" id="387" ns1:id="rId7"/>
    <p:sldId xmlns:ns1="http://schemas.openxmlformats.org/officeDocument/2006/relationships" id="388" ns1:id="rId8"/>
    <p:sldId xmlns:ns1="http://schemas.openxmlformats.org/officeDocument/2006/relationships" id="389" ns1:id="rId9"/>
    <p:sldId xmlns:ns1="http://schemas.openxmlformats.org/officeDocument/2006/relationships" id="390" ns1:id="rId10"/>
    <p:sldId xmlns:r="http://schemas.openxmlformats.org/officeDocument/2006/relationships" id="258" r:id="Rc4d4c5b32a614907"/>
    <p:sldId xmlns:r="http://schemas.openxmlformats.org/officeDocument/2006/relationships" id="259" r:id="Rb2a48f6e767e4ee8"/>
    <p:sldId xmlns:r="http://schemas.openxmlformats.org/officeDocument/2006/relationships" id="260" r:id="R430e8b70af514a27"/>
    <p:sldId xmlns:r="http://schemas.openxmlformats.org/officeDocument/2006/relationships" id="261" r:id="R6a2d1b1cde0c462f"/>
    <p:sldId xmlns:r="http://schemas.openxmlformats.org/officeDocument/2006/relationships" id="262" r:id="Red2937a0dcc14e4d"/>
    <p:sldId xmlns:r="http://schemas.openxmlformats.org/officeDocument/2006/relationships" id="263" r:id="R6f94566655e64b71"/>
    <p:sldId xmlns:r="http://schemas.openxmlformats.org/officeDocument/2006/relationships" id="264" r:id="Rb8c94076d0f64f99"/>
    <p:sldId xmlns:r="http://schemas.openxmlformats.org/officeDocument/2006/relationships" id="265" r:id="R8865ce9943d443a6"/>
    <p:sldId xmlns:r="http://schemas.openxmlformats.org/officeDocument/2006/relationships" id="266" r:id="Rc2eec018066d4b61"/>
    <p:sldId xmlns:r="http://schemas.openxmlformats.org/officeDocument/2006/relationships" id="267" r:id="R2147581ea0474f33"/>
    <p:sldId xmlns:r="http://schemas.openxmlformats.org/officeDocument/2006/relationships" id="268" r:id="R85a95161cf264360"/>
    <p:sldId xmlns:r="http://schemas.openxmlformats.org/officeDocument/2006/relationships" id="269" r:id="R51d7cbe4883c40ab"/>
    <p:sldId xmlns:r="http://schemas.openxmlformats.org/officeDocument/2006/relationships" id="270" r:id="R1911c9c962cb474c"/>
    <p:sldId xmlns:r="http://schemas.openxmlformats.org/officeDocument/2006/relationships" id="271" r:id="R491c794d73ac4989"/>
    <p:sldId xmlns:r="http://schemas.openxmlformats.org/officeDocument/2006/relationships" id="272" r:id="R570954c21ccd4055"/>
    <p:sldId xmlns:r="http://schemas.openxmlformats.org/officeDocument/2006/relationships" id="273" r:id="R50d946dddbc94d6a"/>
    <p:sldId xmlns:r="http://schemas.openxmlformats.org/officeDocument/2006/relationships" id="274" r:id="Rf642b3b438704ced"/>
    <p:sldId xmlns:r="http://schemas.openxmlformats.org/officeDocument/2006/relationships" id="275" r:id="R9bd6d7452a294d77"/>
    <p:sldId xmlns:r="http://schemas.openxmlformats.org/officeDocument/2006/relationships" id="276" r:id="Rac2cdc4966694d91"/>
    <p:sldId xmlns:r="http://schemas.openxmlformats.org/officeDocument/2006/relationships" id="277" r:id="R803a6c1a578f49be"/>
    <p:sldId xmlns:r="http://schemas.openxmlformats.org/officeDocument/2006/relationships" id="278" r:id="Ra8fa120de273497f"/>
    <p:sldId xmlns:r="http://schemas.openxmlformats.org/officeDocument/2006/relationships" id="279" r:id="Rc2aa9f2af18143ed"/>
    <p:sldId xmlns:r="http://schemas.openxmlformats.org/officeDocument/2006/relationships" id="280" r:id="R91a290710ed445d0"/>
    <p:sldId xmlns:r="http://schemas.openxmlformats.org/officeDocument/2006/relationships" id="281" r:id="Rde0b265b97284e47"/>
    <p:sldId xmlns:r="http://schemas.openxmlformats.org/officeDocument/2006/relationships" id="282" r:id="R312028c6abd14805"/>
    <p:sldId xmlns:r="http://schemas.openxmlformats.org/officeDocument/2006/relationships" id="283" r:id="R0d5801b840cb4623"/>
    <p:sldId xmlns:r="http://schemas.openxmlformats.org/officeDocument/2006/relationships" id="284" r:id="Re08be4517a3c44bf"/>
    <p:sldId xmlns:r="http://schemas.openxmlformats.org/officeDocument/2006/relationships" id="285" r:id="R4cfb8a7f096445d8"/>
    <p:sldId xmlns:r="http://schemas.openxmlformats.org/officeDocument/2006/relationships" id="286" r:id="Rb51275545d164acc"/>
    <p:sldId xmlns:r="http://schemas.openxmlformats.org/officeDocument/2006/relationships" id="287" r:id="Re28d45c4c5354635"/>
    <p:sldId xmlns:r="http://schemas.openxmlformats.org/officeDocument/2006/relationships" id="288" r:id="R965f16aefcbd4c0f"/>
    <p:sldId xmlns:r="http://schemas.openxmlformats.org/officeDocument/2006/relationships" id="289" r:id="Rea440c594fb4489b"/>
    <p:sldId xmlns:r="http://schemas.openxmlformats.org/officeDocument/2006/relationships" id="290" r:id="R8dca5c1800054e1f"/>
    <p:sldId xmlns:r="http://schemas.openxmlformats.org/officeDocument/2006/relationships" id="291" r:id="R8a0882d602ac4121"/>
    <p:sldId xmlns:r="http://schemas.openxmlformats.org/officeDocument/2006/relationships" id="292" r:id="Rfda0eee4e6734a79"/>
    <p:sldId xmlns:r="http://schemas.openxmlformats.org/officeDocument/2006/relationships" id="293" r:id="R4d30cc56a27e40fb"/>
    <p:sldId xmlns:r="http://schemas.openxmlformats.org/officeDocument/2006/relationships" id="294" r:id="Rb1de6e07aa514d98"/>
    <p:sldId xmlns:r="http://schemas.openxmlformats.org/officeDocument/2006/relationships" id="295" r:id="Rf50c260007b04a0c"/>
    <p:sldId xmlns:r="http://schemas.openxmlformats.org/officeDocument/2006/relationships" id="296" r:id="Re841e9a85ab141c2"/>
    <p:sldId xmlns:r="http://schemas.openxmlformats.org/officeDocument/2006/relationships" id="297" r:id="Rf3d367b912244fce"/>
    <p:sldId xmlns:r="http://schemas.openxmlformats.org/officeDocument/2006/relationships" id="298" r:id="Ree479c8ea64a48d9"/>
    <p:sldId xmlns:r="http://schemas.openxmlformats.org/officeDocument/2006/relationships" id="299" r:id="Rd41dedfa53d343fc"/>
    <p:sldId xmlns:r="http://schemas.openxmlformats.org/officeDocument/2006/relationships" id="300" r:id="Ra8b1e1a327514380"/>
    <p:sldId xmlns:r="http://schemas.openxmlformats.org/officeDocument/2006/relationships" id="301" r:id="Rd59ddf778aba4e7d"/>
    <p:sldId xmlns:r="http://schemas.openxmlformats.org/officeDocument/2006/relationships" id="302" r:id="Rc46d22298efa4859"/>
    <p:sldId xmlns:r="http://schemas.openxmlformats.org/officeDocument/2006/relationships" id="303" r:id="Rcad9cc6da13048eb"/>
    <p:sldId xmlns:r="http://schemas.openxmlformats.org/officeDocument/2006/relationships" id="304" r:id="R659bc7030c51474c"/>
    <p:sldId xmlns:r="http://schemas.openxmlformats.org/officeDocument/2006/relationships" id="305" r:id="Rcfd9319b6c2547c7"/>
    <p:sldId xmlns:r="http://schemas.openxmlformats.org/officeDocument/2006/relationships" id="306" r:id="Rf822fa5341794696"/>
    <p:sldId xmlns:r="http://schemas.openxmlformats.org/officeDocument/2006/relationships" id="307" r:id="R53308a5d1e3242c0"/>
    <p:sldId xmlns:r="http://schemas.openxmlformats.org/officeDocument/2006/relationships" id="308" r:id="Raf5ac334ca5c43f1"/>
    <p:sldId xmlns:r="http://schemas.openxmlformats.org/officeDocument/2006/relationships" id="309" r:id="Rfd4f19d12b2f4de3"/>
    <p:sldId xmlns:r="http://schemas.openxmlformats.org/officeDocument/2006/relationships" id="310" r:id="Rf10f047007534e09"/>
    <p:sldId xmlns:r="http://schemas.openxmlformats.org/officeDocument/2006/relationships" id="311" r:id="R467ab1cba62c407f"/>
    <p:sldId xmlns:r="http://schemas.openxmlformats.org/officeDocument/2006/relationships" id="312" r:id="R226b2b783a064821"/>
    <p:sldId xmlns:r="http://schemas.openxmlformats.org/officeDocument/2006/relationships" id="313" r:id="R9bd94e8828184734"/>
    <p:sldId xmlns:r="http://schemas.openxmlformats.org/officeDocument/2006/relationships" id="314" r:id="R184cce7f53a14e86"/>
    <p:sldId xmlns:r="http://schemas.openxmlformats.org/officeDocument/2006/relationships" id="315" r:id="R134659dedcfb46a0"/>
    <p:sldId xmlns:r="http://schemas.openxmlformats.org/officeDocument/2006/relationships" id="316" r:id="R1d8a48216e584148"/>
    <p:sldId xmlns:r="http://schemas.openxmlformats.org/officeDocument/2006/relationships" id="317" r:id="R87114eba0749461c"/>
    <p:sldId xmlns:r="http://schemas.openxmlformats.org/officeDocument/2006/relationships" id="318" r:id="R52e0f892c7ee454d"/>
    <p:sldId xmlns:r="http://schemas.openxmlformats.org/officeDocument/2006/relationships" id="319" r:id="R0e90a88b37b14958"/>
    <p:sldId xmlns:r="http://schemas.openxmlformats.org/officeDocument/2006/relationships" id="320" r:id="R1f743981ad7848bd"/>
    <p:sldId xmlns:r="http://schemas.openxmlformats.org/officeDocument/2006/relationships" id="321" r:id="R349b83bdc85c46b4"/>
    <p:sldId xmlns:r="http://schemas.openxmlformats.org/officeDocument/2006/relationships" id="322" r:id="R8fc8321f4ac24c28"/>
    <p:sldId xmlns:r="http://schemas.openxmlformats.org/officeDocument/2006/relationships" id="323" r:id="Rdf4e69adde6a488e"/>
    <p:sldId xmlns:r="http://schemas.openxmlformats.org/officeDocument/2006/relationships" id="324" r:id="Rabb98819a9714ce8"/>
    <p:sldId xmlns:r="http://schemas.openxmlformats.org/officeDocument/2006/relationships" id="325" r:id="R4768098a3801416e"/>
    <p:sldId xmlns:r="http://schemas.openxmlformats.org/officeDocument/2006/relationships" id="326" r:id="Raead10044e7548da"/>
    <p:sldId xmlns:r="http://schemas.openxmlformats.org/officeDocument/2006/relationships" id="327" r:id="R626f4125a58b4d63"/>
    <p:sldId xmlns:r="http://schemas.openxmlformats.org/officeDocument/2006/relationships" id="328" r:id="R52e06ed28eac4fa8"/>
    <p:sldId xmlns:r="http://schemas.openxmlformats.org/officeDocument/2006/relationships" id="329" r:id="Rd5d590b582e841a8"/>
    <p:sldId xmlns:r="http://schemas.openxmlformats.org/officeDocument/2006/relationships" id="330" r:id="R96b0b8bd3d024278"/>
    <p:sldId xmlns:r="http://schemas.openxmlformats.org/officeDocument/2006/relationships" id="331" r:id="R682a8f6929664933"/>
    <p:sldId xmlns:r="http://schemas.openxmlformats.org/officeDocument/2006/relationships" id="332" r:id="Rd88b2dc2a2ab43a4"/>
    <p:sldId xmlns:r="http://schemas.openxmlformats.org/officeDocument/2006/relationships" id="333" r:id="R6eb6d201904b4654"/>
    <p:sldId xmlns:r="http://schemas.openxmlformats.org/officeDocument/2006/relationships" id="334" r:id="Rc1e04d5cb49e47a7"/>
    <p:sldId xmlns:r="http://schemas.openxmlformats.org/officeDocument/2006/relationships" id="335" r:id="Rb7fdb6039cb945be"/>
    <p:sldId xmlns:r="http://schemas.openxmlformats.org/officeDocument/2006/relationships" id="336" r:id="R9559cba1f57f4112"/>
    <p:sldId xmlns:r="http://schemas.openxmlformats.org/officeDocument/2006/relationships" id="337" r:id="R3576e66ec1d9484b"/>
    <p:sldId xmlns:r="http://schemas.openxmlformats.org/officeDocument/2006/relationships" id="338" r:id="R821a7a89a868410f"/>
    <p:sldId xmlns:r="http://schemas.openxmlformats.org/officeDocument/2006/relationships" id="339" r:id="Rc83c55b4546c479b"/>
    <p:sldId xmlns:r="http://schemas.openxmlformats.org/officeDocument/2006/relationships" id="340" r:id="R99d4bdc73612476c"/>
    <p:sldId xmlns:r="http://schemas.openxmlformats.org/officeDocument/2006/relationships" id="341" r:id="R303a32ddb3294091"/>
    <p:sldId xmlns:r="http://schemas.openxmlformats.org/officeDocument/2006/relationships" id="342" r:id="R166b9c04fee24777"/>
    <p:sldId xmlns:r="http://schemas.openxmlformats.org/officeDocument/2006/relationships" id="343" r:id="Rc4b3c5fac1334bec"/>
    <p:sldId xmlns:r="http://schemas.openxmlformats.org/officeDocument/2006/relationships" id="344" r:id="Re128ba0e557c484f"/>
    <p:sldId xmlns:r="http://schemas.openxmlformats.org/officeDocument/2006/relationships" id="345" r:id="Rf50b5ce949344bd4"/>
    <p:sldId xmlns:r="http://schemas.openxmlformats.org/officeDocument/2006/relationships" id="346" r:id="Ra7ec006a681f4e6d"/>
    <p:sldId xmlns:r="http://schemas.openxmlformats.org/officeDocument/2006/relationships" id="347" r:id="R1baf583e4d6b4f69"/>
    <p:sldId xmlns:r="http://schemas.openxmlformats.org/officeDocument/2006/relationships" id="348" r:id="Ra5849b4c283843e5"/>
    <p:sldId xmlns:r="http://schemas.openxmlformats.org/officeDocument/2006/relationships" id="349" r:id="R580df0921c164d45"/>
    <p:sldId xmlns:r="http://schemas.openxmlformats.org/officeDocument/2006/relationships" id="350" r:id="Raa61fada665c4b1d"/>
    <p:sldId xmlns:r="http://schemas.openxmlformats.org/officeDocument/2006/relationships" id="351" r:id="Ra62e6068238743d0"/>
    <p:sldId xmlns:r="http://schemas.openxmlformats.org/officeDocument/2006/relationships" id="352" r:id="R83ad199aff4e4386"/>
    <p:sldId xmlns:r="http://schemas.openxmlformats.org/officeDocument/2006/relationships" id="353" r:id="R110cd5f4c35b417d"/>
    <p:sldId xmlns:r="http://schemas.openxmlformats.org/officeDocument/2006/relationships" id="354" r:id="R3b4a79707c9b49e4"/>
    <p:sldId xmlns:r="http://schemas.openxmlformats.org/officeDocument/2006/relationships" id="355" r:id="R0ce83f1eb92c42ba"/>
    <p:sldId xmlns:r="http://schemas.openxmlformats.org/officeDocument/2006/relationships" id="356" r:id="R9a2ba63d64d843a9"/>
    <p:sldId xmlns:r="http://schemas.openxmlformats.org/officeDocument/2006/relationships" id="357" r:id="R7e0537d908db4c14"/>
    <p:sldId xmlns:r="http://schemas.openxmlformats.org/officeDocument/2006/relationships" id="358" r:id="Ra7167a960b454df7"/>
    <p:sldId xmlns:r="http://schemas.openxmlformats.org/officeDocument/2006/relationships" id="359" r:id="R912abeede1e04589"/>
    <p:sldId xmlns:r="http://schemas.openxmlformats.org/officeDocument/2006/relationships" id="360" r:id="R3e5c5364914640a6"/>
    <p:sldId xmlns:r="http://schemas.openxmlformats.org/officeDocument/2006/relationships" id="361" r:id="R0435594fddf749a9"/>
    <p:sldId xmlns:r="http://schemas.openxmlformats.org/officeDocument/2006/relationships" id="362" r:id="R3237a4e6b7854489"/>
    <p:sldId xmlns:r="http://schemas.openxmlformats.org/officeDocument/2006/relationships" id="363" r:id="R39f56436ce194668"/>
    <p:sldId xmlns:r="http://schemas.openxmlformats.org/officeDocument/2006/relationships" id="364" r:id="R22a46c3a25ec4965"/>
    <p:sldId xmlns:r="http://schemas.openxmlformats.org/officeDocument/2006/relationships" id="365" r:id="Rab455e849835401a"/>
    <p:sldId xmlns:r="http://schemas.openxmlformats.org/officeDocument/2006/relationships" id="366" r:id="Rf936a6ada35e446f"/>
    <p:sldId xmlns:r="http://schemas.openxmlformats.org/officeDocument/2006/relationships" id="367" r:id="R1cc525e04bf8407a"/>
    <p:sldId xmlns:r="http://schemas.openxmlformats.org/officeDocument/2006/relationships" id="368" r:id="R5defc8c0c4d04b2d"/>
    <p:sldId xmlns:r="http://schemas.openxmlformats.org/officeDocument/2006/relationships" id="369" r:id="Ra1610a230c904bce"/>
    <p:sldId xmlns:r="http://schemas.openxmlformats.org/officeDocument/2006/relationships" id="370" r:id="Rc8157819c88c413c"/>
    <p:sldId xmlns:r="http://schemas.openxmlformats.org/officeDocument/2006/relationships" id="371" r:id="R767251abb49f4a71"/>
    <p:sldId xmlns:r="http://schemas.openxmlformats.org/officeDocument/2006/relationships" id="372" r:id="R0eb54e241ebc4d8e"/>
    <p:sldId xmlns:r="http://schemas.openxmlformats.org/officeDocument/2006/relationships" id="373" r:id="R37bd6d68042b40e6"/>
    <p:sldId xmlns:r="http://schemas.openxmlformats.org/officeDocument/2006/relationships" id="374" r:id="Rbcbe064a4f8142a5"/>
    <p:sldId xmlns:r="http://schemas.openxmlformats.org/officeDocument/2006/relationships" id="375" r:id="R30d65d2bc47d4e25"/>
    <p:sldId xmlns:r="http://schemas.openxmlformats.org/officeDocument/2006/relationships" id="376" r:id="R50cd35d466ee4030"/>
    <p:sldId xmlns:r="http://schemas.openxmlformats.org/officeDocument/2006/relationships" id="377" r:id="R034eceb708594681"/>
    <p:sldId xmlns:r="http://schemas.openxmlformats.org/officeDocument/2006/relationships" id="378" r:id="R46bb1d1b984d482e"/>
    <p:sldId xmlns:r="http://schemas.openxmlformats.org/officeDocument/2006/relationships" id="379" r:id="R773d0197f81f457d"/>
    <p:sldId xmlns:r="http://schemas.openxmlformats.org/officeDocument/2006/relationships" id="380" r:id="Rf8a52b9ed2f14a82"/>
  </p:sldIdLst>
  <p:sldSz cx="12192000" cy="6858000"/>
  <p:notesSz cx="6858000" cy="9144000"/>
  <p:embeddedFontLst>
    <p:embeddedFont>
      <p:font typeface="Roboto Mono"/>
      <p:regular xmlns:r="http://schemas.openxmlformats.org/officeDocument/2006/relationships" r:id="R80eb3903f8934eaf"/>
      <p:bold xmlns:r="http://schemas.openxmlformats.org/officeDocument/2006/relationships" r:id="R35ab788ff46443a1"/>
      <p:italic xmlns:r="http://schemas.openxmlformats.org/officeDocument/2006/relationships" r:id="R7966fbbcf9a24a60"/>
      <p:boldItalic xmlns:r="http://schemas.openxmlformats.org/officeDocument/2006/relationships" r:id="R0b8c504712264f8f"/>
    </p:embeddedFont>
    <p:embeddedFont>
      <p:font typeface="Archivo Black"/>
      <p:regular xmlns:r="http://schemas.openxmlformats.org/officeDocument/2006/relationships" r:id="Rb05bdd305b6b4cc7"/>
    </p:embeddedFont>
    <p:embeddedFont>
      <p:font typeface="DM Sans"/>
      <p:regular xmlns:r="http://schemas.openxmlformats.org/officeDocument/2006/relationships" r:id="Rdae99a114cb34ae0"/>
      <p:bold xmlns:r="http://schemas.openxmlformats.org/officeDocument/2006/relationships" r:id="R7d1b5aa3077b486b"/>
      <p:italic xmlns:r="http://schemas.openxmlformats.org/officeDocument/2006/relationships" r:id="Rdbd569dbf18a4f24"/>
      <p:boldItalic xmlns:r="http://schemas.openxmlformats.org/officeDocument/2006/relationships" r:id="R99b502fa3f9f4b3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theme/theme1.xml" Id="R30ff857853e44e4c"/><Relationship Type="http://schemas.openxmlformats.org/officeDocument/2006/relationships/slideMaster" Target="slideMasters/slideMaster1.xml" Id="Rcacb116201c84d94"/><Relationship Type="http://schemas.openxmlformats.org/officeDocument/2006/relationships/notesMaster" Target="notesMasters/notesMaster1.xml" Id="R0bd45b7f576f49f0"/><Relationship Type="http://schemas.openxmlformats.org/officeDocument/2006/relationships/presProps" Target="presProps.xml" Id="R56691447eb484da6"/><Relationship Type="http://schemas.openxmlformats.org/officeDocument/2006/relationships/tableStyles" Target="tableStyles.xml" Id="Rc8c9c0aa66ac43b3"/><Relationship Type="http://schemas.openxmlformats.org/officeDocument/2006/relationships/font" Target="fonts/font.dat" Id="R80eb3903f8934eaf"/><Relationship Type="http://schemas.openxmlformats.org/officeDocument/2006/relationships/font" Target="fonts/font2.dat" Id="R35ab788ff46443a1"/><Relationship Type="http://schemas.openxmlformats.org/officeDocument/2006/relationships/font" Target="fonts/font3.dat" Id="R7966fbbcf9a24a60"/><Relationship Type="http://schemas.openxmlformats.org/officeDocument/2006/relationships/font" Target="fonts/font4.dat" Id="R0b8c504712264f8f"/><Relationship Type="http://schemas.openxmlformats.org/officeDocument/2006/relationships/font" Target="fonts/font5.dat" Id="Rb05bdd305b6b4cc7"/><Relationship Type="http://schemas.openxmlformats.org/officeDocument/2006/relationships/font" Target="fonts/font6.dat" Id="Rdae99a114cb34ae0"/><Relationship Type="http://schemas.openxmlformats.org/officeDocument/2006/relationships/font" Target="fonts/font7.dat" Id="R7d1b5aa3077b486b"/><Relationship Type="http://schemas.openxmlformats.org/officeDocument/2006/relationships/font" Target="fonts/font8.dat" Id="Rdbd569dbf18a4f24"/><Relationship Type="http://schemas.openxmlformats.org/officeDocument/2006/relationships/font" Target="fonts/font9.dat" Id="R99b502fa3f9f4b3e"/><Relationship Type="http://schemas.openxmlformats.org/officeDocument/2006/relationships/slide" Target="slides/slide1.xml" Id="Reb0c527071544ed7"/><Relationship Type="http://schemas.openxmlformats.org/officeDocument/2006/relationships/slide" Target="slides/slide2.xml" Id="R8a1eec560bb94887"/><Relationship Type="http://schemas.openxmlformats.org/officeDocument/2006/relationships/slide" Target="slides/slide13.xml" Id="Rc4d4c5b32a614907"/><Relationship Type="http://schemas.openxmlformats.org/officeDocument/2006/relationships/slide" Target="slides/slide14.xml" Id="Rb2a48f6e767e4ee8"/><Relationship Type="http://schemas.openxmlformats.org/officeDocument/2006/relationships/slide" Target="slides/slide15.xml" Id="R430e8b70af514a27"/><Relationship Type="http://schemas.openxmlformats.org/officeDocument/2006/relationships/slide" Target="slides/slide16.xml" Id="R6a2d1b1cde0c462f"/><Relationship Type="http://schemas.openxmlformats.org/officeDocument/2006/relationships/slide" Target="slides/slide17.xml" Id="Red2937a0dcc14e4d"/><Relationship Type="http://schemas.openxmlformats.org/officeDocument/2006/relationships/slide" Target="slides/slide18.xml" Id="R6f94566655e64b71"/><Relationship Type="http://schemas.openxmlformats.org/officeDocument/2006/relationships/slide" Target="slides/slide19.xml" Id="Rb8c94076d0f64f99"/><Relationship Type="http://schemas.openxmlformats.org/officeDocument/2006/relationships/slide" Target="slides/slide20.xml" Id="R8865ce9943d443a6"/><Relationship Type="http://schemas.openxmlformats.org/officeDocument/2006/relationships/slide" Target="slides/slide21.xml" Id="Rc2eec018066d4b61"/><Relationship Type="http://schemas.openxmlformats.org/officeDocument/2006/relationships/slide" Target="slides/slide22.xml" Id="R2147581ea0474f33"/><Relationship Type="http://schemas.openxmlformats.org/officeDocument/2006/relationships/slide" Target="slides/slide23.xml" Id="R85a95161cf264360"/><Relationship Type="http://schemas.openxmlformats.org/officeDocument/2006/relationships/slide" Target="slides/slide24.xml" Id="R51d7cbe4883c40ab"/><Relationship Type="http://schemas.openxmlformats.org/officeDocument/2006/relationships/slide" Target="slides/slide25.xml" Id="R1911c9c962cb474c"/><Relationship Type="http://schemas.openxmlformats.org/officeDocument/2006/relationships/slide" Target="slides/slide26.xml" Id="R491c794d73ac4989"/><Relationship Type="http://schemas.openxmlformats.org/officeDocument/2006/relationships/slide" Target="slides/slide27.xml" Id="R570954c21ccd4055"/><Relationship Type="http://schemas.openxmlformats.org/officeDocument/2006/relationships/slide" Target="slides/slide28.xml" Id="R50d946dddbc94d6a"/><Relationship Type="http://schemas.openxmlformats.org/officeDocument/2006/relationships/slide" Target="slides/slide29.xml" Id="Rf642b3b438704ced"/><Relationship Type="http://schemas.openxmlformats.org/officeDocument/2006/relationships/slide" Target="slides/slide30.xml" Id="R9bd6d7452a294d77"/><Relationship Type="http://schemas.openxmlformats.org/officeDocument/2006/relationships/slide" Target="slides/slide31.xml" Id="Rac2cdc4966694d91"/><Relationship Type="http://schemas.openxmlformats.org/officeDocument/2006/relationships/slide" Target="slides/slide32.xml" Id="R803a6c1a578f49be"/><Relationship Type="http://schemas.openxmlformats.org/officeDocument/2006/relationships/slide" Target="slides/slide33.xml" Id="Ra8fa120de273497f"/><Relationship Type="http://schemas.openxmlformats.org/officeDocument/2006/relationships/slide" Target="slides/slide34.xml" Id="Rc2aa9f2af18143ed"/><Relationship Type="http://schemas.openxmlformats.org/officeDocument/2006/relationships/slide" Target="slides/slide35.xml" Id="R91a290710ed445d0"/><Relationship Type="http://schemas.openxmlformats.org/officeDocument/2006/relationships/slide" Target="slides/slide36.xml" Id="Rde0b265b97284e47"/><Relationship Type="http://schemas.openxmlformats.org/officeDocument/2006/relationships/slide" Target="slides/slide37.xml" Id="R312028c6abd14805"/><Relationship Type="http://schemas.openxmlformats.org/officeDocument/2006/relationships/slide" Target="slides/slide38.xml" Id="R0d5801b840cb4623"/><Relationship Type="http://schemas.openxmlformats.org/officeDocument/2006/relationships/slide" Target="slides/slide39.xml" Id="Re08be4517a3c44bf"/><Relationship Type="http://schemas.openxmlformats.org/officeDocument/2006/relationships/slide" Target="slides/slide40.xml" Id="R4cfb8a7f096445d8"/><Relationship Type="http://schemas.openxmlformats.org/officeDocument/2006/relationships/slide" Target="slides/slide41.xml" Id="Rb51275545d164acc"/><Relationship Type="http://schemas.openxmlformats.org/officeDocument/2006/relationships/slide" Target="slides/slide42.xml" Id="Re28d45c4c5354635"/><Relationship Type="http://schemas.openxmlformats.org/officeDocument/2006/relationships/slide" Target="slides/slide43.xml" Id="R965f16aefcbd4c0f"/><Relationship Type="http://schemas.openxmlformats.org/officeDocument/2006/relationships/slide" Target="slides/slide44.xml" Id="Rea440c594fb4489b"/><Relationship Type="http://schemas.openxmlformats.org/officeDocument/2006/relationships/slide" Target="slides/slide45.xml" Id="R8dca5c1800054e1f"/><Relationship Type="http://schemas.openxmlformats.org/officeDocument/2006/relationships/slide" Target="slides/slide46.xml" Id="R8a0882d602ac4121"/><Relationship Type="http://schemas.openxmlformats.org/officeDocument/2006/relationships/slide" Target="slides/slide47.xml" Id="Rfda0eee4e6734a79"/><Relationship Type="http://schemas.openxmlformats.org/officeDocument/2006/relationships/slide" Target="slides/slide48.xml" Id="R4d30cc56a27e40fb"/><Relationship Type="http://schemas.openxmlformats.org/officeDocument/2006/relationships/slide" Target="slides/slide49.xml" Id="Rb1de6e07aa514d98"/><Relationship Type="http://schemas.openxmlformats.org/officeDocument/2006/relationships/slide" Target="slides/slide50.xml" Id="Rf50c260007b04a0c"/><Relationship Type="http://schemas.openxmlformats.org/officeDocument/2006/relationships/slide" Target="slides/slide51.xml" Id="Re841e9a85ab141c2"/><Relationship Type="http://schemas.openxmlformats.org/officeDocument/2006/relationships/slide" Target="slides/slide52.xml" Id="Rf3d367b912244fce"/><Relationship Type="http://schemas.openxmlformats.org/officeDocument/2006/relationships/slide" Target="slides/slide53.xml" Id="Ree479c8ea64a48d9"/><Relationship Type="http://schemas.openxmlformats.org/officeDocument/2006/relationships/slide" Target="slides/slide54.xml" Id="Rd41dedfa53d343fc"/><Relationship Type="http://schemas.openxmlformats.org/officeDocument/2006/relationships/slide" Target="slides/slide55.xml" Id="Ra8b1e1a327514380"/><Relationship Type="http://schemas.openxmlformats.org/officeDocument/2006/relationships/slide" Target="slides/slide56.xml" Id="Rd59ddf778aba4e7d"/><Relationship Type="http://schemas.openxmlformats.org/officeDocument/2006/relationships/slide" Target="slides/slide57.xml" Id="Rc46d22298efa4859"/><Relationship Type="http://schemas.openxmlformats.org/officeDocument/2006/relationships/slide" Target="slides/slide58.xml" Id="Rcad9cc6da13048eb"/><Relationship Type="http://schemas.openxmlformats.org/officeDocument/2006/relationships/slide" Target="slides/slide59.xml" Id="R659bc7030c51474c"/><Relationship Type="http://schemas.openxmlformats.org/officeDocument/2006/relationships/slide" Target="slides/slide60.xml" Id="Rcfd9319b6c2547c7"/><Relationship Type="http://schemas.openxmlformats.org/officeDocument/2006/relationships/slide" Target="slides/slide61.xml" Id="Rf822fa5341794696"/><Relationship Type="http://schemas.openxmlformats.org/officeDocument/2006/relationships/slide" Target="slides/slide62.xml" Id="R53308a5d1e3242c0"/><Relationship Type="http://schemas.openxmlformats.org/officeDocument/2006/relationships/slide" Target="slides/slide63.xml" Id="Raf5ac334ca5c43f1"/><Relationship Type="http://schemas.openxmlformats.org/officeDocument/2006/relationships/slide" Target="slides/slide64.xml" Id="Rfd4f19d12b2f4de3"/><Relationship Type="http://schemas.openxmlformats.org/officeDocument/2006/relationships/slide" Target="slides/slide65.xml" Id="Rf10f047007534e09"/><Relationship Type="http://schemas.openxmlformats.org/officeDocument/2006/relationships/slide" Target="slides/slide66.xml" Id="R467ab1cba62c407f"/><Relationship Type="http://schemas.openxmlformats.org/officeDocument/2006/relationships/slide" Target="slides/slide67.xml" Id="R226b2b783a064821"/><Relationship Type="http://schemas.openxmlformats.org/officeDocument/2006/relationships/slide" Target="slides/slide68.xml" Id="R9bd94e8828184734"/><Relationship Type="http://schemas.openxmlformats.org/officeDocument/2006/relationships/slide" Target="slides/slide69.xml" Id="R184cce7f53a14e86"/><Relationship Type="http://schemas.openxmlformats.org/officeDocument/2006/relationships/slide" Target="slides/slide70.xml" Id="R134659dedcfb46a0"/><Relationship Type="http://schemas.openxmlformats.org/officeDocument/2006/relationships/slide" Target="slides/slide71.xml" Id="R1d8a48216e584148"/><Relationship Type="http://schemas.openxmlformats.org/officeDocument/2006/relationships/slide" Target="slides/slide72.xml" Id="R87114eba0749461c"/><Relationship Type="http://schemas.openxmlformats.org/officeDocument/2006/relationships/slide" Target="slides/slide73.xml" Id="R52e0f892c7ee454d"/><Relationship Type="http://schemas.openxmlformats.org/officeDocument/2006/relationships/slide" Target="slides/slide74.xml" Id="R0e90a88b37b14958"/><Relationship Type="http://schemas.openxmlformats.org/officeDocument/2006/relationships/slide" Target="slides/slide75.xml" Id="R1f743981ad7848bd"/><Relationship Type="http://schemas.openxmlformats.org/officeDocument/2006/relationships/slide" Target="slides/slide76.xml" Id="R349b83bdc85c46b4"/><Relationship Type="http://schemas.openxmlformats.org/officeDocument/2006/relationships/slide" Target="slides/slide77.xml" Id="R8fc8321f4ac24c28"/><Relationship Type="http://schemas.openxmlformats.org/officeDocument/2006/relationships/slide" Target="slides/slide78.xml" Id="Rdf4e69adde6a488e"/><Relationship Type="http://schemas.openxmlformats.org/officeDocument/2006/relationships/slide" Target="slides/slide79.xml" Id="Rabb98819a9714ce8"/><Relationship Type="http://schemas.openxmlformats.org/officeDocument/2006/relationships/slide" Target="slides/slide80.xml" Id="R4768098a3801416e"/><Relationship Type="http://schemas.openxmlformats.org/officeDocument/2006/relationships/slide" Target="slides/slide81.xml" Id="Raead10044e7548da"/><Relationship Type="http://schemas.openxmlformats.org/officeDocument/2006/relationships/slide" Target="slides/slide82.xml" Id="R626f4125a58b4d63"/><Relationship Type="http://schemas.openxmlformats.org/officeDocument/2006/relationships/slide" Target="slides/slide83.xml" Id="R52e06ed28eac4fa8"/><Relationship Type="http://schemas.openxmlformats.org/officeDocument/2006/relationships/slide" Target="slides/slide84.xml" Id="Rd5d590b582e841a8"/><Relationship Type="http://schemas.openxmlformats.org/officeDocument/2006/relationships/slide" Target="slides/slide85.xml" Id="R96b0b8bd3d024278"/><Relationship Type="http://schemas.openxmlformats.org/officeDocument/2006/relationships/slide" Target="slides/slide86.xml" Id="R682a8f6929664933"/><Relationship Type="http://schemas.openxmlformats.org/officeDocument/2006/relationships/slide" Target="slides/slide87.xml" Id="Rd88b2dc2a2ab43a4"/><Relationship Type="http://schemas.openxmlformats.org/officeDocument/2006/relationships/slide" Target="slides/slide88.xml" Id="R6eb6d201904b4654"/><Relationship Type="http://schemas.openxmlformats.org/officeDocument/2006/relationships/slide" Target="slides/slide89.xml" Id="Rc1e04d5cb49e47a7"/><Relationship Type="http://schemas.openxmlformats.org/officeDocument/2006/relationships/slide" Target="slides/slide90.xml" Id="Rb7fdb6039cb945be"/><Relationship Type="http://schemas.openxmlformats.org/officeDocument/2006/relationships/slide" Target="slides/slide91.xml" Id="R9559cba1f57f4112"/><Relationship Type="http://schemas.openxmlformats.org/officeDocument/2006/relationships/slide" Target="slides/slide92.xml" Id="R3576e66ec1d9484b"/><Relationship Type="http://schemas.openxmlformats.org/officeDocument/2006/relationships/slide" Target="slides/slide93.xml" Id="R821a7a89a868410f"/><Relationship Type="http://schemas.openxmlformats.org/officeDocument/2006/relationships/slide" Target="slides/slide94.xml" Id="Rc83c55b4546c479b"/><Relationship Type="http://schemas.openxmlformats.org/officeDocument/2006/relationships/slide" Target="slides/slide95.xml" Id="R99d4bdc73612476c"/><Relationship Type="http://schemas.openxmlformats.org/officeDocument/2006/relationships/slide" Target="slides/slide96.xml" Id="R303a32ddb3294091"/><Relationship Type="http://schemas.openxmlformats.org/officeDocument/2006/relationships/slide" Target="slides/slide97.xml" Id="R166b9c04fee24777"/><Relationship Type="http://schemas.openxmlformats.org/officeDocument/2006/relationships/slide" Target="slides/slide98.xml" Id="Rc4b3c5fac1334bec"/><Relationship Type="http://schemas.openxmlformats.org/officeDocument/2006/relationships/slide" Target="slides/slide99.xml" Id="Re128ba0e557c484f"/><Relationship Type="http://schemas.openxmlformats.org/officeDocument/2006/relationships/slide" Target="slides/slide100.xml" Id="Rf50b5ce949344bd4"/><Relationship Type="http://schemas.openxmlformats.org/officeDocument/2006/relationships/slide" Target="slides/slide101.xml" Id="Ra7ec006a681f4e6d"/><Relationship Type="http://schemas.openxmlformats.org/officeDocument/2006/relationships/slide" Target="slides/slide102.xml" Id="R1baf583e4d6b4f69"/><Relationship Type="http://schemas.openxmlformats.org/officeDocument/2006/relationships/slide" Target="slides/slide103.xml" Id="Ra5849b4c283843e5"/><Relationship Type="http://schemas.openxmlformats.org/officeDocument/2006/relationships/slide" Target="slides/slide104.xml" Id="R580df0921c164d45"/><Relationship Type="http://schemas.openxmlformats.org/officeDocument/2006/relationships/slide" Target="slides/slide105.xml" Id="Raa61fada665c4b1d"/><Relationship Type="http://schemas.openxmlformats.org/officeDocument/2006/relationships/slide" Target="slides/slide106.xml" Id="Ra62e6068238743d0"/><Relationship Type="http://schemas.openxmlformats.org/officeDocument/2006/relationships/slide" Target="slides/slide107.xml" Id="R83ad199aff4e4386"/><Relationship Type="http://schemas.openxmlformats.org/officeDocument/2006/relationships/slide" Target="slides/slide108.xml" Id="R110cd5f4c35b417d"/><Relationship Type="http://schemas.openxmlformats.org/officeDocument/2006/relationships/slide" Target="slides/slide109.xml" Id="R3b4a79707c9b49e4"/><Relationship Type="http://schemas.openxmlformats.org/officeDocument/2006/relationships/slide" Target="slides/slide110.xml" Id="R0ce83f1eb92c42ba"/><Relationship Type="http://schemas.openxmlformats.org/officeDocument/2006/relationships/slide" Target="slides/slide111.xml" Id="R9a2ba63d64d843a9"/><Relationship Type="http://schemas.openxmlformats.org/officeDocument/2006/relationships/slide" Target="slides/slide112.xml" Id="R7e0537d908db4c14"/><Relationship Type="http://schemas.openxmlformats.org/officeDocument/2006/relationships/slide" Target="slides/slide113.xml" Id="Ra7167a960b454df7"/><Relationship Type="http://schemas.openxmlformats.org/officeDocument/2006/relationships/slide" Target="slides/slide114.xml" Id="R912abeede1e04589"/><Relationship Type="http://schemas.openxmlformats.org/officeDocument/2006/relationships/slide" Target="slides/slide115.xml" Id="R3e5c5364914640a6"/><Relationship Type="http://schemas.openxmlformats.org/officeDocument/2006/relationships/slide" Target="slides/slide116.xml" Id="R0435594fddf749a9"/><Relationship Type="http://schemas.openxmlformats.org/officeDocument/2006/relationships/slide" Target="slides/slide117.xml" Id="R3237a4e6b7854489"/><Relationship Type="http://schemas.openxmlformats.org/officeDocument/2006/relationships/slide" Target="slides/slide118.xml" Id="R39f56436ce194668"/><Relationship Type="http://schemas.openxmlformats.org/officeDocument/2006/relationships/slide" Target="slides/slide119.xml" Id="R22a46c3a25ec4965"/><Relationship Type="http://schemas.openxmlformats.org/officeDocument/2006/relationships/slide" Target="slides/slide120.xml" Id="Rab455e849835401a"/><Relationship Type="http://schemas.openxmlformats.org/officeDocument/2006/relationships/slide" Target="slides/slide121.xml" Id="Rf936a6ada35e446f"/><Relationship Type="http://schemas.openxmlformats.org/officeDocument/2006/relationships/slide" Target="slides/slide122.xml" Id="R1cc525e04bf8407a"/><Relationship Type="http://schemas.openxmlformats.org/officeDocument/2006/relationships/slide" Target="slides/slide123.xml" Id="R5defc8c0c4d04b2d"/><Relationship Type="http://schemas.openxmlformats.org/officeDocument/2006/relationships/slide" Target="slides/slide124.xml" Id="Ra1610a230c904bce"/><Relationship Type="http://schemas.openxmlformats.org/officeDocument/2006/relationships/slide" Target="slides/slide125.xml" Id="Rc8157819c88c413c"/><Relationship Type="http://schemas.openxmlformats.org/officeDocument/2006/relationships/slide" Target="slides/slide126.xml" Id="R767251abb49f4a71"/><Relationship Type="http://schemas.openxmlformats.org/officeDocument/2006/relationships/slide" Target="slides/slide127.xml" Id="R0eb54e241ebc4d8e"/><Relationship Type="http://schemas.openxmlformats.org/officeDocument/2006/relationships/slide" Target="slides/slide128.xml" Id="R37bd6d68042b40e6"/><Relationship Type="http://schemas.openxmlformats.org/officeDocument/2006/relationships/slide" Target="slides/slide129.xml" Id="Rbcbe064a4f8142a5"/><Relationship Type="http://schemas.openxmlformats.org/officeDocument/2006/relationships/slide" Target="slides/slide130.xml" Id="R30d65d2bc47d4e25"/><Relationship Type="http://schemas.openxmlformats.org/officeDocument/2006/relationships/slide" Target="slides/slide131.xml" Id="R50cd35d466ee4030"/><Relationship Type="http://schemas.openxmlformats.org/officeDocument/2006/relationships/slide" Target="slides/slide132.xml" Id="R034eceb708594681"/><Relationship Type="http://schemas.openxmlformats.org/officeDocument/2006/relationships/slide" Target="slides/slide133.xml" Id="R46bb1d1b984d482e"/><Relationship Type="http://schemas.openxmlformats.org/officeDocument/2006/relationships/slide" Target="slides/slide134.xml" Id="R773d0197f81f457d"/><Relationship Type="http://schemas.openxmlformats.org/officeDocument/2006/relationships/slide" Target="slides/slide135.xml" Id="Rf8a52b9ed2f14a82"/><Relationship Id="rId1" Type="http://schemas.openxmlformats.org/officeDocument/2006/relationships/slide" Target="slides/slide3.xml"/><Relationship Id="rId2" Type="http://schemas.openxmlformats.org/officeDocument/2006/relationships/slide" Target="slides/slide4.xml"/><Relationship Id="rId3" Type="http://schemas.openxmlformats.org/officeDocument/2006/relationships/slide" Target="slides/slide5.xml"/><Relationship Id="rId4" Type="http://schemas.openxmlformats.org/officeDocument/2006/relationships/slide" Target="slides/slide6.xml"/><Relationship Id="rId5" Type="http://schemas.openxmlformats.org/officeDocument/2006/relationships/slide" Target="slides/slide7.xml"/><Relationship Id="rId6" Type="http://schemas.openxmlformats.org/officeDocument/2006/relationships/slide" Target="slides/slide8.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Master" Target="intro/slideMasters/slideMaster1.xml"/><Relationship Id="rId12" Type="http://schemas.openxmlformats.org/officeDocument/2006/relationships/notesMaster" Target="intro/notesMasters/notesMaster1.xml"/></Relationships>
</file>

<file path=ppt/intro/notesMasters/_rels/notesMaster1.xml.rels><?xml version='1.0' encoding='UTF-8' standalone='yes'?>
<Relationships xmlns="http://schemas.openxmlformats.org/package/2006/relationships"><Relationship Type="http://schemas.openxmlformats.org/officeDocument/2006/relationships/theme" Target="theme/theme3.xml" Id="R30629fc7ec4448ee"/></Relationships>
</file>

<file path=ppt/intro/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intro/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intro/slideLayouts/_rels/slideLayout1.xml.rels><?xml version='1.0' encoding='UTF-8' standalone='yes'?>
<Relationships xmlns="http://schemas.openxmlformats.org/package/2006/relationships"><Relationship Type="http://schemas.openxmlformats.org/officeDocument/2006/relationships/slideMaster" Target="../slideMasters/slideMaster1.xml" Id="R84ed63a6daf1425c"/></Relationships>
</file>

<file path=ppt/intro/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intro/slideMasters/_rels/slideMaster1.xml.rels><?xml version='1.0' encoding='UTF-8' standalone='yes'?>
<Relationships xmlns="http://schemas.openxmlformats.org/package/2006/relationships"><Relationship Type="http://schemas.openxmlformats.org/officeDocument/2006/relationships/theme" Target="theme/theme2.xml" Id="Ra96cb4cd4453440c"/><Relationship Type="http://schemas.openxmlformats.org/officeDocument/2006/relationships/slideLayout" Target="../slideLayouts/slideLayout1.xml" Id="Rfce655b38fe94519"/></Relationships>
</file>

<file path=ppt/intro/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ce655b38fe9451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intro/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Masters/_rels/notesMaster1.xml.rels><?xml version='1.0' encoding='UTF-8' standalone='yes'?>
<Relationships xmlns="http://schemas.openxmlformats.org/package/2006/relationships"><Relationship Type="http://schemas.openxmlformats.org/officeDocument/2006/relationships/theme" Target="theme/theme3.xml" Id="R740e097858924b70"/></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slides/slide1.xml" Id="R30c44258a06b412f"/><Relationship Type="http://schemas.openxmlformats.org/officeDocument/2006/relationships/notesMaster" Target="../notesMasters/notesMaster1.xml" Id="Rc870a7b202a640ba"/></Relationships>
</file>

<file path=ppt/notesSlides/_rels/notesSlide2.xml.rels><?xml version='1.0' encoding='UTF-8' standalone='yes'?>
<Relationships xmlns="http://schemas.openxmlformats.org/package/2006/relationships"><Relationship Type="http://schemas.openxmlformats.org/officeDocument/2006/relationships/slide" Target="../slides/slide2.xml" Id="Ra1b287ac61ef4802"/><Relationship Type="http://schemas.openxmlformats.org/officeDocument/2006/relationships/notesMaster" Target="../notesMasters/notesMaster1.xml" Id="R1f9ceef2920147ec"/></Relationships>
</file>

<file path=ppt/notesSlides/_rels/notesSlide3.xml.rels><?xml version='1.0' encoding='UTF-8' standalone='yes'?>
<Relationships xmlns="http://schemas.openxmlformats.org/package/2006/relationships"><Relationship Type="http://schemas.openxmlformats.org/officeDocument/2006/relationships/slide" Target="../slides/slide3.xml" Id="R67d7611cde3c48e8"/><Relationship Type="http://schemas.openxmlformats.org/officeDocument/2006/relationships/notesMaster" Target="../intro/notesMasters/notesMaster1.xml" Id="Rbfe1d38d5d6b44cf"/></Relationships>
</file>

<file path=ppt/notesSlides/_rels/notesSlide4.xml.rels><?xml version='1.0' encoding='UTF-8' standalone='yes'?>
<Relationships xmlns="http://schemas.openxmlformats.org/package/2006/relationships"><Relationship Type="http://schemas.openxmlformats.org/officeDocument/2006/relationships/slide" Target="../slides/slide4.xml" Id="R77ff2a9df4a34362"/><Relationship Type="http://schemas.openxmlformats.org/officeDocument/2006/relationships/notesMaster" Target="../intro/notesMasters/notesMaster1.xml" Id="R9060084cf7834d51"/></Relationships>
</file>

<file path=ppt/notesSlides/_rels/notesSlide5.xml.rels><?xml version='1.0' encoding='UTF-8' standalone='yes'?>
<Relationships xmlns="http://schemas.openxmlformats.org/package/2006/relationships"><Relationship Type="http://schemas.openxmlformats.org/officeDocument/2006/relationships/slide" Target="../slides/slide5.xml" Id="R8d4e23aef8024ade"/><Relationship Type="http://schemas.openxmlformats.org/officeDocument/2006/relationships/notesMaster" Target="../intro/notesMasters/notesMaster1.xml" Id="R9a9773cf39d3404c"/></Relationships>
</file>

<file path=ppt/notesSlides/_rels/notesSlide6.xml.rels><?xml version='1.0' encoding='UTF-8' standalone='yes'?>
<Relationships xmlns="http://schemas.openxmlformats.org/package/2006/relationships"><Relationship Type="http://schemas.openxmlformats.org/officeDocument/2006/relationships/slide" Target="../slides/slide6.xml" Id="R1305c4460a1c4900"/><Relationship Type="http://schemas.openxmlformats.org/officeDocument/2006/relationships/notesMaster" Target="../intro/notesMasters/notesMaster1.xml" Id="Rd5190e368fd141ca"/></Relationships>
</file>

<file path=ppt/notesSlides/_rels/notesSlide7.xml.rels><?xml version='1.0' encoding='UTF-8' standalone='yes'?>
<Relationships xmlns="http://schemas.openxmlformats.org/package/2006/relationships"><Relationship Type="http://schemas.openxmlformats.org/officeDocument/2006/relationships/slide" Target="../slides/slide7.xml" Id="Rc2305493aeaa4004"/><Relationship Type="http://schemas.openxmlformats.org/officeDocument/2006/relationships/notesMaster" Target="../intro/notesMasters/notesMaster1.xml" Id="Rcbe7008616264fc2"/></Relationships>
</file>

<file path=ppt/notesSlides/_rels/notesSlide8.xml.rels><?xml version='1.0' encoding='UTF-8' standalone='yes'?>
<Relationships xmlns="http://schemas.openxmlformats.org/package/2006/relationships"><Relationship Type="http://schemas.openxmlformats.org/officeDocument/2006/relationships/slide" Target="../slides/slide8.xml" Id="Rbced8f95c3db4c54"/><Relationship Type="http://schemas.openxmlformats.org/officeDocument/2006/relationships/notesMaster" Target="../intro/notesMasters/notesMaster1.xml" Id="R0fb0e9032d934f40"/></Relationships>
</file>

<file path=ppt/notesSlides/_rels/notesSlide9.xml.rels><?xml version='1.0' encoding='UTF-8' standalone='yes'?>
<Relationships xmlns="http://schemas.openxmlformats.org/package/2006/relationships"><Relationship Type="http://schemas.openxmlformats.org/officeDocument/2006/relationships/slide" Target="../slides/slide9.xml" Id="Rb7893a8eeb3246c3"/><Relationship Type="http://schemas.openxmlformats.org/officeDocument/2006/relationships/notesMaster" Target="../intro/notesMasters/notesMaster1.xml" Id="Rfc2e829cd5d54bb9"/></Relationships>
</file>

<file path=ppt/notesSlides/_rels/notesSlide10.xml.rels><?xml version='1.0' encoding='UTF-8' standalone='yes'?>
<Relationships xmlns="http://schemas.openxmlformats.org/package/2006/relationships"><Relationship Type="http://schemas.openxmlformats.org/officeDocument/2006/relationships/slide" Target="../slides/slide10.xml" Id="Rab1758ac0af84783"/><Relationship Type="http://schemas.openxmlformats.org/officeDocument/2006/relationships/notesMaster" Target="../intro/notesMasters/notesMaster1.xml" Id="Rc890d46404834ea5"/></Relationships>
</file>

<file path=ppt/notesSlides/_rels/notesSlide11.xml.rels><?xml version='1.0' encoding='UTF-8' standalone='yes'?>
<Relationships xmlns="http://schemas.openxmlformats.org/package/2006/relationships"><Relationship Type="http://schemas.openxmlformats.org/officeDocument/2006/relationships/slide" Target="../slides/slide11.xml" Id="R35ecdf13ff444ff8"/><Relationship Type="http://schemas.openxmlformats.org/officeDocument/2006/relationships/notesMaster" Target="../intro/notesMasters/notesMaster1.xml" Id="R46d7790f044648dd"/></Relationships>
</file>

<file path=ppt/notesSlides/_rels/notesSlide12.xml.rels><?xml version='1.0' encoding='UTF-8' standalone='yes'?>
<Relationships xmlns="http://schemas.openxmlformats.org/package/2006/relationships"><Relationship Type="http://schemas.openxmlformats.org/officeDocument/2006/relationships/slide" Target="../slides/slide12.xml" Id="R3c1cc432a1f94694"/><Relationship Type="http://schemas.openxmlformats.org/officeDocument/2006/relationships/notesMaster" Target="../intro/notesMasters/notesMaster1.xml" Id="R99cb7be0028644b7"/></Relationships>
</file>

<file path=ppt/notesSlides/_rels/notesSlide13.xml.rels><?xml version='1.0' encoding='UTF-8' standalone='yes'?>
<Relationships xmlns="http://schemas.openxmlformats.org/package/2006/relationships"><Relationship Type="http://schemas.openxmlformats.org/officeDocument/2006/relationships/slide" Target="../slides/slide13.xml" Id="R400b64be8d5b49ae"/><Relationship Type="http://schemas.openxmlformats.org/officeDocument/2006/relationships/notesMaster" Target="../notesMasters/notesMaster1.xml" Id="R1dd08ccefa7e4488"/></Relationships>
</file>

<file path=ppt/notesSlides/_rels/notesSlide14.xml.rels><?xml version='1.0' encoding='UTF-8' standalone='yes'?>
<Relationships xmlns="http://schemas.openxmlformats.org/package/2006/relationships"><Relationship Type="http://schemas.openxmlformats.org/officeDocument/2006/relationships/slide" Target="../slides/slide14.xml" Id="Rec5317e5749a4a9b"/><Relationship Type="http://schemas.openxmlformats.org/officeDocument/2006/relationships/notesMaster" Target="../notesMasters/notesMaster1.xml" Id="R201acca2abe14a8c"/></Relationships>
</file>

<file path=ppt/notesSlides/_rels/notesSlide15.xml.rels><?xml version='1.0' encoding='UTF-8' standalone='yes'?>
<Relationships xmlns="http://schemas.openxmlformats.org/package/2006/relationships"><Relationship Type="http://schemas.openxmlformats.org/officeDocument/2006/relationships/slide" Target="../slides/slide15.xml" Id="Refbc689d7d904f7a"/><Relationship Type="http://schemas.openxmlformats.org/officeDocument/2006/relationships/notesMaster" Target="../notesMasters/notesMaster1.xml" Id="Re77c1c8b2e3a46dc"/></Relationships>
</file>

<file path=ppt/notesSlides/_rels/notesSlide16.xml.rels><?xml version='1.0' encoding='UTF-8' standalone='yes'?>
<Relationships xmlns="http://schemas.openxmlformats.org/package/2006/relationships"><Relationship Type="http://schemas.openxmlformats.org/officeDocument/2006/relationships/slide" Target="../slides/slide16.xml" Id="R29bfa7ac60364877"/><Relationship Type="http://schemas.openxmlformats.org/officeDocument/2006/relationships/notesMaster" Target="../notesMasters/notesMaster1.xml" Id="R49f2637716ee4e89"/></Relationships>
</file>

<file path=ppt/notesSlides/_rels/notesSlide17.xml.rels><?xml version='1.0' encoding='UTF-8' standalone='yes'?>
<Relationships xmlns="http://schemas.openxmlformats.org/package/2006/relationships"><Relationship Type="http://schemas.openxmlformats.org/officeDocument/2006/relationships/slide" Target="../slides/slide17.xml" Id="R5a49a8ff01f64edc"/><Relationship Type="http://schemas.openxmlformats.org/officeDocument/2006/relationships/notesMaster" Target="../notesMasters/notesMaster1.xml" Id="Rf0151d1af2bc4ad0"/></Relationships>
</file>

<file path=ppt/notesSlides/_rels/notesSlide18.xml.rels><?xml version='1.0' encoding='UTF-8' standalone='yes'?>
<Relationships xmlns="http://schemas.openxmlformats.org/package/2006/relationships"><Relationship Type="http://schemas.openxmlformats.org/officeDocument/2006/relationships/slide" Target="../slides/slide18.xml" Id="R753ef3a3acdc42aa"/><Relationship Type="http://schemas.openxmlformats.org/officeDocument/2006/relationships/notesMaster" Target="../notesMasters/notesMaster1.xml" Id="R5515739b10b94f62"/></Relationships>
</file>

<file path=ppt/notesSlides/_rels/notesSlide19.xml.rels><?xml version='1.0' encoding='UTF-8' standalone='yes'?>
<Relationships xmlns="http://schemas.openxmlformats.org/package/2006/relationships"><Relationship Type="http://schemas.openxmlformats.org/officeDocument/2006/relationships/slide" Target="../slides/slide19.xml" Id="R1a2e097d00e3442e"/><Relationship Type="http://schemas.openxmlformats.org/officeDocument/2006/relationships/notesMaster" Target="../notesMasters/notesMaster1.xml" Id="Rca23c9fa830e4e57"/></Relationships>
</file>

<file path=ppt/notesSlides/_rels/notesSlide20.xml.rels><?xml version='1.0' encoding='UTF-8' standalone='yes'?>
<Relationships xmlns="http://schemas.openxmlformats.org/package/2006/relationships"><Relationship Type="http://schemas.openxmlformats.org/officeDocument/2006/relationships/slide" Target="../slides/slide20.xml" Id="R4c44f876c40b47f4"/><Relationship Type="http://schemas.openxmlformats.org/officeDocument/2006/relationships/notesMaster" Target="../notesMasters/notesMaster1.xml" Id="R8ee4a66b329f4c07"/></Relationships>
</file>

<file path=ppt/notesSlides/_rels/notesSlide21.xml.rels><?xml version='1.0' encoding='UTF-8' standalone='yes'?>
<Relationships xmlns="http://schemas.openxmlformats.org/package/2006/relationships"><Relationship Type="http://schemas.openxmlformats.org/officeDocument/2006/relationships/slide" Target="../slides/slide21.xml" Id="Rf920f0869c7c400a"/><Relationship Type="http://schemas.openxmlformats.org/officeDocument/2006/relationships/notesMaster" Target="../notesMasters/notesMaster1.xml" Id="R3140c22c875d4104"/></Relationships>
</file>

<file path=ppt/notesSlides/_rels/notesSlide22.xml.rels><?xml version='1.0' encoding='UTF-8' standalone='yes'?>
<Relationships xmlns="http://schemas.openxmlformats.org/package/2006/relationships"><Relationship Type="http://schemas.openxmlformats.org/officeDocument/2006/relationships/slide" Target="../slides/slide22.xml" Id="R579e21f7a46b4d9e"/><Relationship Type="http://schemas.openxmlformats.org/officeDocument/2006/relationships/notesMaster" Target="../notesMasters/notesMaster1.xml" Id="Rd3b1e6e341734984"/></Relationships>
</file>

<file path=ppt/notesSlides/_rels/notesSlide23.xml.rels><?xml version='1.0' encoding='UTF-8' standalone='yes'?>
<Relationships xmlns="http://schemas.openxmlformats.org/package/2006/relationships"><Relationship Type="http://schemas.openxmlformats.org/officeDocument/2006/relationships/slide" Target="../slides/slide23.xml" Id="R281f4a48452546ed"/><Relationship Type="http://schemas.openxmlformats.org/officeDocument/2006/relationships/notesMaster" Target="../notesMasters/notesMaster1.xml" Id="Rab6e5965520f4b01"/></Relationships>
</file>

<file path=ppt/notesSlides/_rels/notesSlide24.xml.rels><?xml version='1.0' encoding='UTF-8' standalone='yes'?>
<Relationships xmlns="http://schemas.openxmlformats.org/package/2006/relationships"><Relationship Type="http://schemas.openxmlformats.org/officeDocument/2006/relationships/slide" Target="../slides/slide24.xml" Id="Re846ecd6eecb4adf"/><Relationship Type="http://schemas.openxmlformats.org/officeDocument/2006/relationships/notesMaster" Target="../notesMasters/notesMaster1.xml" Id="R138cb31680a64e9d"/></Relationships>
</file>

<file path=ppt/notesSlides/_rels/notesSlide25.xml.rels><?xml version='1.0' encoding='UTF-8' standalone='yes'?>
<Relationships xmlns="http://schemas.openxmlformats.org/package/2006/relationships"><Relationship Type="http://schemas.openxmlformats.org/officeDocument/2006/relationships/slide" Target="../slides/slide25.xml" Id="R41a11dc8b757450b"/><Relationship Type="http://schemas.openxmlformats.org/officeDocument/2006/relationships/notesMaster" Target="../notesMasters/notesMaster1.xml" Id="R0642a0f4d5884461"/></Relationships>
</file>

<file path=ppt/notesSlides/_rels/notesSlide26.xml.rels><?xml version='1.0' encoding='UTF-8' standalone='yes'?>
<Relationships xmlns="http://schemas.openxmlformats.org/package/2006/relationships"><Relationship Type="http://schemas.openxmlformats.org/officeDocument/2006/relationships/slide" Target="../slides/slide26.xml" Id="R5081e9833aa04668"/><Relationship Type="http://schemas.openxmlformats.org/officeDocument/2006/relationships/notesMaster" Target="../notesMasters/notesMaster1.xml" Id="R21cc761841b94364"/></Relationships>
</file>

<file path=ppt/notesSlides/_rels/notesSlide27.xml.rels><?xml version='1.0' encoding='UTF-8' standalone='yes'?>
<Relationships xmlns="http://schemas.openxmlformats.org/package/2006/relationships"><Relationship Type="http://schemas.openxmlformats.org/officeDocument/2006/relationships/slide" Target="../slides/slide27.xml" Id="Rbd1639ef44084ad4"/><Relationship Type="http://schemas.openxmlformats.org/officeDocument/2006/relationships/notesMaster" Target="../notesMasters/notesMaster1.xml" Id="R12b7ca7b819449dd"/></Relationships>
</file>

<file path=ppt/notesSlides/_rels/notesSlide28.xml.rels><?xml version='1.0' encoding='UTF-8' standalone='yes'?>
<Relationships xmlns="http://schemas.openxmlformats.org/package/2006/relationships"><Relationship Type="http://schemas.openxmlformats.org/officeDocument/2006/relationships/slide" Target="../slides/slide28.xml" Id="R7d769705e3e3403e"/><Relationship Type="http://schemas.openxmlformats.org/officeDocument/2006/relationships/notesMaster" Target="../notesMasters/notesMaster1.xml" Id="R1351d698c4e44992"/></Relationships>
</file>

<file path=ppt/notesSlides/_rels/notesSlide29.xml.rels><?xml version='1.0' encoding='UTF-8' standalone='yes'?>
<Relationships xmlns="http://schemas.openxmlformats.org/package/2006/relationships"><Relationship Type="http://schemas.openxmlformats.org/officeDocument/2006/relationships/slide" Target="../slides/slide29.xml" Id="R8e43fbba7a904475"/><Relationship Type="http://schemas.openxmlformats.org/officeDocument/2006/relationships/notesMaster" Target="../notesMasters/notesMaster1.xml" Id="R28a194de792a4cce"/></Relationships>
</file>

<file path=ppt/notesSlides/_rels/notesSlide30.xml.rels><?xml version='1.0' encoding='UTF-8' standalone='yes'?>
<Relationships xmlns="http://schemas.openxmlformats.org/package/2006/relationships"><Relationship Type="http://schemas.openxmlformats.org/officeDocument/2006/relationships/slide" Target="../slides/slide30.xml" Id="R4ab90007c2f44692"/><Relationship Type="http://schemas.openxmlformats.org/officeDocument/2006/relationships/notesMaster" Target="../notesMasters/notesMaster1.xml" Id="Re60d780c73d7457f"/></Relationships>
</file>

<file path=ppt/notesSlides/_rels/notesSlide31.xml.rels><?xml version='1.0' encoding='UTF-8' standalone='yes'?>
<Relationships xmlns="http://schemas.openxmlformats.org/package/2006/relationships"><Relationship Type="http://schemas.openxmlformats.org/officeDocument/2006/relationships/slide" Target="../slides/slide31.xml" Id="Rf31a80e47aaf4d1b"/><Relationship Type="http://schemas.openxmlformats.org/officeDocument/2006/relationships/notesMaster" Target="../notesMasters/notesMaster1.xml" Id="R023bf5f7f64e4a19"/></Relationships>
</file>

<file path=ppt/notesSlides/_rels/notesSlide32.xml.rels><?xml version='1.0' encoding='UTF-8' standalone='yes'?>
<Relationships xmlns="http://schemas.openxmlformats.org/package/2006/relationships"><Relationship Type="http://schemas.openxmlformats.org/officeDocument/2006/relationships/slide" Target="../slides/slide32.xml" Id="R39f32efb5c0645a9"/><Relationship Type="http://schemas.openxmlformats.org/officeDocument/2006/relationships/notesMaster" Target="../notesMasters/notesMaster1.xml" Id="R1051328de4324913"/></Relationships>
</file>

<file path=ppt/notesSlides/_rels/notesSlide33.xml.rels><?xml version='1.0' encoding='UTF-8' standalone='yes'?>
<Relationships xmlns="http://schemas.openxmlformats.org/package/2006/relationships"><Relationship Type="http://schemas.openxmlformats.org/officeDocument/2006/relationships/slide" Target="../slides/slide33.xml" Id="R433c4e2e94d74d12"/><Relationship Type="http://schemas.openxmlformats.org/officeDocument/2006/relationships/notesMaster" Target="../notesMasters/notesMaster1.xml" Id="R000694dd1a8c480c"/></Relationships>
</file>

<file path=ppt/notesSlides/_rels/notesSlide34.xml.rels><?xml version='1.0' encoding='UTF-8' standalone='yes'?>
<Relationships xmlns="http://schemas.openxmlformats.org/package/2006/relationships"><Relationship Type="http://schemas.openxmlformats.org/officeDocument/2006/relationships/slide" Target="../slides/slide34.xml" Id="R21cd670b974a40e3"/><Relationship Type="http://schemas.openxmlformats.org/officeDocument/2006/relationships/notesMaster" Target="../notesMasters/notesMaster1.xml" Id="Rdf613c004ba64a09"/></Relationships>
</file>

<file path=ppt/notesSlides/_rels/notesSlide35.xml.rels><?xml version='1.0' encoding='UTF-8' standalone='yes'?>
<Relationships xmlns="http://schemas.openxmlformats.org/package/2006/relationships"><Relationship Type="http://schemas.openxmlformats.org/officeDocument/2006/relationships/slide" Target="../slides/slide35.xml" Id="R4551bc49a24b41de"/><Relationship Type="http://schemas.openxmlformats.org/officeDocument/2006/relationships/notesMaster" Target="../notesMasters/notesMaster1.xml" Id="R494fd17368f947e7"/></Relationships>
</file>

<file path=ppt/notesSlides/_rels/notesSlide36.xml.rels><?xml version='1.0' encoding='UTF-8' standalone='yes'?>
<Relationships xmlns="http://schemas.openxmlformats.org/package/2006/relationships"><Relationship Type="http://schemas.openxmlformats.org/officeDocument/2006/relationships/slide" Target="../slides/slide36.xml" Id="R46d75afdf80a4447"/><Relationship Type="http://schemas.openxmlformats.org/officeDocument/2006/relationships/notesMaster" Target="../notesMasters/notesMaster1.xml" Id="Rcd8a939ae817419d"/></Relationships>
</file>

<file path=ppt/notesSlides/_rels/notesSlide37.xml.rels><?xml version='1.0' encoding='UTF-8' standalone='yes'?>
<Relationships xmlns="http://schemas.openxmlformats.org/package/2006/relationships"><Relationship Type="http://schemas.openxmlformats.org/officeDocument/2006/relationships/slide" Target="../slides/slide37.xml" Id="R963c0f47bccb4b8e"/><Relationship Type="http://schemas.openxmlformats.org/officeDocument/2006/relationships/notesMaster" Target="../notesMasters/notesMaster1.xml" Id="Rb62486ffde284cf3"/></Relationships>
</file>

<file path=ppt/notesSlides/_rels/notesSlide38.xml.rels><?xml version='1.0' encoding='UTF-8' standalone='yes'?>
<Relationships xmlns="http://schemas.openxmlformats.org/package/2006/relationships"><Relationship Type="http://schemas.openxmlformats.org/officeDocument/2006/relationships/slide" Target="../slides/slide38.xml" Id="Rbad203ba33d645c4"/><Relationship Type="http://schemas.openxmlformats.org/officeDocument/2006/relationships/notesMaster" Target="../notesMasters/notesMaster1.xml" Id="R6e8a0631fa4c46a9"/></Relationships>
</file>

<file path=ppt/notesSlides/_rels/notesSlide39.xml.rels><?xml version='1.0' encoding='UTF-8' standalone='yes'?>
<Relationships xmlns="http://schemas.openxmlformats.org/package/2006/relationships"><Relationship Type="http://schemas.openxmlformats.org/officeDocument/2006/relationships/slide" Target="../slides/slide39.xml" Id="R131e6edc81804645"/><Relationship Type="http://schemas.openxmlformats.org/officeDocument/2006/relationships/notesMaster" Target="../notesMasters/notesMaster1.xml" Id="R64b746bb32c847d1"/></Relationships>
</file>

<file path=ppt/notesSlides/_rels/notesSlide40.xml.rels><?xml version='1.0' encoding='UTF-8' standalone='yes'?>
<Relationships xmlns="http://schemas.openxmlformats.org/package/2006/relationships"><Relationship Type="http://schemas.openxmlformats.org/officeDocument/2006/relationships/slide" Target="../slides/slide40.xml" Id="Rd5c2ec85190949f0"/><Relationship Type="http://schemas.openxmlformats.org/officeDocument/2006/relationships/notesMaster" Target="../notesMasters/notesMaster1.xml" Id="R31924c666a2d4168"/></Relationships>
</file>

<file path=ppt/notesSlides/_rels/notesSlide41.xml.rels><?xml version='1.0' encoding='UTF-8' standalone='yes'?>
<Relationships xmlns="http://schemas.openxmlformats.org/package/2006/relationships"><Relationship Type="http://schemas.openxmlformats.org/officeDocument/2006/relationships/slide" Target="../slides/slide41.xml" Id="R421943286bb34244"/><Relationship Type="http://schemas.openxmlformats.org/officeDocument/2006/relationships/notesMaster" Target="../notesMasters/notesMaster1.xml" Id="R0ea163c66e624f77"/></Relationships>
</file>

<file path=ppt/notesSlides/_rels/notesSlide42.xml.rels><?xml version='1.0' encoding='UTF-8' standalone='yes'?>
<Relationships xmlns="http://schemas.openxmlformats.org/package/2006/relationships"><Relationship Type="http://schemas.openxmlformats.org/officeDocument/2006/relationships/slide" Target="../slides/slide42.xml" Id="R1ce15d80ffd84f13"/><Relationship Type="http://schemas.openxmlformats.org/officeDocument/2006/relationships/notesMaster" Target="../notesMasters/notesMaster1.xml" Id="Rae38469d62b04ac1"/></Relationships>
</file>

<file path=ppt/notesSlides/_rels/notesSlide43.xml.rels><?xml version='1.0' encoding='UTF-8' standalone='yes'?>
<Relationships xmlns="http://schemas.openxmlformats.org/package/2006/relationships"><Relationship Type="http://schemas.openxmlformats.org/officeDocument/2006/relationships/slide" Target="../slides/slide43.xml" Id="R07a571622c0e4bfe"/><Relationship Type="http://schemas.openxmlformats.org/officeDocument/2006/relationships/notesMaster" Target="../notesMasters/notesMaster1.xml" Id="R0d1f36b3846b49ed"/></Relationships>
</file>

<file path=ppt/notesSlides/_rels/notesSlide44.xml.rels><?xml version='1.0' encoding='UTF-8' standalone='yes'?>
<Relationships xmlns="http://schemas.openxmlformats.org/package/2006/relationships"><Relationship Type="http://schemas.openxmlformats.org/officeDocument/2006/relationships/slide" Target="../slides/slide44.xml" Id="R213373dd2b7e42d8"/><Relationship Type="http://schemas.openxmlformats.org/officeDocument/2006/relationships/notesMaster" Target="../notesMasters/notesMaster1.xml" Id="Ra460c031f55b4987"/></Relationships>
</file>

<file path=ppt/notesSlides/_rels/notesSlide45.xml.rels><?xml version='1.0' encoding='UTF-8' standalone='yes'?>
<Relationships xmlns="http://schemas.openxmlformats.org/package/2006/relationships"><Relationship Type="http://schemas.openxmlformats.org/officeDocument/2006/relationships/slide" Target="../slides/slide45.xml" Id="Rb899dac3bd8142c3"/><Relationship Type="http://schemas.openxmlformats.org/officeDocument/2006/relationships/notesMaster" Target="../notesMasters/notesMaster1.xml" Id="Rd57228c4563744c7"/></Relationships>
</file>

<file path=ppt/notesSlides/_rels/notesSlide46.xml.rels><?xml version='1.0' encoding='UTF-8' standalone='yes'?>
<Relationships xmlns="http://schemas.openxmlformats.org/package/2006/relationships"><Relationship Type="http://schemas.openxmlformats.org/officeDocument/2006/relationships/slide" Target="../slides/slide46.xml" Id="Rbcf16f3e3f554121"/><Relationship Type="http://schemas.openxmlformats.org/officeDocument/2006/relationships/notesMaster" Target="../notesMasters/notesMaster1.xml" Id="Rf736991ac38f49ac"/></Relationships>
</file>

<file path=ppt/notesSlides/_rels/notesSlide47.xml.rels><?xml version='1.0' encoding='UTF-8' standalone='yes'?>
<Relationships xmlns="http://schemas.openxmlformats.org/package/2006/relationships"><Relationship Type="http://schemas.openxmlformats.org/officeDocument/2006/relationships/slide" Target="../slides/slide47.xml" Id="R640b930f784a4e19"/><Relationship Type="http://schemas.openxmlformats.org/officeDocument/2006/relationships/notesMaster" Target="../notesMasters/notesMaster1.xml" Id="Re62f4ff623054565"/></Relationships>
</file>

<file path=ppt/notesSlides/_rels/notesSlide48.xml.rels><?xml version='1.0' encoding='UTF-8' standalone='yes'?>
<Relationships xmlns="http://schemas.openxmlformats.org/package/2006/relationships"><Relationship Type="http://schemas.openxmlformats.org/officeDocument/2006/relationships/slide" Target="../slides/slide48.xml" Id="R783b8c013106435a"/><Relationship Type="http://schemas.openxmlformats.org/officeDocument/2006/relationships/notesMaster" Target="../notesMasters/notesMaster1.xml" Id="Rc5669c11b7724898"/></Relationships>
</file>

<file path=ppt/notesSlides/_rels/notesSlide49.xml.rels><?xml version='1.0' encoding='UTF-8' standalone='yes'?>
<Relationships xmlns="http://schemas.openxmlformats.org/package/2006/relationships"><Relationship Type="http://schemas.openxmlformats.org/officeDocument/2006/relationships/slide" Target="../slides/slide49.xml" Id="Rd3d85883b8694833"/><Relationship Type="http://schemas.openxmlformats.org/officeDocument/2006/relationships/notesMaster" Target="../notesMasters/notesMaster1.xml" Id="R942512505ee640a5"/></Relationships>
</file>

<file path=ppt/notesSlides/_rels/notesSlide50.xml.rels><?xml version='1.0' encoding='UTF-8' standalone='yes'?>
<Relationships xmlns="http://schemas.openxmlformats.org/package/2006/relationships"><Relationship Type="http://schemas.openxmlformats.org/officeDocument/2006/relationships/slide" Target="../slides/slide50.xml" Id="R91288ea7c5c744e9"/><Relationship Type="http://schemas.openxmlformats.org/officeDocument/2006/relationships/notesMaster" Target="../notesMasters/notesMaster1.xml" Id="Rbbd58ee352154194"/></Relationships>
</file>

<file path=ppt/notesSlides/_rels/notesSlide51.xml.rels><?xml version='1.0' encoding='UTF-8' standalone='yes'?>
<Relationships xmlns="http://schemas.openxmlformats.org/package/2006/relationships"><Relationship Type="http://schemas.openxmlformats.org/officeDocument/2006/relationships/slide" Target="../slides/slide51.xml" Id="Ra54e7f2241aa4cc6"/><Relationship Type="http://schemas.openxmlformats.org/officeDocument/2006/relationships/notesMaster" Target="../notesMasters/notesMaster1.xml" Id="Ra4350f05bd9b498c"/></Relationships>
</file>

<file path=ppt/notesSlides/_rels/notesSlide52.xml.rels><?xml version='1.0' encoding='UTF-8' standalone='yes'?>
<Relationships xmlns="http://schemas.openxmlformats.org/package/2006/relationships"><Relationship Type="http://schemas.openxmlformats.org/officeDocument/2006/relationships/slide" Target="../slides/slide52.xml" Id="R77d221c988114647"/><Relationship Type="http://schemas.openxmlformats.org/officeDocument/2006/relationships/notesMaster" Target="../notesMasters/notesMaster1.xml" Id="Rdbec9f64dc8a407a"/></Relationships>
</file>

<file path=ppt/notesSlides/_rels/notesSlide53.xml.rels><?xml version='1.0' encoding='UTF-8' standalone='yes'?>
<Relationships xmlns="http://schemas.openxmlformats.org/package/2006/relationships"><Relationship Type="http://schemas.openxmlformats.org/officeDocument/2006/relationships/slide" Target="../slides/slide53.xml" Id="Rfda6214bc9264673"/><Relationship Type="http://schemas.openxmlformats.org/officeDocument/2006/relationships/notesMaster" Target="../notesMasters/notesMaster1.xml" Id="R266afdf559e84754"/></Relationships>
</file>

<file path=ppt/notesSlides/_rels/notesSlide54.xml.rels><?xml version='1.0' encoding='UTF-8' standalone='yes'?>
<Relationships xmlns="http://schemas.openxmlformats.org/package/2006/relationships"><Relationship Type="http://schemas.openxmlformats.org/officeDocument/2006/relationships/slide" Target="../slides/slide54.xml" Id="R12809a9c287740ed"/><Relationship Type="http://schemas.openxmlformats.org/officeDocument/2006/relationships/notesMaster" Target="../notesMasters/notesMaster1.xml" Id="Rf134d3e8f88a4e03"/></Relationships>
</file>

<file path=ppt/notesSlides/_rels/notesSlide55.xml.rels><?xml version='1.0' encoding='UTF-8' standalone='yes'?>
<Relationships xmlns="http://schemas.openxmlformats.org/package/2006/relationships"><Relationship Type="http://schemas.openxmlformats.org/officeDocument/2006/relationships/slide" Target="../slides/slide55.xml" Id="Rfdc0ec7f45594b4a"/><Relationship Type="http://schemas.openxmlformats.org/officeDocument/2006/relationships/notesMaster" Target="../notesMasters/notesMaster1.xml" Id="R77c7252c7ce74441"/></Relationships>
</file>

<file path=ppt/notesSlides/_rels/notesSlide56.xml.rels><?xml version='1.0' encoding='UTF-8' standalone='yes'?>
<Relationships xmlns="http://schemas.openxmlformats.org/package/2006/relationships"><Relationship Type="http://schemas.openxmlformats.org/officeDocument/2006/relationships/slide" Target="../slides/slide56.xml" Id="R2e12fe28d6b643e9"/><Relationship Type="http://schemas.openxmlformats.org/officeDocument/2006/relationships/notesMaster" Target="../notesMasters/notesMaster1.xml" Id="R5035b2e583db434d"/></Relationships>
</file>

<file path=ppt/notesSlides/_rels/notesSlide57.xml.rels><?xml version='1.0' encoding='UTF-8' standalone='yes'?>
<Relationships xmlns="http://schemas.openxmlformats.org/package/2006/relationships"><Relationship Type="http://schemas.openxmlformats.org/officeDocument/2006/relationships/slide" Target="../slides/slide57.xml" Id="R704bc10e1aa844ec"/><Relationship Type="http://schemas.openxmlformats.org/officeDocument/2006/relationships/notesMaster" Target="../notesMasters/notesMaster1.xml" Id="Ra90ff890c6ff435d"/></Relationships>
</file>

<file path=ppt/notesSlides/_rels/notesSlide58.xml.rels><?xml version='1.0' encoding='UTF-8' standalone='yes'?>
<Relationships xmlns="http://schemas.openxmlformats.org/package/2006/relationships"><Relationship Type="http://schemas.openxmlformats.org/officeDocument/2006/relationships/slide" Target="../slides/slide58.xml" Id="R77ccce2f5df04f46"/><Relationship Type="http://schemas.openxmlformats.org/officeDocument/2006/relationships/notesMaster" Target="../notesMasters/notesMaster1.xml" Id="R698708f9b3ab4e28"/></Relationships>
</file>

<file path=ppt/notesSlides/_rels/notesSlide59.xml.rels><?xml version='1.0' encoding='UTF-8' standalone='yes'?>
<Relationships xmlns="http://schemas.openxmlformats.org/package/2006/relationships"><Relationship Type="http://schemas.openxmlformats.org/officeDocument/2006/relationships/slide" Target="../slides/slide59.xml" Id="R4e69ed63f84e4ef3"/><Relationship Type="http://schemas.openxmlformats.org/officeDocument/2006/relationships/notesMaster" Target="../notesMasters/notesMaster1.xml" Id="R439d2db62d6640a6"/></Relationships>
</file>

<file path=ppt/notesSlides/_rels/notesSlide60.xml.rels><?xml version='1.0' encoding='UTF-8' standalone='yes'?>
<Relationships xmlns="http://schemas.openxmlformats.org/package/2006/relationships"><Relationship Type="http://schemas.openxmlformats.org/officeDocument/2006/relationships/slide" Target="../slides/slide60.xml" Id="Rab7e13920fcf49cb"/><Relationship Type="http://schemas.openxmlformats.org/officeDocument/2006/relationships/notesMaster" Target="../notesMasters/notesMaster1.xml" Id="R5e64bfab5b544bd9"/></Relationships>
</file>

<file path=ppt/notesSlides/_rels/notesSlide61.xml.rels><?xml version='1.0' encoding='UTF-8' standalone='yes'?>
<Relationships xmlns="http://schemas.openxmlformats.org/package/2006/relationships"><Relationship Type="http://schemas.openxmlformats.org/officeDocument/2006/relationships/slide" Target="../slides/slide61.xml" Id="R58da35ad0f3742dc"/><Relationship Type="http://schemas.openxmlformats.org/officeDocument/2006/relationships/notesMaster" Target="../notesMasters/notesMaster1.xml" Id="R256beba776c6457f"/></Relationships>
</file>

<file path=ppt/notesSlides/_rels/notesSlide62.xml.rels><?xml version='1.0' encoding='UTF-8' standalone='yes'?>
<Relationships xmlns="http://schemas.openxmlformats.org/package/2006/relationships"><Relationship Type="http://schemas.openxmlformats.org/officeDocument/2006/relationships/slide" Target="../slides/slide62.xml" Id="Rd244cd283978428d"/><Relationship Type="http://schemas.openxmlformats.org/officeDocument/2006/relationships/notesMaster" Target="../notesMasters/notesMaster1.xml" Id="R47b665e94a4d4f2e"/></Relationships>
</file>

<file path=ppt/notesSlides/_rels/notesSlide63.xml.rels><?xml version='1.0' encoding='UTF-8' standalone='yes'?>
<Relationships xmlns="http://schemas.openxmlformats.org/package/2006/relationships"><Relationship Type="http://schemas.openxmlformats.org/officeDocument/2006/relationships/slide" Target="../slides/slide63.xml" Id="R8bbbf3bebf9d422d"/><Relationship Type="http://schemas.openxmlformats.org/officeDocument/2006/relationships/notesMaster" Target="../notesMasters/notesMaster1.xml" Id="Rbfd8fe41b2a741b7"/></Relationships>
</file>

<file path=ppt/notesSlides/_rels/notesSlide64.xml.rels><?xml version='1.0' encoding='UTF-8' standalone='yes'?>
<Relationships xmlns="http://schemas.openxmlformats.org/package/2006/relationships"><Relationship Type="http://schemas.openxmlformats.org/officeDocument/2006/relationships/slide" Target="../slides/slide64.xml" Id="Rda727806763f4c7f"/><Relationship Type="http://schemas.openxmlformats.org/officeDocument/2006/relationships/notesMaster" Target="../notesMasters/notesMaster1.xml" Id="R86ac1e618dfb4b9d"/></Relationships>
</file>

<file path=ppt/notesSlides/_rels/notesSlide65.xml.rels><?xml version='1.0' encoding='UTF-8' standalone='yes'?>
<Relationships xmlns="http://schemas.openxmlformats.org/package/2006/relationships"><Relationship Type="http://schemas.openxmlformats.org/officeDocument/2006/relationships/slide" Target="../slides/slide65.xml" Id="Ra5f3784f99fe4d43"/><Relationship Type="http://schemas.openxmlformats.org/officeDocument/2006/relationships/notesMaster" Target="../notesMasters/notesMaster1.xml" Id="R850c7ec254cb4375"/></Relationships>
</file>

<file path=ppt/notesSlides/_rels/notesSlide66.xml.rels><?xml version='1.0' encoding='UTF-8' standalone='yes'?>
<Relationships xmlns="http://schemas.openxmlformats.org/package/2006/relationships"><Relationship Type="http://schemas.openxmlformats.org/officeDocument/2006/relationships/slide" Target="../slides/slide66.xml" Id="R807f65ef45604248"/><Relationship Type="http://schemas.openxmlformats.org/officeDocument/2006/relationships/notesMaster" Target="../notesMasters/notesMaster1.xml" Id="R167f629b8bd54e19"/></Relationships>
</file>

<file path=ppt/notesSlides/_rels/notesSlide67.xml.rels><?xml version='1.0' encoding='UTF-8' standalone='yes'?>
<Relationships xmlns="http://schemas.openxmlformats.org/package/2006/relationships"><Relationship Type="http://schemas.openxmlformats.org/officeDocument/2006/relationships/slide" Target="../slides/slide67.xml" Id="R3fabc36a4f2a49c4"/><Relationship Type="http://schemas.openxmlformats.org/officeDocument/2006/relationships/notesMaster" Target="../notesMasters/notesMaster1.xml" Id="Red0273f51e1d4ec1"/></Relationships>
</file>

<file path=ppt/notesSlides/_rels/notesSlide68.xml.rels><?xml version='1.0' encoding='UTF-8' standalone='yes'?>
<Relationships xmlns="http://schemas.openxmlformats.org/package/2006/relationships"><Relationship Type="http://schemas.openxmlformats.org/officeDocument/2006/relationships/slide" Target="../slides/slide68.xml" Id="Rbbaae3755c8c401b"/><Relationship Type="http://schemas.openxmlformats.org/officeDocument/2006/relationships/notesMaster" Target="../notesMasters/notesMaster1.xml" Id="R302756a906b74d31"/></Relationships>
</file>

<file path=ppt/notesSlides/_rels/notesSlide69.xml.rels><?xml version='1.0' encoding='UTF-8' standalone='yes'?>
<Relationships xmlns="http://schemas.openxmlformats.org/package/2006/relationships"><Relationship Type="http://schemas.openxmlformats.org/officeDocument/2006/relationships/slide" Target="../slides/slide69.xml" Id="Rccd9b43ee2cb4ebb"/><Relationship Type="http://schemas.openxmlformats.org/officeDocument/2006/relationships/notesMaster" Target="../notesMasters/notesMaster1.xml" Id="Re1769f68f63d4e4e"/></Relationships>
</file>

<file path=ppt/notesSlides/_rels/notesSlide70.xml.rels><?xml version='1.0' encoding='UTF-8' standalone='yes'?>
<Relationships xmlns="http://schemas.openxmlformats.org/package/2006/relationships"><Relationship Type="http://schemas.openxmlformats.org/officeDocument/2006/relationships/slide" Target="../slides/slide70.xml" Id="R66e7dbce62754eab"/><Relationship Type="http://schemas.openxmlformats.org/officeDocument/2006/relationships/notesMaster" Target="../notesMasters/notesMaster1.xml" Id="R4421b348279e4ee4"/></Relationships>
</file>

<file path=ppt/notesSlides/_rels/notesSlide71.xml.rels><?xml version='1.0' encoding='UTF-8' standalone='yes'?>
<Relationships xmlns="http://schemas.openxmlformats.org/package/2006/relationships"><Relationship Type="http://schemas.openxmlformats.org/officeDocument/2006/relationships/slide" Target="../slides/slide71.xml" Id="Rbf754b53b5354756"/><Relationship Type="http://schemas.openxmlformats.org/officeDocument/2006/relationships/notesMaster" Target="../notesMasters/notesMaster1.xml" Id="R97c634cd44844c16"/></Relationships>
</file>

<file path=ppt/notesSlides/_rels/notesSlide72.xml.rels><?xml version='1.0' encoding='UTF-8' standalone='yes'?>
<Relationships xmlns="http://schemas.openxmlformats.org/package/2006/relationships"><Relationship Type="http://schemas.openxmlformats.org/officeDocument/2006/relationships/slide" Target="../slides/slide72.xml" Id="R5e7505e16bcb41f8"/><Relationship Type="http://schemas.openxmlformats.org/officeDocument/2006/relationships/notesMaster" Target="../notesMasters/notesMaster1.xml" Id="Re3ae06fde8cd4018"/></Relationships>
</file>

<file path=ppt/notesSlides/_rels/notesSlide73.xml.rels><?xml version='1.0' encoding='UTF-8' standalone='yes'?>
<Relationships xmlns="http://schemas.openxmlformats.org/package/2006/relationships"><Relationship Type="http://schemas.openxmlformats.org/officeDocument/2006/relationships/slide" Target="../slides/slide73.xml" Id="Rbf4a34f448564e04"/><Relationship Type="http://schemas.openxmlformats.org/officeDocument/2006/relationships/notesMaster" Target="../notesMasters/notesMaster1.xml" Id="R846085256d00486f"/></Relationships>
</file>

<file path=ppt/notesSlides/_rels/notesSlide74.xml.rels><?xml version='1.0' encoding='UTF-8' standalone='yes'?>
<Relationships xmlns="http://schemas.openxmlformats.org/package/2006/relationships"><Relationship Type="http://schemas.openxmlformats.org/officeDocument/2006/relationships/slide" Target="../slides/slide74.xml" Id="Reee1f6a510274b93"/><Relationship Type="http://schemas.openxmlformats.org/officeDocument/2006/relationships/notesMaster" Target="../notesMasters/notesMaster1.xml" Id="R31100dfafb124115"/></Relationships>
</file>

<file path=ppt/notesSlides/_rels/notesSlide75.xml.rels><?xml version='1.0' encoding='UTF-8' standalone='yes'?>
<Relationships xmlns="http://schemas.openxmlformats.org/package/2006/relationships"><Relationship Type="http://schemas.openxmlformats.org/officeDocument/2006/relationships/slide" Target="../slides/slide75.xml" Id="Ra2a4734c0e9245ea"/><Relationship Type="http://schemas.openxmlformats.org/officeDocument/2006/relationships/notesMaster" Target="../notesMasters/notesMaster1.xml" Id="R70aea548604d4401"/></Relationships>
</file>

<file path=ppt/notesSlides/_rels/notesSlide76.xml.rels><?xml version='1.0' encoding='UTF-8' standalone='yes'?>
<Relationships xmlns="http://schemas.openxmlformats.org/package/2006/relationships"><Relationship Type="http://schemas.openxmlformats.org/officeDocument/2006/relationships/slide" Target="../slides/slide76.xml" Id="Re0600fa860904e66"/><Relationship Type="http://schemas.openxmlformats.org/officeDocument/2006/relationships/notesMaster" Target="../notesMasters/notesMaster1.xml" Id="R43097719f2c44000"/></Relationships>
</file>

<file path=ppt/notesSlides/_rels/notesSlide77.xml.rels><?xml version='1.0' encoding='UTF-8' standalone='yes'?>
<Relationships xmlns="http://schemas.openxmlformats.org/package/2006/relationships"><Relationship Type="http://schemas.openxmlformats.org/officeDocument/2006/relationships/slide" Target="../slides/slide77.xml" Id="Re977920df4b14751"/><Relationship Type="http://schemas.openxmlformats.org/officeDocument/2006/relationships/notesMaster" Target="../notesMasters/notesMaster1.xml" Id="Rdd837f7c843a4e49"/></Relationships>
</file>

<file path=ppt/notesSlides/_rels/notesSlide78.xml.rels><?xml version='1.0' encoding='UTF-8' standalone='yes'?>
<Relationships xmlns="http://schemas.openxmlformats.org/package/2006/relationships"><Relationship Type="http://schemas.openxmlformats.org/officeDocument/2006/relationships/slide" Target="../slides/slide78.xml" Id="Rc5a1ca94d2d14269"/><Relationship Type="http://schemas.openxmlformats.org/officeDocument/2006/relationships/notesMaster" Target="../notesMasters/notesMaster1.xml" Id="Rfdb1382234d042db"/></Relationships>
</file>

<file path=ppt/notesSlides/_rels/notesSlide79.xml.rels><?xml version='1.0' encoding='UTF-8' standalone='yes'?>
<Relationships xmlns="http://schemas.openxmlformats.org/package/2006/relationships"><Relationship Type="http://schemas.openxmlformats.org/officeDocument/2006/relationships/slide" Target="../slides/slide79.xml" Id="R517220b77b2b4f22"/><Relationship Type="http://schemas.openxmlformats.org/officeDocument/2006/relationships/notesMaster" Target="../notesMasters/notesMaster1.xml" Id="R358cdcf1a829417d"/></Relationships>
</file>

<file path=ppt/notesSlides/_rels/notesSlide80.xml.rels><?xml version='1.0' encoding='UTF-8' standalone='yes'?>
<Relationships xmlns="http://schemas.openxmlformats.org/package/2006/relationships"><Relationship Type="http://schemas.openxmlformats.org/officeDocument/2006/relationships/slide" Target="../slides/slide80.xml" Id="Rd12713f8471f496d"/><Relationship Type="http://schemas.openxmlformats.org/officeDocument/2006/relationships/notesMaster" Target="../notesMasters/notesMaster1.xml" Id="R9f7630f2acfa4714"/></Relationships>
</file>

<file path=ppt/notesSlides/_rels/notesSlide81.xml.rels><?xml version='1.0' encoding='UTF-8' standalone='yes'?>
<Relationships xmlns="http://schemas.openxmlformats.org/package/2006/relationships"><Relationship Type="http://schemas.openxmlformats.org/officeDocument/2006/relationships/slide" Target="../slides/slide81.xml" Id="Raa4a74a901ce43b6"/><Relationship Type="http://schemas.openxmlformats.org/officeDocument/2006/relationships/notesMaster" Target="../notesMasters/notesMaster1.xml" Id="Rc23ff8a6b08249e6"/></Relationships>
</file>

<file path=ppt/notesSlides/_rels/notesSlide82.xml.rels><?xml version='1.0' encoding='UTF-8' standalone='yes'?>
<Relationships xmlns="http://schemas.openxmlformats.org/package/2006/relationships"><Relationship Type="http://schemas.openxmlformats.org/officeDocument/2006/relationships/slide" Target="../slides/slide82.xml" Id="Reddb7e5d0de040c4"/><Relationship Type="http://schemas.openxmlformats.org/officeDocument/2006/relationships/notesMaster" Target="../notesMasters/notesMaster1.xml" Id="R9a12ccf7133649ab"/></Relationships>
</file>

<file path=ppt/notesSlides/_rels/notesSlide83.xml.rels><?xml version='1.0' encoding='UTF-8' standalone='yes'?>
<Relationships xmlns="http://schemas.openxmlformats.org/package/2006/relationships"><Relationship Type="http://schemas.openxmlformats.org/officeDocument/2006/relationships/slide" Target="../slides/slide83.xml" Id="R909194a2722e4ff5"/><Relationship Type="http://schemas.openxmlformats.org/officeDocument/2006/relationships/notesMaster" Target="../notesMasters/notesMaster1.xml" Id="Rc23c786f00014163"/></Relationships>
</file>

<file path=ppt/notesSlides/_rels/notesSlide84.xml.rels><?xml version='1.0' encoding='UTF-8' standalone='yes'?>
<Relationships xmlns="http://schemas.openxmlformats.org/package/2006/relationships"><Relationship Type="http://schemas.openxmlformats.org/officeDocument/2006/relationships/slide" Target="../slides/slide84.xml" Id="Ra4404a1c030747cb"/><Relationship Type="http://schemas.openxmlformats.org/officeDocument/2006/relationships/notesMaster" Target="../notesMasters/notesMaster1.xml" Id="Rb35d77b8e40240e5"/></Relationships>
</file>

<file path=ppt/notesSlides/_rels/notesSlide85.xml.rels><?xml version='1.0' encoding='UTF-8' standalone='yes'?>
<Relationships xmlns="http://schemas.openxmlformats.org/package/2006/relationships"><Relationship Type="http://schemas.openxmlformats.org/officeDocument/2006/relationships/slide" Target="../slides/slide85.xml" Id="R1445ad6d1f124dff"/><Relationship Type="http://schemas.openxmlformats.org/officeDocument/2006/relationships/notesMaster" Target="../notesMasters/notesMaster1.xml" Id="Rd4ed4c7a71f94b17"/></Relationships>
</file>

<file path=ppt/notesSlides/_rels/notesSlide86.xml.rels><?xml version='1.0' encoding='UTF-8' standalone='yes'?>
<Relationships xmlns="http://schemas.openxmlformats.org/package/2006/relationships"><Relationship Type="http://schemas.openxmlformats.org/officeDocument/2006/relationships/slide" Target="../slides/slide86.xml" Id="R30a97918c6ff4ff9"/><Relationship Type="http://schemas.openxmlformats.org/officeDocument/2006/relationships/notesMaster" Target="../notesMasters/notesMaster1.xml" Id="R16cce4f133d94532"/></Relationships>
</file>

<file path=ppt/notesSlides/_rels/notesSlide87.xml.rels><?xml version='1.0' encoding='UTF-8' standalone='yes'?>
<Relationships xmlns="http://schemas.openxmlformats.org/package/2006/relationships"><Relationship Type="http://schemas.openxmlformats.org/officeDocument/2006/relationships/slide" Target="../slides/slide87.xml" Id="R8926d1938cb64f05"/><Relationship Type="http://schemas.openxmlformats.org/officeDocument/2006/relationships/notesMaster" Target="../notesMasters/notesMaster1.xml" Id="R7c6f4ac4ff1746fc"/></Relationships>
</file>

<file path=ppt/notesSlides/_rels/notesSlide88.xml.rels><?xml version='1.0' encoding='UTF-8' standalone='yes'?>
<Relationships xmlns="http://schemas.openxmlformats.org/package/2006/relationships"><Relationship Type="http://schemas.openxmlformats.org/officeDocument/2006/relationships/slide" Target="../slides/slide88.xml" Id="R2d228ff402b4431c"/><Relationship Type="http://schemas.openxmlformats.org/officeDocument/2006/relationships/notesMaster" Target="../notesMasters/notesMaster1.xml" Id="R9c0434f8ee124306"/></Relationships>
</file>

<file path=ppt/notesSlides/_rels/notesSlide89.xml.rels><?xml version='1.0' encoding='UTF-8' standalone='yes'?>
<Relationships xmlns="http://schemas.openxmlformats.org/package/2006/relationships"><Relationship Type="http://schemas.openxmlformats.org/officeDocument/2006/relationships/slide" Target="../slides/slide89.xml" Id="R5d07bc588d894e39"/><Relationship Type="http://schemas.openxmlformats.org/officeDocument/2006/relationships/notesMaster" Target="../notesMasters/notesMaster1.xml" Id="Rcad29671d8b24c3d"/></Relationships>
</file>

<file path=ppt/notesSlides/_rels/notesSlide90.xml.rels><?xml version='1.0' encoding='UTF-8' standalone='yes'?>
<Relationships xmlns="http://schemas.openxmlformats.org/package/2006/relationships"><Relationship Type="http://schemas.openxmlformats.org/officeDocument/2006/relationships/slide" Target="../slides/slide90.xml" Id="Rd388f19d016f475f"/><Relationship Type="http://schemas.openxmlformats.org/officeDocument/2006/relationships/notesMaster" Target="../notesMasters/notesMaster1.xml" Id="R3f4a67fa9d784726"/></Relationships>
</file>

<file path=ppt/notesSlides/_rels/notesSlide91.xml.rels><?xml version='1.0' encoding='UTF-8' standalone='yes'?>
<Relationships xmlns="http://schemas.openxmlformats.org/package/2006/relationships"><Relationship Type="http://schemas.openxmlformats.org/officeDocument/2006/relationships/slide" Target="../slides/slide91.xml" Id="R5cc6779e4ab44151"/><Relationship Type="http://schemas.openxmlformats.org/officeDocument/2006/relationships/notesMaster" Target="../notesMasters/notesMaster1.xml" Id="R1aeb83f7add14db3"/></Relationships>
</file>

<file path=ppt/notesSlides/_rels/notesSlide92.xml.rels><?xml version='1.0' encoding='UTF-8' standalone='yes'?>
<Relationships xmlns="http://schemas.openxmlformats.org/package/2006/relationships"><Relationship Type="http://schemas.openxmlformats.org/officeDocument/2006/relationships/slide" Target="../slides/slide92.xml" Id="Rb594db40684d45d7"/><Relationship Type="http://schemas.openxmlformats.org/officeDocument/2006/relationships/notesMaster" Target="../notesMasters/notesMaster1.xml" Id="Reb7ba9bc51084988"/></Relationships>
</file>

<file path=ppt/notesSlides/_rels/notesSlide93.xml.rels><?xml version='1.0' encoding='UTF-8' standalone='yes'?>
<Relationships xmlns="http://schemas.openxmlformats.org/package/2006/relationships"><Relationship Type="http://schemas.openxmlformats.org/officeDocument/2006/relationships/slide" Target="../slides/slide93.xml" Id="Rdfb9625ed0c04cb3"/><Relationship Type="http://schemas.openxmlformats.org/officeDocument/2006/relationships/notesMaster" Target="../notesMasters/notesMaster1.xml" Id="Rdc52723f978f4a82"/></Relationships>
</file>

<file path=ppt/notesSlides/_rels/notesSlide94.xml.rels><?xml version='1.0' encoding='UTF-8' standalone='yes'?>
<Relationships xmlns="http://schemas.openxmlformats.org/package/2006/relationships"><Relationship Type="http://schemas.openxmlformats.org/officeDocument/2006/relationships/slide" Target="../slides/slide94.xml" Id="Rd6adc12b71c54bd1"/><Relationship Type="http://schemas.openxmlformats.org/officeDocument/2006/relationships/notesMaster" Target="../notesMasters/notesMaster1.xml" Id="R59ddfaaf92b243cf"/></Relationships>
</file>

<file path=ppt/notesSlides/_rels/notesSlide95.xml.rels><?xml version='1.0' encoding='UTF-8' standalone='yes'?>
<Relationships xmlns="http://schemas.openxmlformats.org/package/2006/relationships"><Relationship Type="http://schemas.openxmlformats.org/officeDocument/2006/relationships/slide" Target="../slides/slide95.xml" Id="R6630f7bb866b4749"/><Relationship Type="http://schemas.openxmlformats.org/officeDocument/2006/relationships/notesMaster" Target="../notesMasters/notesMaster1.xml" Id="R2898368e049b4902"/></Relationships>
</file>

<file path=ppt/notesSlides/_rels/notesSlide96.xml.rels><?xml version='1.0' encoding='UTF-8' standalone='yes'?>
<Relationships xmlns="http://schemas.openxmlformats.org/package/2006/relationships"><Relationship Type="http://schemas.openxmlformats.org/officeDocument/2006/relationships/slide" Target="../slides/slide96.xml" Id="R7320d7bd7b554dc9"/><Relationship Type="http://schemas.openxmlformats.org/officeDocument/2006/relationships/notesMaster" Target="../notesMasters/notesMaster1.xml" Id="R827ccaa251594d05"/></Relationships>
</file>

<file path=ppt/notesSlides/_rels/notesSlide97.xml.rels><?xml version='1.0' encoding='UTF-8' standalone='yes'?>
<Relationships xmlns="http://schemas.openxmlformats.org/package/2006/relationships"><Relationship Type="http://schemas.openxmlformats.org/officeDocument/2006/relationships/slide" Target="../slides/slide97.xml" Id="R901c1c56f06a4e2e"/><Relationship Type="http://schemas.openxmlformats.org/officeDocument/2006/relationships/notesMaster" Target="../notesMasters/notesMaster1.xml" Id="Rdbbc2be2b4984f44"/></Relationships>
</file>

<file path=ppt/notesSlides/_rels/notesSlide98.xml.rels><?xml version='1.0' encoding='UTF-8' standalone='yes'?>
<Relationships xmlns="http://schemas.openxmlformats.org/package/2006/relationships"><Relationship Type="http://schemas.openxmlformats.org/officeDocument/2006/relationships/slide" Target="../slides/slide98.xml" Id="R0d86f9b7145842d7"/><Relationship Type="http://schemas.openxmlformats.org/officeDocument/2006/relationships/notesMaster" Target="../notesMasters/notesMaster1.xml" Id="Rdbc90e1441484b68"/></Relationships>
</file>

<file path=ppt/notesSlides/_rels/notesSlide99.xml.rels><?xml version='1.0' encoding='UTF-8' standalone='yes'?>
<Relationships xmlns="http://schemas.openxmlformats.org/package/2006/relationships"><Relationship Type="http://schemas.openxmlformats.org/officeDocument/2006/relationships/slide" Target="../slides/slide99.xml" Id="R6b83c7497e6d48ce"/><Relationship Type="http://schemas.openxmlformats.org/officeDocument/2006/relationships/notesMaster" Target="../notesMasters/notesMaster1.xml" Id="Ra8daebd716474c77"/></Relationships>
</file>

<file path=ppt/notesSlides/_rels/notesSlide100.xml.rels><?xml version='1.0' encoding='UTF-8' standalone='yes'?>
<Relationships xmlns="http://schemas.openxmlformats.org/package/2006/relationships"><Relationship Type="http://schemas.openxmlformats.org/officeDocument/2006/relationships/slide" Target="../slides/slide100.xml" Id="R250b9866978943cd"/><Relationship Type="http://schemas.openxmlformats.org/officeDocument/2006/relationships/notesMaster" Target="../notesMasters/notesMaster1.xml" Id="R13bc8db3a49a42ea"/></Relationships>
</file>

<file path=ppt/notesSlides/_rels/notesSlide101.xml.rels><?xml version='1.0' encoding='UTF-8' standalone='yes'?>
<Relationships xmlns="http://schemas.openxmlformats.org/package/2006/relationships"><Relationship Type="http://schemas.openxmlformats.org/officeDocument/2006/relationships/slide" Target="../slides/slide101.xml" Id="R4b714cecc255489c"/><Relationship Type="http://schemas.openxmlformats.org/officeDocument/2006/relationships/notesMaster" Target="../notesMasters/notesMaster1.xml" Id="R92ca91831b2b46ab"/></Relationships>
</file>

<file path=ppt/notesSlides/_rels/notesSlide102.xml.rels><?xml version='1.0' encoding='UTF-8' standalone='yes'?>
<Relationships xmlns="http://schemas.openxmlformats.org/package/2006/relationships"><Relationship Type="http://schemas.openxmlformats.org/officeDocument/2006/relationships/slide" Target="../slides/slide102.xml" Id="R42ce8375d9db48b6"/><Relationship Type="http://schemas.openxmlformats.org/officeDocument/2006/relationships/notesMaster" Target="../notesMasters/notesMaster1.xml" Id="Rbe1fa47744de4012"/></Relationships>
</file>

<file path=ppt/notesSlides/_rels/notesSlide103.xml.rels><?xml version='1.0' encoding='UTF-8' standalone='yes'?>
<Relationships xmlns="http://schemas.openxmlformats.org/package/2006/relationships"><Relationship Type="http://schemas.openxmlformats.org/officeDocument/2006/relationships/slide" Target="../slides/slide103.xml" Id="Ra8f3f90d97134d4a"/><Relationship Type="http://schemas.openxmlformats.org/officeDocument/2006/relationships/notesMaster" Target="../notesMasters/notesMaster1.xml" Id="Rf48669fcb9f3457b"/></Relationships>
</file>

<file path=ppt/notesSlides/_rels/notesSlide104.xml.rels><?xml version='1.0' encoding='UTF-8' standalone='yes'?>
<Relationships xmlns="http://schemas.openxmlformats.org/package/2006/relationships"><Relationship Type="http://schemas.openxmlformats.org/officeDocument/2006/relationships/slide" Target="../slides/slide104.xml" Id="Rd653bd792ad84e24"/><Relationship Type="http://schemas.openxmlformats.org/officeDocument/2006/relationships/notesMaster" Target="../notesMasters/notesMaster1.xml" Id="Rf364f3eb256247a2"/></Relationships>
</file>

<file path=ppt/notesSlides/_rels/notesSlide105.xml.rels><?xml version='1.0' encoding='UTF-8' standalone='yes'?>
<Relationships xmlns="http://schemas.openxmlformats.org/package/2006/relationships"><Relationship Type="http://schemas.openxmlformats.org/officeDocument/2006/relationships/slide" Target="../slides/slide105.xml" Id="R446e4c01eb0d4240"/><Relationship Type="http://schemas.openxmlformats.org/officeDocument/2006/relationships/notesMaster" Target="../notesMasters/notesMaster1.xml" Id="R8c7ef0bd7e1641c9"/></Relationships>
</file>

<file path=ppt/notesSlides/_rels/notesSlide106.xml.rels><?xml version='1.0' encoding='UTF-8' standalone='yes'?>
<Relationships xmlns="http://schemas.openxmlformats.org/package/2006/relationships"><Relationship Type="http://schemas.openxmlformats.org/officeDocument/2006/relationships/slide" Target="../slides/slide106.xml" Id="R2b46e34323b64206"/><Relationship Type="http://schemas.openxmlformats.org/officeDocument/2006/relationships/notesMaster" Target="../notesMasters/notesMaster1.xml" Id="Rb811d6639dbb435c"/></Relationships>
</file>

<file path=ppt/notesSlides/_rels/notesSlide107.xml.rels><?xml version='1.0' encoding='UTF-8' standalone='yes'?>
<Relationships xmlns="http://schemas.openxmlformats.org/package/2006/relationships"><Relationship Type="http://schemas.openxmlformats.org/officeDocument/2006/relationships/slide" Target="../slides/slide107.xml" Id="R6b8addba040f465e"/><Relationship Type="http://schemas.openxmlformats.org/officeDocument/2006/relationships/notesMaster" Target="../notesMasters/notesMaster1.xml" Id="R0e939895ef004a22"/></Relationships>
</file>

<file path=ppt/notesSlides/_rels/notesSlide108.xml.rels><?xml version='1.0' encoding='UTF-8' standalone='yes'?>
<Relationships xmlns="http://schemas.openxmlformats.org/package/2006/relationships"><Relationship Type="http://schemas.openxmlformats.org/officeDocument/2006/relationships/slide" Target="../slides/slide108.xml" Id="R1a13ae934600481e"/><Relationship Type="http://schemas.openxmlformats.org/officeDocument/2006/relationships/notesMaster" Target="../notesMasters/notesMaster1.xml" Id="Rc56b17c1867c419e"/></Relationships>
</file>

<file path=ppt/notesSlides/_rels/notesSlide109.xml.rels><?xml version='1.0' encoding='UTF-8' standalone='yes'?>
<Relationships xmlns="http://schemas.openxmlformats.org/package/2006/relationships"><Relationship Type="http://schemas.openxmlformats.org/officeDocument/2006/relationships/slide" Target="../slides/slide109.xml" Id="R5900cdba6f7d48ff"/><Relationship Type="http://schemas.openxmlformats.org/officeDocument/2006/relationships/notesMaster" Target="../notesMasters/notesMaster1.xml" Id="R2d9d5ec1482e4f07"/></Relationships>
</file>

<file path=ppt/notesSlides/_rels/notesSlide110.xml.rels><?xml version='1.0' encoding='UTF-8' standalone='yes'?>
<Relationships xmlns="http://schemas.openxmlformats.org/package/2006/relationships"><Relationship Type="http://schemas.openxmlformats.org/officeDocument/2006/relationships/slide" Target="../slides/slide110.xml" Id="R6530926ff04c4bed"/><Relationship Type="http://schemas.openxmlformats.org/officeDocument/2006/relationships/notesMaster" Target="../notesMasters/notesMaster1.xml" Id="R48eaecc8c6c5453a"/></Relationships>
</file>

<file path=ppt/notesSlides/_rels/notesSlide111.xml.rels><?xml version='1.0' encoding='UTF-8' standalone='yes'?>
<Relationships xmlns="http://schemas.openxmlformats.org/package/2006/relationships"><Relationship Type="http://schemas.openxmlformats.org/officeDocument/2006/relationships/slide" Target="../slides/slide111.xml" Id="R4ea04ee66d964fa1"/><Relationship Type="http://schemas.openxmlformats.org/officeDocument/2006/relationships/notesMaster" Target="../notesMasters/notesMaster1.xml" Id="Rbdfeb07531774af1"/></Relationships>
</file>

<file path=ppt/notesSlides/_rels/notesSlide112.xml.rels><?xml version='1.0' encoding='UTF-8' standalone='yes'?>
<Relationships xmlns="http://schemas.openxmlformats.org/package/2006/relationships"><Relationship Type="http://schemas.openxmlformats.org/officeDocument/2006/relationships/slide" Target="../slides/slide112.xml" Id="R4410ebd36b8444e6"/><Relationship Type="http://schemas.openxmlformats.org/officeDocument/2006/relationships/notesMaster" Target="../notesMasters/notesMaster1.xml" Id="R63344863e61642dc"/></Relationships>
</file>

<file path=ppt/notesSlides/_rels/notesSlide113.xml.rels><?xml version='1.0' encoding='UTF-8' standalone='yes'?>
<Relationships xmlns="http://schemas.openxmlformats.org/package/2006/relationships"><Relationship Type="http://schemas.openxmlformats.org/officeDocument/2006/relationships/slide" Target="../slides/slide113.xml" Id="Rf7eef499df9644f8"/><Relationship Type="http://schemas.openxmlformats.org/officeDocument/2006/relationships/notesMaster" Target="../notesMasters/notesMaster1.xml" Id="R2b19b46fb59c443e"/></Relationships>
</file>

<file path=ppt/notesSlides/_rels/notesSlide114.xml.rels><?xml version='1.0' encoding='UTF-8' standalone='yes'?>
<Relationships xmlns="http://schemas.openxmlformats.org/package/2006/relationships"><Relationship Type="http://schemas.openxmlformats.org/officeDocument/2006/relationships/slide" Target="../slides/slide114.xml" Id="R6fecd92159a84232"/><Relationship Type="http://schemas.openxmlformats.org/officeDocument/2006/relationships/notesMaster" Target="../notesMasters/notesMaster1.xml" Id="Rf10d12f037e94f3c"/></Relationships>
</file>

<file path=ppt/notesSlides/_rels/notesSlide115.xml.rels><?xml version='1.0' encoding='UTF-8' standalone='yes'?>
<Relationships xmlns="http://schemas.openxmlformats.org/package/2006/relationships"><Relationship Type="http://schemas.openxmlformats.org/officeDocument/2006/relationships/slide" Target="../slides/slide115.xml" Id="R4cb3b7218e024046"/><Relationship Type="http://schemas.openxmlformats.org/officeDocument/2006/relationships/notesMaster" Target="../notesMasters/notesMaster1.xml" Id="Rf26187775c5e4fc4"/></Relationships>
</file>

<file path=ppt/notesSlides/_rels/notesSlide116.xml.rels><?xml version='1.0' encoding='UTF-8' standalone='yes'?>
<Relationships xmlns="http://schemas.openxmlformats.org/package/2006/relationships"><Relationship Type="http://schemas.openxmlformats.org/officeDocument/2006/relationships/slide" Target="../slides/slide116.xml" Id="R7ac32f74ae724a08"/><Relationship Type="http://schemas.openxmlformats.org/officeDocument/2006/relationships/notesMaster" Target="../notesMasters/notesMaster1.xml" Id="R54ad8c663d39433a"/></Relationships>
</file>

<file path=ppt/notesSlides/_rels/notesSlide117.xml.rels><?xml version='1.0' encoding='UTF-8' standalone='yes'?>
<Relationships xmlns="http://schemas.openxmlformats.org/package/2006/relationships"><Relationship Type="http://schemas.openxmlformats.org/officeDocument/2006/relationships/slide" Target="../slides/slide117.xml" Id="R57894cdc06f74b05"/><Relationship Type="http://schemas.openxmlformats.org/officeDocument/2006/relationships/notesMaster" Target="../notesMasters/notesMaster1.xml" Id="R945eb41dc69f40ab"/></Relationships>
</file>

<file path=ppt/notesSlides/_rels/notesSlide118.xml.rels><?xml version='1.0' encoding='UTF-8' standalone='yes'?>
<Relationships xmlns="http://schemas.openxmlformats.org/package/2006/relationships"><Relationship Type="http://schemas.openxmlformats.org/officeDocument/2006/relationships/slide" Target="../slides/slide118.xml" Id="Rdd4cc274c12e460e"/><Relationship Type="http://schemas.openxmlformats.org/officeDocument/2006/relationships/notesMaster" Target="../notesMasters/notesMaster1.xml" Id="Rab02f04ce7144a3b"/></Relationships>
</file>

<file path=ppt/notesSlides/_rels/notesSlide119.xml.rels><?xml version='1.0' encoding='UTF-8' standalone='yes'?>
<Relationships xmlns="http://schemas.openxmlformats.org/package/2006/relationships"><Relationship Type="http://schemas.openxmlformats.org/officeDocument/2006/relationships/slide" Target="../slides/slide119.xml" Id="R694781830b994d9a"/><Relationship Type="http://schemas.openxmlformats.org/officeDocument/2006/relationships/notesMaster" Target="../notesMasters/notesMaster1.xml" Id="Rdf0646cb2c1544f1"/></Relationships>
</file>

<file path=ppt/notesSlides/_rels/notesSlide120.xml.rels><?xml version='1.0' encoding='UTF-8' standalone='yes'?>
<Relationships xmlns="http://schemas.openxmlformats.org/package/2006/relationships"><Relationship Type="http://schemas.openxmlformats.org/officeDocument/2006/relationships/slide" Target="../slides/slide120.xml" Id="R36d0293cab974b0a"/><Relationship Type="http://schemas.openxmlformats.org/officeDocument/2006/relationships/notesMaster" Target="../notesMasters/notesMaster1.xml" Id="R7d2b5c15ffbe426e"/></Relationships>
</file>

<file path=ppt/notesSlides/_rels/notesSlide121.xml.rels><?xml version='1.0' encoding='UTF-8' standalone='yes'?>
<Relationships xmlns="http://schemas.openxmlformats.org/package/2006/relationships"><Relationship Type="http://schemas.openxmlformats.org/officeDocument/2006/relationships/slide" Target="../slides/slide121.xml" Id="R22def16f5d0c48a7"/><Relationship Type="http://schemas.openxmlformats.org/officeDocument/2006/relationships/notesMaster" Target="../notesMasters/notesMaster1.xml" Id="Ra64ac260d6564319"/></Relationships>
</file>

<file path=ppt/notesSlides/_rels/notesSlide122.xml.rels><?xml version='1.0' encoding='UTF-8' standalone='yes'?>
<Relationships xmlns="http://schemas.openxmlformats.org/package/2006/relationships"><Relationship Type="http://schemas.openxmlformats.org/officeDocument/2006/relationships/slide" Target="../slides/slide122.xml" Id="Rab5ad9cf899d4545"/><Relationship Type="http://schemas.openxmlformats.org/officeDocument/2006/relationships/notesMaster" Target="../notesMasters/notesMaster1.xml" Id="R38c887b83ff14b7b"/></Relationships>
</file>

<file path=ppt/notesSlides/_rels/notesSlide123.xml.rels><?xml version='1.0' encoding='UTF-8' standalone='yes'?>
<Relationships xmlns="http://schemas.openxmlformats.org/package/2006/relationships"><Relationship Type="http://schemas.openxmlformats.org/officeDocument/2006/relationships/slide" Target="../slides/slide123.xml" Id="R3665faab34bf4499"/><Relationship Type="http://schemas.openxmlformats.org/officeDocument/2006/relationships/notesMaster" Target="../notesMasters/notesMaster1.xml" Id="R3918d6435fbf4e24"/></Relationships>
</file>

<file path=ppt/notesSlides/_rels/notesSlide124.xml.rels><?xml version='1.0' encoding='UTF-8' standalone='yes'?>
<Relationships xmlns="http://schemas.openxmlformats.org/package/2006/relationships"><Relationship Type="http://schemas.openxmlformats.org/officeDocument/2006/relationships/slide" Target="../slides/slide124.xml" Id="Rce43c8785de049dd"/><Relationship Type="http://schemas.openxmlformats.org/officeDocument/2006/relationships/notesMaster" Target="../notesMasters/notesMaster1.xml" Id="Rcca7dc9ece26426e"/></Relationships>
</file>

<file path=ppt/notesSlides/_rels/notesSlide125.xml.rels><?xml version='1.0' encoding='UTF-8' standalone='yes'?>
<Relationships xmlns="http://schemas.openxmlformats.org/package/2006/relationships"><Relationship Type="http://schemas.openxmlformats.org/officeDocument/2006/relationships/slide" Target="../slides/slide125.xml" Id="Re5d28eb499334e8b"/><Relationship Type="http://schemas.openxmlformats.org/officeDocument/2006/relationships/notesMaster" Target="../notesMasters/notesMaster1.xml" Id="R9c95a1a0d1d74aac"/></Relationships>
</file>

<file path=ppt/notesSlides/_rels/notesSlide126.xml.rels><?xml version='1.0' encoding='UTF-8' standalone='yes'?>
<Relationships xmlns="http://schemas.openxmlformats.org/package/2006/relationships"><Relationship Type="http://schemas.openxmlformats.org/officeDocument/2006/relationships/slide" Target="../slides/slide126.xml" Id="Rff690fcd19e6438f"/><Relationship Type="http://schemas.openxmlformats.org/officeDocument/2006/relationships/notesMaster" Target="../notesMasters/notesMaster1.xml" Id="R2463e4706f1549f3"/></Relationships>
</file>

<file path=ppt/notesSlides/_rels/notesSlide127.xml.rels><?xml version='1.0' encoding='UTF-8' standalone='yes'?>
<Relationships xmlns="http://schemas.openxmlformats.org/package/2006/relationships"><Relationship Type="http://schemas.openxmlformats.org/officeDocument/2006/relationships/slide" Target="../slides/slide127.xml" Id="Rbd3a48b4aa4e4fb6"/><Relationship Type="http://schemas.openxmlformats.org/officeDocument/2006/relationships/notesMaster" Target="../notesMasters/notesMaster1.xml" Id="R9323037e468b48e2"/></Relationships>
</file>

<file path=ppt/notesSlides/_rels/notesSlide128.xml.rels><?xml version='1.0' encoding='UTF-8' standalone='yes'?>
<Relationships xmlns="http://schemas.openxmlformats.org/package/2006/relationships"><Relationship Type="http://schemas.openxmlformats.org/officeDocument/2006/relationships/slide" Target="../slides/slide128.xml" Id="R8e38cbf165e54fdb"/><Relationship Type="http://schemas.openxmlformats.org/officeDocument/2006/relationships/notesMaster" Target="../notesMasters/notesMaster1.xml" Id="R29bb83c690274bf4"/></Relationships>
</file>

<file path=ppt/notesSlides/_rels/notesSlide129.xml.rels><?xml version='1.0' encoding='UTF-8' standalone='yes'?>
<Relationships xmlns="http://schemas.openxmlformats.org/package/2006/relationships"><Relationship Type="http://schemas.openxmlformats.org/officeDocument/2006/relationships/slide" Target="../slides/slide129.xml" Id="R8d447846be1541d2"/><Relationship Type="http://schemas.openxmlformats.org/officeDocument/2006/relationships/notesMaster" Target="../notesMasters/notesMaster1.xml" Id="R2d5d412cc59340e5"/></Relationships>
</file>

<file path=ppt/notesSlides/_rels/notesSlide130.xml.rels><?xml version='1.0' encoding='UTF-8' standalone='yes'?>
<Relationships xmlns="http://schemas.openxmlformats.org/package/2006/relationships"><Relationship Type="http://schemas.openxmlformats.org/officeDocument/2006/relationships/slide" Target="../slides/slide130.xml" Id="Rd0bf62993bb346cb"/><Relationship Type="http://schemas.openxmlformats.org/officeDocument/2006/relationships/notesMaster" Target="../notesMasters/notesMaster1.xml" Id="R03cfd5b3c18c4078"/></Relationships>
</file>

<file path=ppt/notesSlides/_rels/notesSlide131.xml.rels><?xml version='1.0' encoding='UTF-8' standalone='yes'?>
<Relationships xmlns="http://schemas.openxmlformats.org/package/2006/relationships"><Relationship Type="http://schemas.openxmlformats.org/officeDocument/2006/relationships/slide" Target="../slides/slide131.xml" Id="R674b9314590249d6"/><Relationship Type="http://schemas.openxmlformats.org/officeDocument/2006/relationships/notesMaster" Target="../notesMasters/notesMaster1.xml" Id="R640ed4e9938b40d7"/></Relationships>
</file>

<file path=ppt/notesSlides/_rels/notesSlide132.xml.rels><?xml version='1.0' encoding='UTF-8' standalone='yes'?>
<Relationships xmlns="http://schemas.openxmlformats.org/package/2006/relationships"><Relationship Type="http://schemas.openxmlformats.org/officeDocument/2006/relationships/slide" Target="../slides/slide132.xml" Id="R969e5c576d65407b"/><Relationship Type="http://schemas.openxmlformats.org/officeDocument/2006/relationships/notesMaster" Target="../notesMasters/notesMaster1.xml" Id="R6457d4c77a8849c5"/></Relationships>
</file>

<file path=ppt/notesSlides/_rels/notesSlide133.xml.rels><?xml version='1.0' encoding='UTF-8' standalone='yes'?>
<Relationships xmlns="http://schemas.openxmlformats.org/package/2006/relationships"><Relationship Type="http://schemas.openxmlformats.org/officeDocument/2006/relationships/slide" Target="../slides/slide133.xml" Id="Rde84a4b13ea04569"/><Relationship Type="http://schemas.openxmlformats.org/officeDocument/2006/relationships/notesMaster" Target="../notesMasters/notesMaster1.xml" Id="Rd408fc7817b649f8"/></Relationships>
</file>

<file path=ppt/notesSlides/_rels/notesSlide134.xml.rels><?xml version='1.0' encoding='UTF-8' standalone='yes'?>
<Relationships xmlns="http://schemas.openxmlformats.org/package/2006/relationships"><Relationship Type="http://schemas.openxmlformats.org/officeDocument/2006/relationships/slide" Target="../slides/slide134.xml" Id="R117592f0b18e4702"/><Relationship Type="http://schemas.openxmlformats.org/officeDocument/2006/relationships/notesMaster" Target="../notesMasters/notesMaster1.xml" Id="R76ebe85f7f3045fd"/></Relationships>
</file>

<file path=ppt/notesSlides/_rels/notesSlide135.xml.rels><?xml version='1.0' encoding='UTF-8' standalone='yes'?>
<Relationships xmlns="http://schemas.openxmlformats.org/package/2006/relationships"><Relationship Type="http://schemas.openxmlformats.org/officeDocument/2006/relationships/slide" Target="../slides/slide135.xml" Id="R3b860c1799c64970"/><Relationship Type="http://schemas.openxmlformats.org/officeDocument/2006/relationships/notesMaster" Target="../notesMasters/notesMaster1.xml" Id="R4566a49bf7dd426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 — DEEP LEARNING</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les trois compétences visées : calculer et interpréter les gradients d'un réseau profond, construire un CNN adapté à un problème de vision et expliquer chaque opération d'un Transformer. Le fil conducteur est une même chaîne de raisonnement : définir les entrées et les sorties, écrire les opérations, choisir une perte, calculer ses gradients, puis vérifier la généralisation. Préciser que les petits modèles des TP servent à isoler les mécanismes. Ils ne reproduisent ni le coût ni les capacités d'un modèle de fondation.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 — SOMMAIRE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L’introduction situe le deep learning dans le machine learning et présente les deux boucles d’apprentissage du livre de Howard et Gugger. Elle est comprise dans le jour 1, et ne constitue pas une sixième journée. Le cours suit cinq journées de sept heures de formation effective, hors pauses. Chaque journée contient un TP exécuté sur CPU, des exercices mathématiques et une restitution. Les supports de Bigot, Tavenard, du CNAM et de Geoffrey Daniel servent de lectures complémentaires. Les articles originaux complètent la partie architectures. Les exemples numériques, exercices et notebooks de ce support sont construits pour cette progression. Inviter les étudiants à conserver un carnet des dimensions, hypothèses et observations.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LECTURES ET RÉFÉRENCES</ns5:t>
            </ns5:r>
          </ns5:p>
          <ns6:p xmlns:ns6="http://schemas.openxmlformats.org/drawingml/2006/main">
            <ns6:pPr marL="0" lvl="0" indent="0" algn="l">
              <ns6:spcBef>
                <ns6:spcPts val="0"/>
              </ns6:spcBef>
              <ns6:spcAft>
                <ns6:spcPts val="0"/>
              </ns6:spcAft>
              <ns6:buNone/>
            </ns6:pPr>
            <ns6:r>
              <ns6:t>Jérémie Bigot — Introduction au Deep Learning</ns6:t>
            </ns6:r>
          </ns6:p>
          <ns7:p xmlns:ns7="http://schemas.openxmlformats.org/drawingml/2006/main">
            <ns7:pPr marL="0" lvl="0" indent="0" algn="l">
              <ns7:spcBef>
                <ns7:spcPts val="0"/>
              </ns7:spcBef>
              <ns7:spcAft>
                <ns7:spcPts val="0"/>
              </ns7:spcAft>
              <ns7:buNone/>
            </ns7:pPr>
            <ns7:r>
              <ns7:t>https://www.math.u-bordeaux.fr/~jbigot/Site/Enseignement_files/Intro_DeepLearning.pdf</ns7:t>
            </ns7:r>
          </ns7:p>
          <ns8:p xmlns:ns8="http://schemas.openxmlformats.org/drawingml/2006/main">
            <ns8:pPr marL="0" lvl="0" indent="0" algn="l">
              <ns8:spcBef>
                <ns8:spcPts val="0"/>
              </ns8:spcBef>
              <ns8:spcAft>
                <ns8:spcPts val="0"/>
              </ns8:spcAft>
              <ns8:buNone/>
            </ns8:pPr>
            <ns8:r>
              <ns8:t/>
            </ns8:r>
          </ns8:p>
          <ns9:p xmlns:ns9="http://schemas.openxmlformats.org/drawingml/2006/main">
            <ns9:pPr marL="0" lvl="0" indent="0" algn="l">
              <ns9:spcBef>
                <ns9:spcPts val="0"/>
              </ns9:spcBef>
              <ns9:spcAft>
                <ns9:spcPts val="0"/>
              </ns9:spcAft>
              <ns9:buNone/>
            </ns9:pPr>
            <ns9:r>
              <ns9:t>Romain Tavenard — Introduction au Deep Learning, 2025</ns9:t>
            </ns9:r>
          </ns9:p>
          <ns10:p xmlns:ns10="http://schemas.openxmlformats.org/drawingml/2006/main">
            <ns10:pPr marL="0" lvl="0" indent="0" algn="l">
              <ns10:spcBef>
                <ns10:spcPts val="0"/>
              </ns10:spcBef>
              <ns10:spcAft>
                <ns10:spcPts val="0"/>
              </ns10:spcAft>
              <ns10:buNone/>
            </ns10:pPr>
            <ns10:r>
              <ns10:t>https://rtavenar.github.io/deep_book/book_fr.pdf</ns10:t>
            </ns10:r>
          </ns10:p>
          <ns11:p xmlns:ns11="http://schemas.openxmlformats.org/drawingml/2006/main">
            <ns11:pPr marL="0" lvl="0" indent="0" algn="l">
              <ns11:spcBef>
                <ns11:spcPts val="0"/>
              </ns11:spcBef>
              <ns11:spcAft>
                <ns11:spcPts val="0"/>
              </ns11:spcAft>
              <ns11:buNone/>
            </ns11:pPr>
            <ns11:r>
              <ns11:t/>
            </ns11:r>
          </ns11:p>
          <ns12:p xmlns:ns12="http://schemas.openxmlformats.org/drawingml/2006/main">
            <ns12:pPr marL="0" lvl="0" indent="0" algn="l">
              <ns12:spcBef>
                <ns12:spcPts val="0"/>
              </ns12:spcBef>
              <ns12:spcAft>
                <ns12:spcPts val="0"/>
              </ns12:spcAft>
              <ns12:buNone/>
            </ns12:pPr>
            <ns12:r>
              <ns12:t>Javiera Castillo Navarro — RCP 209, 2025–2026</ns12:t>
            </ns12:r>
          </ns12:p>
          <ns13:p xmlns:ns13="http://schemas.openxmlformats.org/drawingml/2006/main">
            <ns13:pPr marL="0" lvl="0" indent="0" algn="l">
              <ns13:spcBef>
                <ns13:spcPts val="0"/>
              </ns13:spcBef>
              <ns13:spcAft>
                <ns13:spcPts val="0"/>
              </ns13:spcAft>
              <ns13:buNone/>
            </ns13:pPr>
            <ns13:r>
              <ns13:t>https://cedric.cnam.fr/vertigo/Cours/ml2/docs/coursDeep1.pdf</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Geoffrey Daniel — Réseaux de neurones et deep learning : utilisation et méthodologie</ns15:t>
            </ns15:r>
          </ns15:p>
          <ns16:p xmlns:ns16="http://schemas.openxmlformats.org/drawingml/2006/main">
            <ns16:pPr marL="0" lvl="0" indent="0" algn="l">
              <ns16:spcBef>
                <ns16:spcPts val="0"/>
              </ns16:spcBef>
              <ns16:spcAft>
                <ns16:spcPts val="0"/>
              </ns16:spcAft>
              <ns16:buNone/>
            </ns16:pPr>
            <ns16:r>
              <ns16:t>https://indico.in2p3.fr/event/17858/attachments/49454/65831/Deep_Learning_Seance_1.pdf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 — REPÈRES ET PRINCIPES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introduction prend environ 35 à 40 minutes à l’intérieur du cadrage du jour 1. Partir d’un problème concret : reconnaître une catégorie à partir des pixels d’une image. Demander ce que l’algorithme doit ajuster et ce que le concepteur doit choisir. Le deep learning appartient au machine learning. Le point de comparaison utile porte sur la construction des représentations, l’architecture et les paramètres optimisés. Les deux schémas du livre décrivent une boucle d’apprentissage commune, à deux niveaux de détail. Ils permettront ensuite de situer précisément les CNN et les Transformers. Les repères historiques proposés sont sélectifs : ils expliquent les idées utilisées dans le cours sans prétendre raconter une succession exhaustive d’inventions.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Dans un système de classification, quelles décisions relèvent des données et lesquelles relèvent du concepteur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Les paramètres sont estimés à partir des données selon un objectif. La tâche, la collecte, l’architecture, le protocole et les contraintes restent des choix de conception.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Jeremy Howard et Sylvain Gugger — Deep Learning for Coders with fastai and PyTorch, O’Reilly Media, 2020, chapitre 1</ns12:t>
            </ns12:r>
          </ns12:p>
          <ns13:p xmlns:ns13="http://schemas.openxmlformats.org/drawingml/2006/main">
            <ns13:pPr marL="0" lvl="0" indent="0" algn="l">
              <ns13:spcBef>
                <ns13:spcPts val="0"/>
              </ns13:spcBef>
              <ns13:spcAft>
                <ns13:spcPts val="0"/>
              </ns13:spcAft>
              <ns13:buNone/>
            </ns13:pPr>
            <ns13:r>
              <ns13:t>https://www.oreilly.com/library/view/deep-learning-for/9781492045519/</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LeCun, Bengio et Hinton — Deep learning, Nature, 2015</ns15:t>
            </ns15:r>
          </ns15:p>
          <ns16:p xmlns:ns16="http://schemas.openxmlformats.org/drawingml/2006/main">
            <ns16:pPr marL="0" lvl="0" indent="0" algn="l">
              <ns16:spcBef>
                <ns16:spcPts val="0"/>
              </ns16:spcBef>
              <ns16:spcAft>
                <ns16:spcPts val="0"/>
              </ns16:spcAft>
              <ns16:buNone/>
            </ns16:pPr>
            <ns16:r>
              <ns16:t>https://www.nature.com/articles/nature14539</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 — LE DEEP LEARNING DANS LE MACHINE LEARNING</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Définir le machine learning comme un ensemble de méthodes qui tirent des régularités des données pour accomplir une tâche. Il comprend notamment les modèles linéaires, les arbres, les méthodes à noyaux et les réseaux de neurones. Dans ce cours, le deep learning désigne l’apprentissage avec des réseaux comportant plusieurs transformations paramétrées successives. L’inclusion affichée est une carte des domaines, pas une échelle de qualité. Il n’existe pas de seuil universel de couches qui rendrait un modèle efficace ou pertinent. La profondeur d’un arbre de décision ne suffit pas à en faire un modèle de deep learning. Les transformations internes peuvent être apprises avec ou sans étiquettes externes. Notre première comparaison utilise l’apprentissage supervisé pour rendre la cible et la perte explicites. Une représentation apprise n’est pas forcément interprétable par un nom d’objet ou de contour.</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\mathrm{Deep\ learning}\subset\mathrm{Machine\ learning}\subset\mathrm{IA}</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Le deep learning est inclus dans le machine learning, qui est lui-même inclus dans l’intelligence artificielle.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\mathrm{Deep\ learning} | « deep learning, ou apprentissage profond » | Famille de méthodes fondées ici sur des réseaux à plusieurs niveaux de représentation.</a:t>
            </a:r>
          </a:p>
          <a:p xmlns:a="http://schemas.openxmlformats.org/drawingml/2006/main">
            <a:pPr marL="0" lvl="0" indent="0" algn="l">
              <a:spcBef>
                <a:spcPts val="0"/>
              </a:spcBef>
              <a:spcAft>
                <a:spcPts val="0"/>
              </a:spcAft>
              <a:buNone/>
            </a:pPr>
            <a:r>
              <a:t>\mathrm{Machine\ learning} | « machine learning, ou apprentissage automatique » | Domaine qui regroupe les méthodes apprenant à partir de données.</a:t>
            </a:r>
          </a:p>
          <a:p xmlns:a="http://schemas.openxmlformats.org/drawingml/2006/main">
            <a:pPr marL="0" lvl="0" indent="0" algn="l">
              <a:spcBef>
                <a:spcPts val="0"/>
              </a:spcBef>
              <a:spcAft>
                <a:spcPts val="0"/>
              </a:spcAft>
              <a:buNone/>
            </a:pPr>
            <a:r>
              <a:t>\mathrm{IA} | « i a » | Intelligence artificielle.</a:t>
            </a:r>
          </a:p>
          <a:p xmlns:a="http://schemas.openxmlformats.org/drawingml/2006/main">
            <a:pPr marL="0" lvl="0" indent="0" algn="l">
              <a:spcBef>
                <a:spcPts val="0"/>
              </a:spcBef>
              <a:spcAft>
                <a:spcPts val="0"/>
              </a:spcAft>
              <a:buNone/>
            </a:pPr>
            <a:r>
              <a:t>\subset | « est inclus dans » | Relation entre domaines. Tout élément du domaine de gauche appartient au domaine de droite.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L’écriture situe des familles de méthodes. Elle ne donne pas un classement de leurs performances.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signe d’inclusion ne se lit pas « inférieur à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Un arbre de décision très profond est-il un réseau de deep learning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Sa profondeur compte des décisions successives dans un arbre. Elle ne correspond pas à la composition de couches paramétrées d’un réseau.</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LeCun, Bengio et Hinton — Deep learning, Nature, 2015</a:t>
            </a:r>
          </a:p>
          <a:p xmlns:a="http://schemas.openxmlformats.org/drawingml/2006/main">
            <a:pPr marL="0" lvl="0" indent="0" algn="l">
              <a:spcBef>
                <a:spcPts val="0"/>
              </a:spcBef>
              <a:spcAft>
                <a:spcPts val="0"/>
              </a:spcAft>
              <a:buNone/>
            </a:pPr>
            <a:r>
              <a:t>https://www.nature.com/articles/nature14539</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Jeremy Howard et Sylvain Gugger — Deep Learning for Coders with fastai and PyTorch, O’Reilly Media, 2020, chapitre 1</a:t>
            </a:r>
          </a:p>
          <a:p xmlns:a="http://schemas.openxmlformats.org/drawingml/2006/main">
            <a:pPr marL="0" lvl="0" indent="0" algn="l">
              <a:spcBef>
                <a:spcPts val="0"/>
              </a:spcBef>
              <a:spcAft>
                <a:spcPts val="0"/>
              </a:spcAft>
              <a:buNone/>
            </a:pPr>
            <a:r>
              <a:t>https://www.oreilly.com/library/view/deep-learning-for/9781492045519/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 — REPÈRES HISTORIQUES : LES FONDEMENTS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En 1958, Rosenblatt formalise le perceptron. Pour le cours, retenir l’idée d’une règle dont les paramètres changent avec les exemples. Le modèle linéaire simple ne résout pas tous les problèmes de séparation. L’article de Rumelhart, Hinton et Williams en 1986 montre comment l’erreur de sortie permet d’ajuster des unités cachées. Il popularise la rétropropagation dans les réseaux, sans constituer le début de toute différentiation inverse. LeNet-5, décrit en 1998, associe des connexions locales, le partage des poids et la réduction spatiale pour la reconnaissance de documents. Le travail de Hinton, Osindero et Teh en 2006 propose un entraînement des deep belief networks par étapes, puis un ajustement. Ce jalon rappelle que la difficulté ne se résume pas à écrire davantage de couches : il faut aussi réussir leur optimisation. Ces dates désignent les publications citées, pas une revendication d’invention exclusive.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l’existence d’une architecture expressive ne suffit-elle pas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Il faut trouver des paramètres utiles avec des données et un algorithme d’apprentissage réalisables. Expressivité et facilité d’optimisation sont différentes.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Rosenblatt — The perceptron: a probabilistic model for information storage and organization in the brain, 1958</ns12:t>
            </ns12:r>
          </ns12:p>
          <ns13:p xmlns:ns13="http://schemas.openxmlformats.org/drawingml/2006/main">
            <ns13:pPr marL="0" lvl="0" indent="0" algn="l">
              <ns13:spcBef>
                <ns13:spcPts val="0"/>
              </ns13:spcBef>
              <ns13:spcAft>
                <ns13:spcPts val="0"/>
              </ns13:spcAft>
              <ns13:buNone/>
            </ns13:pPr>
            <ns13:r>
              <ns13:t>https://doi.org/10.1037/h0042519</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Rumelhart, Hinton et Williams — Learning representations by back-propagating errors, 1986</ns15:t>
            </ns15:r>
          </ns15:p>
          <ns16:p xmlns:ns16="http://schemas.openxmlformats.org/drawingml/2006/main">
            <ns16:pPr marL="0" lvl="0" indent="0" algn="l">
              <ns16:spcBef>
                <ns16:spcPts val="0"/>
              </ns16:spcBef>
              <ns16:spcAft>
                <ns16:spcPts val="0"/>
              </ns16:spcAft>
              <ns16:buNone/>
            </ns16:pPr>
            <ns16:r>
              <ns16:t>https://doi.org/10.1038/323533a0</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LeCun, Bottou, Bengio et Haffner — Gradient-Based Learning Applied to Document Recognition, 1998</ns18:t>
            </ns18:r>
          </ns18:p>
          <ns19:p xmlns:ns19="http://schemas.openxmlformats.org/drawingml/2006/main">
            <ns19:pPr marL="0" lvl="0" indent="0" algn="l">
              <ns19:spcBef>
                <ns19:spcPts val="0"/>
              </ns19:spcBef>
              <ns19:spcAft>
                <ns19:spcPts val="0"/>
              </ns19:spcAft>
              <ns19:buNone/>
            </ns19:pPr>
            <ns19:r>
              <ns19:t>https://bottou.org/papers/lecun-98h</ns19:t>
            </ns19:r>
          </ns19:p>
          <ns20:p xmlns:ns20="http://schemas.openxmlformats.org/drawingml/2006/main">
            <ns20:pPr marL="0" lvl="0" indent="0" algn="l">
              <ns20:spcBef>
                <ns20:spcPts val="0"/>
              </ns20:spcBef>
              <ns20:spcAft>
                <ns20:spcPts val="0"/>
              </ns20:spcAft>
              <ns20:buNone/>
            </ns20:pPr>
            <ns20:r>
              <ns20:t/>
            </ns20:r>
          </ns20:p>
          <ns21:p xmlns:ns21="http://schemas.openxmlformats.org/drawingml/2006/main">
            <ns21:pPr marL="0" lvl="0" indent="0" algn="l">
              <ns21:spcBef>
                <ns21:spcPts val="0"/>
              </ns21:spcBef>
              <ns21:spcAft>
                <ns21:spcPts val="0"/>
              </ns21:spcAft>
              <ns21:buNone/>
            </ns21:pPr>
            <ns21:r>
              <ns21:t>Hinton, Osindero et Teh — A fast learning algorithm for deep belief nets, 2006</ns21:t>
            </ns21:r>
          </ns21:p>
          <ns22:p xmlns:ns22="http://schemas.openxmlformats.org/drawingml/2006/main">
            <ns22:pPr marL="0" lvl="0" indent="0" algn="l">
              <ns22:spcBef>
                <ns22:spcPts val="0"/>
              </ns22:spcBef>
              <ns22:spcAft>
                <ns22:spcPts val="0"/>
              </ns22:spcAft>
              <ns22:buNone/>
            </ns22:pPr>
            <ns22:r>
              <ns22:t>https://www.cs.toronto.edu/~hinton/absps/fastnc.pdf</ns22:t>
            </ns22:r>
          </ns2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 — REPÈRES HISTORIQUES : LE PASSAGE À L’ÉCHELLE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AlexNet combine plusieurs facteurs en 2012 : un CNN, un grand jeu d’images annotées, une implémentation efficace sur GPU et des choix d’optimisation et de régularisation. Éviter d’attribuer le résultat à la profondeur seule. En 2017, le Transformer présenté pour la traduction utilise l’attention dans une architecture encodeur-décodeur, sans récurrence ni convolution pour traiter la séquence. L’attention existait auparavant : la nouveauté porte sur cette organisation complète du modèle. Le Vision Transformer transpose ensuite une architecture de type Transformer à des patches d’image. La prépublication est datée de 2020 et la publication de conférence de 2021. Les résultats du papier s’inscrivent dans un régime de préentraînement important. Ces repères motivent notre progression CNN puis attention. Une architecture plus récente ne remplace pas automatiquement une ancienne méthode pour chaque tâche. Le budget, les données, le préentraînement et le protocole conditionnent toute comparaison.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Peut-on comparer deux architectures uniquement à partir de leur année de publication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Il faut comparer leurs résultats pour une tâche donnée, avec le protocole, les données et les budgets explicités.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Krizhevsky, Sutskever et Hinton — ImageNet Classification with Deep Convolutional Neural Networks, 2012</ns12:t>
            </ns12:r>
          </ns12:p>
          <ns13:p xmlns:ns13="http://schemas.openxmlformats.org/drawingml/2006/main">
            <ns13:pPr marL="0" lvl="0" indent="0" algn="l">
              <ns13:spcBef>
                <ns13:spcPts val="0"/>
              </ns13:spcBef>
              <ns13:spcAft>
                <ns13:spcPts val="0"/>
              </ns13:spcAft>
              <ns13:buNone/>
            </ns13:pPr>
            <ns13:r>
              <ns13:t>https://papers.nips.cc/paper_files/paper/2012/hash/c399862d3b9d6b76c8436e924a68c45b-Abstract.html</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Vaswani et al. — Attention Is All You Need, 2017</ns15:t>
            </ns15:r>
          </ns15:p>
          <ns16:p xmlns:ns16="http://schemas.openxmlformats.org/drawingml/2006/main">
            <ns16:pPr marL="0" lvl="0" indent="0" algn="l">
              <ns16:spcBef>
                <ns16:spcPts val="0"/>
              </ns16:spcBef>
              <ns16:spcAft>
                <ns16:spcPts val="0"/>
              </ns16:spcAft>
              <ns16:buNone/>
            </ns16:pPr>
            <ns16:r>
              <ns16:t>https://arxiv.org/abs/1706.03762</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Dosovitskiy et al. — An Image is Worth 16x16 Words, 2020</ns18:t>
            </ns18:r>
          </ns18:p>
          <ns19:p xmlns:ns19="http://schemas.openxmlformats.org/drawingml/2006/main">
            <ns19:pPr marL="0" lvl="0" indent="0" algn="l">
              <ns19:spcBef>
                <ns19:spcPts val="0"/>
              </ns19:spcBef>
              <ns19:spcAft>
                <ns19:spcPts val="0"/>
              </ns19:spcAft>
              <ns19:buNone/>
            </ns19:pPr>
            <ns19:r>
              <ns19:t>https://arxiv.org/abs/2010.11929</ns19:t>
            </ns19:r>
          </ns1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 — LA BOUCLE D’APPRENTISSAGE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Lire le schéma fourni de gauche à droite. Inputs désigne les observations. Weights désigne les coefficients ajustables. Model combine l’entrée et ces coefficients pour produire Results. Performance fournit un signal qui guide la modification des poids. Revenir ensuite sur la flèche Update : elle appartient à l’entraînement, pendant lequel on cherche des paramètres utiles. Les auteurs présentent ici une abstraction du processus d’apprentissage, pas une architecture neuronale particulière. Dans une implémentation par gradient, le signal optimisé sera une perte numérique. Le mot performance reste volontairement général dans cette première figure. La métrique communiquée au métier, telle que l’accuracy, peut être différente du critère utilisé par l’optimiseur. Cette boucle s’applique aussi à des modèles peu profonds. Un algorithme d’arbre apprend également à partir des données, avec une procédure de construction différente de la rétropropagation. Ne pas présenter cette figure comme exclusivement réservée au machine learning classique.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partie du schéma cesse de fonctionner pendant une simple prédiction sur une nouvelle image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La mise à jour des paramètres. On conserve le calcul entrée-modèle-sortie avec les paramètres entraînés.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Jeremy Howard et Sylvain Gugger — Deep Learning for Coders with fastai and PyTorch, O’Reilly Media, 2020, chapitre 1</ns12:t>
            </ns12:r>
          </ns12:p>
          <ns13:p xmlns:ns13="http://schemas.openxmlformats.org/drawingml/2006/main">
            <ns13:pPr marL="0" lvl="0" indent="0" algn="l">
              <ns13:spcBef>
                <ns13:spcPts val="0"/>
              </ns13:spcBef>
              <ns13:spcAft>
                <ns13:spcPts val="0"/>
              </ns13:spcAft>
              <ns13:buNone/>
            </ns13:pPr>
            <ns13:r>
              <ns13:t>https://www.oreilly.com/library/view/deep-learning-for/9781492045519/</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Howard et Gugger — Chapitre 1, version des auteurs, figures Training a machine learning model et Detailed training loop</ns15:t>
            </ns15:r>
          </ns15:p>
          <ns16:p xmlns:ns16="http://schemas.openxmlformats.org/drawingml/2006/main">
            <ns16:pPr marL="0" lvl="0" indent="0" algn="l">
              <ns16:spcBef>
                <ns16:spcPts val="0"/>
              </ns16:spcBef>
              <ns16:spcAft>
                <ns16:spcPts val="0"/>
              </ns16:spcAft>
              <ns16:buNone/>
            </ns16:pPr>
            <ns16:r>
              <ns16:t>https://github.com/fastai/fastbook/blob/master/01_intro.ipynb</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 — LA PERTE ET LA MISE À JOUR DES PARAMÈTRES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Relier cette figure à la précédente : Architecture avec Parameters constitue le Model. Predictions précise le rôle de Results et Loss explicite le signal d’apprentissage. Labels représente les cibles du cas supervisé illustré. Les paramètres incluent les poids et les biais. L’architecture fixe les opérations et les connexions, tandis que l’entraînement ajuste leurs paramètres. Dans nos réseaux différentiables, le calcul direct produit la perte, la rétropropagation calcule ses dérivées par rapport aux paramètres et l’optimiseur effectue la mise à jour. Ces trois opérations sont distinctes. L’architecture et les hyperparamètres se choisissent généralement à l’aide d’une validation externe à cette boucle d’ajustement. À l’inférence, le modèle n’a pas besoin de l’étiquette inconnue de l’exemple à prédire. Une étiquette peut être recueillie plus tard pour évaluer la prédiction. La figure est compatible avec un modèle linéaire différentiable : elle ne définit donc pas à elle seule le deep learning. L’auto-supervision construit les cibles à partir des données selon un protocole adapté.</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La rétropropagation et l’optimiseur jouent-ils le même rôle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La rétropropagation calcule les gradients. L’optimiseur les utilise pour modifier les paramètres, avec son taux d’apprentissage et son éventuel état.</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Jeremy Howard et Sylvain Gugger — Deep Learning for Coders with fastai and PyTorch, O’Reilly Media, 2020, chapitre 1</ns12:t>
            </ns12:r>
          </ns12:p>
          <ns13:p xmlns:ns13="http://schemas.openxmlformats.org/drawingml/2006/main">
            <ns13:pPr marL="0" lvl="0" indent="0" algn="l">
              <ns13:spcBef>
                <ns13:spcPts val="0"/>
              </ns13:spcBef>
              <ns13:spcAft>
                <ns13:spcPts val="0"/>
              </ns13:spcAft>
              <ns13:buNone/>
            </ns13:pPr>
            <ns13:r>
              <ns13:t>https://www.oreilly.com/library/view/deep-learning-for/9781492045519/</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Howard et Gugger — Chapitre 1, version des auteurs, figures Training a machine learning model et Detailed training loop</ns15:t>
            </ns15:r>
          </ns15:p>
          <ns16:p xmlns:ns16="http://schemas.openxmlformats.org/drawingml/2006/main">
            <ns16:pPr marL="0" lvl="0" indent="0" algn="l">
              <ns16:spcBef>
                <ns16:spcPts val="0"/>
              </ns16:spcBef>
              <ns16:spcAft>
                <ns16:spcPts val="0"/>
              </ns16:spcAft>
              <ns16:buNone/>
            </ns16:pPr>
            <ns16:r>
              <ns16:t>https://github.com/fastai/fastbook/blob/master/01_intro.ipynb</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 — LE RÔLE DES REPRÉSENTATIONS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Définir N exemples étiquetés, x les observations, y les cibles et ell la perte. Dans la première ligne, phi est un descripteur fixé pour l’expérience. Seuls les paramètres theta du prédicteur g sont optimisés. Dans la seconde, h est un extracteur paramétré par psi. Si h et g sont différentiables, la règle de la chaîne permet d’ajuster psi et theta à partir d’un même objectif. Le gradient reçu par une couche dépend donc des transformations situées entre cette couche et la perte. C’est le sens de l’apprentissage de bout en bout. Cette comparaison concerne deux pipelines précis, pas toutes les méthodes de ML contre toutes les méthodes de DL. La PCA apprend déjà une représentation, les méthodes à noyaux changent l’espace de représentation, et un extracteur profond préentraîné peut être gelé. La formule du bas n’impose pas à elle seule la profondeur : celle-ci vient de la composition interne de h. Les prétraitements, la collecte et le choix de l’objectif restent nécessaires.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\begin{aligned}\text{Descripteur fixe :}\quad &amp;\min_{\theta}\frac{1}{N}\sum_{i=1}^{N}\ell\bigl(g_{\theta}(\phi(x_i)),y_i\bigr)\\[8pt]\text{Repr. apprise :}\quad &amp;\min_{\psi,\theta}\frac{1}{N}\sum_{i=1}^{N}\ell\bigl(g_{\theta}(h_{\psi}(x_i)),y_i\bigr)\end{aligned}</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Descripteur fixe : on minimise, par rapport à thêta, un sur grand N fois la somme, pour i allant de un à grand N, de la perte entre g thêta appliqué à phi de x i et la cible y i. »</a:t>
            </a:r>
          </a:p>
          <a:p xmlns:a="http://schemas.openxmlformats.org/drawingml/2006/main">
            <a:pPr marL="0" lvl="0" indent="0" algn="l">
              <a:spcBef>
                <a:spcPts val="0"/>
              </a:spcBef>
              <a:spcAft>
                <a:spcPts val="0"/>
              </a:spcAft>
              <a:buNone/>
            </a:pPr>
            <a:r>
              <a:t>« Représentation apprise : on minimise la même moyenne par rapport à psi et à thêta, avec h psi de x i comme représentation.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N,\ i | « grand n, i » | Nombre d’exemples et indice d’un exemple.</a:t>
            </a:r>
          </a:p>
          <a:p xmlns:a="http://schemas.openxmlformats.org/drawingml/2006/main">
            <a:pPr marL="0" lvl="0" indent="0" algn="l">
              <a:spcBef>
                <a:spcPts val="0"/>
              </a:spcBef>
              <a:spcAft>
                <a:spcPts val="0"/>
              </a:spcAft>
              <a:buNone/>
            </a:pPr>
            <a:r>
              <a:t>x_i,\ y_i | « x indice i, y indice i » | Observation et cible du i-ième exemple.</a:t>
            </a:r>
          </a:p>
          <a:p xmlns:a="http://schemas.openxmlformats.org/drawingml/2006/main">
            <a:pPr marL="0" lvl="0" indent="0" algn="l">
              <a:spcBef>
                <a:spcPts val="0"/>
              </a:spcBef>
              <a:spcAft>
                <a:spcPts val="0"/>
              </a:spcAft>
              <a:buNone/>
            </a:pPr>
            <a:r>
              <a:t>\phi(x_i) | « phi de x indice i » | Descripteur fixé dans cette comparaison.</a:t>
            </a:r>
          </a:p>
          <a:p xmlns:a="http://schemas.openxmlformats.org/drawingml/2006/main">
            <a:pPr marL="0" lvl="0" indent="0" algn="l">
              <a:spcBef>
                <a:spcPts val="0"/>
              </a:spcBef>
              <a:spcAft>
                <a:spcPts val="0"/>
              </a:spcAft>
              <a:buNone/>
            </a:pPr>
            <a:r>
              <a:t>h_\psi(x_i) | « h paramétré par psi, appliqué à x indice i » | Extracteur de représentation dont les paramètres sont psi.</a:t>
            </a:r>
          </a:p>
          <a:p xmlns:a="http://schemas.openxmlformats.org/drawingml/2006/main">
            <a:pPr marL="0" lvl="0" indent="0" algn="l">
              <a:spcBef>
                <a:spcPts val="0"/>
              </a:spcBef>
              <a:spcAft>
                <a:spcPts val="0"/>
              </a:spcAft>
              <a:buNone/>
            </a:pPr>
            <a:r>
              <a:t>g_\theta | « g paramétré par thêta » | Prédicteur dont les paramètres sont theta.</a:t>
            </a:r>
          </a:p>
          <a:p xmlns:a="http://schemas.openxmlformats.org/drawingml/2006/main">
            <a:pPr marL="0" lvl="0" indent="0" algn="l">
              <a:spcBef>
                <a:spcPts val="0"/>
              </a:spcBef>
              <a:spcAft>
                <a:spcPts val="0"/>
              </a:spcAft>
              <a:buNone/>
            </a:pPr>
            <a:r>
              <a:t>\ell(\cdot,\cdot) | « ell de deux arguments » | Perte qui compare une prédiction et sa cible.</a:t>
            </a:r>
          </a:p>
          <a:p xmlns:a="http://schemas.openxmlformats.org/drawingml/2006/main">
            <a:pPr marL="0" lvl="0" indent="0" algn="l">
              <a:spcBef>
                <a:spcPts val="0"/>
              </a:spcBef>
              <a:spcAft>
                <a:spcPts val="0"/>
              </a:spcAft>
              <a:buNone/>
            </a:pPr>
            <a:r>
              <a:t>\frac1N\sum_{i=1}^N | « un sur grand n fois la somme pour i de un à grand n » | Moyenne des pertes sur les exemples.</a:t>
            </a:r>
          </a:p>
          <a:p xmlns:a="http://schemas.openxmlformats.org/drawingml/2006/main">
            <a:pPr marL="0" lvl="0" indent="0" algn="l">
              <a:spcBef>
                <a:spcPts val="0"/>
              </a:spcBef>
              <a:spcAft>
                <a:spcPts val="0"/>
              </a:spcAft>
              <a:buNone/>
            </a:pPr>
            <a:r>
              <a:t>\min_\theta,\ \min_{\psi,\theta} | « minimum par rapport à thêta ; minimum par rapport à psi et thêta » | Variables ajustées par l’optimisation.</a:t>
            </a:r>
          </a:p>
          <a:p xmlns:a="http://schemas.openxmlformats.org/drawingml/2006/main">
            <a:pPr marL="0" lvl="0" indent="0" algn="l">
              <a:spcBef>
                <a:spcPts val="0"/>
              </a:spcBef>
              <a:spcAft>
                <a:spcPts val="0"/>
              </a:spcAft>
              <a:buNone/>
            </a:pPr>
            <a:r>
              <a:t>g_\theta(h_\psi(x_i)) | « g thêta de h psi de x i » | On calcule d’abord la représentation h, puis la prédiction g.</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différence porte sur les paramètres que la perte peut ajuster : seulement le prédicteur, ou aussi l’extracteur.</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Min désigne la valeur minimale recherchée. Arg min désignerait les paramètres qui la réalisent. Phi est ici une fonction fixe, alors qu’il désigne des paramètres dans la formule du transfert.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Que devient la seconde optimisation si l’extracteur préentraîné est gelé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Psi reste constant. On optimise seulement theta, même si le calcul des caractéristiques utilise un réseau profond.</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LeCun, Bengio et Hinton — Deep learning, Nature, 2015</a:t>
            </a:r>
          </a:p>
          <a:p xmlns:a="http://schemas.openxmlformats.org/drawingml/2006/main">
            <a:pPr marL="0" lvl="0" indent="0" algn="l">
              <a:spcBef>
                <a:spcPts val="0"/>
              </a:spcBef>
              <a:spcAft>
                <a:spcPts val="0"/>
              </a:spcAft>
              <a:buNone/>
            </a:pPr>
            <a:r>
              <a:t>https://www.nature.com/articles/nature14539</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Jeremy Howard et Sylvain Gugger — Deep Learning for Coders with fastai and PyTorch, O’Reilly Media, 2020, chapitre 1</a:t>
            </a:r>
          </a:p>
          <a:p xmlns:a="http://schemas.openxmlformats.org/drawingml/2006/main">
            <a:pPr marL="0" lvl="0" indent="0" algn="l">
              <a:spcBef>
                <a:spcPts val="0"/>
              </a:spcBef>
              <a:spcAft>
                <a:spcPts val="0"/>
              </a:spcAft>
              <a:buNone/>
            </a:pPr>
            <a:r>
              <a:t>https://www.oreilly.com/library/view/deep-learning-for/9781492045519/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 — DEUX PIPELINES POUR CLASSER UNE IMAGE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Prendre une même collection d’images annotées et fixer les partitions avant toute comparaison. Dans un pipeline utilisant HOG, on calcule des gradients locaux puis des histogrammes d’orientations avec des normalisations. La recette du descripteur est conçue à l’avance, puis un classifieur apprend sur les vecteurs obtenus. Le travail historique de Dalal et Triggs utilise notamment un SVM linéaire pour la détection de personnes. Le tableau transpose l’idée de représentation à un exemple pédagogique de classification d’images. Dans un CNN entraîné de bout en bout, les valeurs des filtres et les paramètres de la tête changent sous l’effet de la perte. Le concepteur choisit toujours la résolution, les transformations autorisées, l’architecture et le protocole. Le réseau ne supprime donc pas toute ingénierie. Pour une comparaison honnête, documenter aussi le préentraînement éventuel et le budget. Les niveaux internes d’un CNN n’ont pas nécessairement une interprétation sémantique simple ou universelle.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expérience isole l’effet des représentations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Comparer des extracteurs avec une tête et un protocole contrôlés, puis expliciter ce qui change en dimension, préentraînement, données et coût.</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Dalal et Triggs — Histograms of Oriented Gradients for Human Detection, 2005</ns12:t>
            </ns12:r>
          </ns12:p>
          <ns13:p xmlns:ns13="http://schemas.openxmlformats.org/drawingml/2006/main">
            <ns13:pPr marL="0" lvl="0" indent="0" algn="l">
              <ns13:spcBef>
                <ns13:spcPts val="0"/>
              </ns13:spcBef>
              <ns13:spcAft>
                <ns13:spcPts val="0"/>
              </ns13:spcAft>
              <ns13:buNone/>
            </ns13:pPr>
            <ns13:r>
              <ns13:t>https://doi.org/10.1109/CVPR.2005.177</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LeCun, Bottou, Bengio et Haffner — Gradient-Based Learning Applied to Document Recognition, 1998</ns15:t>
            </ns15:r>
          </ns15:p>
          <ns16:p xmlns:ns16="http://schemas.openxmlformats.org/drawingml/2006/main">
            <ns16:pPr marL="0" lvl="0" indent="0" algn="l">
              <ns16:spcBef>
                <ns16:spcPts val="0"/>
              </ns16:spcBef>
              <ns16:spcAft>
                <ns16:spcPts val="0"/>
              </ns16:spcAft>
              <ns16:buNone/>
            </ns16:pPr>
            <ns16:r>
              <ns16:t>https://bottou.org/papers/lecun-98h</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LeCun, Bengio et Hinton — Deep learning, Nature, 2015</ns18:t>
            </ns18:r>
          </ns18:p>
          <ns19:p xmlns:ns19="http://schemas.openxmlformats.org/drawingml/2006/main">
            <ns19:pPr marL="0" lvl="0" indent="0" algn="l">
              <ns19:spcBef>
                <ns19:spcPts val="0"/>
              </ns19:spcBef>
              <ns19:spcAft>
                <ns19:spcPts val="0"/>
              </ns19:spcAft>
              <ns19:buNone/>
            </ns19:pPr>
            <ns19:r>
              <ns19:t>https://www.nature.com/articles/nature14539</ns19:t>
            </ns19:r>
          </ns1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 — LE CHOIX D’UNE APPROCHE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ce tableau comme une démarche de comparaison, pas comme un classement universel. Sur un petit tableau structuré, une méthode simple fournit un résultat de référence rapide à mesurer. Cela ne prouve pas que les réseaux échoueront : on demande un gain validé avant d’accepter leur coût supplémentaire. Sur des images ou du texte, un modèle préentraîné peut fournir des représentations utiles, si son domaine et ses entrées sont compatibles avec la tâche cible. Avec peu d’étiquettes, geler l’extracteur réduit le nombre de paramètres ajustés. Ce choix n’élimine pas le décalage de distribution. Distinguer le besoin en données du préentraînement initial et celui de l’adaptation locale. Il n’existe pas un nombre magique d’exemples à partir duquel le deep learning devient obligatoire. Pour chaque candidat, mesurer le score de validation, sa variabilité, la latence et la mémoire. Ces recommandations sont des points de départ pédagogiques à confirmer sur les données du projet.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un réseau préentraîné peut-il être utilisable avec peu d’étiquettes locales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Une partie des représentations a déjà été apprise sur d’autres données. Leur utilité pour la cible doit être vérifiée et le préentraînement doit être documenté.</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Jeremy Howard et Sylvain Gugger — Deep Learning for Coders with fastai and PyTorch, O’Reilly Media, 2020, chapitre 1</ns12:t>
            </ns12:r>
          </ns12:p>
          <ns13:p xmlns:ns13="http://schemas.openxmlformats.org/drawingml/2006/main">
            <ns13:pPr marL="0" lvl="0" indent="0" algn="l">
              <ns13:spcBef>
                <ns13:spcPts val="0"/>
              </ns13:spcBef>
              <ns13:spcAft>
                <ns13:spcPts val="0"/>
              </ns13:spcAft>
              <ns13:buNone/>
            </ns13:pPr>
            <ns13:r>
              <ns13:t>https://www.oreilly.com/library/view/deep-learning-for/9781492045519/</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 — UN PROTOCOLE EXPÉRIMENTAL COMMUN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Revenir au niveau du projet complet. Les diagrammes du livre décrivent la boucle d’ajustement du modèle, qui n’est qu’une partie du processus. Avant elle, il faut définir la population visée, les cibles et la manière de séparer les données. Une série temporelle ou des observations de plusieurs personnes ne se découpent pas forcément de façon aléatoire ligne par ligne. Les statistiques de normalisation et les représentations apprises pendant notre expérience doivent être ajustées sur le train, sauf préentraînement externe explicitement documenté. La validation permet les décisions d’architecture et d’hyperparamètres. Le test reste réservé au bilan du choix final. L’entropie croisée peut servir de perte tandis que l’accuracy ou le rappel répond à une question d’évaluation. Après déploiement, vérifier si les données et les erreurs changent. Ce cadre s’applique aux arbres, aux modèles linéaires, aux CNN et aux Transformers. Il servira de protocole commun aux cinq notebooks Colab.</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Normaliser toutes les données avant le découpage est-il acceptable parce que les étiquettes ne sont pas utilisées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Les statistiques des partitions de validation et de test influenceraient la transformation. Ajuster la normalisation sur le train puis l’appliquer aux autres partitions.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Romain Tavenard — Introduction au Deep Learning, 2025</ns12:t>
            </ns12:r>
          </ns12:p>
          <ns13:p xmlns:ns13="http://schemas.openxmlformats.org/drawingml/2006/main">
            <ns13:pPr marL="0" lvl="0" indent="0" algn="l">
              <ns13:spcBef>
                <ns13:spcPts val="0"/>
              </ns13:spcBef>
              <ns13:spcAft>
                <ns13:spcPts val="0"/>
              </ns13:spcAft>
              <ns13:buNone/>
            </ns13:pPr>
            <ns13:r>
              <ns13:t>https://rtavenar.github.io/deep_book/book_fr.pdf</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Jeremy Howard et Sylvain Gugger — Deep Learning for Coders with fastai and PyTorch, O’Reilly Media, 2020, chapitre 1</ns15:t>
            </ns15:r>
          </ns15:p>
          <ns16:p xmlns:ns16="http://schemas.openxmlformats.org/drawingml/2006/main">
            <ns16:pPr marL="0" lvl="0" indent="0" algn="l">
              <ns16:spcBef>
                <ns16:spcPts val="0"/>
              </ns16:spcBef>
              <ns16:spcAft>
                <ns16:spcPts val="0"/>
              </ns16:spcAft>
              <ns16:buNone/>
            </ns16:pPr>
            <ns16:r>
              <ns16:t>https://www.oreilly.com/library/view/deep-learning-for/9781492045519/</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 — OBJECTIFS ET PREUVES DE MAÎTRISE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Une compétence est acquise lorsque l'étudiant peut justifier son résultat et diagnostiquer un échec. Pour la rétropropagation, une dérivée mémorisée ne suffit pas : il faut relier chaque facteur à une opération du calcul direct. Pour les CNN, contrôler les tailles et le nombre de paramètres avant l'entraînement. Pour les Transformers, reconstruire le chemin Q, K, V et expliquer ce que le masque interdit. Les productions des TP seront évaluées sur la validité du protocole, la justesse technique et l'interprétation, sans seuil arbitraire de précision.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prouve une bonne accuracy sur le jeu d’entraînement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La capacité à ajuster ces exemples ; elle ne prouve pas la généralisation.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14 — PRÉREQUIS ET OUTILS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Faire un diagnostic rapide : demander la forme de AB lorsque A est de taille 4 × 3 et B de taille 3 × 2, puis la dérivée de log(1 + exp(z)). Le cours introduit PyTorch en parallèle des équations ; la bibliothèque ne remplace pas la compréhension des gradients. Les cinq notebooks sont autonomes et leur configuration de référence utilise le CPU. Prévoir un environnement Python 3.12 avec les dépendances du fichier requirements.txt. Une première exécution ne nécessite aucun téléchargement de données : digits est fourni par scikit-learn et les séquences sont synthétiques.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est la dérivée de log(1 + exp(z))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La sigmoïde : exp(z)/(1+exp(z)).</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 — CONVENTIONS DE NOTATION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Fixer les conventions dès le début évite la plupart des erreurs de transposition. Dans les dérivations portant sur un exemple, x et les activations sont des vecteurs colonnes ; W transforme une dimension d'entrée en une dimension de sortie. Dans les implémentations, le premier axe est le batch et chaque exemple est une ligne. La même transformation devient donc X W transposée. B désigne la taille du batch, n la longueur d'une séquence, d sa largeur, C le nombre de canaux et K le nombre de classes. Le symbole élément par élément est le produit de Hadamard.</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\begin{aligned}x&amp;\in\mathbb{R}^{d},\quad W_\ell\in\mathbb{R}^{d_\ell\times d_{\ell-1}}\\X&amp;\in\mathbb{R}^{B\times d},\quad H_\ell=\phi(XW_\ell^\top+\mathbf{1}b_\ell^\top)\end{aligned}</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x appartient à l’espace des vecteurs réels de dimension d. W indice ell appartient à l’espace des matrices réelles à d ell lignes et d ell moins un colonnes. »</a:t>
            </a:r>
          </a:p>
          <a:p xmlns:a="http://schemas.openxmlformats.org/drawingml/2006/main">
            <a:pPr marL="0" lvl="0" indent="0" algn="l">
              <a:spcBef>
                <a:spcPts val="0"/>
              </a:spcBef>
              <a:spcAft>
                <a:spcPts val="0"/>
              </a:spcAft>
              <a:buNone/>
            </a:pPr>
            <a:r>
              <a:t>« Grand X contient B lignes et d colonnes. H ell vaut phi appliquée à X fois W ell transposée, plus le vecteur de uns fois b ell transposé.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\in,\ \mathbb R^d | « appartient à ; R puissance d » | Appartenance à l’espace des vecteurs réels à d composantes.</a:t>
            </a:r>
          </a:p>
          <a:p xmlns:a="http://schemas.openxmlformats.org/drawingml/2006/main">
            <a:pPr marL="0" lvl="0" indent="0" algn="l">
              <a:spcBef>
                <a:spcPts val="0"/>
              </a:spcBef>
              <a:spcAft>
                <a:spcPts val="0"/>
              </a:spcAft>
              <a:buNone/>
            </a:pPr>
            <a:r>
              <a:t>x,\ X | « x minuscule, grand x » | Un exemple sous forme de vecteur colonne, puis un batch stocké en lignes.</a:t>
            </a:r>
          </a:p>
          <a:p xmlns:a="http://schemas.openxmlformats.org/drawingml/2006/main">
            <a:pPr marL="0" lvl="0" indent="0" algn="l">
              <a:spcBef>
                <a:spcPts val="0"/>
              </a:spcBef>
              <a:spcAft>
                <a:spcPts val="0"/>
              </a:spcAft>
              <a:buNone/>
            </a:pPr>
            <a:r>
              <a:t>B,\ d | « bé, dé » | Nombre d’exemples dans le batch et dimension des entrées.</a:t>
            </a:r>
          </a:p>
          <a:p xmlns:a="http://schemas.openxmlformats.org/drawingml/2006/main">
            <a:pPr marL="0" lvl="0" indent="0" algn="l">
              <a:spcBef>
                <a:spcPts val="0"/>
              </a:spcBef>
              <a:spcAft>
                <a:spcPts val="0"/>
              </a:spcAft>
              <a:buNone/>
            </a:pPr>
            <a:r>
              <a:t>\ell,\ \ell-1 | « ell, ell moins un » | Indices de la couche courante et de la couche précédente.</a:t>
            </a:r>
          </a:p>
          <a:p xmlns:a="http://schemas.openxmlformats.org/drawingml/2006/main">
            <a:pPr marL="0" lvl="0" indent="0" algn="l">
              <a:spcBef>
                <a:spcPts val="0"/>
              </a:spcBef>
              <a:spcAft>
                <a:spcPts val="0"/>
              </a:spcAft>
              <a:buNone/>
            </a:pPr>
            <a:r>
              <a:t>d_\ell,\ d_{\ell-1} | « d indice ell, d indice ell moins un » | Largeurs de sortie et d’entrée de la couche.</a:t>
            </a:r>
          </a:p>
          <a:p xmlns:a="http://schemas.openxmlformats.org/drawingml/2006/main">
            <a:pPr marL="0" lvl="0" indent="0" algn="l">
              <a:spcBef>
                <a:spcPts val="0"/>
              </a:spcBef>
              <a:spcAft>
                <a:spcPts val="0"/>
              </a:spcAft>
              <a:buNone/>
            </a:pPr>
            <a:r>
              <a:t>W_\ell,\ b_\ell | « w indice ell, b indice ell » | Matrice de poids et vecteur de biais.</a:t>
            </a:r>
          </a:p>
          <a:p xmlns:a="http://schemas.openxmlformats.org/drawingml/2006/main">
            <a:pPr marL="0" lvl="0" indent="0" algn="l">
              <a:spcBef>
                <a:spcPts val="0"/>
              </a:spcBef>
              <a:spcAft>
                <a:spcPts val="0"/>
              </a:spcAft>
              <a:buNone/>
            </a:pPr>
            <a:r>
              <a:t>\mathbb R^{m\times n} | « matrices réelles à m lignes et n colonnes » | Le signe fois sépare ici des dimensions.</a:t>
            </a:r>
          </a:p>
          <a:p xmlns:a="http://schemas.openxmlformats.org/drawingml/2006/main">
            <a:pPr marL="0" lvl="0" indent="0" algn="l">
              <a:spcBef>
                <a:spcPts val="0"/>
              </a:spcBef>
              <a:spcAft>
                <a:spcPts val="0"/>
              </a:spcAft>
              <a:buNone/>
            </a:pPr>
            <a:r>
              <a:t>{}^\top | « transposé, ou transposée » | Échange des lignes et des colonnes.</a:t>
            </a:r>
          </a:p>
          <a:p xmlns:a="http://schemas.openxmlformats.org/drawingml/2006/main">
            <a:pPr marL="0" lvl="0" indent="0" algn="l">
              <a:spcBef>
                <a:spcPts val="0"/>
              </a:spcBef>
              <a:spcAft>
                <a:spcPts val="0"/>
              </a:spcAft>
              <a:buNone/>
            </a:pPr>
            <a:r>
              <a:t>\mathbf1 | « vecteur de uns » | Vecteur colonne à B composantes, utilisé pour répéter le biais.</a:t>
            </a:r>
          </a:p>
          <a:p xmlns:a="http://schemas.openxmlformats.org/drawingml/2006/main">
            <a:pPr marL="0" lvl="0" indent="0" algn="l">
              <a:spcBef>
                <a:spcPts val="0"/>
              </a:spcBef>
              <a:spcAft>
                <a:spcPts val="0"/>
              </a:spcAft>
              <a:buNone/>
            </a:pPr>
            <a:r>
              <a:t>H_\ell,\ \phi | « h indice ell, phi » | Activations du batch après application de la fonction non linéaire, composante par composante.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Pour cette couche, les colonnes de X doivent correspondre à d ell moins un. Le produit X W transposée donne B par d ell et le biais s’ajoute à chacune des B lignes.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La juxtaposition X W transposée est un produit matriciel. Le T en exposant représente une transposition, pas une puissance.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Pourquoi W est-il transposé dans la version batch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Parce que les exemples sont stockés en lignes, alors que la dérivation utilise des colonnes.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16 — RÉSEAUX PROFONDS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journée articule les concepts et leur mise à l'épreuve. Relier les notions de la journée aux représentations et à la boucle d’apprentissage vues en introduction.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17 — JOUR 1 · DÉROULÉ DES 7 HEURES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 L’introduction de 65 minutes comprend environ 35 à 40 minutes pour les repères historiques et la comparaison ML / DL, puis le diagnostic des prérequis, la notation et la formulation du problème. Les 150 minutes du TP restent inchangées. Les autres séquences durent 80, 75 et 50 minutes.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18 — APPRENDRE DES REPRÉSENTATIONS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Partir d'un exemple de vision : les valeurs des pixels ne sont pas directement les catégories recherchées. Le réseau ajuste plusieurs transformations pour rendre la décision finale plus simple. Éviter l'affirmation systématique selon laquelle une couche représente des contours puis des objets : c'est une intuition possible, pas une garantie pour tous les modèles. Une représentation dépend des données, de la perte et des contraintes d'architecture. Comparer largeur et profondeur : augmenter l'une ou l'autre modifie la capacité, mais aussi l'optimisation et le coût. La qualité se juge sur des données distinctes.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f_\theta=f_L\circ f_{L-1}\circ\cdots\circ f_1</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f paramétrée par thêta est la composée de f grand L, f grand L moins un, et ainsi de suite jusqu’à f un. On applique f un en premier.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f_\theta | « f paramétrée par thêta » | Fonction calculée par le réseau complet.</a:t>
            </a:r>
          </a:p>
          <a:p xmlns:a="http://schemas.openxmlformats.org/drawingml/2006/main">
            <a:pPr marL="0" lvl="0" indent="0" algn="l">
              <a:spcBef>
                <a:spcPts val="0"/>
              </a:spcBef>
              <a:spcAft>
                <a:spcPts val="0"/>
              </a:spcAft>
              <a:buNone/>
            </a:pPr>
            <a:r>
              <a:t>\theta | « thêta » | Ensemble des paramètres du réseau.</a:t>
            </a:r>
          </a:p>
          <a:p xmlns:a="http://schemas.openxmlformats.org/drawingml/2006/main">
            <a:pPr marL="0" lvl="0" indent="0" algn="l">
              <a:spcBef>
                <a:spcPts val="0"/>
              </a:spcBef>
              <a:spcAft>
                <a:spcPts val="0"/>
              </a:spcAft>
              <a:buNone/>
            </a:pPr>
            <a:r>
              <a:t>L | « grand ell » | Nombre de transformations dans la composition.</a:t>
            </a:r>
          </a:p>
          <a:p xmlns:a="http://schemas.openxmlformats.org/drawingml/2006/main">
            <a:pPr marL="0" lvl="0" indent="0" algn="l">
              <a:spcBef>
                <a:spcPts val="0"/>
              </a:spcBef>
              <a:spcAft>
                <a:spcPts val="0"/>
              </a:spcAft>
              <a:buNone/>
            </a:pPr>
            <a:r>
              <a:t>f_1,\ f_{L-1},\ f_L | « f un, f grand ell moins un, f grand ell » | Première transformation, avant-dernière et dernière.</a:t>
            </a:r>
          </a:p>
          <a:p xmlns:a="http://schemas.openxmlformats.org/drawingml/2006/main">
            <a:pPr marL="0" lvl="0" indent="0" algn="l">
              <a:spcBef>
                <a:spcPts val="0"/>
              </a:spcBef>
              <a:spcAft>
                <a:spcPts val="0"/>
              </a:spcAft>
              <a:buNone/>
            </a:pPr>
            <a:r>
              <a:t>\circ | « rond, ou composée avec » | Composition de fonctions. La fonction à droite agit d’abord.</a:t>
            </a:r>
          </a:p>
          <a:p xmlns:a="http://schemas.openxmlformats.org/drawingml/2006/main">
            <a:pPr marL="0" lvl="0" indent="0" algn="l">
              <a:spcBef>
                <a:spcPts val="0"/>
              </a:spcBef>
              <a:spcAft>
                <a:spcPts val="0"/>
              </a:spcAft>
              <a:buNone/>
            </a:pPr>
            <a:r>
              <a:t>\cdots | « et ainsi de suite » | Transformations intermédiaires omises pour alléger l’écriture.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 résultat d’une couche devient l’entrée de la suivante.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rond de composition n’est ni une multiplication ordinaire ni un produit terme à terme.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Une architecture plus profonde est-elle toujours meilleure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capacité, optimisation, données disponibles et biais inductif interagissent.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Jérémie Bigot — Introduction au Deep Learning</a:t>
            </a:r>
          </a:p>
          <a:p xmlns:a="http://schemas.openxmlformats.org/drawingml/2006/main">
            <a:pPr marL="0" lvl="0" indent="0" algn="l">
              <a:spcBef>
                <a:spcPts val="0"/>
              </a:spcBef>
              <a:spcAft>
                <a:spcPts val="0"/>
              </a:spcAft>
              <a:buNone/>
            </a:pPr>
            <a:r>
              <a:t>https://www.math.u-bordeaux.fr/~jbigot/Site/Enseignement_files/Intro_DeepLearning.pdf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19 — LE NEURONE DIFFÉRENTIABLE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Distinguer le perceptron historique à seuil d'un neurone entraîné par gradient. Une fonction seuil n'a pas la dérivée utile souhaitée ; les réseaux modernes emploient des activations différentiables presque partout ou des conventions de sous-gradient. Le biais déplace la frontière sans imposer qu'elle passe par l'origine. Les poids ne sont pas des importances universelles : leur interprétation dépend de l'échelle des variables et des couches suivantes. Faire calculer z pour x=(2,-1), w=(0,5;1) et b=1 : z=1, puis appliquer une ReLU pour obtenir 1.</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z=w^\top x+b,\qquad a=\phi(z)</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z vaut w transposé fois x, plus b. a vaut phi de z.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 | « x » | Vecteur d’entrée à d composantes.</a:t>
            </a:r>
          </a:p>
          <a:p xmlns:a="http://schemas.openxmlformats.org/drawingml/2006/main">
            <a:pPr marL="0" lvl="0" indent="0" algn="l">
              <a:spcBef>
                <a:spcPts val="0"/>
              </a:spcBef>
              <a:spcAft>
                <a:spcPts val="0"/>
              </a:spcAft>
              <a:buNone/>
            </a:pPr>
            <a:r>
              <a:t>w,\ w^\top | « w, w transposé » | Vecteur de poids puis sa transposée.</a:t>
            </a:r>
          </a:p>
          <a:p xmlns:a="http://schemas.openxmlformats.org/drawingml/2006/main">
            <a:pPr marL="0" lvl="0" indent="0" algn="l">
              <a:spcBef>
                <a:spcPts val="0"/>
              </a:spcBef>
              <a:spcAft>
                <a:spcPts val="0"/>
              </a:spcAft>
              <a:buNone/>
            </a:pPr>
            <a:r>
              <a:t>w^\top x | « produit scalaire de w et x » | Somme des produits des composantes correspondantes.</a:t>
            </a:r>
          </a:p>
          <a:p xmlns:a="http://schemas.openxmlformats.org/drawingml/2006/main">
            <a:pPr marL="0" lvl="0" indent="0" algn="l">
              <a:spcBef>
                <a:spcPts val="0"/>
              </a:spcBef>
              <a:spcAft>
                <a:spcPts val="0"/>
              </a:spcAft>
              <a:buNone/>
            </a:pPr>
            <a:r>
              <a:t>b | « bé » | Biais scalaire ajouté au produit scalaire.</a:t>
            </a:r>
          </a:p>
          <a:p xmlns:a="http://schemas.openxmlformats.org/drawingml/2006/main">
            <a:pPr marL="0" lvl="0" indent="0" algn="l">
              <a:spcBef>
                <a:spcPts val="0"/>
              </a:spcBef>
              <a:spcAft>
                <a:spcPts val="0"/>
              </a:spcAft>
              <a:buNone/>
            </a:pPr>
            <a:r>
              <a:t>z | « zède » | Préactivation scalaire, avant la non-linéarité.</a:t>
            </a:r>
          </a:p>
          <a:p xmlns:a="http://schemas.openxmlformats.org/drawingml/2006/main">
            <a:pPr marL="0" lvl="0" indent="0" algn="l">
              <a:spcBef>
                <a:spcPts val="0"/>
              </a:spcBef>
              <a:spcAft>
                <a:spcPts val="0"/>
              </a:spcAft>
              <a:buNone/>
            </a:pPr>
            <a:r>
              <a:t>\phi | « phi » | Fonction d’activation.</a:t>
            </a:r>
          </a:p>
          <a:p xmlns:a="http://schemas.openxmlformats.org/drawingml/2006/main">
            <a:pPr marL="0" lvl="0" indent="0" algn="l">
              <a:spcBef>
                <a:spcPts val="0"/>
              </a:spcBef>
              <a:spcAft>
                <a:spcPts val="0"/>
              </a:spcAft>
              <a:buNone/>
            </a:pPr>
            <a:r>
              <a:t>a=\phi(z) | « a égale phi de zède » | Sortie du neurone après activation.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 neurone combine les entrées par un calcul affine puis applique une non-linéarité.</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w transposé fois x est un scalaire. Phi de z se lit comme l’application d’une fonction, pas comme phi multiplié par z.</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Combien de paramètres pour une entrée de dimension d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d poids et un biais, soit d+1.</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Romain Tavenard — Introduction au Deep Learning, 2025</a:t>
            </a:r>
          </a:p>
          <a:p xmlns:a="http://schemas.openxmlformats.org/drawingml/2006/main">
            <a:pPr marL="0" lvl="0" indent="0" algn="l">
              <a:spcBef>
                <a:spcPts val="0"/>
              </a:spcBef>
              <a:spcAft>
                <a:spcPts val="0"/>
              </a:spcAft>
              <a:buNone/>
            </a:pPr>
            <a:r>
              <a:t>https://rtavenar.github.io/deep_book/book_fr.pdf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20 — POURQUOI LA NON-LINÉARITÉ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Développer le produit au tableau pour montrer exactement ce que l'empilement affine peut exprimer. On peut absorber deux couches dans une seule matrice et un seul biais. La représentation du XOR constitue un contre-exemple classique à une séparation linéaire dans l'espace d'entrée : ses classes occupent des coins opposés. Une couche cachée non linéaire transforme cet espace. Ne pas confondre ce constat avec les effets d'une factorisation linéaire sur l'optimisation ; ici, on parle de la classe de fonctions représentables, pas de la trajectoire suivie pendant l'entraînement.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W_2(W_1x+b_1)+b_2=(W_2W_1)x+(W_2b_1+b_2)</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W deux appliqué à W un fois x plus b un, puis plus b deux, vaut W deux fois W un appliqué à x, plus W deux fois b un plus b deux.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 | « x » | Vecteur d’entrée.</a:t>
            </a:r>
          </a:p>
          <a:p xmlns:a="http://schemas.openxmlformats.org/drawingml/2006/main">
            <a:pPr marL="0" lvl="0" indent="0" algn="l">
              <a:spcBef>
                <a:spcPts val="0"/>
              </a:spcBef>
              <a:spcAft>
                <a:spcPts val="0"/>
              </a:spcAft>
              <a:buNone/>
            </a:pPr>
            <a:r>
              <a:t>W_1,\ W_2 | « w un, w deux » | Matrices de la première et de la deuxième couche affine.</a:t>
            </a:r>
          </a:p>
          <a:p xmlns:a="http://schemas.openxmlformats.org/drawingml/2006/main">
            <a:pPr marL="0" lvl="0" indent="0" algn="l">
              <a:spcBef>
                <a:spcPts val="0"/>
              </a:spcBef>
              <a:spcAft>
                <a:spcPts val="0"/>
              </a:spcAft>
              <a:buNone/>
            </a:pPr>
            <a:r>
              <a:t>b_1,\ b_2 | « b un, b deux » | Vecteurs de biais des deux couches.</a:t>
            </a:r>
          </a:p>
          <a:p xmlns:a="http://schemas.openxmlformats.org/drawingml/2006/main">
            <a:pPr marL="0" lvl="0" indent="0" algn="l">
              <a:spcBef>
                <a:spcPts val="0"/>
              </a:spcBef>
              <a:spcAft>
                <a:spcPts val="0"/>
              </a:spcAft>
              <a:buNone/>
            </a:pPr>
            <a:r>
              <a:t>W_2W_1 | « w deux fois w un » | Matrice composée. L’ordre des facteurs compte.</a:t>
            </a:r>
          </a:p>
          <a:p xmlns:a="http://schemas.openxmlformats.org/drawingml/2006/main">
            <a:pPr marL="0" lvl="0" indent="0" algn="l">
              <a:spcBef>
                <a:spcPts val="0"/>
              </a:spcBef>
              <a:spcAft>
                <a:spcPts val="0"/>
              </a:spcAft>
              <a:buNone/>
            </a:pPr>
            <a:r>
              <a:t>W_2b_1+b_2 | « w deux fois b un, plus b deux » | Biais total obtenu après développement.</a:t>
            </a:r>
          </a:p>
          <a:p xmlns:a="http://schemas.openxmlformats.org/drawingml/2006/main">
            <a:pPr marL="0" lvl="0" indent="0" algn="l">
              <a:spcBef>
                <a:spcPts val="0"/>
              </a:spcBef>
              <a:spcAft>
                <a:spcPts val="0"/>
              </a:spcAft>
              <a:buNone/>
            </a:pPr>
            <a:r>
              <a:t>(\cdot) | « parenthèses » | Regroupent un calcul à effectuer comme un tout.</a:t>
            </a:r>
          </a:p>
          <a:p xmlns:a="http://schemas.openxmlformats.org/drawingml/2006/main">
            <a:pPr marL="0" lvl="0" indent="0" algn="l">
              <a:spcBef>
                <a:spcPts val="0"/>
              </a:spcBef>
              <a:spcAft>
                <a:spcPts val="0"/>
              </a:spcAft>
              <a:buNone/>
            </a:pPr>
            <a:r>
              <a:t>= | « égale » | Les deux expressions calculent exactement la même fonction.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Deux couches affines successives peuvent se remplacer par une seule couche affine.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On utilise la distributivité et l’associativité. On ne permute pas les matrices : W deux W un est généralement différent de W un W deux.</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Que devient un réseau de dix couches linéaires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Une application affine unique, si des biais sont présents.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Javiera Castillo Navarro — RCP 209, 2025–2026</a:t>
            </a:r>
          </a:p>
          <a:p xmlns:a="http://schemas.openxmlformats.org/drawingml/2006/main">
            <a:pPr marL="0" lvl="0" indent="0" algn="l">
              <a:spcBef>
                <a:spcPts val="0"/>
              </a:spcBef>
              <a:spcAft>
                <a:spcPts val="0"/>
              </a:spcAft>
              <a:buNone/>
            </a:pPr>
            <a:r>
              <a:t>https://cedric.cnam.fr/vertigo/Cours/ml2/docs/coursDeep1.pdf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21 — ACTIVATIONS : VALEURS ET SATURATION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Lire les deux courbes comme des fonctions scalaires appliquées composante par composante. La sigmoïde est utile pour une probabilité binaire en sortie ; dans des couches cachées profondes, sa saturation peut réduire fortement les gradients. ReLU évite la saturation sur la branche positive mais peut laisser certaines unités inactives pour tous les exemples. Une activation n'est donc pas choisie seulement pour son coût : il faut considérer l'initialisation et la distribution des préactivations. Les courbes présentées sont calculées directement à partir des définitions, sans mesures d'entraînement.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est la valeur de la sigmoïde en zéro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0,5 ; sa dérivée en zéro vaut 0,25.</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22 — DÉRIVÉES DES ACTIVATIONS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Retrouver la dérivée de la sigmoïde par la dérivation d'un inverse et d'une exponentielle. Son maximum est 1/4, ce qui prépare l'analyse de l'atténuation des gradients, sans suffire à elle seule à décrire un réseau complet : les matrices de poids interviennent aussi. Pour ReLU, la dérivée n'existe pas au point zéro ; la valeur zéro utilisée dans nos calculs est une convention pratique. Φ est la fonction de répartition de la loi normale centrée réduite. GELU ne doit pas être confondue avec une probabilité de sortie : c'est une activation.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\sigma'(z)=\sigma(z)(1-\sigma(z)),\quad\phi_{\rm ReLU}'(z)=\mathbf{1}_{z&gt;0}\\\operatorname{GELU}(z)=z\Phi(z)</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Sigma prime de z vaut sigma de z fois un moins sigma de z. »</a:t>
            </a:r>
          </a:p>
          <a:p xmlns:a="http://schemas.openxmlformats.org/drawingml/2006/main">
            <a:pPr marL="0" lvl="0" indent="0" algn="l">
              <a:spcBef>
                <a:spcPts val="0"/>
              </a:spcBef>
              <a:spcAft>
                <a:spcPts val="0"/>
              </a:spcAft>
              <a:buNone/>
            </a:pPr>
            <a:r>
              <a:t>« La dérivée de ReLU en z vaut l’indicatrice de z strictement positif, pour z différent de zéro. »</a:t>
            </a:r>
          </a:p>
          <a:p xmlns:a="http://schemas.openxmlformats.org/drawingml/2006/main">
            <a:pPr marL="0" lvl="0" indent="0" algn="l">
              <a:spcBef>
                <a:spcPts val="0"/>
              </a:spcBef>
              <a:spcAft>
                <a:spcPts val="0"/>
              </a:spcAft>
              <a:buNone/>
            </a:pPr>
            <a:r>
              <a:t>« GELU de z vaut z fois grand phi de z.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z | « zède » | Préactivation scalaire.</a:t>
            </a:r>
          </a:p>
          <a:p xmlns:a="http://schemas.openxmlformats.org/drawingml/2006/main">
            <a:pPr marL="0" lvl="0" indent="0" algn="l">
              <a:spcBef>
                <a:spcPts val="0"/>
              </a:spcBef>
              <a:spcAft>
                <a:spcPts val="0"/>
              </a:spcAft>
              <a:buNone/>
            </a:pPr>
            <a:r>
              <a:t>\sigma(z) | « sigma de zède » | Sigmoïde logistique.</a:t>
            </a:r>
          </a:p>
          <a:p xmlns:a="http://schemas.openxmlformats.org/drawingml/2006/main">
            <a:pPr marL="0" lvl="0" indent="0" algn="l">
              <a:spcBef>
                <a:spcPts val="0"/>
              </a:spcBef>
              <a:spcAft>
                <a:spcPts val="0"/>
              </a:spcAft>
              <a:buNone/>
            </a:pPr>
            <a:r>
              <a:t>{}' | « prime » | Dérivée d’une fonction scalaire par rapport à son argument.</a:t>
            </a:r>
          </a:p>
          <a:p xmlns:a="http://schemas.openxmlformats.org/drawingml/2006/main">
            <a:pPr marL="0" lvl="0" indent="0" algn="l">
              <a:spcBef>
                <a:spcPts val="0"/>
              </a:spcBef>
              <a:spcAft>
                <a:spcPts val="0"/>
              </a:spcAft>
              <a:buNone/>
            </a:pPr>
            <a:r>
              <a:t>\sigma'(z) | « sigma prime de zède » | Dérivée de la sigmoïde au point z.</a:t>
            </a:r>
          </a:p>
          <a:p xmlns:a="http://schemas.openxmlformats.org/drawingml/2006/main">
            <a:pPr marL="0" lvl="0" indent="0" algn="l">
              <a:spcBef>
                <a:spcPts val="0"/>
              </a:spcBef>
              <a:spcAft>
                <a:spcPts val="0"/>
              </a:spcAft>
              <a:buNone/>
            </a:pPr>
            <a:r>
              <a:t>\phi_{\rm ReLU} | « phi indice rélu » | Fonction ReLU : maximum entre zéro et z.</a:t>
            </a:r>
          </a:p>
          <a:p xmlns:a="http://schemas.openxmlformats.org/drawingml/2006/main">
            <a:pPr marL="0" lvl="0" indent="0" algn="l">
              <a:spcBef>
                <a:spcPts val="0"/>
              </a:spcBef>
              <a:spcAft>
                <a:spcPts val="0"/>
              </a:spcAft>
              <a:buNone/>
            </a:pPr>
            <a:r>
              <a:t>\mathbf1_{z&gt;0} | « indicatrice de zède strictement positif » | Vaut un si z est positif et zéro sinon.</a:t>
            </a:r>
          </a:p>
          <a:p xmlns:a="http://schemas.openxmlformats.org/drawingml/2006/main">
            <a:pPr marL="0" lvl="0" indent="0" algn="l">
              <a:spcBef>
                <a:spcPts val="0"/>
              </a:spcBef>
              <a:spcAft>
                <a:spcPts val="0"/>
              </a:spcAft>
              <a:buNone/>
            </a:pPr>
            <a:r>
              <a:t>\Phi(z) | « grand phi de zède » | Fonction de répartition de la loi normale centrée réduite.</a:t>
            </a:r>
          </a:p>
          <a:p xmlns:a="http://schemas.openxmlformats.org/drawingml/2006/main">
            <a:pPr marL="0" lvl="0" indent="0" algn="l">
              <a:spcBef>
                <a:spcPts val="0"/>
              </a:spcBef>
              <a:spcAft>
                <a:spcPts val="0"/>
              </a:spcAft>
              <a:buNone/>
            </a:pPr>
            <a:r>
              <a:t>\operatorname{GELU}(z) | « gélu de zède » | Activation obtenue ici par z multiplié par la probabilité Phi de z.</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Les dérivées déterminent comment le signal de gradient traverse les activations.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La dérivée de ReLU n’existe pas en zéro. Mettre zéro à cet endroit est une convention de calcul. Sigma, phi et grand Phi désignent trois fonctions différentes.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La dérivée de ReLU vaut-elle 1 pour toute entrée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elle vaut zéro sur les entrées négatives.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23 — UNE COUCHE DENSE : FORMES ET CALCUL</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Écrire la forme de chaque objet : a précédent a d précédent composantes, W a d courant lignes et d précédent colonnes, b a d courant composantes. Le comptage inclut exactement un biais par neurone de sortie. Pour 784 entrées et 128 unités, la couche contient 784 × 128 + 128 = 100480 paramètres. Le nombre de paramètres ne dépend pas de B, même si la mémoire des activations et le coût du calcul en dépendent. Dans PyTorch, nn.Linear(in_features, out_features) stocke précisément une matrice out_features × in_features.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a_\ell=\phi_\ell(W_\ell a_{\ell-1}+b_\ell),\qquad P_\ell=d_\ell(d_{\ell-1}+1)</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a indice ell vaut phi indice ell appliquée à W ell fois a ell moins un, plus b ell. »</a:t>
            </a:r>
          </a:p>
          <a:p xmlns:a="http://schemas.openxmlformats.org/drawingml/2006/main">
            <a:pPr marL="0" lvl="0" indent="0" algn="l">
              <a:spcBef>
                <a:spcPts val="0"/>
              </a:spcBef>
              <a:spcAft>
                <a:spcPts val="0"/>
              </a:spcAft>
              <a:buNone/>
            </a:pPr>
            <a:r>
              <a:t>« Le nombre P ell de paramètres vaut d ell fois la quantité d ell moins un plus un.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\ell,\ \ell-1 | « ell, ell moins un » | Numéros des couches courante et précédente.</a:t>
            </a:r>
          </a:p>
          <a:p xmlns:a="http://schemas.openxmlformats.org/drawingml/2006/main">
            <a:pPr marL="0" lvl="0" indent="0" algn="l">
              <a:spcBef>
                <a:spcPts val="0"/>
              </a:spcBef>
              <a:spcAft>
                <a:spcPts val="0"/>
              </a:spcAft>
              <a:buNone/>
            </a:pPr>
            <a:r>
              <a:t>a_{\ell-1},\ a_\ell | « a indice ell moins un, a indice ell » | Entrée et sortie de la couche.</a:t>
            </a:r>
          </a:p>
          <a:p xmlns:a="http://schemas.openxmlformats.org/drawingml/2006/main">
            <a:pPr marL="0" lvl="0" indent="0" algn="l">
              <a:spcBef>
                <a:spcPts val="0"/>
              </a:spcBef>
              <a:spcAft>
                <a:spcPts val="0"/>
              </a:spcAft>
              <a:buNone/>
            </a:pPr>
            <a:r>
              <a:t>W_\ell | « w indice ell » | Matrice à d ell lignes et d ell moins un colonnes.</a:t>
            </a:r>
          </a:p>
          <a:p xmlns:a="http://schemas.openxmlformats.org/drawingml/2006/main">
            <a:pPr marL="0" lvl="0" indent="0" algn="l">
              <a:spcBef>
                <a:spcPts val="0"/>
              </a:spcBef>
              <a:spcAft>
                <a:spcPts val="0"/>
              </a:spcAft>
              <a:buNone/>
            </a:pPr>
            <a:r>
              <a:t>b_\ell | « b indice ell » | Un biais par neurone de sortie.</a:t>
            </a:r>
          </a:p>
          <a:p xmlns:a="http://schemas.openxmlformats.org/drawingml/2006/main">
            <a:pPr marL="0" lvl="0" indent="0" algn="l">
              <a:spcBef>
                <a:spcPts val="0"/>
              </a:spcBef>
              <a:spcAft>
                <a:spcPts val="0"/>
              </a:spcAft>
              <a:buNone/>
            </a:pPr>
            <a:r>
              <a:t>\phi_\ell | « phi indice ell » | Activation appliquée à chaque préactivation.</a:t>
            </a:r>
          </a:p>
          <a:p xmlns:a="http://schemas.openxmlformats.org/drawingml/2006/main">
            <a:pPr marL="0" lvl="0" indent="0" algn="l">
              <a:spcBef>
                <a:spcPts val="0"/>
              </a:spcBef>
              <a:spcAft>
                <a:spcPts val="0"/>
              </a:spcAft>
              <a:buNone/>
            </a:pPr>
            <a:r>
              <a:t>P_\ell | « pé indice ell » | Nombre total de poids et de biais de la couche.</a:t>
            </a:r>
          </a:p>
          <a:p xmlns:a="http://schemas.openxmlformats.org/drawingml/2006/main">
            <a:pPr marL="0" lvl="0" indent="0" algn="l">
              <a:spcBef>
                <a:spcPts val="0"/>
              </a:spcBef>
              <a:spcAft>
                <a:spcPts val="0"/>
              </a:spcAft>
              <a:buNone/>
            </a:pPr>
            <a:r>
              <a:t>d_\ell(d_{\ell-1}+1) | « d ell fois, entre parenthèses, d ell moins un plus un » | Chaque sortie utilise d ell moins un poids et un biais.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formule de calcul et la formule de comptage décrivent la même couche dense.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Dans l’indice d ell moins un, « moins un » fait partie du numéro de couche. Ce n’est pas la largeur d ell diminuée de un.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Une couche 64 → 10 contient combien de paramètres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64×10+10 = 650.</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24 — MLP : ARCHITECTURE ET PARAMÈTRES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Effectuer le comptage couche par couche, puis la somme. Pour l'exemple 2 → 16 → 2, la première couche comporte 32 poids et 16 biais ; la seconde 32 poids et 2 biais. Le réseau a donc 82 paramètres entraînables. Les activations ne portent pas de paramètres pour une ReLU ou une sigmoïde standard. Cette architecture sera utilisée dans le premier TP sur deux lunes. L'objectif est de relier les dimensions du code à une décision géométrique dans un espace de dimension deux, où le problème peut être visualisé sans réduction de dimension.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Changer le batch de 32 à 64 double-t-il les paramètres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Cela augmente le nombre d’activations conservées pendant le calcul.</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25 — PERTE DE RÉGRESSION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Développer la somme des carrés composante par composante. Le gradient a la même dimension que la sortie. Si le modèle surestime y, le signe du gradient est positif et une descente réduit la prédiction localement. Sous une hypothèse de bruit gaussien de variance constante, la minimisation des carrés a une interprétation de maximum de vraisemblance ; cette hypothèse n'est pas universelle. Certains logiciels divisent aussi par le nombre de composantes de sortie. Il faut donc vérifier la réduction utilisée avant de comparer une dérivation et les gradients d'une bibliothèque.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\ell(\hat y,y)=\frac12\|\hat y-y\|_2^2,\qquad\nabla_{\hat y}\ell=\hat y-y</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La perte de y chapeau et y vaut un demi de la norme deux de leur différence, au carré. »</a:t>
            </a:r>
          </a:p>
          <a:p xmlns:a="http://schemas.openxmlformats.org/drawingml/2006/main">
            <a:pPr marL="0" lvl="0" indent="0" algn="l">
              <a:spcBef>
                <a:spcPts val="0"/>
              </a:spcBef>
              <a:spcAft>
                <a:spcPts val="0"/>
              </a:spcAft>
              <a:buNone/>
            </a:pPr>
            <a:r>
              <a:t>« Le gradient de ell par rapport à y chapeau vaut y chapeau moins y.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\ell | « ell minuscule » | Fonction de perte.</a:t>
            </a:r>
          </a:p>
          <a:p xmlns:a="http://schemas.openxmlformats.org/drawingml/2006/main">
            <a:pPr marL="0" lvl="0" indent="0" algn="l">
              <a:spcBef>
                <a:spcPts val="0"/>
              </a:spcBef>
              <a:spcAft>
                <a:spcPts val="0"/>
              </a:spcAft>
              <a:buNone/>
            </a:pPr>
            <a:r>
              <a:t>\hat y | « y chapeau » | Prédiction du modèle, scalaire ou vecteur.</a:t>
            </a:r>
          </a:p>
          <a:p xmlns:a="http://schemas.openxmlformats.org/drawingml/2006/main">
            <a:pPr marL="0" lvl="0" indent="0" algn="l">
              <a:spcBef>
                <a:spcPts val="0"/>
              </a:spcBef>
              <a:spcAft>
                <a:spcPts val="0"/>
              </a:spcAft>
              <a:buNone/>
            </a:pPr>
            <a:r>
              <a:t>y | « y » | Valeur cible attendue.</a:t>
            </a:r>
          </a:p>
          <a:p xmlns:a="http://schemas.openxmlformats.org/drawingml/2006/main">
            <a:pPr marL="0" lvl="0" indent="0" algn="l">
              <a:spcBef>
                <a:spcPts val="0"/>
              </a:spcBef>
              <a:spcAft>
                <a:spcPts val="0"/>
              </a:spcAft>
              <a:buNone/>
            </a:pPr>
            <a:r>
              <a:t>\frac12 | « un demi » | Facteur qui simplifie la dérivée du carré.</a:t>
            </a:r>
          </a:p>
          <a:p xmlns:a="http://schemas.openxmlformats.org/drawingml/2006/main">
            <a:pPr marL="0" lvl="0" indent="0" algn="l">
              <a:spcBef>
                <a:spcPts val="0"/>
              </a:spcBef>
              <a:spcAft>
                <a:spcPts val="0"/>
              </a:spcAft>
              <a:buNone/>
            </a:pPr>
            <a:r>
              <a:t>\hat y-y | « y chapeau moins y » | Écart entre la prédiction et la cible.</a:t>
            </a:r>
          </a:p>
          <a:p xmlns:a="http://schemas.openxmlformats.org/drawingml/2006/main">
            <a:pPr marL="0" lvl="0" indent="0" algn="l">
              <a:spcBef>
                <a:spcPts val="0"/>
              </a:spcBef>
              <a:spcAft>
                <a:spcPts val="0"/>
              </a:spcAft>
              <a:buNone/>
            </a:pPr>
            <a:r>
              <a:t>\|\hat y-y\|_2 | « norme deux de y chapeau moins y » | Longueur euclidienne du vecteur des écarts. Les doubles barres désignent une norme et le deux en indice indique son type.</a:t>
            </a:r>
          </a:p>
          <a:p xmlns:a="http://schemas.openxmlformats.org/drawingml/2006/main">
            <a:pPr marL="0" lvl="0" indent="0" algn="l">
              <a:spcBef>
                <a:spcPts val="0"/>
              </a:spcBef>
              <a:spcAft>
                <a:spcPts val="0"/>
              </a:spcAft>
              <a:buNone/>
            </a:pPr>
            <a:r>
              <a:t>{}^2 | « au carré » | On élève la norme entière au carré, ce qui donne la somme des carrés des écarts.</a:t>
            </a:r>
          </a:p>
          <a:p xmlns:a="http://schemas.openxmlformats.org/drawingml/2006/main">
            <a:pPr marL="0" lvl="0" indent="0" algn="l">
              <a:spcBef>
                <a:spcPts val="0"/>
              </a:spcBef>
              <a:spcAft>
                <a:spcPts val="0"/>
              </a:spcAft>
              <a:buNone/>
            </a:pPr>
            <a:r>
              <a:t>\nabla | « nabla » | Notation d’un gradient.</a:t>
            </a:r>
          </a:p>
          <a:p xmlns:a="http://schemas.openxmlformats.org/drawingml/2006/main">
            <a:pPr marL="0" lvl="0" indent="0" algn="l">
              <a:spcBef>
                <a:spcPts val="0"/>
              </a:spcBef>
              <a:spcAft>
                <a:spcPts val="0"/>
              </a:spcAft>
              <a:buNone/>
            </a:pPr>
            <a:r>
              <a:t>\nabla_{\hat y}\ell | « gradient de ell par rapport à y chapeau » | Vecteur des dérivées partielles de la perte par rapport aux composantes de la prédiction.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 carré pénalise les écarts dans les deux sens. Par exemple, pour une sortie scalaire y chapeau égale trois et y égale un, la perte vaut deux et le gradient vaut deux.</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La cible y reste fixée pendant cette dérivation. Le gradient pointe localement vers l’augmentation de la perte. La descente utilise son opposé. Une moyenne sur les composantes ajouterait un facteur de normalisation.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Quel gradient obtient-on pour y=2 et une prédiction 5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3 avec la convention de cette diapositive.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Romain Tavenard — Introduction au Deep Learning, 2025</a:t>
            </a:r>
          </a:p>
          <a:p xmlns:a="http://schemas.openxmlformats.org/drawingml/2006/main">
            <a:pPr marL="0" lvl="0" indent="0" algn="l">
              <a:spcBef>
                <a:spcPts val="0"/>
              </a:spcBef>
              <a:spcAft>
                <a:spcPts val="0"/>
              </a:spcAft>
              <a:buNone/>
            </a:pPr>
            <a:r>
              <a:t>https://rtavenar.github.io/deep_book/book_fr.pdf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26 — CLASSIFICATION : SOFTMAX ET ENTROPIE CROISÉE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Pour une cible one-hot, un seul terme de la somme reste : moins le logarithme de la probabilité attribuée à la classe correcte. Deux sorties très différentes peuvent conduire à la même classe prédite mais à des pertes différentes, ce qui permet à l'optimiseur d'exploiter la confiance relative. Les probabilités produites ne sont pas automatiquement calibrées. Distinguer classification exclusive avec softmax et classification multi-label avec des sigmoïdes indépendantes. Les équations ci-dessus concernent des classes mutuellement exclusives et une distribution cible de somme un.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p_k=\frac{e^{z_k}}{\sum_j e^{z_j}},\qquad\ell(z,y)=-\sum_{k=1}^{K}y_k\log p_k</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p indice k vaut l’exponentielle du logit z k, divisée par la somme des exponentielles de tous les logits. »</a:t>
            </a:r>
          </a:p>
          <a:p xmlns:a="http://schemas.openxmlformats.org/drawingml/2006/main">
            <a:pPr marL="0" lvl="0" indent="0" algn="l">
              <a:spcBef>
                <a:spcPts val="0"/>
              </a:spcBef>
              <a:spcAft>
                <a:spcPts val="0"/>
              </a:spcAft>
              <a:buNone/>
            </a:pPr>
            <a:r>
              <a:t>« La perte de z et y vaut moins la somme, pour k de un à grand K, de y k fois le logarithme de p k.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z,\ z_k | « zède, zède indice k » | Vecteur des logits et score brut de la classe k.</a:t>
            </a:r>
          </a:p>
          <a:p xmlns:a="http://schemas.openxmlformats.org/drawingml/2006/main">
            <a:pPr marL="0" lvl="0" indent="0" algn="l">
              <a:spcBef>
                <a:spcPts val="0"/>
              </a:spcBef>
              <a:spcAft>
                <a:spcPts val="0"/>
              </a:spcAft>
              <a:buNone/>
            </a:pPr>
            <a:r>
              <a:t>e^{z_k} | « exponentielle de zède indice k » | Transforme un score en quantité strictement positive.</a:t>
            </a:r>
          </a:p>
          <a:p xmlns:a="http://schemas.openxmlformats.org/drawingml/2006/main">
            <a:pPr marL="0" lvl="0" indent="0" algn="l">
              <a:spcBef>
                <a:spcPts val="0"/>
              </a:spcBef>
              <a:spcAft>
                <a:spcPts val="0"/>
              </a:spcAft>
              <a:buNone/>
            </a:pPr>
            <a:r>
              <a:t>p_k | « pé indice k » | Probabilité prédite pour la classe k après softmax.</a:t>
            </a:r>
          </a:p>
          <a:p xmlns:a="http://schemas.openxmlformats.org/drawingml/2006/main">
            <a:pPr marL="0" lvl="0" indent="0" algn="l">
              <a:spcBef>
                <a:spcPts val="0"/>
              </a:spcBef>
              <a:spcAft>
                <a:spcPts val="0"/>
              </a:spcAft>
              <a:buNone/>
            </a:pPr>
            <a:r>
              <a:t>\sum_j e^{z_j} | « somme sur j des exponentielles de z j » | Normalisation calculée sur toutes les classes.</a:t>
            </a:r>
          </a:p>
          <a:p xmlns:a="http://schemas.openxmlformats.org/drawingml/2006/main">
            <a:pPr marL="0" lvl="0" indent="0" algn="l">
              <a:spcBef>
                <a:spcPts val="0"/>
              </a:spcBef>
              <a:spcAft>
                <a:spcPts val="0"/>
              </a:spcAft>
              <a:buNone/>
            </a:pPr>
            <a:r>
              <a:t>K,\ k,\ j | « grand k, k, j » | Nombre de classes et indices qui parcourent les classes.</a:t>
            </a:r>
          </a:p>
          <a:p xmlns:a="http://schemas.openxmlformats.org/drawingml/2006/main">
            <a:pPr marL="0" lvl="0" indent="0" algn="l">
              <a:spcBef>
                <a:spcPts val="0"/>
              </a:spcBef>
              <a:spcAft>
                <a:spcPts val="0"/>
              </a:spcAft>
              <a:buNone/>
            </a:pPr>
            <a:r>
              <a:t>y_k | « y indice k » | Composante de la cible. En one-hot, elle vaut un pour la classe correcte et zéro ailleurs.</a:t>
            </a:r>
          </a:p>
          <a:p xmlns:a="http://schemas.openxmlformats.org/drawingml/2006/main">
            <a:pPr marL="0" lvl="0" indent="0" algn="l">
              <a:spcBef>
                <a:spcPts val="0"/>
              </a:spcBef>
              <a:spcAft>
                <a:spcPts val="0"/>
              </a:spcAft>
              <a:buNone/>
            </a:pPr>
            <a:r>
              <a:t>\log p_k | « logarithme de pé indice k » | Logarithme naturel de la probabilité prédite.</a:t>
            </a:r>
          </a:p>
          <a:p xmlns:a="http://schemas.openxmlformats.org/drawingml/2006/main">
            <a:pPr marL="0" lvl="0" indent="0" algn="l">
              <a:spcBef>
                <a:spcPts val="0"/>
              </a:spcBef>
              <a:spcAft>
                <a:spcPts val="0"/>
              </a:spcAft>
              <a:buNone/>
            </a:pPr>
            <a:r>
              <a:t>-\sum_{k=1}^K y_k\log p_k | « moins la somme des y k logarithme de p k » | Entropie croisée entre la cible et la distribution prédite.</a:t>
            </a:r>
          </a:p>
          <a:p xmlns:a="http://schemas.openxmlformats.org/drawingml/2006/main">
            <a:pPr marL="0" lvl="0" indent="0" algn="l">
              <a:spcBef>
                <a:spcPts val="0"/>
              </a:spcBef>
              <a:spcAft>
                <a:spcPts val="0"/>
              </a:spcAft>
              <a:buNone/>
            </a:pPr>
            <a:r>
              <a:t>\ell(z,y) | « ell de zède et y » | Perte scalaire associée aux logits et à la cible.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Avec une cible one-hot de classe c, la perte devient moins le logarithme de la probabilité de c.</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La perte reçoit ici des logits z. Il ne faut pas appliquer deux fois softmax si la fonction de bibliothèque le calcule déjà.</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Pourquoi accuracy et entropie croisée ne racontent-elles pas la même chose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L’accuracy ne dépend que de l’argmax ; la perte dépend des probabilités.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PyTorch 2.8 — CrossEntropyLoss</a:t>
            </a:r>
          </a:p>
          <a:p xmlns:a="http://schemas.openxmlformats.org/drawingml/2006/main">
            <a:pPr marL="0" lvl="0" indent="0" algn="l">
              <a:spcBef>
                <a:spcPts val="0"/>
              </a:spcBef>
              <a:spcAft>
                <a:spcPts val="0"/>
              </a:spcAft>
              <a:buNone/>
            </a:pPr>
            <a:r>
              <a:t>https://docs.pytorch.org/docs/2.8/generated/torch.nn.CrossEntropyLoss.html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27 — STABILITÉ NUMÉRIQUE DES LOGITS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Montrer l'invariance en multipliant numérateur et dénominateur par exp(-m). L'exemple z=(1000,1001) provoque un débordement si l'on calcule les exponentielles naïvement ; après translation, les arguments deviennent -1 et 0. En PyTorch, appliquer softmax avant CrossEntropyLoss change l'objet donné à la perte, qui attend déjà des logits et applique sa propre normalisation stable. Pour une classification binaire à une sortie, la version analogue est BCEWithLogitsLoss. La précision numérique est une contrainte d'implémentation qui doit être distinguée de la définition mathématique.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\ell(z,c)=-z_c+m+\log\sum_j e^{z_j-m},\qquad m=\max_j z_j</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La perte de z et de la classe c vaut moins z indice c, plus m, plus le logarithme de la somme des exponentielles de z j moins m. »</a:t>
            </a:r>
          </a:p>
          <a:p xmlns:a="http://schemas.openxmlformats.org/drawingml/2006/main">
            <a:pPr marL="0" lvl="0" indent="0" algn="l">
              <a:spcBef>
                <a:spcPts val="0"/>
              </a:spcBef>
              <a:spcAft>
                <a:spcPts val="0"/>
              </a:spcAft>
              <a:buNone/>
            </a:pPr>
            <a:r>
              <a:t>« m est le maximum des logits z j.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z_j,\ z_c | « zède indice j, zède indice c » | Score d’une classe quelconque et score de la classe correcte.</a:t>
            </a:r>
          </a:p>
          <a:p xmlns:a="http://schemas.openxmlformats.org/drawingml/2006/main">
            <a:pPr marL="0" lvl="0" indent="0" algn="l">
              <a:spcBef>
                <a:spcPts val="0"/>
              </a:spcBef>
              <a:spcAft>
                <a:spcPts val="0"/>
              </a:spcAft>
              <a:buNone/>
            </a:pPr>
            <a:r>
              <a:t>c | « cé » | Indice entier de la classe cible.</a:t>
            </a:r>
          </a:p>
          <a:p xmlns:a="http://schemas.openxmlformats.org/drawingml/2006/main">
            <a:pPr marL="0" lvl="0" indent="0" algn="l">
              <a:spcBef>
                <a:spcPts val="0"/>
              </a:spcBef>
              <a:spcAft>
                <a:spcPts val="0"/>
              </a:spcAft>
              <a:buNone/>
            </a:pPr>
            <a:r>
              <a:t>m=\max_j z_j | « m égale le maximum, sur j, de z j » | Plus grand logit de l’exemple.</a:t>
            </a:r>
          </a:p>
          <a:p xmlns:a="http://schemas.openxmlformats.org/drawingml/2006/main">
            <a:pPr marL="0" lvl="0" indent="0" algn="l">
              <a:spcBef>
                <a:spcPts val="0"/>
              </a:spcBef>
              <a:spcAft>
                <a:spcPts val="0"/>
              </a:spcAft>
              <a:buNone/>
            </a:pPr>
            <a:r>
              <a:t>e^{z_j-m} | « exponentielle de z j moins m » | Exponentielle d’un score décalé, dont l’exposant est inférieur ou égal à zéro.</a:t>
            </a:r>
          </a:p>
          <a:p xmlns:a="http://schemas.openxmlformats.org/drawingml/2006/main">
            <a:pPr marL="0" lvl="0" indent="0" algn="l">
              <a:spcBef>
                <a:spcPts val="0"/>
              </a:spcBef>
              <a:spcAft>
                <a:spcPts val="0"/>
              </a:spcAft>
              <a:buNone/>
            </a:pPr>
            <a:r>
              <a:t>\sum_j | « somme sur j » | Somme sur toutes les classes.</a:t>
            </a:r>
          </a:p>
          <a:p xmlns:a="http://schemas.openxmlformats.org/drawingml/2006/main">
            <a:pPr marL="0" lvl="0" indent="0" algn="l">
              <a:spcBef>
                <a:spcPts val="0"/>
              </a:spcBef>
              <a:spcAft>
                <a:spcPts val="0"/>
              </a:spcAft>
              <a:buNone/>
            </a:pPr>
            <a:r>
              <a:t>\log | « logarithme » | Logarithme naturel.</a:t>
            </a:r>
          </a:p>
          <a:p xmlns:a="http://schemas.openxmlformats.org/drawingml/2006/main">
            <a:pPr marL="0" lvl="0" indent="0" algn="l">
              <a:spcBef>
                <a:spcPts val="0"/>
              </a:spcBef>
              <a:spcAft>
                <a:spcPts val="0"/>
              </a:spcAft>
              <a:buNone/>
            </a:pPr>
            <a:r>
              <a:t>\ell(z,c) | « ell de zède et cé » | Entropie croisée calculée avec la classe cible c.</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Soustraire le maximum avant l’exponentielle évite les très grandes exponentielles tout en conservant la même perte mathématique.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m ajouté hors du logarithme compense le décalage. Le calcul stabilisé ne consiste pas à supprimer le terme m.</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Faut-il appliquer softmax avant CrossEntropyLoss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fournir les logits et des étiquettes entières dans notre configuration.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PyTorch 2.8 — CrossEntropyLoss</a:t>
            </a:r>
          </a:p>
          <a:p xmlns:a="http://schemas.openxmlformats.org/drawingml/2006/main">
            <a:pPr marL="0" lvl="0" indent="0" algn="l">
              <a:spcBef>
                <a:spcPts val="0"/>
              </a:spcBef>
              <a:spcAft>
                <a:spcPts val="0"/>
              </a:spcAft>
              <a:buNone/>
            </a:pPr>
            <a:r>
              <a:t>https://docs.pytorch.org/docs/2.8/generated/torch.nn.CrossEntropyLoss.html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28 — RISQUE EMPIRIQUE ET GÉNÉRALISATION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La fonction minimisée est une approximation du risque attendu sur de nouvelles données. Une faible erreur empirique ne suffit donc pas : le modèle peut mémoriser le bruit ou exploiter une fuite d'information. Le symbole approximation rappelle qu'un réseau non convexe est généralement optimisé par un nombre fini de mises à jour sans garantie d'atteindre un minimum global. Expliquer le rôle de chaque partition et insister sur l'apprentissage du prétraitement à partir du train seul. Une augmentation de données doit respecter la sémantique de la cible et ne jamais relier les partitions.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\hat R(\theta)=\frac1N\sum_{i=1}^{N}\ell(f_\theta(x_i),y_i),\qquad\hat\theta\approx\arg\min_\theta\hat R(\theta)</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R chapeau de thêta vaut un sur grand N fois la somme des pertes sur les N exemples. »</a:t>
            </a:r>
          </a:p>
          <a:p xmlns:a="http://schemas.openxmlformats.org/drawingml/2006/main">
            <a:pPr marL="0" lvl="0" indent="0" algn="l">
              <a:spcBef>
                <a:spcPts val="0"/>
              </a:spcBef>
              <a:spcAft>
                <a:spcPts val="0"/>
              </a:spcAft>
              <a:buNone/>
            </a:pPr>
            <a:r>
              <a:t>« Thêta chapeau est approximativement un argument qui minimise R chapeau par rapport à thêta.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\hat R(\theta) | « R chapeau de thêta » | Risque empirique : perte moyenne mesurée sur l’échantillon.</a:t>
            </a:r>
          </a:p>
          <a:p xmlns:a="http://schemas.openxmlformats.org/drawingml/2006/main">
            <a:pPr marL="0" lvl="0" indent="0" algn="l">
              <a:spcBef>
                <a:spcPts val="0"/>
              </a:spcBef>
              <a:spcAft>
                <a:spcPts val="0"/>
              </a:spcAft>
              <a:buNone/>
            </a:pPr>
            <a:r>
              <a:t>\theta | « thêta » | Paramètres du modèle.</a:t>
            </a:r>
          </a:p>
          <a:p xmlns:a="http://schemas.openxmlformats.org/drawingml/2006/main">
            <a:pPr marL="0" lvl="0" indent="0" algn="l">
              <a:spcBef>
                <a:spcPts val="0"/>
              </a:spcBef>
              <a:spcAft>
                <a:spcPts val="0"/>
              </a:spcAft>
              <a:buNone/>
            </a:pPr>
            <a:r>
              <a:t>\hat\theta | « thêta chapeau » | Paramètres estimés par l’apprentissage.</a:t>
            </a:r>
          </a:p>
          <a:p xmlns:a="http://schemas.openxmlformats.org/drawingml/2006/main">
            <a:pPr marL="0" lvl="0" indent="0" algn="l">
              <a:spcBef>
                <a:spcPts val="0"/>
              </a:spcBef>
              <a:spcAft>
                <a:spcPts val="0"/>
              </a:spcAft>
              <a:buNone/>
            </a:pPr>
            <a:r>
              <a:t>N,\ i | « grand n, i » | Nombre d’exemples et indice d’exemple.</a:t>
            </a:r>
          </a:p>
          <a:p xmlns:a="http://schemas.openxmlformats.org/drawingml/2006/main">
            <a:pPr marL="0" lvl="0" indent="0" algn="l">
              <a:spcBef>
                <a:spcPts val="0"/>
              </a:spcBef>
              <a:spcAft>
                <a:spcPts val="0"/>
              </a:spcAft>
              <a:buNone/>
            </a:pPr>
            <a:r>
              <a:t>x_i,\ y_i | « x i, y i » | Entrée et cible du i-ième exemple.</a:t>
            </a:r>
          </a:p>
          <a:p xmlns:a="http://schemas.openxmlformats.org/drawingml/2006/main">
            <a:pPr marL="0" lvl="0" indent="0" algn="l">
              <a:spcBef>
                <a:spcPts val="0"/>
              </a:spcBef>
              <a:spcAft>
                <a:spcPts val="0"/>
              </a:spcAft>
              <a:buNone/>
            </a:pPr>
            <a:r>
              <a:t>f_\theta(x_i) | « f thêta de x i » | Prédiction pour cet exemple.</a:t>
            </a:r>
          </a:p>
          <a:p xmlns:a="http://schemas.openxmlformats.org/drawingml/2006/main">
            <a:pPr marL="0" lvl="0" indent="0" algn="l">
              <a:spcBef>
                <a:spcPts val="0"/>
              </a:spcBef>
              <a:spcAft>
                <a:spcPts val="0"/>
              </a:spcAft>
              <a:buNone/>
            </a:pPr>
            <a:r>
              <a:t>\ell | « ell » | Fonction de perte d’un exemple.</a:t>
            </a:r>
          </a:p>
          <a:p xmlns:a="http://schemas.openxmlformats.org/drawingml/2006/main">
            <a:pPr marL="0" lvl="0" indent="0" algn="l">
              <a:spcBef>
                <a:spcPts val="0"/>
              </a:spcBef>
              <a:spcAft>
                <a:spcPts val="0"/>
              </a:spcAft>
              <a:buNone/>
            </a:pPr>
            <a:r>
              <a:t>\frac1N\sum_{i=1}^N | « un sur N fois la somme de i égale un à N » | Moyenne arithmétique des pertes.</a:t>
            </a:r>
          </a:p>
          <a:p xmlns:a="http://schemas.openxmlformats.org/drawingml/2006/main">
            <a:pPr marL="0" lvl="0" indent="0" algn="l">
              <a:spcBef>
                <a:spcPts val="0"/>
              </a:spcBef>
              <a:spcAft>
                <a:spcPts val="0"/>
              </a:spcAft>
              <a:buNone/>
            </a:pPr>
            <a:r>
              <a:t>\arg\min_\theta | « argument du minimum par rapport à thêta » | Paramètres qui minimisent la fonction, plutôt que valeur minimale de cette fonction.</a:t>
            </a:r>
          </a:p>
          <a:p xmlns:a="http://schemas.openxmlformats.org/drawingml/2006/main">
            <a:pPr marL="0" lvl="0" indent="0" algn="l">
              <a:spcBef>
                <a:spcPts val="0"/>
              </a:spcBef>
              <a:spcAft>
                <a:spcPts val="0"/>
              </a:spcAft>
              <a:buNone/>
            </a:pPr>
            <a:r>
              <a:t>\approx | « est approximativement égal à » | L’optimisation numérique ne garantit pas ici un minimum global exact.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L’apprentissage cherche des paramètres qui rendent faible la perte moyenne d’entraînement.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chapeau de R rappelle l’estimation à partir d’un échantillon. Un faible risque empirique ne suffit pas à établir un faible risque sur de nouvelles données.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Où choisit-on le nombre d’époques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À partir du train et de la validation, jamais du test.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Jérémie Bigot — Introduction au Deep Learning</a:t>
            </a:r>
          </a:p>
          <a:p xmlns:a="http://schemas.openxmlformats.org/drawingml/2006/main">
            <a:pPr marL="0" lvl="0" indent="0" algn="l">
              <a:spcBef>
                <a:spcPts val="0"/>
              </a:spcBef>
              <a:spcAft>
                <a:spcPts val="0"/>
              </a:spcAft>
              <a:buNone/>
            </a:pPr>
            <a:r>
              <a:t>https://www.math.u-bordeaux.fr/~jbigot/Site/Enseignement_files/Intro_DeepLearning.pdf</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Geoffrey Daniel — Réseaux de neurones et deep learning : utilisation et méthodologie</a:t>
            </a:r>
          </a:p>
          <a:p xmlns:a="http://schemas.openxmlformats.org/drawingml/2006/main">
            <a:pPr marL="0" lvl="0" indent="0" algn="l">
              <a:spcBef>
                <a:spcPts val="0"/>
              </a:spcBef>
              <a:spcAft>
                <a:spcPts val="0"/>
              </a:spcAft>
              <a:buNone/>
            </a:pPr>
            <a:r>
              <a:t>https://indico.in2p3.fr/event/17858/attachments/49454/65831/Deep_Learning_Seance_1.pdf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29 — DESCENTE DE GRADIENT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Faire dériver un risque quadratique simple avant de parler de réseau. La rétropropagation calcule les dérivées ; SGD ou Adam utilisent ces dérivées pour choisir une mise à jour. Un pas trop grand peut augmenter la perte même si le gradient est correct. Un pas trop petit peut rendre la progression indétectable au budget disponible. Le sens de descente est une propriété locale à l'ordre un et ne constitue pas une preuve d'amélioration pour un pas fini. Les conditions théoriques de convergence dépendent de la régularité de la fonction et de la suite des pas.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\theta_{t+1}=\theta_t-\eta_t\nabla_\theta\hat R(\theta_t)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Thêta à l’itération t plus un vaut thêta à l’itération t, moins êta t fois le gradient, par rapport à thêta, du risque empirique évalué en thêta t.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t,\ t+1 | « té, té plus un » | Itération courante et itération suivante.</a:t>
            </a:r>
          </a:p>
          <a:p xmlns:a="http://schemas.openxmlformats.org/drawingml/2006/main">
            <a:pPr marL="0" lvl="0" indent="0" algn="l">
              <a:spcBef>
                <a:spcPts val="0"/>
              </a:spcBef>
              <a:spcAft>
                <a:spcPts val="0"/>
              </a:spcAft>
              <a:buNone/>
            </a:pPr>
            <a:r>
              <a:t>\theta_t,\ \theta_{t+1} | « thêta indice t, thêta indice t plus un » | Paramètres avant et après la mise à jour.</a:t>
            </a:r>
          </a:p>
          <a:p xmlns:a="http://schemas.openxmlformats.org/drawingml/2006/main">
            <a:pPr marL="0" lvl="0" indent="0" algn="l">
              <a:spcBef>
                <a:spcPts val="0"/>
              </a:spcBef>
              <a:spcAft>
                <a:spcPts val="0"/>
              </a:spcAft>
              <a:buNone/>
            </a:pPr>
            <a:r>
              <a:t>\eta_t | « êta indice t » | Taux d’apprentissage, positif, éventuellement variable selon l’itération.</a:t>
            </a:r>
          </a:p>
          <a:p xmlns:a="http://schemas.openxmlformats.org/drawingml/2006/main">
            <a:pPr marL="0" lvl="0" indent="0" algn="l">
              <a:spcBef>
                <a:spcPts val="0"/>
              </a:spcBef>
              <a:spcAft>
                <a:spcPts val="0"/>
              </a:spcAft>
              <a:buNone/>
            </a:pPr>
            <a:r>
              <a:t>\nabla_\theta | « gradient par rapport à thêta » | Vecteur des dérivées partielles selon les paramètres.</a:t>
            </a:r>
          </a:p>
          <a:p xmlns:a="http://schemas.openxmlformats.org/drawingml/2006/main">
            <a:pPr marL="0" lvl="0" indent="0" algn="l">
              <a:spcBef>
                <a:spcPts val="0"/>
              </a:spcBef>
              <a:spcAft>
                <a:spcPts val="0"/>
              </a:spcAft>
              <a:buNone/>
            </a:pPr>
            <a:r>
              <a:t>\hat R(\theta_t) | « R chapeau évalué en thêta t » | Risque empirique au point courant.</a:t>
            </a:r>
          </a:p>
          <a:p xmlns:a="http://schemas.openxmlformats.org/drawingml/2006/main">
            <a:pPr marL="0" lvl="0" indent="0" algn="l">
              <a:spcBef>
                <a:spcPts val="0"/>
              </a:spcBef>
              <a:spcAft>
                <a:spcPts val="0"/>
              </a:spcAft>
              <a:buNone/>
            </a:pPr>
            <a:r>
              <a:t>-\eta_t\nabla_\theta\hat R(\theta_t) | « moins êta t fois le gradient du risque » | Déplacement choisi dans la direction opposée au gradient.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 gradient indique une direction d’augmentation locale. Le signe moins choisit la direction de descente.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gradient doit être évalué aux paramètres courants. Un pas trop grand peut augmenter la perte malgré le signe moins.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Un gradient correct garantit-il que chaque étape diminue la perte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le pas et l’approximation stochastique interviennent.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Javiera Castillo Navarro — RCP 209, 2025–2026</a:t>
            </a:r>
          </a:p>
          <a:p xmlns:a="http://schemas.openxmlformats.org/drawingml/2006/main">
            <a:pPr marL="0" lvl="0" indent="0" algn="l">
              <a:spcBef>
                <a:spcPts val="0"/>
              </a:spcBef>
              <a:spcAft>
                <a:spcPts val="0"/>
              </a:spcAft>
              <a:buNone/>
            </a:pPr>
            <a:r>
              <a:t>https://cedric.cnam.fr/vertigo/Cours/ml2/docs/coursDeep1.pdf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30 — RÈGLE DE LA CHAÎNE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Dessiner au tableau le graphe d'un calcul scalaire, puis identifier la valeur transportée vers l'avant et la sensibilité transportée vers l'arrière. Le gradient arrière d'un nœud est la variation de la perte due à une petite variation de ce nœud. Si une variable intervient dans plusieurs opérations, toutes ses contributions doivent être additionnées. C'est ce qui rend nécessaire l'accumulation, en particulier dans les connexions résiduelles et le partage de paramètres. On ne calcule pas un gradient différent pour chaque branche puis on n'en conserve qu'un seul.</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z=g(x),\quad u=h(z),\quad \frac{\partial\ell}{\partial x}=\frac{\partial\ell}{\partial u}\frac{\partial u}{\partial z}\frac{\partial z}{\partial x}</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z vaut g de x et u vaut h de z. »</a:t>
            </a:r>
          </a:p>
          <a:p xmlns:a="http://schemas.openxmlformats.org/drawingml/2006/main">
            <a:pPr marL="0" lvl="0" indent="0" algn="l">
              <a:spcBef>
                <a:spcPts val="0"/>
              </a:spcBef>
              <a:spcAft>
                <a:spcPts val="0"/>
              </a:spcAft>
              <a:buNone/>
            </a:pPr>
            <a:r>
              <a:t>« La dérivée partielle de ell par rapport à x vaut la dérivée de ell par rapport à u, fois la dérivée de u par rapport à z, fois la dérivée de z par rapport à x.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 z,\ u | « x, zède, u » | Variables scalaires successives du calcul.</a:t>
            </a:r>
          </a:p>
          <a:p xmlns:a="http://schemas.openxmlformats.org/drawingml/2006/main">
            <a:pPr marL="0" lvl="0" indent="0" algn="l">
              <a:spcBef>
                <a:spcPts val="0"/>
              </a:spcBef>
              <a:spcAft>
                <a:spcPts val="0"/>
              </a:spcAft>
              <a:buNone/>
            </a:pPr>
            <a:r>
              <a:t>g,\ h | « gé, ache » | Fonctions qui relient ces variables.</a:t>
            </a:r>
          </a:p>
          <a:p xmlns:a="http://schemas.openxmlformats.org/drawingml/2006/main">
            <a:pPr marL="0" lvl="0" indent="0" algn="l">
              <a:spcBef>
                <a:spcPts val="0"/>
              </a:spcBef>
              <a:spcAft>
                <a:spcPts val="0"/>
              </a:spcAft>
              <a:buNone/>
            </a:pPr>
            <a:r>
              <a:t>\ell | « ell » | Perte scalaire finale.</a:t>
            </a:r>
          </a:p>
          <a:p xmlns:a="http://schemas.openxmlformats.org/drawingml/2006/main">
            <a:pPr marL="0" lvl="0" indent="0" algn="l">
              <a:spcBef>
                <a:spcPts val="0"/>
              </a:spcBef>
              <a:spcAft>
                <a:spcPts val="0"/>
              </a:spcAft>
              <a:buNone/>
            </a:pPr>
            <a:r>
              <a:t>\partial | « dérivée partielle, ou d rond » | Symbole de dérivation en faisant varier une variable et en fixant les autres variables indépendantes.</a:t>
            </a:r>
          </a:p>
          <a:p xmlns:a="http://schemas.openxmlformats.org/drawingml/2006/main">
            <a:pPr marL="0" lvl="0" indent="0" algn="l">
              <a:spcBef>
                <a:spcPts val="0"/>
              </a:spcBef>
              <a:spcAft>
                <a:spcPts val="0"/>
              </a:spcAft>
              <a:buNone/>
            </a:pPr>
            <a:r>
              <a:t>\frac{\partial\ell}{\partial x} | « dérivée partielle de ell par rapport à x » | Sensibilité finale recherchée.</a:t>
            </a:r>
          </a:p>
          <a:p xmlns:a="http://schemas.openxmlformats.org/drawingml/2006/main">
            <a:pPr marL="0" lvl="0" indent="0" algn="l">
              <a:spcBef>
                <a:spcPts val="0"/>
              </a:spcBef>
              <a:spcAft>
                <a:spcPts val="0"/>
              </a:spcAft>
              <a:buNone/>
            </a:pPr>
            <a:r>
              <a:t>\frac{\partial\ell}{\partial u},\ \frac{\partial u}{\partial z},\ \frac{\partial z}{\partial x} | « dérivées de ell selon u, de u selon z et de z selon x » | Sensibilités locales le long de la chaîne.</a:t>
            </a:r>
          </a:p>
          <a:p xmlns:a="http://schemas.openxmlformats.org/drawingml/2006/main">
            <a:pPr marL="0" lvl="0" indent="0" algn="l">
              <a:spcBef>
                <a:spcPts val="0"/>
              </a:spcBef>
              <a:spcAft>
                <a:spcPts val="0"/>
              </a:spcAft>
              <a:buNone/>
            </a:pPr>
            <a:r>
              <a:t>\frac{\partial\ell}{\partial u}\frac{\partial u}{\partial z}\frac{\partial z}{\partial x} | « produit des trois dérivées locales » | Propagation de la sensibilité finale à travers les opérations intermédiaires.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Une petite variation de x modifie z, puis u, puis la perte. Le produit combine ces effets.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La diapositive traite une chaîne scalaire. Pour des vecteurs, il faut des jacobiennes et des conventions de dimensions. Sur plusieurs chemins, on additionne les contributions.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Que fait-on si un paramètre est utilisé deux fois dans le graphe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On somme les contributions de ses deux utilisations.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Javiera Castillo Navarro — RCP 209, 2025–2026</a:t>
            </a:r>
          </a:p>
          <a:p xmlns:a="http://schemas.openxmlformats.org/drawingml/2006/main">
            <a:pPr marL="0" lvl="0" indent="0" algn="l">
              <a:spcBef>
                <a:spcPts val="0"/>
              </a:spcBef>
              <a:spcAft>
                <a:spcPts val="0"/>
              </a:spcAft>
              <a:buNone/>
            </a:pPr>
            <a:r>
              <a:t>https://cedric.cnam.fr/vertigo/Cours/ml2/docs/coursDeep1.pdf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31 — EXEMPLE SCALAIRE : UN PAS COMPLET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Calculer d'abord z=1, puis a=1/(1+exp(-1)). Le résidu est négatif car la sortie est inférieure à la cible. Sa multiplication par la dérivée de la sigmoïde, puis par x, donne un gradient d'environ -0,10575. Pour le biais, le même calcul omet le facteur x et donne environ -0,05288. La mise à jour produit w≈0,51058 et b≈0,00529. Recalculer ensuite la perte et vérifier qu'elle diminue pour ce pas précis. Cet exemple concerne une sigmoïde associée à une perte quadratique, et non la simplification softmax-entropie croisée présentée ensuite.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\ell=\tfrac12(a-y)^2,\quad a=\sigma(wx+b)\\\frac{\partial\ell}{\partial w}=(a-y)a(1-a)x\approx-0.1058</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Ell vaut un demi de a moins y, au carré. a vaut la sigmoïde de w fois x plus b. »</a:t>
            </a:r>
          </a:p>
          <a:p xmlns:a="http://schemas.openxmlformats.org/drawingml/2006/main">
            <a:pPr marL="0" lvl="0" indent="0" algn="l">
              <a:spcBef>
                <a:spcPts val="0"/>
              </a:spcBef>
              <a:spcAft>
                <a:spcPts val="0"/>
              </a:spcAft>
              <a:buNone/>
            </a:pPr>
            <a:r>
              <a:t>« La dérivée de ell par rapport à w vaut a moins y, fois a, fois un moins a, fois x. Elle vaut ici environ moins zéro virgule un zéro cinq huit.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\ell | « ell » | Perte quadratique scalaire.</a:t>
            </a:r>
          </a:p>
          <a:p xmlns:a="http://schemas.openxmlformats.org/drawingml/2006/main">
            <a:pPr marL="0" lvl="0" indent="0" algn="l">
              <a:spcBef>
                <a:spcPts val="0"/>
              </a:spcBef>
              <a:spcAft>
                <a:spcPts val="0"/>
              </a:spcAft>
              <a:buNone/>
            </a:pPr>
            <a:r>
              <a:t>a,\ y | « a, y » | Prédiction du neurone et cible.</a:t>
            </a:r>
          </a:p>
          <a:p xmlns:a="http://schemas.openxmlformats.org/drawingml/2006/main">
            <a:pPr marL="0" lvl="0" indent="0" algn="l">
              <a:spcBef>
                <a:spcPts val="0"/>
              </a:spcBef>
              <a:spcAft>
                <a:spcPts val="0"/>
              </a:spcAft>
              <a:buNone/>
            </a:pPr>
            <a:r>
              <a:t>\tfrac12(a-y)^2 | « un demi de a moins y au carré » | Carré de l’erreur, multiplié par un demi.</a:t>
            </a:r>
          </a:p>
          <a:p xmlns:a="http://schemas.openxmlformats.org/drawingml/2006/main">
            <a:pPr marL="0" lvl="0" indent="0" algn="l">
              <a:spcBef>
                <a:spcPts val="0"/>
              </a:spcBef>
              <a:spcAft>
                <a:spcPts val="0"/>
              </a:spcAft>
              <a:buNone/>
            </a:pPr>
            <a:r>
              <a:t>x,\ w,\ b | « x, w, bé » | Entrée scalaire, poids et biais.</a:t>
            </a:r>
          </a:p>
          <a:p xmlns:a="http://schemas.openxmlformats.org/drawingml/2006/main">
            <a:pPr marL="0" lvl="0" indent="0" algn="l">
              <a:spcBef>
                <a:spcPts val="0"/>
              </a:spcBef>
              <a:spcAft>
                <a:spcPts val="0"/>
              </a:spcAft>
              <a:buNone/>
            </a:pPr>
            <a:r>
              <a:t>\sigma(wx+b) | « sigma de w x plus b » | Sigmoïde de la préactivation.</a:t>
            </a:r>
          </a:p>
          <a:p xmlns:a="http://schemas.openxmlformats.org/drawingml/2006/main">
            <a:pPr marL="0" lvl="0" indent="0" algn="l">
              <a:spcBef>
                <a:spcPts val="0"/>
              </a:spcBef>
              <a:spcAft>
                <a:spcPts val="0"/>
              </a:spcAft>
              <a:buNone/>
            </a:pPr>
            <a:r>
              <a:t>\frac{\partial\ell}{\partial w} | « dérivée partielle de ell par rapport à w » | Variation locale de la perte quand seul le poids varie.</a:t>
            </a:r>
          </a:p>
          <a:p xmlns:a="http://schemas.openxmlformats.org/drawingml/2006/main">
            <a:pPr marL="0" lvl="0" indent="0" algn="l">
              <a:spcBef>
                <a:spcPts val="0"/>
              </a:spcBef>
              <a:spcAft>
                <a:spcPts val="0"/>
              </a:spcAft>
              <a:buNone/>
            </a:pPr>
            <a:r>
              <a:t>a(1-a) | « a fois un moins a » | Dérivée de la sigmoïde exprimée à partir de sa sortie.</a:t>
            </a:r>
          </a:p>
          <a:p xmlns:a="http://schemas.openxmlformats.org/drawingml/2006/main">
            <a:pPr marL="0" lvl="0" indent="0" algn="l">
              <a:spcBef>
                <a:spcPts val="0"/>
              </a:spcBef>
              <a:spcAft>
                <a:spcPts val="0"/>
              </a:spcAft>
              <a:buNone/>
            </a:pPr>
            <a:r>
              <a:t>(a-y)a(1-a)x | « a moins y, fois a, fois un moins a, fois x » | Produit des trois facteurs de la règle de la chaîne.</a:t>
            </a:r>
          </a:p>
          <a:p xmlns:a="http://schemas.openxmlformats.org/drawingml/2006/main">
            <a:pPr marL="0" lvl="0" indent="0" algn="l">
              <a:spcBef>
                <a:spcPts val="0"/>
              </a:spcBef>
              <a:spcAft>
                <a:spcPts val="0"/>
              </a:spcAft>
              <a:buNone/>
            </a:pPr>
            <a:r>
              <a:t>\approx-0.1058 | « environ moins zéro virgule un zéro cinq huit » | Valeur arrondie du gradient dans l’exemple.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Les trois facteurs sont la dérivée de la perte selon a, celle de a selon la préactivation et celle de la préactivation selon w.</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gradient négatif entraîne une augmentation de w lors d’une descente. Il ne signifie pas que la perte est négative.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Quel facteur disparaît dans la dérivée par rapport au biais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Le facteur x ; la dérivée de wx+b par rapport à b vaut 1.</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32 — GRADIENT DE SOFTMAX + ENTROPIE CROISÉE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Développer moins la somme y_i log(p_i), puis appliquer la dérivée de chaque p_i par rapport à z_j. La somme des y_i vaut un ; on obtient p_j-y_j. Pour la bonne classe, le gradient est négatif tant que la probabilité n'atteint pas un ; pour les autres classes, il est positif. La somme des composantes du gradient vaut zéro, conformément à l'invariance de softmax à l'ajout d'une constante. Avec une moyenne sur B exemples, le facteur 1/B doit être appliqué une fois, soit ici soit dans l'agrégation, pas deux fois.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\frac{\partial p_i}{\partial z_j}=p_i(\delta_{ij}-p_j),\qquad\frac{\partial\ell}{\partial z}=p-y</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La dérivée de p i par rapport à z j vaut p i fois delta i j moins p j. »</a:t>
            </a:r>
          </a:p>
          <a:p xmlns:a="http://schemas.openxmlformats.org/drawingml/2006/main">
            <a:pPr marL="0" lvl="0" indent="0" algn="l">
              <a:spcBef>
                <a:spcPts val="0"/>
              </a:spcBef>
              <a:spcAft>
                <a:spcPts val="0"/>
              </a:spcAft>
              <a:buNone/>
            </a:pPr>
            <a:r>
              <a:t>« Le gradient de ell par rapport au vecteur z vaut p moins y.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p_i,\ p_j | « pé indice i, pé indice j » | Probabilités de deux classes après softmax.</a:t>
            </a:r>
          </a:p>
          <a:p xmlns:a="http://schemas.openxmlformats.org/drawingml/2006/main">
            <a:pPr marL="0" lvl="0" indent="0" algn="l">
              <a:spcBef>
                <a:spcPts val="0"/>
              </a:spcBef>
              <a:spcAft>
                <a:spcPts val="0"/>
              </a:spcAft>
              <a:buNone/>
            </a:pPr>
            <a:r>
              <a:t>z_j | « zède indice j » | Logit de la classe j.</a:t>
            </a:r>
          </a:p>
          <a:p xmlns:a="http://schemas.openxmlformats.org/drawingml/2006/main">
            <a:pPr marL="0" lvl="0" indent="0" algn="l">
              <a:spcBef>
                <a:spcPts val="0"/>
              </a:spcBef>
              <a:spcAft>
                <a:spcPts val="0"/>
              </a:spcAft>
              <a:buNone/>
            </a:pPr>
            <a:r>
              <a:t>\frac{\partial p_i}{\partial z_j} | « dérivée de pé i par rapport à zède j » | Une entrée de la jacobienne de softmax.</a:t>
            </a:r>
          </a:p>
          <a:p xmlns:a="http://schemas.openxmlformats.org/drawingml/2006/main">
            <a:pPr marL="0" lvl="0" indent="0" algn="l">
              <a:spcBef>
                <a:spcPts val="0"/>
              </a:spcBef>
              <a:spcAft>
                <a:spcPts val="0"/>
              </a:spcAft>
              <a:buNone/>
            </a:pPr>
            <a:r>
              <a:t>\delta_{ij} | « delta de Kronecker, indices i j » | Vaut un si i égale j et zéro sinon.</a:t>
            </a:r>
          </a:p>
          <a:p xmlns:a="http://schemas.openxmlformats.org/drawingml/2006/main">
            <a:pPr marL="0" lvl="0" indent="0" algn="l">
              <a:spcBef>
                <a:spcPts val="0"/>
              </a:spcBef>
              <a:spcAft>
                <a:spcPts val="0"/>
              </a:spcAft>
              <a:buNone/>
            </a:pPr>
            <a:r>
              <a:t>\ell | « ell » | Entropie croisée pour un exemple.</a:t>
            </a:r>
          </a:p>
          <a:p xmlns:a="http://schemas.openxmlformats.org/drawingml/2006/main">
            <a:pPr marL="0" lvl="0" indent="0" algn="l">
              <a:spcBef>
                <a:spcPts val="0"/>
              </a:spcBef>
              <a:spcAft>
                <a:spcPts val="0"/>
              </a:spcAft>
              <a:buNone/>
            </a:pPr>
            <a:r>
              <a:t>\frac{\partial\ell}{\partial z} | « gradient de ell par rapport à zède » | Vecteur des dérivées par rapport à tous les logits.</a:t>
            </a:r>
          </a:p>
          <a:p xmlns:a="http://schemas.openxmlformats.org/drawingml/2006/main">
            <a:pPr marL="0" lvl="0" indent="0" algn="l">
              <a:spcBef>
                <a:spcPts val="0"/>
              </a:spcBef>
              <a:spcAft>
                <a:spcPts val="0"/>
              </a:spcAft>
              <a:buNone/>
            </a:pPr>
            <a:r>
              <a:t>p-y | « pé moins y » | Différence composante par composante entre distribution prédite et cible.</a:t>
            </a:r>
          </a:p>
          <a:p xmlns:a="http://schemas.openxmlformats.org/drawingml/2006/main">
            <a:pPr marL="0" lvl="0" indent="0" algn="l">
              <a:spcBef>
                <a:spcPts val="0"/>
              </a:spcBef>
              <a:spcAft>
                <a:spcPts val="0"/>
              </a:spcAft>
              <a:buNone/>
            </a:pPr>
            <a:r>
              <a:t>i,\ j | « i, j » | Indices de classes.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combinaison softmax et entropie croisée conduit à un gradient simple malgré les dépendances entre toutes les classes.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La cible doit sommer à un pour cette simplification. Delta i j est ici une indicatrice, alors que delta ell désignera un signal de gradient dans les couches.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Pourquoi les gradients des logits somment-ils à zéro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Parce que les distributions p et y ont toutes deux une somme égale à un.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33 — RÉTROPROPAGATION D’UNE COUCHE DENSE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Vérifier les dimensions avant de développer la dérivée. δ a d courant composantes et a précédent en a d précédent ; leur produit extérieur donne bien une matrice de même forme que W. Pour une composante W_ij, la sensibilité de z_i est a_j et celle de la perte par rapport à z_i est δ_i. Le biais est ajouté directement à z, d'où son gradient δ. Ces formules concernent un exemple unique. Le passage au batch se fait ensuite en additionnant ou en moyennant les contributions selon la réduction de la perte.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\delta_\ell=\frac{\partial\ell}{\partial z_\ell},\quad\nabla_{W_\ell}\ell=\delta_\ell a_{\ell-1}^{\top}\\\nabla_{b_\ell}\ell=\delta_\ell,\quad\frac{\partial\ell}{\partial a_{\ell-1}}=W_\ell^\top\delta_\ell</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Delta ell est le gradient de la perte par rapport à la préactivation z ell. »</a:t>
            </a:r>
          </a:p>
          <a:p xmlns:a="http://schemas.openxmlformats.org/drawingml/2006/main">
            <a:pPr marL="0" lvl="0" indent="0" algn="l">
              <a:spcBef>
                <a:spcPts val="0"/>
              </a:spcBef>
              <a:spcAft>
                <a:spcPts val="0"/>
              </a:spcAft>
              <a:buNone/>
            </a:pPr>
            <a:r>
              <a:t>« Le gradient selon W ell vaut delta ell fois a ell moins un transposé. Le gradient selon b ell vaut delta ell. »</a:t>
            </a:r>
          </a:p>
          <a:p xmlns:a="http://schemas.openxmlformats.org/drawingml/2006/main">
            <a:pPr marL="0" lvl="0" indent="0" algn="l">
              <a:spcBef>
                <a:spcPts val="0"/>
              </a:spcBef>
              <a:spcAft>
                <a:spcPts val="0"/>
              </a:spcAft>
              <a:buNone/>
            </a:pPr>
            <a:r>
              <a:t>« Le gradient selon a ell moins un vaut W ell transposée fois delta ell.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\ell | « ell minuscule » | Fonction de perte dans les dérivées.</a:t>
            </a:r>
          </a:p>
          <a:p xmlns:a="http://schemas.openxmlformats.org/drawingml/2006/main">
            <a:pPr marL="0" lvl="0" indent="0" algn="l">
              <a:spcBef>
                <a:spcPts val="0"/>
              </a:spcBef>
              <a:spcAft>
                <a:spcPts val="0"/>
              </a:spcAft>
              <a:buNone/>
            </a:pPr>
            <a:r>
              <a:t>{}_{\ell},\ {}_{\ell-1} | « indice ell, indice ell moins un » | Indices de couche. Le même caractère ell a ici un rôle distinct de celui de la perte.</a:t>
            </a:r>
          </a:p>
          <a:p xmlns:a="http://schemas.openxmlformats.org/drawingml/2006/main">
            <a:pPr marL="0" lvl="0" indent="0" algn="l">
              <a:spcBef>
                <a:spcPts val="0"/>
              </a:spcBef>
              <a:spcAft>
                <a:spcPts val="0"/>
              </a:spcAft>
              <a:buNone/>
            </a:pPr>
            <a:r>
              <a:t>z_\ell | « zède indice ell » | Vecteur des préactivations de la couche.</a:t>
            </a:r>
          </a:p>
          <a:p xmlns:a="http://schemas.openxmlformats.org/drawingml/2006/main">
            <a:pPr marL="0" lvl="0" indent="0" algn="l">
              <a:spcBef>
                <a:spcPts val="0"/>
              </a:spcBef>
              <a:spcAft>
                <a:spcPts val="0"/>
              </a:spcAft>
              <a:buNone/>
            </a:pPr>
            <a:r>
              <a:t>\delta_\ell | « delta indice ell » | Gradient de la perte selon les préactivations de la couche.</a:t>
            </a:r>
          </a:p>
          <a:p xmlns:a="http://schemas.openxmlformats.org/drawingml/2006/main">
            <a:pPr marL="0" lvl="0" indent="0" algn="l">
              <a:spcBef>
                <a:spcPts val="0"/>
              </a:spcBef>
              <a:spcAft>
                <a:spcPts val="0"/>
              </a:spcAft>
              <a:buNone/>
            </a:pPr>
            <a:r>
              <a:t>W_\ell,\ b_\ell | « w indice ell, b indice ell » | Matrice des poids et vecteur des biais.</a:t>
            </a:r>
          </a:p>
          <a:p xmlns:a="http://schemas.openxmlformats.org/drawingml/2006/main">
            <a:pPr marL="0" lvl="0" indent="0" algn="l">
              <a:spcBef>
                <a:spcPts val="0"/>
              </a:spcBef>
              <a:spcAft>
                <a:spcPts val="0"/>
              </a:spcAft>
              <a:buNone/>
            </a:pPr>
            <a:r>
              <a:t>a_{\ell-1} | « a indice ell moins un » | Vecteur colonne des activations d’entrée.</a:t>
            </a:r>
          </a:p>
          <a:p xmlns:a="http://schemas.openxmlformats.org/drawingml/2006/main">
            <a:pPr marL="0" lvl="0" indent="0" algn="l">
              <a:spcBef>
                <a:spcPts val="0"/>
              </a:spcBef>
              <a:spcAft>
                <a:spcPts val="0"/>
              </a:spcAft>
              <a:buNone/>
            </a:pPr>
            <a:r>
              <a:t>{}^\top | « transposé » | Échange des lignes et colonnes.</a:t>
            </a:r>
          </a:p>
          <a:p xmlns:a="http://schemas.openxmlformats.org/drawingml/2006/main">
            <a:pPr marL="0" lvl="0" indent="0" algn="l">
              <a:spcBef>
                <a:spcPts val="0"/>
              </a:spcBef>
              <a:spcAft>
                <a:spcPts val="0"/>
              </a:spcAft>
              <a:buNone/>
            </a:pPr>
            <a:r>
              <a:t>\delta_\ell a_{\ell-1}^\top | « delta ell fois a ell moins un transposé » | Produit extérieur : matrice de la même forme que W ell.</a:t>
            </a:r>
          </a:p>
          <a:p xmlns:a="http://schemas.openxmlformats.org/drawingml/2006/main">
            <a:pPr marL="0" lvl="0" indent="0" algn="l">
              <a:spcBef>
                <a:spcPts val="0"/>
              </a:spcBef>
              <a:spcAft>
                <a:spcPts val="0"/>
              </a:spcAft>
              <a:buNone/>
            </a:pPr>
            <a:r>
              <a:t>\nabla_{W_\ell}\ell,\ \nabla_{b_\ell}\ell | « gradient de ell selon W ell ; selon b ell » | Dérivées par rapport à chaque poids et à chaque biais.</a:t>
            </a:r>
          </a:p>
          <a:p xmlns:a="http://schemas.openxmlformats.org/drawingml/2006/main">
            <a:pPr marL="0" lvl="0" indent="0" algn="l">
              <a:spcBef>
                <a:spcPts val="0"/>
              </a:spcBef>
              <a:spcAft>
                <a:spcPts val="0"/>
              </a:spcAft>
              <a:buNone/>
            </a:pPr>
            <a:r>
              <a:t>W_\ell^\top\delta_\ell | « W ell transposée fois delta ell » | Gradient transmis à la couche précédente.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Chaque poids reçoit la sensibilité de son neurone de sortie multipliée par l’activation qui lui arrive.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Ces expressions concernent un exemple. Une perte moyennée sur un batch exige une réduction cohérente des contributions.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Pourquoi le gradient de W a-t-il la même forme que W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Il contient une dérivée pour chacun de ses paramètres scalaires.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Jérémie Bigot — Introduction au Deep Learning</a:t>
            </a:r>
          </a:p>
          <a:p xmlns:a="http://schemas.openxmlformats.org/drawingml/2006/main">
            <a:pPr marL="0" lvl="0" indent="0" algn="l">
              <a:spcBef>
                <a:spcPts val="0"/>
              </a:spcBef>
              <a:spcAft>
                <a:spcPts val="0"/>
              </a:spcAft>
              <a:buNone/>
            </a:pPr>
            <a:r>
              <a:t>https://www.math.u-bordeaux.fr/~jbigot/Site/Enseignement_files/Intro_DeepLearning.pdf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34 — PROPAGER LE SIGNAL DANS LES COUCHES CACHÉES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La multiplication par W transposée distribue le signal d'erreur vers les unités de la couche précédente. Le produit de Hadamard filtre ensuite ce signal par la sensibilité locale de l'activation. Pour ReLU, les préactivations négatives ne transmettent aucun gradient par cette branche. Expliquer pourquoi il faut utiliser les poids du passage avant pour tout le passage arrière : mettre W à jour avant de calculer les gradients des couches précédentes mélangerait deux états du modèle. L'optimiseur intervient après que tous les gradients nécessaires ont été calculés.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\delta_\ell=\left(W_{\ell+1}^\top\delta_{\ell+1}\right)\odot\phi_\ell'(z_\ell)</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Delta ell vaut W ell plus un transposée fois delta ell plus un, puis ce résultat multiplié terme à terme par phi ell prime de z ell.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\delta_\ell,\ \delta_{\ell+1} | « delta ell, delta ell plus un » | Gradients selon les préactivations de la couche courante et de la suivante.</a:t>
            </a:r>
          </a:p>
          <a:p xmlns:a="http://schemas.openxmlformats.org/drawingml/2006/main">
            <a:pPr marL="0" lvl="0" indent="0" algn="l">
              <a:spcBef>
                <a:spcPts val="0"/>
              </a:spcBef>
              <a:spcAft>
                <a:spcPts val="0"/>
              </a:spcAft>
              <a:buNone/>
            </a:pPr>
            <a:r>
              <a:t>W_{\ell+1}^\top | « W de la couche ell plus un, transposée » | Matrice qui ramène la sensibilité depuis la couche suivante.</a:t>
            </a:r>
          </a:p>
          <a:p xmlns:a="http://schemas.openxmlformats.org/drawingml/2006/main">
            <a:pPr marL="0" lvl="0" indent="0" algn="l">
              <a:spcBef>
                <a:spcPts val="0"/>
              </a:spcBef>
              <a:spcAft>
                <a:spcPts val="0"/>
              </a:spcAft>
              <a:buNone/>
            </a:pPr>
            <a:r>
              <a:t>\phi_\ell'(z_\ell) | « phi ell prime de zède ell » | Dérivée de l’activation, évaluée à chaque préactivation.</a:t>
            </a:r>
          </a:p>
          <a:p xmlns:a="http://schemas.openxmlformats.org/drawingml/2006/main">
            <a:pPr marL="0" lvl="0" indent="0" algn="l">
              <a:spcBef>
                <a:spcPts val="0"/>
              </a:spcBef>
              <a:spcAft>
                <a:spcPts val="0"/>
              </a:spcAft>
              <a:buNone/>
            </a:pPr>
            <a:r>
              <a:t>\odot | « produit de Hadamard, ou produit terme à terme » | Chaque composante est multipliée par la composante correspondante.</a:t>
            </a:r>
          </a:p>
          <a:p xmlns:a="http://schemas.openxmlformats.org/drawingml/2006/main">
            <a:pPr marL="0" lvl="0" indent="0" algn="l">
              <a:spcBef>
                <a:spcPts val="0"/>
              </a:spcBef>
              <a:spcAft>
                <a:spcPts val="0"/>
              </a:spcAft>
              <a:buNone/>
            </a:pPr>
            <a:r>
              <a:t>\ell+1 | « ell plus un » | Indice de la couche suivante.</a:t>
            </a:r>
          </a:p>
          <a:p xmlns:a="http://schemas.openxmlformats.org/drawingml/2006/main">
            <a:pPr marL="0" lvl="0" indent="0" algn="l">
              <a:spcBef>
                <a:spcPts val="0"/>
              </a:spcBef>
              <a:spcAft>
                <a:spcPts val="0"/>
              </a:spcAft>
              <a:buNone/>
            </a:pPr>
            <a:r>
              <a:t>z_\ell | « zède ell » | Valeurs calculées avant l’activation lors du passage avant.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propagation arrière combine l’effet des poids de la couche suivante et la dérivée locale de l’activation.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premier produit est matriciel. Le symbole cercle avec point demande ensuite un produit terme à terme, avec deux vecteurs de même taille.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Peut-on mettre les poids à jour pendant que l’on remonte les couches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Pas dans la rétropropagation standard : on utilise un même état des poids.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35 — GRADIENTS VECTORISÉS SUR UN BATCH</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Prendre B=32, une entrée de largeur 16 et une sortie de largeur 10. H est 32×16, W est 10×16, Z et D sont 32×10. D transposée multipliée par H donne 10×16. Dans nos implémentations NumPy, D contient déjà la division par B issue de la perte moyenne ; on ne divise donc pas à nouveau le gradient des poids. Les biais sont broadcastés pendant le passage avant : le passage arrière doit inverser cette opération en sommant sur les axes répétés. Ce principe s'applique à de nombreux bugs d'autograd manuel.</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Z=HW^\top+\mathbf1b^\top,\quad D=\frac{\partial\mathcal L}{\partial Z}\\\nabla_W\mathcal L=D^\top H,\quad\nabla_b\mathcal L=\sum_{i=1}^{B}D_{i,:},\quad\nabla_H\mathcal L=DW</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Z vaut H fois W transposée, plus le vecteur de uns fois b transposé. D est le gradient de la perte totale par rapport à Z. »</a:t>
            </a:r>
          </a:p>
          <a:p xmlns:a="http://schemas.openxmlformats.org/drawingml/2006/main">
            <a:pPr marL="0" lvl="0" indent="0" algn="l">
              <a:spcBef>
                <a:spcPts val="0"/>
              </a:spcBef>
              <a:spcAft>
                <a:spcPts val="0"/>
              </a:spcAft>
              <a:buNone/>
            </a:pPr>
            <a:r>
              <a:t>« Le gradient selon W vaut D transposée fois H. Celui selon b est la somme des lignes de D. Celui selon H vaut D fois W.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H,\ W,\ Z | « grand ache, w, zède » | Activations d’entrée B par d entrée, poids d sortie par d entrée, préactivations B par d sortie.</a:t>
            </a:r>
          </a:p>
          <a:p xmlns:a="http://schemas.openxmlformats.org/drawingml/2006/main">
            <a:pPr marL="0" lvl="0" indent="0" algn="l">
              <a:spcBef>
                <a:spcPts val="0"/>
              </a:spcBef>
              <a:spcAft>
                <a:spcPts val="0"/>
              </a:spcAft>
              <a:buNone/>
            </a:pPr>
            <a:r>
              <a:t>B | « bé » | Nombre d’exemples du batch.</a:t>
            </a:r>
          </a:p>
          <a:p xmlns:a="http://schemas.openxmlformats.org/drawingml/2006/main">
            <a:pPr marL="0" lvl="0" indent="0" algn="l">
              <a:spcBef>
                <a:spcPts val="0"/>
              </a:spcBef>
              <a:spcAft>
                <a:spcPts val="0"/>
              </a:spcAft>
              <a:buNone/>
            </a:pPr>
            <a:r>
              <a:t>b,\ \mathbf1 b^\top | « bé ; vecteur de uns fois b transposé » | Vecteur des biais, puis matrice qui répète ce biais sur chaque ligne.</a:t>
            </a:r>
          </a:p>
          <a:p xmlns:a="http://schemas.openxmlformats.org/drawingml/2006/main">
            <a:pPr marL="0" lvl="0" indent="0" algn="l">
              <a:spcBef>
                <a:spcPts val="0"/>
              </a:spcBef>
              <a:spcAft>
                <a:spcPts val="0"/>
              </a:spcAft>
              <a:buNone/>
            </a:pPr>
            <a:r>
              <a:t>\mathcal L | « grand ell calligraphique » | Perte agrégée sur le batch, avec une réduction définie.</a:t>
            </a:r>
          </a:p>
          <a:p xmlns:a="http://schemas.openxmlformats.org/drawingml/2006/main">
            <a:pPr marL="0" lvl="0" indent="0" algn="l">
              <a:spcBef>
                <a:spcPts val="0"/>
              </a:spcBef>
              <a:spcAft>
                <a:spcPts val="0"/>
              </a:spcAft>
              <a:buNone/>
            </a:pPr>
            <a:r>
              <a:t>D=\frac{\partial\mathcal L}{\partial Z} | « D égale le gradient de grand ell selon Z » | Matrice des sensibilités, de même forme que Z.</a:t>
            </a:r>
          </a:p>
          <a:p xmlns:a="http://schemas.openxmlformats.org/drawingml/2006/main">
            <a:pPr marL="0" lvl="0" indent="0" algn="l">
              <a:spcBef>
                <a:spcPts val="0"/>
              </a:spcBef>
              <a:spcAft>
                <a:spcPts val="0"/>
              </a:spcAft>
              <a:buNone/>
            </a:pPr>
            <a:r>
              <a:t>D^\top H | « D transposée fois H » | Gradient des poids, de même forme que W.</a:t>
            </a:r>
          </a:p>
          <a:p xmlns:a="http://schemas.openxmlformats.org/drawingml/2006/main">
            <a:pPr marL="0" lvl="0" indent="0" algn="l">
              <a:spcBef>
                <a:spcPts val="0"/>
              </a:spcBef>
              <a:spcAft>
                <a:spcPts val="0"/>
              </a:spcAft>
              <a:buNone/>
            </a:pPr>
            <a:r>
              <a:t>D_{i,:} | « ligne i de D, toutes les colonnes » | Sensibilités correspondant à l’exemple i. Le deux-points sélectionne toutes les colonnes.</a:t>
            </a:r>
          </a:p>
          <a:p xmlns:a="http://schemas.openxmlformats.org/drawingml/2006/main">
            <a:pPr marL="0" lvl="0" indent="0" algn="l">
              <a:spcBef>
                <a:spcPts val="0"/>
              </a:spcBef>
              <a:spcAft>
                <a:spcPts val="0"/>
              </a:spcAft>
              <a:buNone/>
            </a:pPr>
            <a:r>
              <a:t>\sum_{i=1}^B D_{i,:} | « somme des lignes de D, de i égale un à B » | Gradient du biais partagé entre les exemples.</a:t>
            </a:r>
          </a:p>
          <a:p xmlns:a="http://schemas.openxmlformats.org/drawingml/2006/main">
            <a:pPr marL="0" lvl="0" indent="0" algn="l">
              <a:spcBef>
                <a:spcPts val="0"/>
              </a:spcBef>
              <a:spcAft>
                <a:spcPts val="0"/>
              </a:spcAft>
              <a:buNone/>
            </a:pPr>
            <a:r>
              <a:t>DW | « D fois W » | Gradient des activations d’entrée H.</a:t>
            </a:r>
          </a:p>
          <a:p xmlns:a="http://schemas.openxmlformats.org/drawingml/2006/main">
            <a:pPr marL="0" lvl="0" indent="0" algn="l">
              <a:spcBef>
                <a:spcPts val="0"/>
              </a:spcBef>
              <a:spcAft>
                <a:spcPts val="0"/>
              </a:spcAft>
              <a:buNone/>
            </a:pPr>
            <a:r>
              <a:t>\nabla | « nabla, gradient » | Dérivées par rapport à l’objet indiqué en indice.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Les produits matriciels regroupent les calculs de chaque exemple sans changer les dérivées.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Si D contient déjà le facteur un sur B d’une perte moyenne, il ne faut pas diviser encore une fois le gradient des poids.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Si D=(p-y)/B, faut-il encore diviser DᵀH par B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cela réduirait le gradient d’un facteur B supplémentaire.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36 — VÉRIFIER UN GRADIENT NUMÉRIQUEMENT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Une vérification numérique est un outil de diagnostic, pas une méthode pratique d'entraînement : elle exige deux évaluations de la perte par paramètre testé. Une valeur epsilon trop grande produit une erreur de troncature ; trop petite, une erreur d'arrondi. Une plage autour de 10 puissance moins cinq convient souvent en double précision, sans être une constante universelle. Désactiver le dropout et contrôler toute source d'aléa. Si la perturbation traverse zéro pour une ReLU, les dérivées peuvent différer sans que la règle de propagation soit incorrecte. Le TP vérifie séparément chaque tableau de paramètres.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g_j^{\rm num}=\frac{\mathcal L(\theta+\varepsilon e_j)-\mathcal L(\theta-\varepsilon e_j)}{2\varepsilon}\\r=\frac{\|g^{\rm num}-g\|_2}{\|g^{\rm num}\|_2+\|g\|_2+10^{-12}}</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Le gradient numérique de coordonnée j vaut la perte en thêta plus epsilon e j, moins la perte en thêta moins epsilon e j, le tout divisé par deux epsilon. »</a:t>
            </a:r>
          </a:p>
          <a:p xmlns:a="http://schemas.openxmlformats.org/drawingml/2006/main">
            <a:pPr marL="0" lvl="0" indent="0" algn="l">
              <a:spcBef>
                <a:spcPts val="0"/>
              </a:spcBef>
              <a:spcAft>
                <a:spcPts val="0"/>
              </a:spcAft>
              <a:buNone/>
            </a:pPr>
            <a:r>
              <a:t>« r est la norme de la différence des gradients, divisée par la somme de leurs normes et de dix puissance moins douze.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g_j^{\rm num} | « g indice j, exposant num » | Approximation numérique de la j-ième composante du gradient. Num est une étiquette, pas une puissance.</a:t>
            </a:r>
          </a:p>
          <a:p xmlns:a="http://schemas.openxmlformats.org/drawingml/2006/main">
            <a:pPr marL="0" lvl="0" indent="0" algn="l">
              <a:spcBef>
                <a:spcPts val="0"/>
              </a:spcBef>
              <a:spcAft>
                <a:spcPts val="0"/>
              </a:spcAft>
              <a:buNone/>
            </a:pPr>
            <a:r>
              <a:t>\theta | « thêta » | Vecteur des paramètres au point testé.</a:t>
            </a:r>
          </a:p>
          <a:p xmlns:a="http://schemas.openxmlformats.org/drawingml/2006/main">
            <a:pPr marL="0" lvl="0" indent="0" algn="l">
              <a:spcBef>
                <a:spcPts val="0"/>
              </a:spcBef>
              <a:spcAft>
                <a:spcPts val="0"/>
              </a:spcAft>
              <a:buNone/>
            </a:pPr>
            <a:r>
              <a:t>\varepsilon | « epsilon » | Petit pas utilisé pour perturber un paramètre.</a:t>
            </a:r>
          </a:p>
          <a:p xmlns:a="http://schemas.openxmlformats.org/drawingml/2006/main">
            <a:pPr marL="0" lvl="0" indent="0" algn="l">
              <a:spcBef>
                <a:spcPts val="0"/>
              </a:spcBef>
              <a:spcAft>
                <a:spcPts val="0"/>
              </a:spcAft>
              <a:buNone/>
            </a:pPr>
            <a:r>
              <a:t>e_j | « e indice j » | Vecteur de base : un à la position j et zéro ailleurs.</a:t>
            </a:r>
          </a:p>
          <a:p xmlns:a="http://schemas.openxmlformats.org/drawingml/2006/main">
            <a:pPr marL="0" lvl="0" indent="0" algn="l">
              <a:spcBef>
                <a:spcPts val="0"/>
              </a:spcBef>
              <a:spcAft>
                <a:spcPts val="0"/>
              </a:spcAft>
              <a:buNone/>
            </a:pPr>
            <a:r>
              <a:t>\mathcal L(\theta\pm\varepsilon e_j) | « perte en thêta plus ou moins epsilon e j » | Deux évaluations de la perte, de part et d’autre du point courant.</a:t>
            </a:r>
          </a:p>
          <a:p xmlns:a="http://schemas.openxmlformats.org/drawingml/2006/main">
            <a:pPr marL="0" lvl="0" indent="0" algn="l">
              <a:spcBef>
                <a:spcPts val="0"/>
              </a:spcBef>
              <a:spcAft>
                <a:spcPts val="0"/>
              </a:spcAft>
              <a:buNone/>
            </a:pPr>
            <a:r>
              <a:t>2\varepsilon | « deux epsilon » | Distance entre les deux points de calcul.</a:t>
            </a:r>
          </a:p>
          <a:p xmlns:a="http://schemas.openxmlformats.org/drawingml/2006/main">
            <a:pPr marL="0" lvl="0" indent="0" algn="l">
              <a:spcBef>
                <a:spcPts val="0"/>
              </a:spcBef>
              <a:spcAft>
                <a:spcPts val="0"/>
              </a:spcAft>
              <a:buNone/>
            </a:pPr>
            <a:r>
              <a:t>g^{\rm num},\ g | « g numérique, g » | Gradient approché et gradient analytique à comparer.</a:t>
            </a:r>
          </a:p>
          <a:p xmlns:a="http://schemas.openxmlformats.org/drawingml/2006/main">
            <a:pPr marL="0" lvl="0" indent="0" algn="l">
              <a:spcBef>
                <a:spcPts val="0"/>
              </a:spcBef>
              <a:spcAft>
                <a:spcPts val="0"/>
              </a:spcAft>
              <a:buNone/>
            </a:pPr>
            <a:r>
              <a:t>\|\cdot\|_2 | « norme deux » | Longueur euclidienne du vecteur.</a:t>
            </a:r>
          </a:p>
          <a:p xmlns:a="http://schemas.openxmlformats.org/drawingml/2006/main">
            <a:pPr marL="0" lvl="0" indent="0" algn="l">
              <a:spcBef>
                <a:spcPts val="0"/>
              </a:spcBef>
              <a:spcAft>
                <a:spcPts val="0"/>
              </a:spcAft>
              <a:buNone/>
            </a:pPr>
            <a:r>
              <a:t>r | « erre » | Écart relatif normalisé entre les deux gradients.</a:t>
            </a:r>
          </a:p>
          <a:p xmlns:a="http://schemas.openxmlformats.org/drawingml/2006/main">
            <a:pPr marL="0" lvl="0" indent="0" algn="l">
              <a:spcBef>
                <a:spcPts val="0"/>
              </a:spcBef>
              <a:spcAft>
                <a:spcPts val="0"/>
              </a:spcAft>
              <a:buNone/>
            </a:pPr>
            <a:r>
              <a:t>10^{-12} | « dix puissance moins douze » | Petit terme qui évite un dénominateur exactement nul.</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différence centrale estime une dérivée en observant la variation de la perte autour du point courant.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petit pas epsilon n’est pas une variable à apprendre. Trop petit, il amplifie l’erreur d’arrondi. Les tirages aléatoires doivent rester identiques entre les deux évaluations.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Pourquoi la différence finie est-elle coûteuse pour un grand réseau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Son coût croît avec le nombre de paramètres vérifiés.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37 — AUTOGRAD : CE QUI EST AUTOMATISÉ</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Autograd applique un calcul de produits vecteur-Jacobienne en mode inverse, sans former toutes les Jacobiennes denses. Les activations nécessaires au passage arrière sont conservées, ce qui explique une partie de la mémoire d'entraînement. requires_grad indique quels tenseurs participent au calcul différentiel. detach coupe une relation dans le graphe, tandis qu'un contexte no_grad ou inference_mode évite d'enregistrer des opérations destinées à l'évaluation. Préciser que model.eval() change le comportement de certaines couches mais ne désactive pas, à lui seul, la construction du graphe. Les gradients s'accumulent tant qu'ils ne sont pas remis à zéro.</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model.eval() désactive-t-il les gradients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utiliser aussi no_grad ou inference_mode pour l’évaluation.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38 — BOUCLE D’ENTRAÎNEMENT : INVARIANTS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Faire verbaliser la distinction entre époque, batch et étape d'optimisation. Mélanger l'ordre du train d'une époque à l'autre est usuel ; conserver une évaluation déterministe facilite les comparaisons. La perte de l'époque doit être pondérée par le nombre d'exemples lorsque le dernier batch est incomplet, afin de ne pas lui attribuer un poids excessif. Vérifier les types : logits flottants et cibles entières pour une classification multiclasses. Avant une expérience longue, essayer de surapprendre quelques exemples, puis vérifier que le passage en mode évaluation ne modifie aucun poids.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pondérer les pertes de batches par leurs tailles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Pour retrouver la vraie moyenne par exemple, même avec un dernier batch plus petit.</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39 — TP 01 · UN MLP EN NUMPY</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Organisation : 20 minutes pour lire les données et les formes, 40 minutes pour annoter le calcul du gradient, 25 minutes pour le contrôle numérique, 40 minutes d'expériences et 25 minutes de restitution. Le notebook étudiant contient une base exécutable et des consignes d'investigation. Faire prédire l'effet d'un grand taux d'apprentissage avant de l'essayer. Les prétraitements sont ajustés sur le train. Les réponses doivent distinguer erreur d'implémentation, difficulté d'optimisation et manque de généralisation. Les corrigés proposent des conclusions attendues sans imposer un score unique.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doit contenir un résultat interprétable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Une configuration, une graine, des courbes, un contrôle du gradient et une limite identifiée.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40 — DIAGNOSTIQUER AVANT D’AJOUTER DES COUCHES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liste doit être appliquée dans l'ordre. Une erreur de forme, de cible ou de réduction peut produire une courbe qui ressemble à un mauvais choix d'hyperparamètre. Examiner ensuite les normes de gradients et la capacité à ajuster un très petit sous-ensemble. Si le train progresse mais pas la validation, l'optimisation fonctionne probablement : investiguer la régularisation, le protocole et les données. Une fuite de cible peut au contraire donner des résultats artificiellement excellents. Demander à chaque binôme d'associer un symptôme à une vérification falsifiable, plutôt qu'à une solution automatique.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première expérience distingue souvent un bug d’un problème de généralisation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Essayer de surapprendre un très petit lot d’exemples.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41 — EXERCICE · RECONSTRUIRE LE GRADIENT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Accorder dix minutes de travail individuel puis mettre les propositions en commun. Pour un exemple colonne, W1 est 4×3, b1 est 4, a1 est 4, W2 est 2×4, b2 est 2. Le total est 12+4+8+2=26. La sortie a deux logits et delta2=p-y. Le gradient W2 est delta2 a1 transposée ; delta1=(W2 transposée delta2) multiplié élément par élément par l'indicatrice z1&gt;0. Le gradient W1 est delta1 x transposée. Pour un batch, les activations passent en lignes et les produits changent d'ordre, sans changer le modèle.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 est le nombre total de paramètres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26 : 16 dans la première couche et 10 dans la seconde.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42 — JOUR 1 · À RETENIR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Clore la séance par une explication sans code : demander à un étudiant de décrire le trajet d'un exemple jusqu'à la perte, puis le trajet d'un gradient jusqu'à un poids de la première couche. Faire nommer le rôle du batch et de la moyenne. L'autre vérification consiste à faire calculer un gradient de biais et à expliquer pourquoi il est une somme dans la version vectorisée. Annoncer la journée suivante : une fois les gradients corrects, il reste à rendre l'optimisation stable et à utiliser une structure adaptée aux images.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opération est commune à tous les réseaux différentiables étudiés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Composer des transformations et propager les sensibilités par la règle de la chaîne.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43 — OPTIMISATION ET CONVOLUTIONS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journée articule les concepts et leur mise à l'épreuve. Commencer par une restitution de la séance précédente.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44 — JOUR 2 · DÉROULÉ DES 7 HEURES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45 — SGD ET MINI-BATCHES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Le gradient de mini-batch est un estimateur du gradient empirique lorsque l'échantillonnage est approprié. Sa variabilité influence la trajectoire de l'optimisation, sans constituer une garantie de meilleure généralisation. Doubler le batch réduit le nombre d'étapes par époque ; comparer seulement le nombre d'époques peut donc masquer un changement de budget de mises à jour. La mémoire des activations croît avec B, alors que celle des paramètres reste fixe. Les relations simples de redimensionnement du taux d'apprentissage sont des heuristiques qui nécessitent une validation.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g_t=\frac1B\sum_{i\in\mathcal B_t}\nabla_\theta\ell_i(\theta_t),\qquad\theta_{t+1}=\theta_t-\eta_tg_t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g t vaut un sur B fois la somme des gradients des pertes des exemples dont l’indice appartient au mini-batch à l’itération t. »</a:t>
            </a:r>
          </a:p>
          <a:p xmlns:a="http://schemas.openxmlformats.org/drawingml/2006/main">
            <a:pPr marL="0" lvl="0" indent="0" algn="l">
              <a:spcBef>
                <a:spcPts val="0"/>
              </a:spcBef>
              <a:spcAft>
                <a:spcPts val="0"/>
              </a:spcAft>
              <a:buNone/>
            </a:pPr>
            <a:r>
              <a:t>« Thêta t plus un vaut thêta t moins êta t fois g t.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g_t | « gé indice t » | Gradient moyen du mini-batch courant.</a:t>
            </a:r>
          </a:p>
          <a:p xmlns:a="http://schemas.openxmlformats.org/drawingml/2006/main">
            <a:pPr marL="0" lvl="0" indent="0" algn="l">
              <a:spcBef>
                <a:spcPts val="0"/>
              </a:spcBef>
              <a:spcAft>
                <a:spcPts val="0"/>
              </a:spcAft>
              <a:buNone/>
            </a:pPr>
            <a:r>
              <a:t>B | « bé » | Nombre d’exemples du mini-batch.</a:t>
            </a:r>
          </a:p>
          <a:p xmlns:a="http://schemas.openxmlformats.org/drawingml/2006/main">
            <a:pPr marL="0" lvl="0" indent="0" algn="l">
              <a:spcBef>
                <a:spcPts val="0"/>
              </a:spcBef>
              <a:spcAft>
                <a:spcPts val="0"/>
              </a:spcAft>
              <a:buNone/>
            </a:pPr>
            <a:r>
              <a:t>\mathcal B_t | « bé calligraphique indice t » | Ensemble des indices des exemples choisis à l’itération t.</a:t>
            </a:r>
          </a:p>
          <a:p xmlns:a="http://schemas.openxmlformats.org/drawingml/2006/main">
            <a:pPr marL="0" lvl="0" indent="0" algn="l">
              <a:spcBef>
                <a:spcPts val="0"/>
              </a:spcBef>
              <a:spcAft>
                <a:spcPts val="0"/>
              </a:spcAft>
              <a:buNone/>
            </a:pPr>
            <a:r>
              <a:t>i\in\mathcal B_t | « i appartient au mini-batch bé t » | La somme porte seulement sur ces exemples.</a:t>
            </a:r>
          </a:p>
          <a:p xmlns:a="http://schemas.openxmlformats.org/drawingml/2006/main">
            <a:pPr marL="0" lvl="0" indent="0" algn="l">
              <a:spcBef>
                <a:spcPts val="0"/>
              </a:spcBef>
              <a:spcAft>
                <a:spcPts val="0"/>
              </a:spcAft>
              <a:buNone/>
            </a:pPr>
            <a:r>
              <a:t>\ell_i(\theta_t) | « ell indice i évaluée en thêta t » | Perte de l’exemple i avec les paramètres courants.</a:t>
            </a:r>
          </a:p>
          <a:p xmlns:a="http://schemas.openxmlformats.org/drawingml/2006/main">
            <a:pPr marL="0" lvl="0" indent="0" algn="l">
              <a:spcBef>
                <a:spcPts val="0"/>
              </a:spcBef>
              <a:spcAft>
                <a:spcPts val="0"/>
              </a:spcAft>
              <a:buNone/>
            </a:pPr>
            <a:r>
              <a:t>\nabla_\theta | « gradient par rapport à thêta » | Dérivées selon les paramètres du modèle.</a:t>
            </a:r>
          </a:p>
          <a:p xmlns:a="http://schemas.openxmlformats.org/drawingml/2006/main">
            <a:pPr marL="0" lvl="0" indent="0" algn="l">
              <a:spcBef>
                <a:spcPts val="0"/>
              </a:spcBef>
              <a:spcAft>
                <a:spcPts val="0"/>
              </a:spcAft>
              <a:buNone/>
            </a:pPr>
            <a:r>
              <a:t>\eta_t | « êta indice t » | Taux d’apprentissage de cette mise à jour.</a:t>
            </a:r>
          </a:p>
          <a:p xmlns:a="http://schemas.openxmlformats.org/drawingml/2006/main">
            <a:pPr marL="0" lvl="0" indent="0" algn="l">
              <a:spcBef>
                <a:spcPts val="0"/>
              </a:spcBef>
              <a:spcAft>
                <a:spcPts val="0"/>
              </a:spcAft>
              <a:buNone/>
            </a:pPr>
            <a:r>
              <a:t>\theta_t,\ \theta_{t+1} | « thêta t, thêta t plus un » | Paramètres courants et paramètres mis à jour.</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SGD remplace le gradient de tout l’échantillon par une estimation calculée sur un sous-ensemble.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B est une taille, alors que B calligraphique t est un ensemble d’indices. L’échelle du gradient dépend du choix somme ou moyenne.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Si N=1000 et B=128 sans drop_last, combien d’étapes par époque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8, dont une dernière étape de 104 exemples.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46 — MOMENTUM : MÉMORISER UNE DIRECTION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Présenter explicitement la convention employée : ici, on n'introduit pas le facteur 1-beta devant g. Une autre écriture utilise une moyenne exponentielle normalisée et nécessite un taux effectif différent. Lorsque les gradients gardent un même signe, leur contribution s'accumule et accélère le mouvement ; lorsqu'ils oscillent, une partie se compense. Une mémoire importante peut aussi provoquer un dépassement ou retarder un changement de direction. Le momentum n'élimine donc pas le choix du taux d'apprentissage. Initialiser v à zéro et calculer deux étapes pour un gradient constant.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v_t=\beta v_{t-1}+g_t,\qquad\theta_{t+1}=\theta_t-\eta v_t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v t vaut bêta fois v t moins un, plus g t. »</a:t>
            </a:r>
          </a:p>
          <a:p xmlns:a="http://schemas.openxmlformats.org/drawingml/2006/main">
            <a:pPr marL="0" lvl="0" indent="0" algn="l">
              <a:spcBef>
                <a:spcPts val="0"/>
              </a:spcBef>
              <a:spcAft>
                <a:spcPts val="0"/>
              </a:spcAft>
              <a:buNone/>
            </a:pPr>
            <a:r>
              <a:t>« Thêta t plus un vaut thêta t moins êta fois v t.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v_t | « vé indice t » | Accumulateur de gradients, ou vitesse, au pas courant.</a:t>
            </a:r>
          </a:p>
          <a:p xmlns:a="http://schemas.openxmlformats.org/drawingml/2006/main">
            <a:pPr marL="0" lvl="0" indent="0" algn="l">
              <a:spcBef>
                <a:spcPts val="0"/>
              </a:spcBef>
              <a:spcAft>
                <a:spcPts val="0"/>
              </a:spcAft>
              <a:buNone/>
            </a:pPr>
            <a:r>
              <a:t>v_{t-1} | « vé indice t moins un » | État de l’accumulateur au pas précédent.</a:t>
            </a:r>
          </a:p>
          <a:p xmlns:a="http://schemas.openxmlformats.org/drawingml/2006/main">
            <a:pPr marL="0" lvl="0" indent="0" algn="l">
              <a:spcBef>
                <a:spcPts val="0"/>
              </a:spcBef>
              <a:spcAft>
                <a:spcPts val="0"/>
              </a:spcAft>
              <a:buNone/>
            </a:pPr>
            <a:r>
              <a:t>\beta | « bêta » | Coefficient de mémoire, généralement entre zéro inclus et un exclu.</a:t>
            </a:r>
          </a:p>
          <a:p xmlns:a="http://schemas.openxmlformats.org/drawingml/2006/main">
            <a:pPr marL="0" lvl="0" indent="0" algn="l">
              <a:spcBef>
                <a:spcPts val="0"/>
              </a:spcBef>
              <a:spcAft>
                <a:spcPts val="0"/>
              </a:spcAft>
              <a:buNone/>
            </a:pPr>
            <a:r>
              <a:t>g_t | « gé indice t » | Gradient courant.</a:t>
            </a:r>
          </a:p>
          <a:p xmlns:a="http://schemas.openxmlformats.org/drawingml/2006/main">
            <a:pPr marL="0" lvl="0" indent="0" algn="l">
              <a:spcBef>
                <a:spcPts val="0"/>
              </a:spcBef>
              <a:spcAft>
                <a:spcPts val="0"/>
              </a:spcAft>
              <a:buNone/>
            </a:pPr>
            <a:r>
              <a:t>\eta | « êta » | Taux d’apprentissage.</a:t>
            </a:r>
          </a:p>
          <a:p xmlns:a="http://schemas.openxmlformats.org/drawingml/2006/main">
            <a:pPr marL="0" lvl="0" indent="0" algn="l">
              <a:spcBef>
                <a:spcPts val="0"/>
              </a:spcBef>
              <a:spcAft>
                <a:spcPts val="0"/>
              </a:spcAft>
              <a:buNone/>
            </a:pPr>
            <a:r>
              <a:t>\theta_t,\ \theta_{t+1} | « thêta t, thêta t plus un » | Paramètres avant et après la mise à jour.</a:t>
            </a:r>
          </a:p>
          <a:p xmlns:a="http://schemas.openxmlformats.org/drawingml/2006/main">
            <a:pPr marL="0" lvl="0" indent="0" algn="l">
              <a:spcBef>
                <a:spcPts val="0"/>
              </a:spcBef>
              <a:spcAft>
                <a:spcPts val="0"/>
              </a:spcAft>
              <a:buNone/>
            </a:pPr>
            <a:r>
              <a:t>t-1 | « té moins un » | Itération précédente, et non soustraction de un à la valeur de v.</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direction du pas tient compte de plusieurs gradients successifs.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Cette convention du momentum n’ajoute pas de facteur un moins bêta devant g. D’autres conventions normalisent l’accumulateur différemment.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Avec β=0,9, v0=0 et g=1, quelles sont v1 et v2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1 puis 1,9 dans cette convention.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47 — ADAM : PREMIER ET SECOND MOMENTS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Le second moment est une moyenne des carrés, pas directement une estimation de variance centrée. La normalisation produit des échelles de pas différentes selon les coordonnées. Expliquer les facteurs de correction en développant l'espérance de m_t pour un gradient stationnaire : son initialisation à zéro réduit sa magnitude au début. Adam n'exonère pas du réglage du taux ni du contrôle des gradients. Les choix usuels des coefficients sont des points de départ et non des constantes mathématiques. Distinguer la stabilisation numérique epsilon d'une pénalisation du modèle.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\begin{aligned}m_t&amp;=\beta_1m_{t-1}+(1-\beta_1)g_t\\v_t&amp;=\beta_2v_{t-1}+(1-\beta_2)g_t^2\\\theta_{t+1}&amp;=\theta_t-\eta\frac{m_t/(1-\beta_1^t)}{\sqrt{v_t/(1-\beta_2^t)}+\varepsilon}\end{aligned}</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m t vaut bêta un fois m t moins un, plus un moins bêta un fois le gradient g t. »</a:t>
            </a:r>
          </a:p>
          <a:p xmlns:a="http://schemas.openxmlformats.org/drawingml/2006/main">
            <a:pPr marL="0" lvl="0" indent="0" algn="l">
              <a:spcBef>
                <a:spcPts val="0"/>
              </a:spcBef>
              <a:spcAft>
                <a:spcPts val="0"/>
              </a:spcAft>
              <a:buNone/>
            </a:pPr>
            <a:r>
              <a:t>« v t vaut bêta deux fois v t moins un, plus un moins bêta deux fois g t au carré, composante par composante. »</a:t>
            </a:r>
          </a:p>
          <a:p xmlns:a="http://schemas.openxmlformats.org/drawingml/2006/main">
            <a:pPr marL="0" lvl="0" indent="0" algn="l">
              <a:spcBef>
                <a:spcPts val="0"/>
              </a:spcBef>
              <a:spcAft>
                <a:spcPts val="0"/>
              </a:spcAft>
              <a:buNone/>
            </a:pPr>
            <a:r>
              <a:t>« Thêta t plus un vaut thêta t moins êta fois le premier moment corrigé, divisé composante par composante par la racine du second moment corrigé plus epsilon.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g_t | « gé indice t » | Gradient au pas t.</a:t>
            </a:r>
          </a:p>
          <a:p xmlns:a="http://schemas.openxmlformats.org/drawingml/2006/main">
            <a:pPr marL="0" lvl="0" indent="0" algn="l">
              <a:spcBef>
                <a:spcPts val="0"/>
              </a:spcBef>
              <a:spcAft>
                <a:spcPts val="0"/>
              </a:spcAft>
              <a:buNone/>
            </a:pPr>
            <a:r>
              <a:t>m_t,\ m_{t-1} | « m t, m t moins un » | Moyenne mobile des gradients, courante et précédente.</a:t>
            </a:r>
          </a:p>
          <a:p xmlns:a="http://schemas.openxmlformats.org/drawingml/2006/main">
            <a:pPr marL="0" lvl="0" indent="0" algn="l">
              <a:spcBef>
                <a:spcPts val="0"/>
              </a:spcBef>
              <a:spcAft>
                <a:spcPts val="0"/>
              </a:spcAft>
              <a:buNone/>
            </a:pPr>
            <a:r>
              <a:t>v_t,\ v_{t-1} | « vé t, vé t moins un » | Moyenne mobile des carrés des gradients.</a:t>
            </a:r>
          </a:p>
          <a:p xmlns:a="http://schemas.openxmlformats.org/drawingml/2006/main">
            <a:pPr marL="0" lvl="0" indent="0" algn="l">
              <a:spcBef>
                <a:spcPts val="0"/>
              </a:spcBef>
              <a:spcAft>
                <a:spcPts val="0"/>
              </a:spcAft>
              <a:buNone/>
            </a:pPr>
            <a:r>
              <a:t>\beta_1,\ \beta_2 | « bêta un, bêta deux » | Coefficients de mémoire des deux moyennes.</a:t>
            </a:r>
          </a:p>
          <a:p xmlns:a="http://schemas.openxmlformats.org/drawingml/2006/main">
            <a:pPr marL="0" lvl="0" indent="0" algn="l">
              <a:spcBef>
                <a:spcPts val="0"/>
              </a:spcBef>
              <a:spcAft>
                <a:spcPts val="0"/>
              </a:spcAft>
              <a:buNone/>
            </a:pPr>
            <a:r>
              <a:t>g_t^2 | « gé t au carré, terme à terme » | Chaque composante du gradient est élevée au carré.</a:t>
            </a:r>
          </a:p>
          <a:p xmlns:a="http://schemas.openxmlformats.org/drawingml/2006/main">
            <a:pPr marL="0" lvl="0" indent="0" algn="l">
              <a:spcBef>
                <a:spcPts val="0"/>
              </a:spcBef>
              <a:spcAft>
                <a:spcPts val="0"/>
              </a:spcAft>
              <a:buNone/>
            </a:pPr>
            <a:r>
              <a:t>\beta_1^t,\ \beta_2^t | « bêta un puissance t, bêta deux puissance t » | Puissances utilisées pour corriger l’initialisation à zéro des moments.</a:t>
            </a:r>
          </a:p>
          <a:p xmlns:a="http://schemas.openxmlformats.org/drawingml/2006/main">
            <a:pPr marL="0" lvl="0" indent="0" algn="l">
              <a:spcBef>
                <a:spcPts val="0"/>
              </a:spcBef>
              <a:spcAft>
                <a:spcPts val="0"/>
              </a:spcAft>
              <a:buNone/>
            </a:pPr>
            <a:r>
              <a:t>m_t/(1-\beta_1^t) | « m t divisé par un moins bêta un puissance t » | Premier moment corrigé.</a:t>
            </a:r>
          </a:p>
          <a:p xmlns:a="http://schemas.openxmlformats.org/drawingml/2006/main">
            <a:pPr marL="0" lvl="0" indent="0" algn="l">
              <a:spcBef>
                <a:spcPts val="0"/>
              </a:spcBef>
              <a:spcAft>
                <a:spcPts val="0"/>
              </a:spcAft>
              <a:buNone/>
            </a:pPr>
            <a:r>
              <a:t>v_t/(1-\beta_2^t) | « vé t divisé par un moins bêta deux puissance t » | Second moment corrigé.</a:t>
            </a:r>
          </a:p>
          <a:p xmlns:a="http://schemas.openxmlformats.org/drawingml/2006/main">
            <a:pPr marL="0" lvl="0" indent="0" algn="l">
              <a:spcBef>
                <a:spcPts val="0"/>
              </a:spcBef>
              <a:spcAft>
                <a:spcPts val="0"/>
              </a:spcAft>
              <a:buNone/>
            </a:pPr>
            <a:r>
              <a:t>\sqrt{\cdot} | « racine carrée » | Racine prise composante par composante.</a:t>
            </a:r>
          </a:p>
          <a:p xmlns:a="http://schemas.openxmlformats.org/drawingml/2006/main">
            <a:pPr marL="0" lvl="0" indent="0" algn="l">
              <a:spcBef>
                <a:spcPts val="0"/>
              </a:spcBef>
              <a:spcAft>
                <a:spcPts val="0"/>
              </a:spcAft>
              <a:buNone/>
            </a:pPr>
            <a:r>
              <a:t>\eta,\ \varepsilon | « êta, epsilon » | Taux d’apprentissage et petit stabilisateur numérique du dénominateur.</a:t>
            </a:r>
          </a:p>
          <a:p xmlns:a="http://schemas.openxmlformats.org/drawingml/2006/main">
            <a:pPr marL="0" lvl="0" indent="0" algn="l">
              <a:spcBef>
                <a:spcPts val="0"/>
              </a:spcBef>
              <a:spcAft>
                <a:spcPts val="0"/>
              </a:spcAft>
              <a:buNone/>
            </a:pPr>
            <a:r>
              <a:t>\theta_t,\ \theta_{t+1} | « thêta t, thêta t plus un » | Paramètres avant et après la mise à jour.</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Adam mémorise la direction moyenne du gradient et adapte l’échelle du pas à chaque paramètre.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v est un second moment non centré, pas une variance centrée. Les divisions sont terme à terme. Epsilon se trouve hors de la racine dans la convention affichée.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Le v d’Adam est-il exactement la variance du gradient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c’est un second moment non centré.</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Kingma et Ba — Adam, 2014</a:t>
            </a:r>
          </a:p>
          <a:p xmlns:a="http://schemas.openxmlformats.org/drawingml/2006/main">
            <a:pPr marL="0" lvl="0" indent="0" algn="l">
              <a:spcBef>
                <a:spcPts val="0"/>
              </a:spcBef>
              <a:spcAft>
                <a:spcPts val="0"/>
              </a:spcAft>
              <a:buNone/>
            </a:pPr>
            <a:r>
              <a:t>https://arxiv.org/abs/1412.6980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48 — INITIALISATION ET PROPAGATION DES VARIANCES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L'argument de variance suppose approximativement des composantes indépendantes et centrées. Une somme de d contributions indépendantes additionne leurs variances ; il faut donc compenser l'augmentation de fan-in. ReLU élimine une partie du signal, d'où le facteur deux dans l'heuristique de He. Ces conditions idéalisées ne prouvent pas la stabilité de tout réseau réel, mais fournissent un point de départ utile. Les biais peuvent être initialisés à zéro sans rendre tous les neurones identiques si les poids sont aléatoires. Ne pas dire que tous les paramètres doivent nécessairement être aléatoires.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W_{ij}\sim\mathcal N\!\left(0,\frac{2}{d_{\rm in}}\right)\quad\text{(ReLU)},\qquad\operatorname{Var}(W_{ij})\approx\frac{2}{d_{\rm in}+d_{\rm out}}\quad\text{(Xavier)}</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W i j suit une loi normale de moyenne zéro et de variance deux sur d entrée, pour l’initialisation adaptée à ReLU. »</a:t>
            </a:r>
          </a:p>
          <a:p xmlns:a="http://schemas.openxmlformats.org/drawingml/2006/main">
            <a:pPr marL="0" lvl="0" indent="0" algn="l">
              <a:spcBef>
                <a:spcPts val="0"/>
              </a:spcBef>
              <a:spcAft>
                <a:spcPts val="0"/>
              </a:spcAft>
              <a:buNone/>
            </a:pPr>
            <a:r>
              <a:t>« Pour Xavier, la variance de W i j vaut approximativement deux divisé par d entrée plus d sortie.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W_{ij} | « w indices i j » | Poids reliant une composante d’entrée à une unité de sortie.</a:t>
            </a:r>
          </a:p>
          <a:p xmlns:a="http://schemas.openxmlformats.org/drawingml/2006/main">
            <a:pPr marL="0" lvl="0" indent="0" algn="l">
              <a:spcBef>
                <a:spcPts val="0"/>
              </a:spcBef>
              <a:spcAft>
                <a:spcPts val="0"/>
              </a:spcAft>
              <a:buNone/>
            </a:pPr>
            <a:r>
              <a:t>\sim | « suit la loi » | Le poids est tiré aléatoirement selon la distribution indiquée.</a:t>
            </a:r>
          </a:p>
          <a:p xmlns:a="http://schemas.openxmlformats.org/drawingml/2006/main">
            <a:pPr marL="0" lvl="0" indent="0" algn="l">
              <a:spcBef>
                <a:spcPts val="0"/>
              </a:spcBef>
              <a:spcAft>
                <a:spcPts val="0"/>
              </a:spcAft>
              <a:buNone/>
            </a:pPr>
            <a:r>
              <a:t>\mathcal N(0,v) | « loi normale de moyenne zéro et de variance vé » | Dans cette convention, le deuxième argument est la variance.</a:t>
            </a:r>
          </a:p>
          <a:p xmlns:a="http://schemas.openxmlformats.org/drawingml/2006/main">
            <a:pPr marL="0" lvl="0" indent="0" algn="l">
              <a:spcBef>
                <a:spcPts val="0"/>
              </a:spcBef>
              <a:spcAft>
                <a:spcPts val="0"/>
              </a:spcAft>
              <a:buNone/>
            </a:pPr>
            <a:r>
              <a:t>d_{\rm in},\ d_{\rm out} | « d entrée, d sortie » | Nombre de connexions d’entrée et nombre d’unités de sortie de la couche.</a:t>
            </a:r>
          </a:p>
          <a:p xmlns:a="http://schemas.openxmlformats.org/drawingml/2006/main">
            <a:pPr marL="0" lvl="0" indent="0" algn="l">
              <a:spcBef>
                <a:spcPts val="0"/>
              </a:spcBef>
              <a:spcAft>
                <a:spcPts val="0"/>
              </a:spcAft>
              <a:buNone/>
            </a:pPr>
            <a:r>
              <a:t>\operatorname{Var}(W_{ij}) | « variance de w i j » | Dispersion des tirages de ce poids autour de leur moyenne.</a:t>
            </a:r>
          </a:p>
          <a:p xmlns:a="http://schemas.openxmlformats.org/drawingml/2006/main">
            <a:pPr marL="0" lvl="0" indent="0" algn="l">
              <a:spcBef>
                <a:spcPts val="0"/>
              </a:spcBef>
              <a:spcAft>
                <a:spcPts val="0"/>
              </a:spcAft>
              <a:buNone/>
            </a:pPr>
            <a:r>
              <a:t>2/d_{\rm in} | « deux sur d entrée » | Variance de l’initialisation indiquée pour ReLU.</a:t>
            </a:r>
          </a:p>
          <a:p xmlns:a="http://schemas.openxmlformats.org/drawingml/2006/main">
            <a:pPr marL="0" lvl="0" indent="0" algn="l">
              <a:spcBef>
                <a:spcPts val="0"/>
              </a:spcBef>
              <a:spcAft>
                <a:spcPts val="0"/>
              </a:spcAft>
              <a:buNone/>
            </a:pPr>
            <a:r>
              <a:t>2/(d_{\rm in}+d_{\rm out}) | « deux sur la somme de d entrée et d sortie » | Variance utilisée dans l’heuristique de Xavier.</a:t>
            </a:r>
          </a:p>
          <a:p xmlns:a="http://schemas.openxmlformats.org/drawingml/2006/main">
            <a:pPr marL="0" lvl="0" indent="0" algn="l">
              <a:spcBef>
                <a:spcPts val="0"/>
              </a:spcBef>
              <a:spcAft>
                <a:spcPts val="0"/>
              </a:spcAft>
              <a:buNone/>
            </a:pPr>
            <a:r>
              <a:t>\approx | « environ égal à » | Expression inscrite dans une analyse simplifiée des variances.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L’échelle des poids compense le nombre de contributions additionnées par chaque neurone.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La variance deux sur d entrée n’est pas l’écart-type. L’écart-type correspondant est sa racine carrée.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Pourquoi ne pas initialiser tous les poids d’une couche à la même valeur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Les neurones peuvent rester symétriques et apprendre des représentations identiques.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49 — GRADIENTS QUI DISPARAISSENT OU EXPLOSENT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Une succession d'opérateurs contractants peut atténuer le signal, tandis que des directions amplifiées peuvent le faire exploser. Les normes spectrales donnent une intuition, mais la direction effective du gradient et les corrélations entre matrices comptent aussi. Le clipping par norme limite la magnitude d'un gradient déjà calculé ; il ne restaure pas un gradient disparu et ne corrige pas un masque erroné. Observer les normes par couche avant de proposer une intervention. Les connexions résiduelles introduisent un chemin identité, que nous retrouverons dans ResNet et dans les Transformers.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\frac{\partial\ell}{\partial a_0}=J_1^\top J_2^\top\cdots J_L^\top\frac{\partial\ell}{\partial a_L}</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Le gradient de la perte selon a zéro vaut J un transposée, fois J deux transposée, et ainsi de suite jusqu’à J grand L transposée, appliquées au gradient de la perte selon a grand L.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a_0,\ a_L | « a zéro, a grand ell » | Activations d’entrée et de sortie de la pile.</a:t>
            </a:r>
          </a:p>
          <a:p xmlns:a="http://schemas.openxmlformats.org/drawingml/2006/main">
            <a:pPr marL="0" lvl="0" indent="0" algn="l">
              <a:spcBef>
                <a:spcPts val="0"/>
              </a:spcBef>
              <a:spcAft>
                <a:spcPts val="0"/>
              </a:spcAft>
              <a:buNone/>
            </a:pPr>
            <a:r>
              <a:t>L | « grand ell » | Nombre de couches ou de transformations.</a:t>
            </a:r>
          </a:p>
          <a:p xmlns:a="http://schemas.openxmlformats.org/drawingml/2006/main">
            <a:pPr marL="0" lvl="0" indent="0" algn="l">
              <a:spcBef>
                <a:spcPts val="0"/>
              </a:spcBef>
              <a:spcAft>
                <a:spcPts val="0"/>
              </a:spcAft>
              <a:buNone/>
            </a:pPr>
            <a:r>
              <a:t>J_\ell | « ji indice ell » | Jacobienne de a ell par rapport à a ell moins un : matrice des dérivées locales.</a:t>
            </a:r>
          </a:p>
          <a:p xmlns:a="http://schemas.openxmlformats.org/drawingml/2006/main">
            <a:pPr marL="0" lvl="0" indent="0" algn="l">
              <a:spcBef>
                <a:spcPts val="0"/>
              </a:spcBef>
              <a:spcAft>
                <a:spcPts val="0"/>
              </a:spcAft>
              <a:buNone/>
            </a:pPr>
            <a:r>
              <a:t>J_\ell^\top | « ji indice ell transposée » | Opérateur qui propage un gradient colonne vers la couche précédente.</a:t>
            </a:r>
          </a:p>
          <a:p xmlns:a="http://schemas.openxmlformats.org/drawingml/2006/main">
            <a:pPr marL="0" lvl="0" indent="0" algn="l">
              <a:spcBef>
                <a:spcPts val="0"/>
              </a:spcBef>
              <a:spcAft>
                <a:spcPts val="0"/>
              </a:spcAft>
              <a:buNone/>
            </a:pPr>
            <a:r>
              <a:t>\frac{\partial\ell}{\partial a_0} | « gradient de ell par rapport à a zéro » | Sensibilité de la perte aux activations d’entrée.</a:t>
            </a:r>
          </a:p>
          <a:p xmlns:a="http://schemas.openxmlformats.org/drawingml/2006/main">
            <a:pPr marL="0" lvl="0" indent="0" algn="l">
              <a:spcBef>
                <a:spcPts val="0"/>
              </a:spcBef>
              <a:spcAft>
                <a:spcPts val="0"/>
              </a:spcAft>
              <a:buNone/>
            </a:pPr>
            <a:r>
              <a:t>\frac{\partial\ell}{\partial a_L} | « gradient de ell par rapport à a grand ell » | Gradient disponible au sommet de la pile.</a:t>
            </a:r>
          </a:p>
          <a:p xmlns:a="http://schemas.openxmlformats.org/drawingml/2006/main">
            <a:pPr marL="0" lvl="0" indent="0" algn="l">
              <a:spcBef>
                <a:spcPts val="0"/>
              </a:spcBef>
              <a:spcAft>
                <a:spcPts val="0"/>
              </a:spcAft>
              <a:buNone/>
            </a:pPr>
            <a:r>
              <a:t>\cdots | « et ainsi de suite » | Produits des jacobiennes des couches intermédiaires.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rétropropagation applique successivement les transformations locales au gradient de sortie.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Dans le produit écrit, J grand L transposée agit d’abord sur le vecteur à droite. Une accumulation de contractions ou d’amplifications peut modifier fortement la norme du gradient.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Le clipping permet-il de récupérer des gradients proches de zéro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il borne les grands gradients, il ne recrée pas les petits.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50 — PÉNALISATION L2 ET WEIGHT DECAY</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Pour SGD sans adaptation, développer la mise à jour donne (1-eta lambda) theta moins eta fois le gradient de données. Avec Adam, introduire lambda theta dans le gradient modifie aussi les estimations des moments ; ce n'est donc pas en général la même opération qu'une décroissance séparée du paramètre. AdamW effectue ce découplage. En pratique, certains groupes de paramètres, tels que les biais ou les gains de normalisation, peuvent recevoir des réglages différents. Ce choix doit être documenté dans une comparaison. La pénalisation peut aider mais ne remplace pas un protocole de validation valide.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\mathcal L_{\rm reg}=\mathcal L+\frac\lambda2\|\theta\|_2^2,\qquad\nabla\mathcal L_{\rm reg}=\nabla\mathcal L+\lambda\theta</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La perte régularisée vaut la perte de données plus lambda sur deux fois la norme deux de thêta au carré. »</a:t>
            </a:r>
          </a:p>
          <a:p xmlns:a="http://schemas.openxmlformats.org/drawingml/2006/main">
            <a:pPr marL="0" lvl="0" indent="0" algn="l">
              <a:spcBef>
                <a:spcPts val="0"/>
              </a:spcBef>
              <a:spcAft>
                <a:spcPts val="0"/>
              </a:spcAft>
              <a:buNone/>
            </a:pPr>
            <a:r>
              <a:t>« Son gradient vaut le gradient de la perte de données plus lambda fois thêta.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\mathcal L,\ \mathcal L_{\rm reg} | « grand ell, grand ell indice reg » | Perte de données et perte avec pénalisation.</a:t>
            </a:r>
          </a:p>
          <a:p xmlns:a="http://schemas.openxmlformats.org/drawingml/2006/main">
            <a:pPr marL="0" lvl="0" indent="0" algn="l">
              <a:spcBef>
                <a:spcPts val="0"/>
              </a:spcBef>
              <a:spcAft>
                <a:spcPts val="0"/>
              </a:spcAft>
              <a:buNone/>
            </a:pPr>
            <a:r>
              <a:t>\theta | « thêta » | Vecteur des paramètres auxquels on applique la pénalisation.</a:t>
            </a:r>
          </a:p>
          <a:p xmlns:a="http://schemas.openxmlformats.org/drawingml/2006/main">
            <a:pPr marL="0" lvl="0" indent="0" algn="l">
              <a:spcBef>
                <a:spcPts val="0"/>
              </a:spcBef>
              <a:spcAft>
                <a:spcPts val="0"/>
              </a:spcAft>
              <a:buNone/>
            </a:pPr>
            <a:r>
              <a:t>\lambda | « lambda » | Coefficient non négatif qui règle la force de la pénalisation.</a:t>
            </a:r>
          </a:p>
          <a:p xmlns:a="http://schemas.openxmlformats.org/drawingml/2006/main">
            <a:pPr marL="0" lvl="0" indent="0" algn="l">
              <a:spcBef>
                <a:spcPts val="0"/>
              </a:spcBef>
              <a:spcAft>
                <a:spcPts val="0"/>
              </a:spcAft>
              <a:buNone/>
            </a:pPr>
            <a:r>
              <a:t>\|\theta\|_2 | « norme deux de thêta » | Longueur euclidienne du vecteur des paramètres.</a:t>
            </a:r>
          </a:p>
          <a:p xmlns:a="http://schemas.openxmlformats.org/drawingml/2006/main">
            <a:pPr marL="0" lvl="0" indent="0" algn="l">
              <a:spcBef>
                <a:spcPts val="0"/>
              </a:spcBef>
              <a:spcAft>
                <a:spcPts val="0"/>
              </a:spcAft>
              <a:buNone/>
            </a:pPr>
            <a:r>
              <a:t>\|\theta\|_2^2 | « norme deux de thêta au carré » | Somme des carrés des paramètres.</a:t>
            </a:r>
          </a:p>
          <a:p xmlns:a="http://schemas.openxmlformats.org/drawingml/2006/main">
            <a:pPr marL="0" lvl="0" indent="0" algn="l">
              <a:spcBef>
                <a:spcPts val="0"/>
              </a:spcBef>
              <a:spcAft>
                <a:spcPts val="0"/>
              </a:spcAft>
              <a:buNone/>
            </a:pPr>
            <a:r>
              <a:t>\lambda/2 | « lambda sur deux » | Facteur choisi pour que la dérivée de la pénalisation soit lambda thêta.</a:t>
            </a:r>
          </a:p>
          <a:p xmlns:a="http://schemas.openxmlformats.org/drawingml/2006/main">
            <a:pPr marL="0" lvl="0" indent="0" algn="l">
              <a:spcBef>
                <a:spcPts val="0"/>
              </a:spcBef>
              <a:spcAft>
                <a:spcPts val="0"/>
              </a:spcAft>
              <a:buNone/>
            </a:pPr>
            <a:r>
              <a:t>\nabla | « nabla, gradient » | Toutes les dérivées de cette ligne sont prises par rapport à theta.</a:t>
            </a:r>
          </a:p>
          <a:p xmlns:a="http://schemas.openxmlformats.org/drawingml/2006/main">
            <a:pPr marL="0" lvl="0" indent="0" algn="l">
              <a:spcBef>
                <a:spcPts val="0"/>
              </a:spcBef>
              <a:spcAft>
                <a:spcPts val="0"/>
              </a:spcAft>
              <a:buNone/>
            </a:pPr>
            <a:r>
              <a:t>\lambda\theta | « lambda fois thêta » | Contribution de la pénalisation au gradient.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pénalisation ajoute un coût lorsque les coefficients deviennent grands.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gradient de la perte et celui de la pénalisation s’additionnent. Dans Adam, pénalisation L2 et weight decay découplé ne sont pas généralement équivalents.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L2 et weight decay sont-ils interchangeables dans toutes les méthodes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notamment avec les optimiseurs adaptatifs.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Loshchilov et Hutter — Decoupled Weight Decay Regularization, 2017</a:t>
            </a:r>
          </a:p>
          <a:p xmlns:a="http://schemas.openxmlformats.org/drawingml/2006/main">
            <a:pPr marL="0" lvl="0" indent="0" algn="l">
              <a:spcBef>
                <a:spcPts val="0"/>
              </a:spcBef>
              <a:spcAft>
                <a:spcPts val="0"/>
              </a:spcAft>
              <a:buNone/>
            </a:pPr>
            <a:r>
              <a:t>https://arxiv.org/abs/1711.05101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51 — DROPOUT : TRAIN ET ÉVALUATION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La formule utilise p comme probabilité de suppression. Vérifier cette convention, car certaines présentations utilisent au contraire une probabilité de conservation. La conservation de l'espérance d'une activation ne signifie pas que l'espérance de toute la sortie du réseau est inchangée : les couches suivantes sont non linéaires. Un taux trop fort peut empêcher l'ajustement du train. Pour une vérification numérique des gradients, le masque doit rester fixe ou le dropout doit être désactivé. En PyTorch, train() et eval() pilotent ce comportement sans modifier automatiquement requires_grad.</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m_j\sim\operatorname{Bernoulli}(1-p),\qquad\tilde a_j=\frac{m_j}{1-p}a_j,\qquad\mathbb E[\tilde a_j]=a_j</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m j suit une loi de Bernoulli dont la probabilité de conservation est un moins p. »</a:t>
            </a:r>
          </a:p>
          <a:p xmlns:a="http://schemas.openxmlformats.org/drawingml/2006/main">
            <a:pPr marL="0" lvl="0" indent="0" algn="l">
              <a:spcBef>
                <a:spcPts val="0"/>
              </a:spcBef>
              <a:spcAft>
                <a:spcPts val="0"/>
              </a:spcAft>
              <a:buNone/>
            </a:pPr>
            <a:r>
              <a:t>« a tilde j vaut m j divisé par un moins p, puis multiplié par a j. »</a:t>
            </a:r>
          </a:p>
          <a:p xmlns:a="http://schemas.openxmlformats.org/drawingml/2006/main">
            <a:pPr marL="0" lvl="0" indent="0" algn="l">
              <a:spcBef>
                <a:spcPts val="0"/>
              </a:spcBef>
              <a:spcAft>
                <a:spcPts val="0"/>
              </a:spcAft>
              <a:buNone/>
            </a:pPr>
            <a:r>
              <a:t>« L’espérance de a tilde j vaut a j.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a_j | « a indice j » | Activation avant dropout.</a:t>
            </a:r>
          </a:p>
          <a:p xmlns:a="http://schemas.openxmlformats.org/drawingml/2006/main">
            <a:pPr marL="0" lvl="0" indent="0" algn="l">
              <a:spcBef>
                <a:spcPts val="0"/>
              </a:spcBef>
              <a:spcAft>
                <a:spcPts val="0"/>
              </a:spcAft>
              <a:buNone/>
            </a:pPr>
            <a:r>
              <a:t>m_j | « m indice j » | Masque aléatoire égal à zéro ou à un.</a:t>
            </a:r>
          </a:p>
          <a:p xmlns:a="http://schemas.openxmlformats.org/drawingml/2006/main">
            <a:pPr marL="0" lvl="0" indent="0" algn="l">
              <a:spcBef>
                <a:spcPts val="0"/>
              </a:spcBef>
              <a:spcAft>
                <a:spcPts val="0"/>
              </a:spcAft>
              <a:buNone/>
            </a:pPr>
            <a:r>
              <a:t>p,\ 1-p | « pé, un moins pé » | Probabilité de suppression et probabilité de conservation. On suppose zéro inférieur ou égal à p et p strictement inférieur à un.</a:t>
            </a:r>
          </a:p>
          <a:p xmlns:a="http://schemas.openxmlformats.org/drawingml/2006/main">
            <a:pPr marL="0" lvl="0" indent="0" algn="l">
              <a:spcBef>
                <a:spcPts val="0"/>
              </a:spcBef>
              <a:spcAft>
                <a:spcPts val="0"/>
              </a:spcAft>
              <a:buNone/>
            </a:pPr>
            <a:r>
              <a:t>\sim\operatorname{Bernoulli}(1-p) | « suit une loi de Bernoulli de paramètre un moins p » | Le masque vaut un avec probabilité un moins p.</a:t>
            </a:r>
          </a:p>
          <a:p xmlns:a="http://schemas.openxmlformats.org/drawingml/2006/main">
            <a:pPr marL="0" lvl="0" indent="0" algn="l">
              <a:spcBef>
                <a:spcPts val="0"/>
              </a:spcBef>
              <a:spcAft>
                <a:spcPts val="0"/>
              </a:spcAft>
              <a:buNone/>
            </a:pPr>
            <a:r>
              <a:t>\tilde a_j | « a tilde indice j » | Activation après application du masque et remise à l’échelle.</a:t>
            </a:r>
          </a:p>
          <a:p xmlns:a="http://schemas.openxmlformats.org/drawingml/2006/main">
            <a:pPr marL="0" lvl="0" indent="0" algn="l">
              <a:spcBef>
                <a:spcPts val="0"/>
              </a:spcBef>
              <a:spcAft>
                <a:spcPts val="0"/>
              </a:spcAft>
              <a:buNone/>
            </a:pPr>
            <a:r>
              <a:t>\frac{m_j}{1-p}a_j | « m j sur un moins p, fois a j » | Activation annulée ou amplifiée pour préserver son espérance.</a:t>
            </a:r>
          </a:p>
          <a:p xmlns:a="http://schemas.openxmlformats.org/drawingml/2006/main">
            <a:pPr marL="0" lvl="0" indent="0" algn="l">
              <a:spcBef>
                <a:spcPts val="0"/>
              </a:spcBef>
              <a:spcAft>
                <a:spcPts val="0"/>
              </a:spcAft>
              <a:buNone/>
            </a:pPr>
            <a:r>
              <a:t>\mathbb E[\tilde a_j] | « espérance de a tilde j » | Moyenne théorique sur les tirages du masque, pour a j fixé.</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 dropout inversé conserve en moyenne chaque activation grâce à la division par la probabilité de conservation.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tilde marque ici une activation modifiée, pas une estimation de probabilité. Préserver l’espérance de cette activation ne préserve pas forcément celle de toute la sortie du réseau.</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Pourquoi diviser par 1-p pendant le train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Pour conserver l’espérance de l’activation dans le dropout inversé.</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Romain Tavenard — Introduction au Deep Learning, 2025</a:t>
            </a:r>
          </a:p>
          <a:p xmlns:a="http://schemas.openxmlformats.org/drawingml/2006/main">
            <a:pPr marL="0" lvl="0" indent="0" algn="l">
              <a:spcBef>
                <a:spcPts val="0"/>
              </a:spcBef>
              <a:spcAft>
                <a:spcPts val="0"/>
              </a:spcAft>
              <a:buNone/>
            </a:pPr>
            <a:r>
              <a:t>https://rtavenar.github.io/deep_book/book_fr.pdf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52 — NORMALISER LES ACTIVATIONS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Le point essentiel est de demander sur quels axes sont calculés moyenne et variance. BatchNorm utilise des statistiques regroupant plusieurs exemples et éventuellement des positions spatiales ; LayerNorm travaille à l'intérieur d'un exemple ou d'un token sur ses caractéristiques. Gamma et beta sont appris par gradient et ont des formes dépendant de la normalisation. Epsilon rend la division définie et influence le comportement lorsque la variance est très faible. Il faut distinguer ces normalisations internes du prétraitement global des entrées et des statistiques mobiles utilisées par BatchNorm à l'évaluation.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\hat x=\frac{x-\mu}{\sqrt{\sigma^2+\varepsilon}},\qquad y=\gamma\hat x+\beta</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x chapeau vaut x moins mu, le tout divisé par la racine carrée de sigma au carré plus epsilon. »</a:t>
            </a:r>
          </a:p>
          <a:p xmlns:a="http://schemas.openxmlformats.org/drawingml/2006/main">
            <a:pPr marL="0" lvl="0" indent="0" algn="l">
              <a:spcBef>
                <a:spcPts val="0"/>
              </a:spcBef>
              <a:spcAft>
                <a:spcPts val="0"/>
              </a:spcAft>
              <a:buNone/>
            </a:pPr>
            <a:r>
              <a:t>« y vaut gamma fois x chapeau plus bêta.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 \hat x | « x, x chapeau » | Activation initiale puis activation normalisée.</a:t>
            </a:r>
          </a:p>
          <a:p xmlns:a="http://schemas.openxmlformats.org/drawingml/2006/main">
            <a:pPr marL="0" lvl="0" indent="0" algn="l">
              <a:spcBef>
                <a:spcPts val="0"/>
              </a:spcBef>
              <a:spcAft>
                <a:spcPts val="0"/>
              </a:spcAft>
              <a:buNone/>
            </a:pPr>
            <a:r>
              <a:t>\mu | « mu » | Moyenne calculée sur les axes retenus par la normalisation.</a:t>
            </a:r>
          </a:p>
          <a:p xmlns:a="http://schemas.openxmlformats.org/drawingml/2006/main">
            <a:pPr marL="0" lvl="0" indent="0" algn="l">
              <a:spcBef>
                <a:spcPts val="0"/>
              </a:spcBef>
              <a:spcAft>
                <a:spcPts val="0"/>
              </a:spcAft>
              <a:buNone/>
            </a:pPr>
            <a:r>
              <a:t>\sigma^2 | « sigma au carré » | Variance sur ces mêmes axes.</a:t>
            </a:r>
          </a:p>
          <a:p xmlns:a="http://schemas.openxmlformats.org/drawingml/2006/main">
            <a:pPr marL="0" lvl="0" indent="0" algn="l">
              <a:spcBef>
                <a:spcPts val="0"/>
              </a:spcBef>
              <a:spcAft>
                <a:spcPts val="0"/>
              </a:spcAft>
              <a:buNone/>
            </a:pPr>
            <a:r>
              <a:t>\varepsilon | « epsilon » | Petit nombre positif qui stabilise le dénominateur.</a:t>
            </a:r>
          </a:p>
          <a:p xmlns:a="http://schemas.openxmlformats.org/drawingml/2006/main">
            <a:pPr marL="0" lvl="0" indent="0" algn="l">
              <a:spcBef>
                <a:spcPts val="0"/>
              </a:spcBef>
              <a:spcAft>
                <a:spcPts val="0"/>
              </a:spcAft>
              <a:buNone/>
            </a:pPr>
            <a:r>
              <a:t>\sqrt{\sigma^2+\varepsilon} | « racine carrée de sigma au carré plus epsilon » | Échelle de normalisation.</a:t>
            </a:r>
          </a:p>
          <a:p xmlns:a="http://schemas.openxmlformats.org/drawingml/2006/main">
            <a:pPr marL="0" lvl="0" indent="0" algn="l">
              <a:spcBef>
                <a:spcPts val="0"/>
              </a:spcBef>
              <a:spcAft>
                <a:spcPts val="0"/>
              </a:spcAft>
              <a:buNone/>
            </a:pPr>
            <a:r>
              <a:t>\gamma,\ \beta | « gamma, bêta » | Gain multiplicatif et décalage appris.</a:t>
            </a:r>
          </a:p>
          <a:p xmlns:a="http://schemas.openxmlformats.org/drawingml/2006/main">
            <a:pPr marL="0" lvl="0" indent="0" algn="l">
              <a:spcBef>
                <a:spcPts val="0"/>
              </a:spcBef>
              <a:spcAft>
                <a:spcPts val="0"/>
              </a:spcAft>
              <a:buNone/>
            </a:pPr>
            <a:r>
              <a:t>y | « y » | Activation de sortie après transformation affine.</a:t>
            </a:r>
          </a:p>
          <a:p xmlns:a="http://schemas.openxmlformats.org/drawingml/2006/main">
            <a:pPr marL="0" lvl="0" indent="0" algn="l">
              <a:spcBef>
                <a:spcPts val="0"/>
              </a:spcBef>
              <a:spcAft>
                <a:spcPts val="0"/>
              </a:spcAft>
              <a:buNone/>
            </a:pPr>
            <a:r>
              <a:t>\hat x | « chapeau » | Indique ici une normalisation, alors que y chapeau désigne une prédiction dans la perte de régression.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On centre l’activation, on ajuste son échelle, puis on lui applique un gain et un décalage appris.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Les axes des statistiques dépendent de la méthode : BatchNorm et LayerNorm ne calculent pas les mêmes moyennes. Sigma au carré est une variance, pas l’activation sigmoïde.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Peut-on comparer BatchNorm et LayerNorm sans préciser les axes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les axes définissent l’opération.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Ioffe et Szegedy — Batch Normalization, 2015</a:t>
            </a:r>
          </a:p>
          <a:p xmlns:a="http://schemas.openxmlformats.org/drawingml/2006/main">
            <a:pPr marL="0" lvl="0" indent="0" algn="l">
              <a:spcBef>
                <a:spcPts val="0"/>
              </a:spcBef>
              <a:spcAft>
                <a:spcPts val="0"/>
              </a:spcAft>
              <a:buNone/>
            </a:pPr>
            <a:r>
              <a:t>https://arxiv.org/abs/1502.03167</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Ba et al. — Layer Normalization, 2016</a:t>
            </a:r>
          </a:p>
          <a:p xmlns:a="http://schemas.openxmlformats.org/drawingml/2006/main">
            <a:pPr marL="0" lvl="0" indent="0" algn="l">
              <a:spcBef>
                <a:spcPts val="0"/>
              </a:spcBef>
              <a:spcAft>
                <a:spcPts val="0"/>
              </a:spcAft>
              <a:buNone/>
            </a:pPr>
            <a:r>
              <a:t>https://arxiv.org/abs/1607.06450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53 — EARLY STOPPING ET COURBES D’APPRENTISSAGE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Les courbes de cette diapositive sont illustratives et non les résultats d'un benchmark. Elles montrent un cas où la perte train continue de diminuer alors que la validation remonte. La règle d'arrêt doit préciser le critère, la direction d'amélioration, la patience et le changement minimal considéré. Sauvegarder réellement le meilleur état des poids, pas seulement l'indice de la meilleure époque. Tester plusieurs règles sur le même test revient à l'utiliser pour la sélection. Une seule séparation ne mesure pas toute la variabilité ; répéter sur plusieurs graines peut être utile si le budget le permet.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restaurer le meilleur checkpoint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La dernière époque n’est pas nécessairement celle qui généralise le mieux.</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54 — POURQUOI UN CNN POUR UNE IMAGE ?</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Comparer une image à un vecteur aplati. Une couche dense peut en principe apprendre des relations entre pixels, mais elle ne reçoit pas explicitement l'hypothèse qu'un motif local est réutilisable dans l'espace. La convolution introduit cette hypothèse dans la paramétrisation. Le partage réduit le nombre de paramètres et crée une équivariance sous certaines conditions. Il ne garantit pas l'invariance aux translations du modèle complet. Les effets de bord, le stride, le pooling et les couches finales peuvent modifier cette propriété. L'utilité du biais inductif dépend de la tâche et des transformations pertinentes.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le même noyau est-il appliqué à plusieurs positions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Pour partager un détecteur local et ses paramètres dans l’espace.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Jérémie Bigot — Introduction au Deep Learning</ns12:t>
            </ns12:r>
          </ns12:p>
          <ns13:p xmlns:ns13="http://schemas.openxmlformats.org/drawingml/2006/main">
            <ns13:pPr marL="0" lvl="0" indent="0" algn="l">
              <ns13:spcBef>
                <ns13:spcPts val="0"/>
              </ns13:spcBef>
              <ns13:spcAft>
                <ns13:spcPts val="0"/>
              </ns13:spcAft>
              <ns13:buNone/>
            </ns13:pPr>
            <ns13:r>
              <ns13:t>https://www.math.u-bordeaux.fr/~jbigot/Site/Enseignement_files/Intro_DeepLearning.pdf</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55 — CONVOLUTION 2D : L’OPÉRATION LOCALE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La formule correspond au cas stride un, sans dilation et sans padding, avec un batch omis pour la lisibilité. Une convolution mathématique retourne le noyau ; l'opération usuelle des couches Conv2d est une corrélation croisée. Puisque les coefficients sont appris, cette convention ne réduit pas la famille de détecteurs représentable. Chaque canal de sortie possède un ensemble de noyaux sur tous les canaux d'entrée et un biais. Un filtre RGB a donc trois plans de coefficients, pas un seul noyau recopié mécaniquement sur rouge, vert et bleu.</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Y_{o,i,j}=b_o+\sum_{c=1}^{C_{\rm in}}\sum_{u=0}^{k_h-1}\sum_{v=0}^{k_w-1}W_{o,c,u,v}\,X_{c,i+u,j+v}</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Y aux indices o, i, j vaut le biais du canal o plus une somme sur les canaux c, les décalages verticaux u et horizontaux v, des poids W o c u v multipliés par les entrées X c, i plus u, j plus v.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 Y | « grand x, grand y » | Tenseur d’entrée et tenseur de sortie. L’axe batch est omis ici.</a:t>
            </a:r>
          </a:p>
          <a:p xmlns:a="http://schemas.openxmlformats.org/drawingml/2006/main">
            <a:pPr marL="0" lvl="0" indent="0" algn="l">
              <a:spcBef>
                <a:spcPts val="0"/>
              </a:spcBef>
              <a:spcAft>
                <a:spcPts val="0"/>
              </a:spcAft>
              <a:buNone/>
            </a:pPr>
            <a:r>
              <a:t>o,\ c | « o, cé » | Indice du canal de sortie et indice du canal d’entrée.</a:t>
            </a:r>
          </a:p>
          <a:p xmlns:a="http://schemas.openxmlformats.org/drawingml/2006/main">
            <a:pPr marL="0" lvl="0" indent="0" algn="l">
              <a:spcBef>
                <a:spcPts val="0"/>
              </a:spcBef>
              <a:spcAft>
                <a:spcPts val="0"/>
              </a:spcAft>
              <a:buNone/>
            </a:pPr>
            <a:r>
              <a:t>i,\ j | « i, j » | Position spatiale de la sortie.</a:t>
            </a:r>
          </a:p>
          <a:p xmlns:a="http://schemas.openxmlformats.org/drawingml/2006/main">
            <a:pPr marL="0" lvl="0" indent="0" algn="l">
              <a:spcBef>
                <a:spcPts val="0"/>
              </a:spcBef>
              <a:spcAft>
                <a:spcPts val="0"/>
              </a:spcAft>
              <a:buNone/>
            </a:pPr>
            <a:r>
              <a:t>u,\ v | « u, vé » | Décalages à l’intérieur du noyau.</a:t>
            </a:r>
          </a:p>
          <a:p xmlns:a="http://schemas.openxmlformats.org/drawingml/2006/main">
            <a:pPr marL="0" lvl="0" indent="0" algn="l">
              <a:spcBef>
                <a:spcPts val="0"/>
              </a:spcBef>
              <a:spcAft>
                <a:spcPts val="0"/>
              </a:spcAft>
              <a:buNone/>
            </a:pPr>
            <a:r>
              <a:t>C_{\rm in} | « cé entrée » | Nombre de canaux d’entrée.</a:t>
            </a:r>
          </a:p>
          <a:p xmlns:a="http://schemas.openxmlformats.org/drawingml/2006/main">
            <a:pPr marL="0" lvl="0" indent="0" algn="l">
              <a:spcBef>
                <a:spcPts val="0"/>
              </a:spcBef>
              <a:spcAft>
                <a:spcPts val="0"/>
              </a:spcAft>
              <a:buNone/>
            </a:pPr>
            <a:r>
              <a:t>k_h,\ k_w | « k hauteur, k largeur » | Hauteur et largeur du noyau.</a:t>
            </a:r>
          </a:p>
          <a:p xmlns:a="http://schemas.openxmlformats.org/drawingml/2006/main">
            <a:pPr marL="0" lvl="0" indent="0" algn="l">
              <a:spcBef>
                <a:spcPts val="0"/>
              </a:spcBef>
              <a:spcAft>
                <a:spcPts val="0"/>
              </a:spcAft>
              <a:buNone/>
            </a:pPr>
            <a:r>
              <a:t>W_{o,c,u,v} | « w indices o, c, u, v » | Coefficient du noyau reliant le canal c au canal o au décalage u, v.</a:t>
            </a:r>
          </a:p>
          <a:p xmlns:a="http://schemas.openxmlformats.org/drawingml/2006/main">
            <a:pPr marL="0" lvl="0" indent="0" algn="l">
              <a:spcBef>
                <a:spcPts val="0"/>
              </a:spcBef>
              <a:spcAft>
                <a:spcPts val="0"/>
              </a:spcAft>
              <a:buNone/>
            </a:pPr>
            <a:r>
              <a:t>X_{c,i+u,j+v} | « x au canal c, ligne i plus u, colonne j plus v » | Valeur d’entrée couverte par ce coefficient.</a:t>
            </a:r>
          </a:p>
          <a:p xmlns:a="http://schemas.openxmlformats.org/drawingml/2006/main">
            <a:pPr marL="0" lvl="0" indent="0" algn="l">
              <a:spcBef>
                <a:spcPts val="0"/>
              </a:spcBef>
              <a:spcAft>
                <a:spcPts val="0"/>
              </a:spcAft>
              <a:buNone/>
            </a:pPr>
            <a:r>
              <a:t>b_o | « bé indice o » | Biais commun à toutes les positions du canal de sortie o.</a:t>
            </a:r>
          </a:p>
          <a:p xmlns:a="http://schemas.openxmlformats.org/drawingml/2006/main">
            <a:pPr marL="0" lvl="0" indent="0" algn="l">
              <a:spcBef>
                <a:spcPts val="0"/>
              </a:spcBef>
              <a:spcAft>
                <a:spcPts val="0"/>
              </a:spcAft>
              <a:buNone/>
            </a:pPr>
            <a:r>
              <a:t>\sum_c\sum_u\sum_v | « somme sur c, puis sur u, puis sur v » | Addition de toutes les contributions des canaux et de la fenêtre.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Une valeur de sortie combine une fenêtre locale de tous les canaux d’entrée avec les coefficients d’un filtre.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C’est la corrélation croisée utilisée par Conv2d, avec stride un, dilation un et sans padding dans cet exemple. Les indices u et v commencent à zéro.</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Un filtre 3×3 sur une entrée RGB contient-il 9 poids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il contient 3×3×3 = 27 poids, plus un biais éventuel.</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PyTorch 2.8 — Conv2d</a:t>
            </a:r>
          </a:p>
          <a:p xmlns:a="http://schemas.openxmlformats.org/drawingml/2006/main">
            <a:pPr marL="0" lvl="0" indent="0" algn="l">
              <a:spcBef>
                <a:spcPts val="0"/>
              </a:spcBef>
              <a:spcAft>
                <a:spcPts val="0"/>
              </a:spcAft>
              <a:buNone/>
            </a:pPr>
            <a:r>
              <a:t>https://docs.pytorch.org/docs/2.8/generated/torch.nn.Conv2d.html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56 — CONVOLUTION : EXEMPLE À LA MAIN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Faire remplir les quatre cases avant d'afficher le calcul oralement. La première vaut 1×1+2×0+0×0+1×(-1)=0. La deuxième vaut 2-3=-1, la troisième 0-1=-1 et la quatrième 1-0=1. Insister sur le fait qu'un seul jeu de quatre poids a produit toutes les sorties. Un biais s'ajouterait à chaque case du même canal. Ce noyau est fixé à titre pédagogique ; dans un CNN, il est généralement appris. Le calcul est une corrélation croisée valide et ne doit pas être mélangé à une convention de noyau retourné.</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X=\begin{bmatrix}1&amp;2&amp;0\\0&amp;1&amp;3\\2&amp;1&amp;0\end{bmatrix},\quad W=\begin{bmatrix}1&amp;0\\0&amp;-1\end{bmatrix}\\Y=\begin{bmatrix}0&amp;-1\\-1&amp;1\end{bmatrix}</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X est une matrice trois par trois. Ses lignes sont : un, deux, zéro ; zéro, un, trois ; deux, un, zéro. »</a:t>
            </a:r>
          </a:p>
          <a:p xmlns:a="http://schemas.openxmlformats.org/drawingml/2006/main">
            <a:pPr marL="0" lvl="0" indent="0" algn="l">
              <a:spcBef>
                <a:spcPts val="0"/>
              </a:spcBef>
              <a:spcAft>
                <a:spcPts val="0"/>
              </a:spcAft>
              <a:buNone/>
            </a:pPr>
            <a:r>
              <a:t>« W est une matrice deux par deux dont les lignes sont un, zéro, puis zéro, moins un. »</a:t>
            </a:r>
          </a:p>
          <a:p xmlns:a="http://schemas.openxmlformats.org/drawingml/2006/main">
            <a:pPr marL="0" lvl="0" indent="0" algn="l">
              <a:spcBef>
                <a:spcPts val="0"/>
              </a:spcBef>
              <a:spcAft>
                <a:spcPts val="0"/>
              </a:spcAft>
              <a:buNone/>
            </a:pPr>
            <a:r>
              <a:t>« Y est la matrice deux par deux : zéro, moins un, puis moins un, un.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 | « grand x » | Image d’entrée de hauteur trois et de largeur trois.</a:t>
            </a:r>
          </a:p>
          <a:p xmlns:a="http://schemas.openxmlformats.org/drawingml/2006/main">
            <a:pPr marL="0" lvl="0" indent="0" algn="l">
              <a:spcBef>
                <a:spcPts val="0"/>
              </a:spcBef>
              <a:spcAft>
                <a:spcPts val="0"/>
              </a:spcAft>
              <a:buNone/>
            </a:pPr>
            <a:r>
              <a:t>W | « w » | Noyau de hauteur deux et de largeur deux.</a:t>
            </a:r>
          </a:p>
          <a:p xmlns:a="http://schemas.openxmlformats.org/drawingml/2006/main">
            <a:pPr marL="0" lvl="0" indent="0" algn="l">
              <a:spcBef>
                <a:spcPts val="0"/>
              </a:spcBef>
              <a:spcAft>
                <a:spcPts val="0"/>
              </a:spcAft>
              <a:buNone/>
            </a:pPr>
            <a:r>
              <a:t>Y | « grand y » | Carte de sortie, obtenue avec un pas de un et sans padding.</a:t>
            </a:r>
          </a:p>
          <a:p xmlns:a="http://schemas.openxmlformats.org/drawingml/2006/main">
            <a:pPr marL="0" lvl="0" indent="0" algn="l">
              <a:spcBef>
                <a:spcPts val="0"/>
              </a:spcBef>
              <a:spcAft>
                <a:spcPts val="0"/>
              </a:spcAft>
              <a:buNone/>
            </a:pPr>
            <a:r>
              <a:t>\begin{bmatrix}a&amp;b\\c&amp;d\end{bmatrix} | « matrice deux par deux, première ligne a b, deuxième ligne c d » | Les crochets regroupent des valeurs en lignes et colonnes.</a:t>
            </a:r>
          </a:p>
          <a:p xmlns:a="http://schemas.openxmlformats.org/drawingml/2006/main">
            <a:pPr marL="0" lvl="0" indent="0" algn="l">
              <a:spcBef>
                <a:spcPts val="0"/>
              </a:spcBef>
              <a:spcAft>
                <a:spcPts val="0"/>
              </a:spcAft>
              <a:buNone/>
            </a:pPr>
            <a:r>
              <a:t>-1 | « moins un » | Poids négatif du coin inférieur droit du noyau, ou valeur négative de sortie selon sa position.</a:t>
            </a:r>
          </a:p>
          <a:p xmlns:a="http://schemas.openxmlformats.org/drawingml/2006/main">
            <a:pPr marL="0" lvl="0" indent="0" algn="l">
              <a:spcBef>
                <a:spcPts val="0"/>
              </a:spcBef>
              <a:spcAft>
                <a:spcPts val="0"/>
              </a:spcAft>
              <a:buNone/>
            </a:pPr>
            <a:r>
              <a:t>= | « égale » | Attribue explicitement ses valeurs à chaque matrice.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À chaque position, le noyau soustrait le coin inférieur droit de la fenêtre à son coin supérieur gauche. La première sortie vaut un moins un, donc zéro.</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noyau n’est pas retourné dans ce calcul. La lecture de la matrice se fait ligne par ligne, sans traiter les crochets comme une norme.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Combien de paramètres seraient appris avec un biais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5 : quatre poids et un biais.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57 — STRIDE, PADDING ET DILATION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Définir le noyau effectif : d(k-1)+1. On compte ensuite le nombre de positions valides de cette fenêtre après ajout du padding. La formule présentée utilise un padding symétrique et s'applique indépendamment à la hauteur et à la largeur. Pour H=32, k=3, p=1, d=1 et s=2, la sortie vaut 16. Un padding dit same ne signifie pas la même chose pour tous les strides et toutes les bibliothèques ; dans les versions étudiées, vérifier les contraintes de l'API. La dilation augmente le champ couvert sans augmenter le nombre de coefficients.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H_{\rm out}=\left\lfloor\frac{H+2p-d(k-1)-1}{s}+1\right\rfloor</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H sortie vaut la partie entière inférieure de la quantité H plus deux p, moins d fois k moins un, moins un, divisée par s, puis plus un.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H,\ H_{\rm out} | « ache, ache sortie » | Hauteur de l’entrée et hauteur de la sortie.</a:t>
            </a:r>
          </a:p>
          <a:p xmlns:a="http://schemas.openxmlformats.org/drawingml/2006/main">
            <a:pPr marL="0" lvl="0" indent="0" algn="l">
              <a:spcBef>
                <a:spcPts val="0"/>
              </a:spcBef>
              <a:spcAft>
                <a:spcPts val="0"/>
              </a:spcAft>
              <a:buNone/>
            </a:pPr>
            <a:r>
              <a:t>p | « pé » | Nombre de lignes de padding ajoutées de chaque côté.</a:t>
            </a:r>
          </a:p>
          <a:p xmlns:a="http://schemas.openxmlformats.org/drawingml/2006/main">
            <a:pPr marL="0" lvl="0" indent="0" algn="l">
              <a:spcBef>
                <a:spcPts val="0"/>
              </a:spcBef>
              <a:spcAft>
                <a:spcPts val="0"/>
              </a:spcAft>
              <a:buNone/>
            </a:pPr>
            <a:r>
              <a:t>d | « dé » | Dilation, c’est-à-dire espacement des coefficients du noyau.</a:t>
            </a:r>
          </a:p>
          <a:p xmlns:a="http://schemas.openxmlformats.org/drawingml/2006/main">
            <a:pPr marL="0" lvl="0" indent="0" algn="l">
              <a:spcBef>
                <a:spcPts val="0"/>
              </a:spcBef>
              <a:spcAft>
                <a:spcPts val="0"/>
              </a:spcAft>
              <a:buNone/>
            </a:pPr>
            <a:r>
              <a:t>k | « ka » | Taille du noyau selon cet axe.</a:t>
            </a:r>
          </a:p>
          <a:p xmlns:a="http://schemas.openxmlformats.org/drawingml/2006/main">
            <a:pPr marL="0" lvl="0" indent="0" algn="l">
              <a:spcBef>
                <a:spcPts val="0"/>
              </a:spcBef>
              <a:spcAft>
                <a:spcPts val="0"/>
              </a:spcAft>
              <a:buNone/>
            </a:pPr>
            <a:r>
              <a:t>s | « esse » | Stride, ou pas de déplacement de la fenêtre.</a:t>
            </a:r>
          </a:p>
          <a:p xmlns:a="http://schemas.openxmlformats.org/drawingml/2006/main">
            <a:pPr marL="0" lvl="0" indent="0" algn="l">
              <a:spcBef>
                <a:spcPts val="0"/>
              </a:spcBef>
              <a:spcAft>
                <a:spcPts val="0"/>
              </a:spcAft>
              <a:buNone/>
            </a:pPr>
            <a:r>
              <a:t>d(k-1)+1 | « d fois k moins un, plus un » | Taille effective du noyau après dilation.</a:t>
            </a:r>
          </a:p>
          <a:p xmlns:a="http://schemas.openxmlformats.org/drawingml/2006/main">
            <a:pPr marL="0" lvl="0" indent="0" algn="l">
              <a:spcBef>
                <a:spcPts val="0"/>
              </a:spcBef>
              <a:spcAft>
                <a:spcPts val="0"/>
              </a:spcAft>
              <a:buNone/>
            </a:pPr>
            <a:r>
              <a:t>\lfloor\cdot\rfloor | « partie entière inférieure, ou plancher » | Plus grand entier inférieur ou égal à la valeur entre les crochets.</a:t>
            </a:r>
          </a:p>
          <a:p xmlns:a="http://schemas.openxmlformats.org/drawingml/2006/main">
            <a:pPr marL="0" lvl="0" indent="0" algn="l">
              <a:spcBef>
                <a:spcPts val="0"/>
              </a:spcBef>
              <a:spcAft>
                <a:spcPts val="0"/>
              </a:spcAft>
              <a:buNone/>
            </a:pPr>
            <a:r>
              <a:t>2p | « deux pé » | Padding total, réparti symétriquement sur les deux bords.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On compte le nombre de positions de la fenêtre qui tiennent dans l’entrée après padding.</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Les crochets de plancher demandent d’arrondir vers le bas. Ici d est une dilation, pas une dimension d’embedding. La même formule s’applique indépendamment à la largeur.</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 H=28, k=3, p=0, s=1, d=1, quelle hauteur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26.</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PyTorch 2.8 — Conv2d</a:t>
            </a:r>
          </a:p>
          <a:p xmlns:a="http://schemas.openxmlformats.org/drawingml/2006/main">
            <a:pPr marL="0" lvl="0" indent="0" algn="l">
              <a:spcBef>
                <a:spcPts val="0"/>
              </a:spcBef>
              <a:spcAft>
                <a:spcPts val="0"/>
              </a:spcAft>
              <a:buNone/>
            </a:pPr>
            <a:r>
              <a:t>https://docs.pytorch.org/docs/2.8/generated/torch.nn.Conv2d.html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58 — CANAUX ET TENSEURS D’UN CNN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Conserver le batch au premier axe évite de confondre nombre d'images et nombre de canaux. Dans notre convention PyTorch, l'image est B×C×H×W. Une autre bibliothèque peut utiliser B×H×W×C ; l'algèbre est la même mais les axes à manipuler changent. Une convolution de 3 canaux vers 16 canaux produit 16 cartes d'activation, chacune agrégeant les trois canaux d'entrée. La notion de canal de sortie ne signifie pas que ce canal correspond à une classe ; les classes n'apparaissent que dans la tête finale choisie pour la tâche.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Une carte de caractéristiques correspond-elle nécessairement à une catégorie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c’est une représentation intermédiaire apprise.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59 — TAILLES ET NOMBRE DE PARAMÈTRES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Pour une entrée RGB et 16 filtres 3×3, le nombre de paramètres est 16(3×9+1)=448. Les MACs comptent ici les multiplications-accumulations d'un exemple et omettent les biais. Une convention FLOPs peut compter deux opérations pour une multiplication-accumulation ; il faut annoncer cette convention. Si H et W doublent, les paramètres restent inchangés mais le calcul et les activations sont approximativement multipliés par quatre. Pour des convolutions groupées, le nombre de connexions par canal change ; la formule de cette diapositive doit alors être adaptée.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P=C_{\rm out}(C_{\rm in}k_hk_w+1)\\\operatorname{MACs}\approx H_{\rm out}W_{\rm out}C_{\rm out}C_{\rm in}k_hk_w</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Le nombre de paramètres vaut C sortie multiplié par la somme de C entrée fois k hauteur fois k largeur et de un. »</a:t>
            </a:r>
          </a:p>
          <a:p xmlns:a="http://schemas.openxmlformats.org/drawingml/2006/main">
            <a:pPr marL="0" lvl="0" indent="0" algn="l">
              <a:spcBef>
                <a:spcPts val="0"/>
              </a:spcBef>
              <a:spcAft>
                <a:spcPts val="0"/>
              </a:spcAft>
              <a:buNone/>
            </a:pPr>
            <a:r>
              <a:t>« Le nombre de multiplications-accumulations vaut approximativement H sortie fois W sortie fois C sortie fois C entrée fois k hauteur fois k largeur.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P | « pé » | Nombre de paramètres appris, biais inclus.</a:t>
            </a:r>
          </a:p>
          <a:p xmlns:a="http://schemas.openxmlformats.org/drawingml/2006/main">
            <a:pPr marL="0" lvl="0" indent="0" algn="l">
              <a:spcBef>
                <a:spcPts val="0"/>
              </a:spcBef>
              <a:spcAft>
                <a:spcPts val="0"/>
              </a:spcAft>
              <a:buNone/>
            </a:pPr>
            <a:r>
              <a:t>C_{\rm in},\ C_{\rm out} | « cé entrée, cé sortie » | Nombre de canaux d’entrée et de sortie.</a:t>
            </a:r>
          </a:p>
          <a:p xmlns:a="http://schemas.openxmlformats.org/drawingml/2006/main">
            <a:pPr marL="0" lvl="0" indent="0" algn="l">
              <a:spcBef>
                <a:spcPts val="0"/>
              </a:spcBef>
              <a:spcAft>
                <a:spcPts val="0"/>
              </a:spcAft>
              <a:buNone/>
            </a:pPr>
            <a:r>
              <a:t>k_h,\ k_w | « k hauteur, k largeur » | Dimensions du noyau.</a:t>
            </a:r>
          </a:p>
          <a:p xmlns:a="http://schemas.openxmlformats.org/drawingml/2006/main">
            <a:pPr marL="0" lvl="0" indent="0" algn="l">
              <a:spcBef>
                <a:spcPts val="0"/>
              </a:spcBef>
              <a:spcAft>
                <a:spcPts val="0"/>
              </a:spcAft>
              <a:buNone/>
            </a:pPr>
            <a:r>
              <a:t>C_{\rm in}k_hk_w | « cé entrée fois k hauteur fois k largeur » | Nombre de poids utilisés pour une valeur de sortie.</a:t>
            </a:r>
          </a:p>
          <a:p xmlns:a="http://schemas.openxmlformats.org/drawingml/2006/main">
            <a:pPr marL="0" lvl="0" indent="0" algn="l">
              <a:spcBef>
                <a:spcPts val="0"/>
              </a:spcBef>
              <a:spcAft>
                <a:spcPts val="0"/>
              </a:spcAft>
              <a:buNone/>
            </a:pPr>
            <a:r>
              <a:t>+1 | « plus un » | Un biais supplémentaire par canal de sortie.</a:t>
            </a:r>
          </a:p>
          <a:p xmlns:a="http://schemas.openxmlformats.org/drawingml/2006/main">
            <a:pPr marL="0" lvl="0" indent="0" algn="l">
              <a:spcBef>
                <a:spcPts val="0"/>
              </a:spcBef>
              <a:spcAft>
                <a:spcPts val="0"/>
              </a:spcAft>
              <a:buNone/>
            </a:pPr>
            <a:r>
              <a:t>H_{\rm out},\ W_{\rm out} | « ache sortie, w sortie » | Hauteur et largeur de la carte de sortie.</a:t>
            </a:r>
          </a:p>
          <a:p xmlns:a="http://schemas.openxmlformats.org/drawingml/2006/main">
            <a:pPr marL="0" lvl="0" indent="0" algn="l">
              <a:spcBef>
                <a:spcPts val="0"/>
              </a:spcBef>
              <a:spcAft>
                <a:spcPts val="0"/>
              </a:spcAft>
              <a:buNone/>
            </a:pPr>
            <a:r>
              <a:t>\operatorname{MACs} | « macs, multiplications-accumulations » | Nombre de produits ajoutés à un accumulateur, pour un exemple.</a:t>
            </a:r>
          </a:p>
          <a:p xmlns:a="http://schemas.openxmlformats.org/drawingml/2006/main">
            <a:pPr marL="0" lvl="0" indent="0" algn="l">
              <a:spcBef>
                <a:spcPts val="0"/>
              </a:spcBef>
              <a:spcAft>
                <a:spcPts val="0"/>
              </a:spcAft>
              <a:buNone/>
            </a:pPr>
            <a:r>
              <a:t>\approx | « approximativement égal à » | Le comptage du calcul omet notamment les biais et d’autres opérations.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Les paramètres sont partagés entre les positions, mais le calcul doit être répété à chacune d’elles.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La formule suppose une convolution non groupée. P désigne ici un nombre de paramètres, alors qu’il désigne la taille d’un patch dans la partie ViT.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Une convolution contient-elle plus de poids lorsqu’on passe de 32×32 à 64×64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à noyau et nombres de canaux constants.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PyTorch 2.8 — Conv2d</a:t>
            </a:r>
          </a:p>
          <a:p xmlns:a="http://schemas.openxmlformats.org/drawingml/2006/main">
            <a:pPr marL="0" lvl="0" indent="0" algn="l">
              <a:spcBef>
                <a:spcPts val="0"/>
              </a:spcBef>
              <a:spcAft>
                <a:spcPts val="0"/>
              </a:spcAft>
              <a:buNone/>
            </a:pPr>
            <a:r>
              <a:t>https://docs.pytorch.org/docs/2.8/generated/torch.nn.Conv2d.html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60 — POOLING : RÉDUIRE LA RÉSOLUTION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Expliquer la différence du passage arrière : le max transmet le gradient à une position sélectionnée, tandis que la moyenne le répartit également sur toutes les positions. Les égalités au maximum nécessitent une convention d'implémentation. Le sous-échantillonnage réduit la mémoire et augmente le champ réceptif des couches suivantes, mais détruit de l'information de position. Il ne procure pas une invariance parfaite aux translations. Une convolution à stride supérieur à un peut jouer un rôle de réduction de résolution tout en apprenant sa transformation, avec un autre coût en paramètres.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\operatorname{maxpool}\!\begin{bmatrix}1&amp;4\\2&amp;3\end{bmatrix}=4,\qquad\operatorname{avgpool}\!\begin{bmatrix}1&amp;4\\2&amp;3\end{bmatrix}=2.5</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Le max-pooling de la fenêtre contenant un, quatre, deux et trois vaut quatre. »</a:t>
            </a:r>
          </a:p>
          <a:p xmlns:a="http://schemas.openxmlformats.org/drawingml/2006/main">
            <a:pPr marL="0" lvl="0" indent="0" algn="l">
              <a:spcBef>
                <a:spcPts val="0"/>
              </a:spcBef>
              <a:spcAft>
                <a:spcPts val="0"/>
              </a:spcAft>
              <a:buNone/>
            </a:pPr>
            <a:r>
              <a:t>« Le pooling moyen de la même fenêtre vaut deux virgule cinq.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\operatorname{maxpool} | « max-pooling, ou agrégation par maximum » | Sélection de la plus grande valeur de la fenêtre.</a:t>
            </a:r>
          </a:p>
          <a:p xmlns:a="http://schemas.openxmlformats.org/drawingml/2006/main">
            <a:pPr marL="0" lvl="0" indent="0" algn="l">
              <a:spcBef>
                <a:spcPts val="0"/>
              </a:spcBef>
              <a:spcAft>
                <a:spcPts val="0"/>
              </a:spcAft>
              <a:buNone/>
            </a:pPr>
            <a:r>
              <a:t>\operatorname{avgpool} | « average-pooling, ou agrégation par moyenne » | Moyenne arithmétique des valeurs de la fenêtre.</a:t>
            </a:r>
          </a:p>
          <a:p xmlns:a="http://schemas.openxmlformats.org/drawingml/2006/main">
            <a:pPr marL="0" lvl="0" indent="0" algn="l">
              <a:spcBef>
                <a:spcPts val="0"/>
              </a:spcBef>
              <a:spcAft>
                <a:spcPts val="0"/>
              </a:spcAft>
              <a:buNone/>
            </a:pPr>
            <a:r>
              <a:t>\begin{bmatrix}1&amp;4\\2&amp;3\end{bmatrix} | « matrice deux par deux : un quatre, puis deux trois » | Fenêtre locale examinée.</a:t>
            </a:r>
          </a:p>
          <a:p xmlns:a="http://schemas.openxmlformats.org/drawingml/2006/main">
            <a:pPr marL="0" lvl="0" indent="0" algn="l">
              <a:spcBef>
                <a:spcPts val="0"/>
              </a:spcBef>
              <a:spcAft>
                <a:spcPts val="0"/>
              </a:spcAft>
              <a:buNone/>
            </a:pPr>
            <a:r>
              <a:t>4 | « quatre » | Valeur maximale de la fenêtre.</a:t>
            </a:r>
          </a:p>
          <a:p xmlns:a="http://schemas.openxmlformats.org/drawingml/2006/main">
            <a:pPr marL="0" lvl="0" indent="0" algn="l">
              <a:spcBef>
                <a:spcPts val="0"/>
              </a:spcBef>
              <a:spcAft>
                <a:spcPts val="0"/>
              </a:spcAft>
              <a:buNone/>
            </a:pPr>
            <a:r>
              <a:t>2.5 | « deux virgule cinq » | Moyenne : un plus quatre plus deux plus trois, divisés par quatre.</a:t>
            </a:r>
          </a:p>
          <a:p xmlns:a="http://schemas.openxmlformats.org/drawingml/2006/main">
            <a:pPr marL="0" lvl="0" indent="0" algn="l">
              <a:spcBef>
                <a:spcPts val="0"/>
              </a:spcBef>
              <a:spcAft>
                <a:spcPts val="0"/>
              </a:spcAft>
              <a:buNone/>
            </a:pPr>
            <a:r>
              <a:t>= | « égale » | Résultat scalaire de l’agrégation.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Les quatre valeurs de la fenêtre se réduisent à une seule valeur par canal.</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point de 2.5 est un séparateur décimal dans la formule. Le lire « virgule » en français. Ces opérations de pooling ne possèdent pas de poids appris.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Où va le gradient d’un max pooling 2×2 sans égalité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Vers l’entrée qui a produit le maximum.</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61 — CHAMP RÉCEPTIF : CALCUL RÉCURSIF</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Faire le calcul pour Conv3 stride1, Pool2 stride2, Conv3 stride1. Après la première convolution, r=3 et j=1 ; après le pooling, r=4 et j=2 ; après la seconde convolution, r=8 et j=2. Deux convolutions 3×3 à stride un donnent en revanche un champ de 5×5 avant tout pooling. Le padding déplace les centres et traite les bords, mais n'augmente pas le nombre de pixels réels disponibles en dehors de l'image. Le champ réceptif effectif décrit les influences effectivement importantes, qui dépendent des poids et des données.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j_\ell=j_{\ell-1}s_\ell,\qquad r_\ell=r_{\ell-1}+(k_\ell-1)d_\ell j_{\ell-1}\\r_0=j_0=1</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Le saut j de la couche ell vaut le saut précédent multiplié par le stride de cette couche. »</a:t>
            </a:r>
          </a:p>
          <a:p xmlns:a="http://schemas.openxmlformats.org/drawingml/2006/main">
            <a:pPr marL="0" lvl="0" indent="0" algn="l">
              <a:spcBef>
                <a:spcPts val="0"/>
              </a:spcBef>
              <a:spcAft>
                <a:spcPts val="0"/>
              </a:spcAft>
              <a:buNone/>
            </a:pPr>
            <a:r>
              <a:t>« Le champ réceptif r de la couche ell vaut le champ précédent, plus k ell moins un, fois la dilation d ell, fois le saut précédent. »</a:t>
            </a:r>
          </a:p>
          <a:p xmlns:a="http://schemas.openxmlformats.org/drawingml/2006/main">
            <a:pPr marL="0" lvl="0" indent="0" algn="l">
              <a:spcBef>
                <a:spcPts val="0"/>
              </a:spcBef>
              <a:spcAft>
                <a:spcPts val="0"/>
              </a:spcAft>
              <a:buNone/>
            </a:pPr>
            <a:r>
              <a:t>« Au départ, r zéro et j zéro valent un.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\ell,\ \ell-1 | « ell, ell moins un » | Indices de la couche courante et de la couche précédente.</a:t>
            </a:r>
          </a:p>
          <a:p xmlns:a="http://schemas.openxmlformats.org/drawingml/2006/main">
            <a:pPr marL="0" lvl="0" indent="0" algn="l">
              <a:spcBef>
                <a:spcPts val="0"/>
              </a:spcBef>
              <a:spcAft>
                <a:spcPts val="0"/>
              </a:spcAft>
              <a:buNone/>
            </a:pPr>
            <a:r>
              <a:t>j_\ell | « ji indice ell » | Écart entre deux positions voisines de cette couche, mesuré en pixels de l’entrée.</a:t>
            </a:r>
          </a:p>
          <a:p xmlns:a="http://schemas.openxmlformats.org/drawingml/2006/main">
            <a:pPr marL="0" lvl="0" indent="0" algn="l">
              <a:spcBef>
                <a:spcPts val="0"/>
              </a:spcBef>
              <a:spcAft>
                <a:spcPts val="0"/>
              </a:spcAft>
              <a:buNone/>
            </a:pPr>
            <a:r>
              <a:t>s_\ell | « esse indice ell » | Stride de la couche.</a:t>
            </a:r>
          </a:p>
          <a:p xmlns:a="http://schemas.openxmlformats.org/drawingml/2006/main">
            <a:pPr marL="0" lvl="0" indent="0" algn="l">
              <a:spcBef>
                <a:spcPts val="0"/>
              </a:spcBef>
              <a:spcAft>
                <a:spcPts val="0"/>
              </a:spcAft>
              <a:buNone/>
            </a:pPr>
            <a:r>
              <a:t>r_\ell | « erre indice ell » | Taille du champ réceptif théorique sur un axe.</a:t>
            </a:r>
          </a:p>
          <a:p xmlns:a="http://schemas.openxmlformats.org/drawingml/2006/main">
            <a:pPr marL="0" lvl="0" indent="0" algn="l">
              <a:spcBef>
                <a:spcPts val="0"/>
              </a:spcBef>
              <a:spcAft>
                <a:spcPts val="0"/>
              </a:spcAft>
              <a:buNone/>
            </a:pPr>
            <a:r>
              <a:t>k_\ell | « ka indice ell » | Taille du noyau de la couche.</a:t>
            </a:r>
          </a:p>
          <a:p xmlns:a="http://schemas.openxmlformats.org/drawingml/2006/main">
            <a:pPr marL="0" lvl="0" indent="0" algn="l">
              <a:spcBef>
                <a:spcPts val="0"/>
              </a:spcBef>
              <a:spcAft>
                <a:spcPts val="0"/>
              </a:spcAft>
              <a:buNone/>
            </a:pPr>
            <a:r>
              <a:t>d_\ell | « dé indice ell » | Dilation de cette couche.</a:t>
            </a:r>
          </a:p>
          <a:p xmlns:a="http://schemas.openxmlformats.org/drawingml/2006/main">
            <a:pPr marL="0" lvl="0" indent="0" algn="l">
              <a:spcBef>
                <a:spcPts val="0"/>
              </a:spcBef>
              <a:spcAft>
                <a:spcPts val="0"/>
              </a:spcAft>
              <a:buNone/>
            </a:pPr>
            <a:r>
              <a:t>(k_\ell-1)d_\ell j_{\ell-1} | « k ell moins un, fois d ell, fois j ell moins un » | Étendue supplémentaire couverte dans les coordonnées de l’entrée.</a:t>
            </a:r>
          </a:p>
          <a:p xmlns:a="http://schemas.openxmlformats.org/drawingml/2006/main">
            <a:pPr marL="0" lvl="0" indent="0" algn="l">
              <a:spcBef>
                <a:spcPts val="0"/>
              </a:spcBef>
              <a:spcAft>
                <a:spcPts val="0"/>
              </a:spcAft>
              <a:buNone/>
            </a:pPr>
            <a:r>
              <a:t>r_0=j_0=1 | « r zéro et j zéro valent un » | Un pixel de l’entrée couvre un pixel et deux pixels voisins sont séparés d’un pas.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 stride change l’espacement entre les sorties. Les tailles de noyau et les dilations agrandissent le champ couvert.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j est ici un saut spatial, pas un indice de colonne comme dans la convolution. Le champ réceptif théorique ne mesure pas l’influence effective de chaque pixel.</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Quel champ obtient-on avec deux convolutions 3×3 sans stride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5×5 dans le cas standard.</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62 — ÉQUIVARIANCE ET INVARIANCE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Sur un domaine infini ou avec des conditions adaptées, une convolution à stride un commute avec une translation entière. Sur une image finie, le padding et les bords limitent cette égalité. Avec un stride supérieur à un, seules certaines translations s'alignent sur la grille de sous-échantillonnage. Un classifieur peut rechercher une certaine invariance via l'agrégation spatiale ou l'augmentation, mais cela n'est pas une conséquence absolue du mot CNN. Pour la segmentation, on souhaite plutôt préserver une relation spatiale entre entrée et sortie ; l'invariance totale serait indésirable.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f(Tx)=T f(x)\quad\text{(equivariance)},\qquad g(Tx)=g(x)\quad\text{(invariance)}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f appliquée à T de x est égale à T appliquée à f de x : c’est l’équivariance. »</a:t>
            </a:r>
          </a:p>
          <a:p xmlns:a="http://schemas.openxmlformats.org/drawingml/2006/main">
            <a:pPr marL="0" lvl="0" indent="0" algn="l">
              <a:spcBef>
                <a:spcPts val="0"/>
              </a:spcBef>
              <a:spcAft>
                <a:spcPts val="0"/>
              </a:spcAft>
              <a:buNone/>
            </a:pPr>
            <a:r>
              <a:t>« g appliquée à T de x est égale à g de x : c’est l’invariance.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 | « x » | Entrée du modèle.</a:t>
            </a:r>
          </a:p>
          <a:p xmlns:a="http://schemas.openxmlformats.org/drawingml/2006/main">
            <a:pPr marL="0" lvl="0" indent="0" algn="l">
              <a:spcBef>
                <a:spcPts val="0"/>
              </a:spcBef>
              <a:spcAft>
                <a:spcPts val="0"/>
              </a:spcAft>
              <a:buNone/>
            </a:pPr>
            <a:r>
              <a:t>T | « té majuscule » | Transformation de l’entrée, par exemple une translation.</a:t>
            </a:r>
          </a:p>
          <a:p xmlns:a="http://schemas.openxmlformats.org/drawingml/2006/main">
            <a:pPr marL="0" lvl="0" indent="0" algn="l">
              <a:spcBef>
                <a:spcPts val="0"/>
              </a:spcBef>
              <a:spcAft>
                <a:spcPts val="0"/>
              </a:spcAft>
              <a:buNone/>
            </a:pPr>
            <a:r>
              <a:t>Tx | « té appliquée à x » | Entrée après transformation.</a:t>
            </a:r>
          </a:p>
          <a:p xmlns:a="http://schemas.openxmlformats.org/drawingml/2006/main">
            <a:pPr marL="0" lvl="0" indent="0" algn="l">
              <a:spcBef>
                <a:spcPts val="0"/>
              </a:spcBef>
              <a:spcAft>
                <a:spcPts val="0"/>
              </a:spcAft>
              <a:buNone/>
            </a:pPr>
            <a:r>
              <a:t>f,\ g | « effe, gé » | Fonctions dont on étudie le comportement.</a:t>
            </a:r>
          </a:p>
          <a:p xmlns:a="http://schemas.openxmlformats.org/drawingml/2006/main">
            <a:pPr marL="0" lvl="0" indent="0" algn="l">
              <a:spcBef>
                <a:spcPts val="0"/>
              </a:spcBef>
              <a:spcAft>
                <a:spcPts val="0"/>
              </a:spcAft>
              <a:buNone/>
            </a:pPr>
            <a:r>
              <a:t>Tf(x) | « té appliquée à effe de x » | Transformation correspondante de la sortie.</a:t>
            </a:r>
          </a:p>
          <a:p xmlns:a="http://schemas.openxmlformats.org/drawingml/2006/main">
            <a:pPr marL="0" lvl="0" indent="0" algn="l">
              <a:spcBef>
                <a:spcPts val="0"/>
              </a:spcBef>
              <a:spcAft>
                <a:spcPts val="0"/>
              </a:spcAft>
              <a:buNone/>
            </a:pPr>
            <a:r>
              <a:t>f(Tx)=Tf(x) | « transformer l’entrée puis calculer, ou calculer puis transformer » | La sortie se transforme de façon cohérente avec l’entrée.</a:t>
            </a:r>
          </a:p>
          <a:p xmlns:a="http://schemas.openxmlformats.org/drawingml/2006/main">
            <a:pPr marL="0" lvl="0" indent="0" algn="l">
              <a:spcBef>
                <a:spcPts val="0"/>
              </a:spcBef>
              <a:spcAft>
                <a:spcPts val="0"/>
              </a:spcAft>
              <a:buNone/>
            </a:pPr>
            <a:r>
              <a:t>g(Tx)=g(x) | « la sortie de g reste la même après transformation de l’entrée » | La sortie ne dépend pas de cette transformation.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Équivariance : la sortie suit la transformation. Invariance : la sortie reste identique.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même T représente les actions compatibles dans l’espace d’entrée et de sortie. Les bords, le padding et le sous-échantillonnage peuvent limiter ces égalités.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Une segmentation d’image doit-elle être totalement invariante à la translation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le masque devrait généralement se déplacer avec les objets.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63 — TP 02 · CONSTRUIRE UN PETIT CNN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Déroulé : 20 minutes pour le protocole de séparation, 30 minutes pour les dimensions, 40 minutes pour l'entraînement, 35 minutes pour une ablation et 25 minutes d'analyse. Le réseau de base emploie deux blocs convolution-ReLU-pooling puis une tête dense. Les images sont divisées par 16, échelle définie par le jeu, sans apprentissage sur le test. Les étudiants comparent par exemple le pooling et une réduction par stride, à budget documenté. La petite résolution permet de travailler sur CPU ; les conclusions ne doivent pas être extrapolées directement à des images haute résolution.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doit contenir un résultat interprétable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Une architecture annotée, un protocole sans fuite et une explication de ses erreurs.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64 — EXERCICE · AUDITER UNE CONVOLUTION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Laisser huit minutes puis faire corriger par un autre binôme. H sortie et W sortie valent chacun floor((32+2-2-1)/2+1)=16. La forme est donc B×16×16×16. Le nombre de paramètres est 16(3×3×3+1)=448. Le coût principal vaut 16×16×16×3×3×3=110592 MACs par image, hors biais et activation. Le batch multiplie ce coût par B sans modifier le nombre de poids. Demander enfin l'effet d'un padding nul : la hauteur devient 15, ce qui modifie le calcul et les activations mais pas les paramètres.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Combien de MACs, hors biais et activation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110 592 par image dans la convention indiquée.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65 — JOUR 2 · À RETENIR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Demander une restitution qui relie les deux moitiés de la journée. Les CNN n'ont pas une règle d'apprentissage séparée : ils utilisent la même rétropropagation, avec une structure de partage des poids. Le gradient d'un noyau additionne les contributions de toutes les positions où il a été appliqué et de tous les exemples du batch. Revenir sur le rôle des augmentations et du test pour ne pas confondre une hypothèse d'architecture et une propriété empiriquement validée. La journée suivante introduit le transfert, qui permet de réutiliser des représentations déjà apprises.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Comment le gradient d’un noyau combine-t-il ses multiples utilisations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Il additionne les contributions des positions et des exemples.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66 — CNN ET TRANSFERT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journée articule les concepts et leur mise à l'épreuve. Commencer par une restitution de la séance précédente.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67 — JOUR 3 · DÉROULÉ DES 7 HEURES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68 — LE CNN DU TP : PARCOURS D’UN BATCH</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 tableau correspond exactement au réseau des notebooks. Une première convolution 1→8 conserve 8×8 grâce au padding, puis un pooling divise la résolution par deux. Le deuxième bloc 8→16 réduit ensuite 4×4 en 2×2. L'aplatissement donne 16×2×2=64 composantes. Le nombre de paramètres est 80+1168+650=1898 ; ReLU, pooling et flatten n'ajoutent aucun poids. Vérifier ce total avec la somme numel des paramètres PyTorch. L'aplatissement impose ici une taille d'entrée déterminée ; une agrégation globale pourrait rendre la tête moins dépendante de cette taille.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la tête reçoit-elle 64 entrées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16 canaux × 2 × 2 positions.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69 — CONVOLUTION 1×1 ET AGRÉGATION GLOBALE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Un noyau 1×1 n'est pas une opération inutile : il réalise une projection sur les canaux, avec les mêmes poids à chaque position. Il est employé pour réduire ou augmenter la dimension et pour aligner les branches résiduelles. L'agrégation globale par moyenne réduit la dépendance de la tête à la taille spatiale et peut réduire fortement le nombre de paramètres. Elle détruit toutefois la localisation fine ; ce choix convient plus naturellement à certaines tâches de classification qu'à une reconstruction dense. Comparer son coût à celui d'une grande couche dense après aplatissement.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Y_{o,i,j}=b_o+\sum_c W_{o,c}X_{c,i,j},\qquad g_c=\frac1{HW}\sum_{i,j}X_{c,i,j}</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Y du canal o à la position i j vaut b o plus la somme, sur les canaux c, de W o c fois X c i j. »</a:t>
            </a:r>
          </a:p>
          <a:p xmlns:a="http://schemas.openxmlformats.org/drawingml/2006/main">
            <a:pPr marL="0" lvl="0" indent="0" algn="l">
              <a:spcBef>
                <a:spcPts val="0"/>
              </a:spcBef>
              <a:spcAft>
                <a:spcPts val="0"/>
              </a:spcAft>
              <a:buNone/>
            </a:pPr>
            <a:r>
              <a:t>« g c vaut un sur H W fois la somme de X c i j sur toutes les positions spatiales.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X_{c,i,j},\ Y_{o,i,j} | « x canal c position i j ; y canal o position i j » | Activations d’entrée et de sortie à une même position.</a:t>
            </a:r>
          </a:p>
          <a:p xmlns:a="http://schemas.openxmlformats.org/drawingml/2006/main">
            <a:pPr marL="0" lvl="0" indent="0" algn="l">
              <a:spcBef>
                <a:spcPts val="0"/>
              </a:spcBef>
              <a:spcAft>
                <a:spcPts val="0"/>
              </a:spcAft>
              <a:buNone/>
            </a:pPr>
            <a:r>
              <a:t>c,\ o | « cé, o » | Canal d’entrée et canal de sortie.</a:t>
            </a:r>
          </a:p>
          <a:p xmlns:a="http://schemas.openxmlformats.org/drawingml/2006/main">
            <a:pPr marL="0" lvl="0" indent="0" algn="l">
              <a:spcBef>
                <a:spcPts val="0"/>
              </a:spcBef>
              <a:spcAft>
                <a:spcPts val="0"/>
              </a:spcAft>
              <a:buNone/>
            </a:pPr>
            <a:r>
              <a:t>W_{o,c},\ b_o | « w indices o c, b indice o » | Poids du mélange des canaux et biais du canal de sortie.</a:t>
            </a:r>
          </a:p>
          <a:p xmlns:a="http://schemas.openxmlformats.org/drawingml/2006/main">
            <a:pPr marL="0" lvl="0" indent="0" algn="l">
              <a:spcBef>
                <a:spcPts val="0"/>
              </a:spcBef>
              <a:spcAft>
                <a:spcPts val="0"/>
              </a:spcAft>
              <a:buNone/>
            </a:pPr>
            <a:r>
              <a:t>\sum_c | « somme sur cé » | Addition des contributions de tous les canaux d’entrée.</a:t>
            </a:r>
          </a:p>
          <a:p xmlns:a="http://schemas.openxmlformats.org/drawingml/2006/main">
            <a:pPr marL="0" lvl="0" indent="0" algn="l">
              <a:spcBef>
                <a:spcPts val="0"/>
              </a:spcBef>
              <a:spcAft>
                <a:spcPts val="0"/>
              </a:spcAft>
              <a:buNone/>
            </a:pPr>
            <a:r>
              <a:t>H,\ W | « ache, w » | Hauteur et largeur de la carte dans la seconde formule.</a:t>
            </a:r>
          </a:p>
          <a:p xmlns:a="http://schemas.openxmlformats.org/drawingml/2006/main">
            <a:pPr marL="0" lvl="0" indent="0" algn="l">
              <a:spcBef>
                <a:spcPts val="0"/>
              </a:spcBef>
              <a:spcAft>
                <a:spcPts val="0"/>
              </a:spcAft>
              <a:buNone/>
            </a:pPr>
            <a:r>
              <a:t>HW | « ache fois w » | Nombre total de positions spatiales.</a:t>
            </a:r>
          </a:p>
          <a:p xmlns:a="http://schemas.openxmlformats.org/drawingml/2006/main">
            <a:pPr marL="0" lvl="0" indent="0" algn="l">
              <a:spcBef>
                <a:spcPts val="0"/>
              </a:spcBef>
              <a:spcAft>
                <a:spcPts val="0"/>
              </a:spcAft>
              <a:buNone/>
            </a:pPr>
            <a:r>
              <a:t>\sum_{i,j} | « somme sur i et j » | Somme sur toutes les lignes et colonnes.</a:t>
            </a:r>
          </a:p>
          <a:p xmlns:a="http://schemas.openxmlformats.org/drawingml/2006/main">
            <a:pPr marL="0" lvl="0" indent="0" algn="l">
              <a:spcBef>
                <a:spcPts val="0"/>
              </a:spcBef>
              <a:spcAft>
                <a:spcPts val="0"/>
              </a:spcAft>
              <a:buNone/>
            </a:pPr>
            <a:r>
              <a:t>g_c | « gé indice cé » | Moyenne spatiale du canal c.</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convolution un par un mélange les canaux à position fixe. La moyenne globale réduit chaque canal à un scalaire.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W avec des indices est un poids, tandis que W seul dans H W désigne la largeur. Les deux opérations décrites ont des rôles distincts.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Une convolution 1×1 peut-elle modifier le nombre de canaux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Oui, via une projection apprise partagée à chaque position.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70 — BATCHNORM DANS UN CNN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Décrire précisément les axes d'agrégation pour une couche BatchNorm2d. Les paramètres gamma et beta possèdent une composante par canal et ne sont pas les statistiques mobiles. Les premières sont apprises par gradient ; les secondes sont des buffers mis à jour selon le comportement de la couche. Il existe des conventions d'estimation de variance et de mise à jour propres à chaque API ; la formule illustre ici la normalisation du batch. Durant un transfert sur peu de données, adapter ces statistiques peut être nuisible même si les poids convolutionnels sont gelés. D'où l'importance de distinguer gel des paramètres et mode évaluation.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\mu_c=\frac1{BHW}\sum_{b,i,j}X_{b,c,i,j},\quad\hat X_{b,c,i,j}=\frac{X_{b,c,i,j}-\mu_c}{\sqrt{\sigma_c^2+\varepsilon}}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Mu c vaut la somme des activations du canal c sur le batch et les positions spatiales, divisée par B fois H fois W. »</a:t>
            </a:r>
          </a:p>
          <a:p xmlns:a="http://schemas.openxmlformats.org/drawingml/2006/main">
            <a:pPr marL="0" lvl="0" indent="0" algn="l">
              <a:spcBef>
                <a:spcPts val="0"/>
              </a:spcBef>
              <a:spcAft>
                <a:spcPts val="0"/>
              </a:spcAft>
              <a:buNone/>
            </a:pPr>
            <a:r>
              <a:t>« X chapeau aux indices b c i j vaut X b c i j moins mu c, divisé par la racine de sigma c au carré plus epsilon.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B,\ H,\ W | « bé, ache, w » | Taille du batch, hauteur et largeur des cartes.</a:t>
            </a:r>
          </a:p>
          <a:p xmlns:a="http://schemas.openxmlformats.org/drawingml/2006/main">
            <a:pPr marL="0" lvl="0" indent="0" algn="l">
              <a:spcBef>
                <a:spcPts val="0"/>
              </a:spcBef>
              <a:spcAft>
                <a:spcPts val="0"/>
              </a:spcAft>
              <a:buNone/>
            </a:pPr>
            <a:r>
              <a:t>b,\ c,\ i,\ j | « bé, cé, i, j » | Indices de l’exemple, du canal, de la ligne et de la colonne.</a:t>
            </a:r>
          </a:p>
          <a:p xmlns:a="http://schemas.openxmlformats.org/drawingml/2006/main">
            <a:pPr marL="0" lvl="0" indent="0" algn="l">
              <a:spcBef>
                <a:spcPts val="0"/>
              </a:spcBef>
              <a:spcAft>
                <a:spcPts val="0"/>
              </a:spcAft>
              <a:buNone/>
            </a:pPr>
            <a:r>
              <a:t>X_{b,c,i,j} | « x indices b c i j » | Une activation du tenseur d’entrée.</a:t>
            </a:r>
          </a:p>
          <a:p xmlns:a="http://schemas.openxmlformats.org/drawingml/2006/main">
            <a:pPr marL="0" lvl="0" indent="0" algn="l">
              <a:spcBef>
                <a:spcPts val="0"/>
              </a:spcBef>
              <a:spcAft>
                <a:spcPts val="0"/>
              </a:spcAft>
              <a:buNone/>
            </a:pPr>
            <a:r>
              <a:t>\mu_c | « mu indice cé » | Moyenne du canal c sur les B H W valeurs du batch.</a:t>
            </a:r>
          </a:p>
          <a:p xmlns:a="http://schemas.openxmlformats.org/drawingml/2006/main">
            <a:pPr marL="0" lvl="0" indent="0" algn="l">
              <a:spcBef>
                <a:spcPts val="0"/>
              </a:spcBef>
              <a:spcAft>
                <a:spcPts val="0"/>
              </a:spcAft>
              <a:buNone/>
            </a:pPr>
            <a:r>
              <a:t>\sum_{b,i,j} | « somme sur b, i et j » | Agrégation sur les exemples et les positions, en gardant le canal fixé.</a:t>
            </a:r>
          </a:p>
          <a:p xmlns:a="http://schemas.openxmlformats.org/drawingml/2006/main">
            <a:pPr marL="0" lvl="0" indent="0" algn="l">
              <a:spcBef>
                <a:spcPts val="0"/>
              </a:spcBef>
              <a:spcAft>
                <a:spcPts val="0"/>
              </a:spcAft>
              <a:buNone/>
            </a:pPr>
            <a:r>
              <a:t>\sigma_c^2 | « sigma indice cé au carré » | Variance calculée sur ces mêmes axes.</a:t>
            </a:r>
          </a:p>
          <a:p xmlns:a="http://schemas.openxmlformats.org/drawingml/2006/main">
            <a:pPr marL="0" lvl="0" indent="0" algn="l">
              <a:spcBef>
                <a:spcPts val="0"/>
              </a:spcBef>
              <a:spcAft>
                <a:spcPts val="0"/>
              </a:spcAft>
              <a:buNone/>
            </a:pPr>
            <a:r>
              <a:t>\varepsilon | « epsilon » | Terme positif de stabilisation.</a:t>
            </a:r>
          </a:p>
          <a:p xmlns:a="http://schemas.openxmlformats.org/drawingml/2006/main">
            <a:pPr marL="0" lvl="0" indent="0" algn="l">
              <a:spcBef>
                <a:spcPts val="0"/>
              </a:spcBef>
              <a:spcAft>
                <a:spcPts val="0"/>
              </a:spcAft>
              <a:buNone/>
            </a:pPr>
            <a:r>
              <a:t>\hat X_{b,c,i,j} | « x chapeau indices b c i j » | Activation centrée et normalisée.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BatchNorm2d calcule une paire de statistiques pour chaque canal.</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b minuscule est ici un indice d’exemple et non un biais. L’écriture montre la normalisation du batch. En évaluation, BatchNorm utilise normalement ses statistiques enregistrées. Le gain gamma et le biais beta peuvent ensuite compléter le calcul.</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requires_grad=False fige-t-il automatiquement les statistiques mobiles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elles dépendent aussi du mode train/eval de BatchNorm.</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Ioffe et Szegedy — Batch Normalization, 2015</a:t>
            </a:r>
          </a:p>
          <a:p xmlns:a="http://schemas.openxmlformats.org/drawingml/2006/main">
            <a:pPr marL="0" lvl="0" indent="0" algn="l">
              <a:spcBef>
                <a:spcPts val="0"/>
              </a:spcBef>
              <a:spcAft>
                <a:spcPts val="0"/>
              </a:spcAft>
              <a:buNone/>
            </a:pPr>
            <a:r>
              <a:t>https://arxiv.org/abs/1502.03167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71 — CONNEXIONS RÉSIDUELLES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L'écriture résiduelle change la paramétrisation d'un bloc : F peut apprendre une petite correction ou se rapprocher de zéro. Le terme identité offre un chemin direct au signal et au gradient, sans garantir l'absence de toute difficulté d'optimisation. Si le nombre de canaux ou la résolution change, une projection P(x), souvent convolution 1×1 avec stride approprié, remplace l'identité pour rendre l'addition possible. Le gradient du paramètre d'une branche est calculé comme précédemment ; le gradient par rapport à l'entrée additionne les chemins. Cette structure sera centrale dans les blocs Transformers.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y=x+F(x),\qquad\frac{\partial y}{\partial x}=I+\frac{\partial F}{\partial x}</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y vaut x plus F de x. »</a:t>
            </a:r>
          </a:p>
          <a:p xmlns:a="http://schemas.openxmlformats.org/drawingml/2006/main">
            <a:pPr marL="0" lvl="0" indent="0" algn="l">
              <a:spcBef>
                <a:spcPts val="0"/>
              </a:spcBef>
              <a:spcAft>
                <a:spcPts val="0"/>
              </a:spcAft>
              <a:buNone/>
            </a:pPr>
            <a:r>
              <a:t>« La jacobienne de y par rapport à x vaut la matrice identité plus la jacobienne de F par rapport à x.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 y | « x, y » | Entrée et sortie du bloc, de formes compatibles pour l’addition.</a:t>
            </a:r>
          </a:p>
          <a:p xmlns:a="http://schemas.openxmlformats.org/drawingml/2006/main">
            <a:pPr marL="0" lvl="0" indent="0" algn="l">
              <a:spcBef>
                <a:spcPts val="0"/>
              </a:spcBef>
              <a:spcAft>
                <a:spcPts val="0"/>
              </a:spcAft>
              <a:buNone/>
            </a:pPr>
            <a:r>
              <a:t>F(x) | « grand effe de x » | Transformation calculée par la branche résiduelle.</a:t>
            </a:r>
          </a:p>
          <a:p xmlns:a="http://schemas.openxmlformats.org/drawingml/2006/main">
            <a:pPr marL="0" lvl="0" indent="0" algn="l">
              <a:spcBef>
                <a:spcPts val="0"/>
              </a:spcBef>
              <a:spcAft>
                <a:spcPts val="0"/>
              </a:spcAft>
              <a:buNone/>
            </a:pPr>
            <a:r>
              <a:t>+ | « plus » | Addition des deux branches, composante par composante.</a:t>
            </a:r>
          </a:p>
          <a:p xmlns:a="http://schemas.openxmlformats.org/drawingml/2006/main">
            <a:pPr marL="0" lvl="0" indent="0" algn="l">
              <a:spcBef>
                <a:spcPts val="0"/>
              </a:spcBef>
              <a:spcAft>
                <a:spcPts val="0"/>
              </a:spcAft>
              <a:buNone/>
            </a:pPr>
            <a:r>
              <a:t>\frac{\partial y}{\partial x} | « jacobienne de y par rapport à x » | Matrice des dérivées de chaque composante de sortie selon chaque composante d’entrée.</a:t>
            </a:r>
          </a:p>
          <a:p xmlns:a="http://schemas.openxmlformats.org/drawingml/2006/main">
            <a:pPr marL="0" lvl="0" indent="0" algn="l">
              <a:spcBef>
                <a:spcPts val="0"/>
              </a:spcBef>
              <a:spcAft>
                <a:spcPts val="0"/>
              </a:spcAft>
              <a:buNone/>
            </a:pPr>
            <a:r>
              <a:t>I | « i majuscule, matrice identité » | Dérivée du chemin direct x.</a:t>
            </a:r>
          </a:p>
          <a:p xmlns:a="http://schemas.openxmlformats.org/drawingml/2006/main">
            <a:pPr marL="0" lvl="0" indent="0" algn="l">
              <a:spcBef>
                <a:spcPts val="0"/>
              </a:spcBef>
              <a:spcAft>
                <a:spcPts val="0"/>
              </a:spcAft>
              <a:buNone/>
            </a:pPr>
            <a:r>
              <a:t>\frac{\partial F}{\partial x} | « jacobienne de grand effe par rapport à x » | Dérivée de la branche transformée.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 chemin direct contribue une identité à la dérivée, en plus du chemin qui traverse la transformation F.</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Il s’agit d’une jacobienne lorsque x et y sont vectoriels. Une branche projetée possède la dérivée de sa projection au lieu d’une identité stricte.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Peut-on ajouter directement B×16×16×16 et B×32×8×8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il faut aligner les dimensions par une projection adaptée.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He et al. — Deep Residual Learning for Image Recognition, 2015</a:t>
            </a:r>
          </a:p>
          <a:p xmlns:a="http://schemas.openxmlformats.org/drawingml/2006/main">
            <a:pPr marL="0" lvl="0" indent="0" algn="l">
              <a:spcBef>
                <a:spcPts val="0"/>
              </a:spcBef>
              <a:spcAft>
                <a:spcPts val="0"/>
              </a:spcAft>
              <a:buNone/>
            </a:pPr>
            <a:r>
              <a:t>https://arxiv.org/abs/1512.03385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72 — AUGMENTER SANS CHANGER LA CIBLE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Une rotation légère peut être acceptable pour certains chiffres, mais une rotation de 180 degrés peut échanger des significations. Un retournement horizontal peut être adapté à une photographie d'objet et incorrect pour du texte. Pour une segmentation, il faut transformer la cible spatiale de façon cohérente. La formule suppose ici que T conserve la classe ; cette hypothèse doit être vérifiée. Une augmentation ne crée pas un nouvel individu indépendant pour le test : toutes les variantes d'une même observation doivent rester dans la même partition. Documenter la politique et ses probabilités dans le compte rendu.</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\mathcal L_{\rm aug}=\mathbb E_{(x,y)}\,\mathbb E_{T\sim\mathcal A}\!\left[\ell(f_\theta(Tx),y)\right]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La perte avec augmentation est l’espérance, sur les exemples x y, de l’espérance sur une transformation T tirée selon la politique A, de la perte entre la prédiction sur T x et la cible y.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\mathcal L_{\rm aug} | « grand ell indice aug » | Perte qui tient compte des transformations aléatoires des entrées.</a:t>
            </a:r>
          </a:p>
          <a:p xmlns:a="http://schemas.openxmlformats.org/drawingml/2006/main">
            <a:pPr marL="0" lvl="0" indent="0" algn="l">
              <a:spcBef>
                <a:spcPts val="0"/>
              </a:spcBef>
              <a:spcAft>
                <a:spcPts val="0"/>
              </a:spcAft>
              <a:buNone/>
            </a:pPr>
            <a:r>
              <a:t>\mathbb E | « espérance » | Moyenne théorique selon la distribution indiquée en indice.</a:t>
            </a:r>
          </a:p>
          <a:p xmlns:a="http://schemas.openxmlformats.org/drawingml/2006/main">
            <a:pPr marL="0" lvl="0" indent="0" algn="l">
              <a:spcBef>
                <a:spcPts val="0"/>
              </a:spcBef>
              <a:spcAft>
                <a:spcPts val="0"/>
              </a:spcAft>
              <a:buNone/>
            </a:pPr>
            <a:r>
              <a:t>(x,y) | « couple x y » | Observation et cible associée.</a:t>
            </a:r>
          </a:p>
          <a:p xmlns:a="http://schemas.openxmlformats.org/drawingml/2006/main">
            <a:pPr marL="0" lvl="0" indent="0" algn="l">
              <a:spcBef>
                <a:spcPts val="0"/>
              </a:spcBef>
              <a:spcAft>
                <a:spcPts val="0"/>
              </a:spcAft>
              <a:buNone/>
            </a:pPr>
            <a:r>
              <a:t>T | « té majuscule » | Transformation aléatoire appliquée à une entrée.</a:t>
            </a:r>
          </a:p>
          <a:p xmlns:a="http://schemas.openxmlformats.org/drawingml/2006/main">
            <a:pPr marL="0" lvl="0" indent="0" algn="l">
              <a:spcBef>
                <a:spcPts val="0"/>
              </a:spcBef>
              <a:spcAft>
                <a:spcPts val="0"/>
              </a:spcAft>
              <a:buNone/>
            </a:pPr>
            <a:r>
              <a:t>T\sim\mathcal A | « té tirée selon a calligraphique » | La politique d’augmentation A définit les transformations et leurs probabilités.</a:t>
            </a:r>
          </a:p>
          <a:p xmlns:a="http://schemas.openxmlformats.org/drawingml/2006/main">
            <a:pPr marL="0" lvl="0" indent="0" algn="l">
              <a:spcBef>
                <a:spcPts val="0"/>
              </a:spcBef>
              <a:spcAft>
                <a:spcPts val="0"/>
              </a:spcAft>
              <a:buNone/>
            </a:pPr>
            <a:r>
              <a:t>Tx | « té appliquée à x » | Exemple transformé.</a:t>
            </a:r>
          </a:p>
          <a:p xmlns:a="http://schemas.openxmlformats.org/drawingml/2006/main">
            <a:pPr marL="0" lvl="0" indent="0" algn="l">
              <a:spcBef>
                <a:spcPts val="0"/>
              </a:spcBef>
              <a:spcAft>
                <a:spcPts val="0"/>
              </a:spcAft>
              <a:buNone/>
            </a:pPr>
            <a:r>
              <a:t>f_\theta(Tx) | « f thêta de té x » | Prédiction du modèle sur cet exemple transformé.</a:t>
            </a:r>
          </a:p>
          <a:p xmlns:a="http://schemas.openxmlformats.org/drawingml/2006/main">
            <a:pPr marL="0" lvl="0" indent="0" algn="l">
              <a:spcBef>
                <a:spcPts val="0"/>
              </a:spcBef>
              <a:spcAft>
                <a:spcPts val="0"/>
              </a:spcAft>
              <a:buNone/>
            </a:pPr>
            <a:r>
              <a:t>\ell(f_\theta(Tx),y) | « perte entre la prédiction transformée et y » | Erreur d’apprentissage avec la cible de classe conservée.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L’objectif demande au modèle de fonctionner sur plusieurs transformations admissibles du même exemple.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La formule suppose que T conserve la cible. Pour une segmentation, la transformation spatiale doit aussi s’appliquer à la cible.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Pourquoi ne pas répartir des augmentations d’une même image entre train et test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Cela crée une dépendance et une fuite entre les partitions.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73 — LE JEU DE DONNÉES FAIT PARTIE DU MODÈLE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jeu digits de scikit-learn contient 1797 images 8×8 de dix classes, avec des niveaux de gris entre 0 et 16. Cette petite base permet des expériences CPU rapides, mais ne représente pas les contraintes de la vision en conditions réelles. Une séparation stratifiée conserve approximativement les proportions de classes, sans garantir une séparation par auteur des chiffres : les notebooks ne disposent pas d'identifiants permettant un audit complet de ce niveau. Les conclusions doivent donc porter sur le protocole présenté. Pour un projet réel, l'unité de séparation doit suivre le scénario de déploiement.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Une séparation stratifiée empêche-t-elle toutes les fuites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elle ne traite ni les doublons ni les dépendances entre sujets.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scikit-learn — Jeu de données digits</ns12:t>
            </ns12:r>
          </ns12:p>
          <ns13:p xmlns:ns13="http://schemas.openxmlformats.org/drawingml/2006/main">
            <ns13:pPr marL="0" lvl="0" indent="0" algn="l">
              <ns13:spcBef>
                <ns13:spcPts val="0"/>
              </ns13:spcBef>
              <ns13:spcAft>
                <ns13:spcPts val="0"/>
              </ns13:spcAft>
              <ns13:buNone/>
            </ns13:pPr>
            <ns13:r>
              <ns13:t>https://scikit-learn.org/stable/modules/generated/sklearn.datasets.load_digits.html</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Geoffrey Daniel — Réseaux de neurones et deep learning : utilisation et méthodologie</ns15:t>
            </ns15:r>
          </ns15:p>
          <ns16:p xmlns:ns16="http://schemas.openxmlformats.org/drawingml/2006/main">
            <ns16:pPr marL="0" lvl="0" indent="0" algn="l">
              <ns16:spcBef>
                <ns16:spcPts val="0"/>
              </ns16:spcBef>
              <ns16:spcAft>
                <ns16:spcPts val="0"/>
              </ns16:spcAft>
              <ns16:buNone/>
            </ns16:pPr>
            <ns16:r>
              <ns16:t>https://indico.in2p3.fr/event/17858/attachments/49454/65831/Deep_Learning_Seance_1.pdf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74 — TRAIN, VALIDATION ET TEST : QUI DÉCIDE ?</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Expliquer la séparation comme une gestion des décisions. Le train détermine les poids et, si nécessaire, les paramètres du prétraitement. La validation guide le choix de l'architecture, des hyperparamètres et du checkpoint. Le test intervient une fois le protocole de choix terminé. Il n'est pas interdit de constater qu'un score test est faible ; ce qui est problématique est de continuer à l'optimiser en prétendant conserver une estimation indépendante. Si le protocole est modifié après l'observation du test, il faut une nouvelle évaluation indépendante pour une affirmation forte.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Peut-on ajuster la normalisation sur l’ensemble des images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Pas si elle apprend des statistiques : l’ajustement doit être limité au train.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75 — MÉTRIQUES ET MATRICE DE CONFUSION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Pour une classe donnée, considérer cette classe comme positive et toutes les autres comme négatives. Dans la matrice de confusion des notebooks, les lignes sont les vraies classes et les colonnes les prédictions ; annoncer cette convention. Une classe rare peut avoir un rappel faible tout en contribuant peu à l'accuracy globale. Le macro-F1 moyenne les F1 calculés séparément par classe ; ce n'est pas le F1 calculé à partir d'une précision macro et d'un rappel macro. Prévoir une convention lorsque le dénominateur est nul et afficher les effectifs pour contextualiser les métriques.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\operatorname{precision}=\frac{TP}{TP+FP},\quad\operatorname{rappel}=\frac{TP}{TP+FN},\quad F_1=\frac{2PR}{P+R}</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La précision vaut le nombre de vrais positifs divisé par le nombre de prédictions positives, soit vrais positifs plus faux positifs. »</a:t>
            </a:r>
          </a:p>
          <a:p xmlns:a="http://schemas.openxmlformats.org/drawingml/2006/main">
            <a:pPr marL="0" lvl="0" indent="0" algn="l">
              <a:spcBef>
                <a:spcPts val="0"/>
              </a:spcBef>
              <a:spcAft>
                <a:spcPts val="0"/>
              </a:spcAft>
              <a:buNone/>
            </a:pPr>
            <a:r>
              <a:t>« Le rappel vaut les vrais positifs divisés par vrais positifs plus faux négatifs. »</a:t>
            </a:r>
          </a:p>
          <a:p xmlns:a="http://schemas.openxmlformats.org/drawingml/2006/main">
            <a:pPr marL="0" lvl="0" indent="0" algn="l">
              <a:spcBef>
                <a:spcPts val="0"/>
              </a:spcBef>
              <a:spcAft>
                <a:spcPts val="0"/>
              </a:spcAft>
              <a:buNone/>
            </a:pPr>
            <a:r>
              <a:t>« F un vaut deux fois P fois R, divisé par P plus R.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TP | « vrais positifs, ou té pé » | Exemples de la classe positive prédits positifs.</a:t>
            </a:r>
          </a:p>
          <a:p xmlns:a="http://schemas.openxmlformats.org/drawingml/2006/main">
            <a:pPr marL="0" lvl="0" indent="0" algn="l">
              <a:spcBef>
                <a:spcPts val="0"/>
              </a:spcBef>
              <a:spcAft>
                <a:spcPts val="0"/>
              </a:spcAft>
              <a:buNone/>
            </a:pPr>
            <a:r>
              <a:t>FP | « faux positifs, ou effe pé » | Exemples négatifs prédits positifs.</a:t>
            </a:r>
          </a:p>
          <a:p xmlns:a="http://schemas.openxmlformats.org/drawingml/2006/main">
            <a:pPr marL="0" lvl="0" indent="0" algn="l">
              <a:spcBef>
                <a:spcPts val="0"/>
              </a:spcBef>
              <a:spcAft>
                <a:spcPts val="0"/>
              </a:spcAft>
              <a:buNone/>
            </a:pPr>
            <a:r>
              <a:t>FN | « faux négatifs, ou effe enne » | Exemples positifs prédits négatifs.</a:t>
            </a:r>
          </a:p>
          <a:p xmlns:a="http://schemas.openxmlformats.org/drawingml/2006/main">
            <a:pPr marL="0" lvl="0" indent="0" algn="l">
              <a:spcBef>
                <a:spcPts val="0"/>
              </a:spcBef>
              <a:spcAft>
                <a:spcPts val="0"/>
              </a:spcAft>
              <a:buNone/>
            </a:pPr>
            <a:r>
              <a:t>P | « pé » | Précision : fraction des prédictions positives qui sont correctes.</a:t>
            </a:r>
          </a:p>
          <a:p xmlns:a="http://schemas.openxmlformats.org/drawingml/2006/main">
            <a:pPr marL="0" lvl="0" indent="0" algn="l">
              <a:spcBef>
                <a:spcPts val="0"/>
              </a:spcBef>
              <a:spcAft>
                <a:spcPts val="0"/>
              </a:spcAft>
              <a:buNone/>
            </a:pPr>
            <a:r>
              <a:t>R | « erre » | Rappel : fraction des positifs réels qui sont retrouvés.</a:t>
            </a:r>
          </a:p>
          <a:p xmlns:a="http://schemas.openxmlformats.org/drawingml/2006/main">
            <a:pPr marL="0" lvl="0" indent="0" algn="l">
              <a:spcBef>
                <a:spcPts val="0"/>
              </a:spcBef>
              <a:spcAft>
                <a:spcPts val="0"/>
              </a:spcAft>
              <a:buNone/>
            </a:pPr>
            <a:r>
              <a:t>F_1 | « effe un » | Moyenne harmonique de la précision et du rappel.</a:t>
            </a:r>
          </a:p>
          <a:p xmlns:a="http://schemas.openxmlformats.org/drawingml/2006/main">
            <a:pPr marL="0" lvl="0" indent="0" algn="l">
              <a:spcBef>
                <a:spcPts val="0"/>
              </a:spcBef>
              <a:spcAft>
                <a:spcPts val="0"/>
              </a:spcAft>
              <a:buNone/>
            </a:pPr>
            <a:r>
              <a:t>2PR/(P+R) | « deux pé erre divisé par pé plus erre » | Formule de la moyenne harmonique pour deux valeurs.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précision décrit la fiabilité des alertes positives. Le rappel décrit la couverture des vrais positifs.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Ces formules concernent une classe positive définie. Si un dénominateur est nul, la convention de calcul doit être précisée. En multiclasse, indiquer aussi le type de moyenne.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Le macro-F1 est-il le F1 de la précision et du rappel moyens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il moyenne les F1 calculés classe par classe.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76 — TRANSFERT : RÉUTILISER UNE REPRÉSENTATION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Séparer backbone et tête dans l'équation. Les poids du backbone contiennent une représentation issue d'un entraînement antérieur ; ils ne sont pas universellement pertinents. Dans le TP, la source contient les chiffres 0 à 4 et la cible les chiffres 5 à 9. Les espaces d'étiquettes sont disjoints, mais le type d'image reste proche. C'est un transfert pédagogique contrôlé, distinct d'un réseau préentraîné sur ImageNet. Le coût de préentraînement source doit être annoncé quand on compare les budgets, même s'il est partagé entre plusieurs tâches cibles.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f(x)=h_{\psi}(g_{\phi}(x)),\qquad\phi\leftarrow\phi_{\rm source},\quad\psi\leftarrow\psi_{\rm nouvelle}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f de x vaut h psi appliquée à g phi de x. »</a:t>
            </a:r>
          </a:p>
          <a:p xmlns:a="http://schemas.openxmlformats.org/drawingml/2006/main">
            <a:pPr marL="0" lvl="0" indent="0" algn="l">
              <a:spcBef>
                <a:spcPts val="0"/>
              </a:spcBef>
              <a:spcAft>
                <a:spcPts val="0"/>
              </a:spcAft>
              <a:buNone/>
            </a:pPr>
            <a:r>
              <a:t>« On initialise phi avec les paramètres source et psi avec de nouveaux paramètres.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f(x) | « effe de x » | Modèle complet appliqué à l’entrée.</a:t>
            </a:r>
          </a:p>
          <a:p xmlns:a="http://schemas.openxmlformats.org/drawingml/2006/main">
            <a:pPr marL="0" lvl="0" indent="0" algn="l">
              <a:spcBef>
                <a:spcPts val="0"/>
              </a:spcBef>
              <a:spcAft>
                <a:spcPts val="0"/>
              </a:spcAft>
              <a:buNone/>
            </a:pPr>
            <a:r>
              <a:t>g_\phi(x) | « gé paramétré par phi, appliqué à x » | Extracteur de caractéristiques, ou backbone.</a:t>
            </a:r>
          </a:p>
          <a:p xmlns:a="http://schemas.openxmlformats.org/drawingml/2006/main">
            <a:pPr marL="0" lvl="0" indent="0" algn="l">
              <a:spcBef>
                <a:spcPts val="0"/>
              </a:spcBef>
              <a:spcAft>
                <a:spcPts val="0"/>
              </a:spcAft>
              <a:buNone/>
            </a:pPr>
            <a:r>
              <a:t>h_\psi | « ache paramétré par psi » | Tête qui transforme les caractéristiques en prédiction.</a:t>
            </a:r>
          </a:p>
          <a:p xmlns:a="http://schemas.openxmlformats.org/drawingml/2006/main">
            <a:pPr marL="0" lvl="0" indent="0" algn="l">
              <a:spcBef>
                <a:spcPts val="0"/>
              </a:spcBef>
              <a:spcAft>
                <a:spcPts val="0"/>
              </a:spcAft>
              <a:buNone/>
            </a:pPr>
            <a:r>
              <a:t>\phi,\ \psi | « phi, psi » | Paramètres de l’extracteur et paramètres de la tête.</a:t>
            </a:r>
          </a:p>
          <a:p xmlns:a="http://schemas.openxmlformats.org/drawingml/2006/main">
            <a:pPr marL="0" lvl="0" indent="0" algn="l">
              <a:spcBef>
                <a:spcPts val="0"/>
              </a:spcBef>
              <a:spcAft>
                <a:spcPts val="0"/>
              </a:spcAft>
              <a:buNone/>
            </a:pPr>
            <a:r>
              <a:t>\leftarrow | « reçoit, ou est initialisé avec » | Affectation d’une valeur, pas une égalité à démontrer.</a:t>
            </a:r>
          </a:p>
          <a:p xmlns:a="http://schemas.openxmlformats.org/drawingml/2006/main">
            <a:pPr marL="0" lvl="0" indent="0" algn="l">
              <a:spcBef>
                <a:spcPts val="0"/>
              </a:spcBef>
              <a:spcAft>
                <a:spcPts val="0"/>
              </a:spcAft>
              <a:buNone/>
            </a:pPr>
            <a:r>
              <a:t>\phi_{\rm source} | « phi source » | Paramètres provenant d’un entraînement antérieur.</a:t>
            </a:r>
          </a:p>
          <a:p xmlns:a="http://schemas.openxmlformats.org/drawingml/2006/main">
            <a:pPr marL="0" lvl="0" indent="0" algn="l">
              <a:spcBef>
                <a:spcPts val="0"/>
              </a:spcBef>
              <a:spcAft>
                <a:spcPts val="0"/>
              </a:spcAft>
              <a:buNone/>
            </a:pPr>
            <a:r>
              <a:t>\psi_{\rm nouvelle} | « psi nouvelle » | Paramètres d’une tête adaptée à la nouvelle tâche.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 transfert réutilise un extracteur et lui associe une tête correspondant à la tâche cible.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Dans cette formule, phi et psi sont des ensembles de paramètres. Le rôle de g et h diffère de la notation de l’introduction : il faut toujours relire les définitions locales.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Pourquoi remplacer la dernière couche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Parce que les classes et éventuellement le nombre de sorties de la cible changent.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77 — TROIS STRATÉGIES DE TRANSFERT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Comparer les procédures à données et partition identiques. L'extraction de caractéristiques apprend seulement la tête ; elle économise le passage arrière du backbone et limite la flexibilité. Le fine-tuning part d'un état source mais adapte une partie ou la totalité du réseau avec un taux contrôlé. L'entraînement depuis zéro fournit une référence indispensable. Un transfert peut être négatif si la représentation source ou le protocole est mal adapté. Dans le TP, le budget cible est annoncé et le coût source présenté séparément ; le test n'est pas utilisé pour décider laquelle des stratégies conserver.</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baseline permet de détecter un transfert négatif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même modèle entraîné depuis zéro avec un protocole comparable.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78 — FINE-TUNING : UNE PROCÉDURE EXPLICITE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Une phase de tête seule peut éviter que des gradients provenant d'une tête aléatoire perturbent immédiatement la représentation source. Après le dégel, il faut reconstruire l'optimiseur ou lui ajouter les nouveaux paramètres si ceux-ci n'étaient pas inclus. Des groupes de paramètres autorisent un taux différent pour la tête et pour le backbone. Aucune séquence de phases ne garantit un gain ; c'est une procédure à tester et à comparer. Si l'on change de domaine ou de prétraitement, vérifier aussi la distribution des activations et les statistiques des couches de normalisation.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faut-il vérifier dans l’optimiseur après un dégel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Que les paramètres nouvellement entraînables font partie de ses groupes.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79 — GEL DES POIDS ET MODE ÉVALUATION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Ces deux commandes répondent à des questions différentes. Un backbone peut être figé du point de vue des poids tout en mettant à jour les buffers BatchNorm si son mode reste train. Inversement, eval ne bloque pas les gradients d'un paramètre qui les requiert. Dans notre petit CNN, il n'y a ni BatchNorm ni Dropout ; cela isole le mécanisme de transfert. Pour un ResNet importé, ce détail devient essentiel. Faire vérifier les drapeaux requires_grad, l'appartenance aux groupes d'optimiseur et l'évolution des buffers avant et après une époque.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un backbone sans mise à jour de poids peut-il produire des sorties différentes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dropout et les statistiques de BatchNorm peuvent encore changer.</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80 — UTILISER UN MODÈLE PRÉENTRAÎNÉ PUBLIC</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 bloc est une extension de lecture, distincte du TP CPU sans téléchargement. Avec Torchvision, l'objet weights expose les transformations attendues : redimensionnement, recadrage et normalisation. Les images doivent avoir un nombre de canaux adapté, et l'ordre des classes de la tête source n'est plus valable lorsque l'on remplace celle-ci. Le téléchargement de poids nécessite un accès réseau. L'extrait ne constitue pas un entraînement complet ni une démonstration de performance. Le notebook principal montre le même mécanisme de séparation backbone-tête à partir d'un préentraînement source réalisé localement.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conserver le prétraitement associé aux poids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La distribution d’entrée fait partie des hypothèses du préentraînement.</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Torchvision 0.23 — ResNet18</ns12:t>
            </ns12:r>
          </ns12:p>
          <ns13:p xmlns:ns13="http://schemas.openxmlformats.org/drawingml/2006/main">
            <ns13:pPr marL="0" lvl="0" indent="0" algn="l">
              <ns13:spcBef>
                <ns13:spcPts val="0"/>
              </ns13:spcBef>
              <ns13:spcAft>
                <ns13:spcPts val="0"/>
              </ns13:spcAft>
              <ns13:buNone/>
            </ns13:pPr>
            <ns13:r>
              <ns13:t>https://docs.pytorch.org/vision/0.23/models/generated/torchvision.models.resnet18.html</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81 — COMPARER DES EXPÉRIENCES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Un tableau d'expériences doit permettre de reconstruire les décisions. En plus du score, conserver la graine, le découpage, la configuration, le nombre de mises à jour et le temps mesuré sur un matériel identifié. Une comparaison à une seule graine reste indicative. Les ablations changent un facteur à la fois lorsque l'objectif est d'isoler son effet ; si plusieurs facteurs changent, le résultat concerne une recette complète. Les coûts source et cible du transfert doivent être distingués. Une expérience terminée avec une précision faible peut être pédagogiquement utile si elle est documentée et correctement interprétée.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Peut-on attribuer un gain au dropout si l’on a aussi changé la largeur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pas sans expérience supplémentaire isolant les effets.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82 — ANALYSE D’ERREURS : REGARDER LES EXEMPLES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score global masque des mécanismes très différents : une classe peut être sous-représentée, une annotation erronée ou un exemple simplement ambigu à faible résolution. Afficher ensemble vérité, prédiction et confiance, sans prendre cette confiance pour une probabilité calibrée. Construire une hypothèse d'erreur puis une vérification ciblée. Si l'analyse du test guide une modification du modèle, le test a servi au développement et ne doit plus être présenté comme une estimation indépendante de cette nouvelle version. Les notebooks emploient la validation pour l'investigation et réservent le test au bilan final.</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 risque présente l’inspection répétée du test pour améliorer le modèle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test devient progressivement un outil de sélection.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83 — TP 03 · MESURER LE TRANSFERT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Répartition : 25 minutes de préparation, 35 minutes d'apprentissage source, 55 minutes de comparaison des trois stratégies, 35 minutes d'analyse et 30 minutes de restitution. Les étiquettes cible sont remappées de 5–9 vers 0–4 pour la nouvelle tête à cinq sorties. Les données source et cible sont séparées par classe ; aucune image cible n'est utilisée pour apprendre la source. Chaque stratégie choisit son checkpoint sur la validation. Le test compare des procédures fixées à l'avance. Un score moins bon après transfert constitue un résultat à expliquer, pas une raison de modifier le test.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doit contenir un résultat interprétable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 tableau des trois protocoles, leur coût et une interprétation du transfert positif ou négatif.</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84 — JOUR 3 · À RETENIR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Faire conclure chaque binôme avec trois phrases : quelle configuration a été comparée, quelle observation a été faite sur la validation, et quelle explication reste une hypothèse. Revenir sur la taille du domaine source et sur le nombre réduit de labels cible. Les résultats du petit jeu ne permettent pas d'affirmer qu'une famille d'architectures domine universellement. Préparer la transition : les CNN mélangent localement l'information avec des poids indépendants de l'exemple ; l'attention calculera une pondération entre éléments dépendant du contenu observé.</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Qu’apportera l’attention par rapport à une convolution locale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 mélange entre positions dont les poids dépendent du contenu.</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85 — ATTENTION ET TRANSFORMERS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journée articule les concepts et leur mise à l'épreuve. Commencer par une restitution de la séance précédente.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86 — JOUR 4 · DÉROULÉ DES 7 HEURES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87 — UNE SÉQUENCE COMME TENSEUR</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Donner plusieurs exemples de tokens : sous-mots en texte, instants d'une série temporelle ou patches d'une image. Le vocabulaire et la tokenisation déterminent l'espace d'entrée ; des modèles avec des tokenisations différentes ne sont pas comparables directement par la seule perplexité. Les séquences peuvent avoir des longueurs variées. Le padding est une commodité de calcul, pas une observation : il doit être exclu de l'attention et, selon la tâche, de la perte. Distinguer la dimension d d'une représentation continue et la taille V du vocabulaire d'identifiants discrets.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X\in\mathbb R^{B\times n\times d}</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Grand X appartient à l’espace des tenseurs réels de taille B par n par d.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 | « grand x » | Tenseur représentant un batch de séquences.</a:t>
            </a:r>
          </a:p>
          <a:p xmlns:a="http://schemas.openxmlformats.org/drawingml/2006/main">
            <a:pPr marL="0" lvl="0" indent="0" algn="l">
              <a:spcBef>
                <a:spcPts val="0"/>
              </a:spcBef>
              <a:spcAft>
                <a:spcPts val="0"/>
              </a:spcAft>
              <a:buNone/>
            </a:pPr>
            <a:r>
              <a:t>\in | « appartient à » | Indique le type d’objet mathématique.</a:t>
            </a:r>
          </a:p>
          <a:p xmlns:a="http://schemas.openxmlformats.org/drawingml/2006/main">
            <a:pPr marL="0" lvl="0" indent="0" algn="l">
              <a:spcBef>
                <a:spcPts val="0"/>
              </a:spcBef>
              <a:spcAft>
                <a:spcPts val="0"/>
              </a:spcAft>
              <a:buNone/>
            </a:pPr>
            <a:r>
              <a:t>\mathbb R | « erre, ensemble des réels » | Les composantes du tenseur sont des nombres réels.</a:t>
            </a:r>
          </a:p>
          <a:p xmlns:a="http://schemas.openxmlformats.org/drawingml/2006/main">
            <a:pPr marL="0" lvl="0" indent="0" algn="l">
              <a:spcBef>
                <a:spcPts val="0"/>
              </a:spcBef>
              <a:spcAft>
                <a:spcPts val="0"/>
              </a:spcAft>
              <a:buNone/>
            </a:pPr>
            <a:r>
              <a:t>B | « bé » | Nombre de séquences dans le batch.</a:t>
            </a:r>
          </a:p>
          <a:p xmlns:a="http://schemas.openxmlformats.org/drawingml/2006/main">
            <a:pPr marL="0" lvl="0" indent="0" algn="l">
              <a:spcBef>
                <a:spcPts val="0"/>
              </a:spcBef>
              <a:spcAft>
                <a:spcPts val="0"/>
              </a:spcAft>
              <a:buNone/>
            </a:pPr>
            <a:r>
              <a:t>n | « enne » | Nombre de positions dans une séquence, avec padding éventuel.</a:t>
            </a:r>
          </a:p>
          <a:p xmlns:a="http://schemas.openxmlformats.org/drawingml/2006/main">
            <a:pPr marL="0" lvl="0" indent="0" algn="l">
              <a:spcBef>
                <a:spcPts val="0"/>
              </a:spcBef>
              <a:spcAft>
                <a:spcPts val="0"/>
              </a:spcAft>
              <a:buNone/>
            </a:pPr>
            <a:r>
              <a:t>d | « dé » | Nombre de caractéristiques par position.</a:t>
            </a:r>
          </a:p>
          <a:p xmlns:a="http://schemas.openxmlformats.org/drawingml/2006/main">
            <a:pPr marL="0" lvl="0" indent="0" algn="l">
              <a:spcBef>
                <a:spcPts val="0"/>
              </a:spcBef>
              <a:spcAft>
                <a:spcPts val="0"/>
              </a:spcAft>
              <a:buNone/>
            </a:pPr>
            <a:r>
              <a:t>B\times n\times d | « bé par enne par dé » | Tailles des trois axes, dans cet ordre.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Pour chaque séquence et chaque position, le modèle manipule un vecteur de d nombres.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produit B fois n fois d donne le nombre total de valeurs, mais la forme du tenseur garde l’ordre et le rôle de ses axes.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Un token correspond-il toujours à un mot complet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il peut représenter un sous-mot, un caractère, un patch ou un autre élément.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88 — RÉCURRENCE ET DÉPENDANCES LONGUES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Cette parenthèse explique la motivation historique, sans prétendre que la récurrence est obsolète. Un RNN partage ses poids dans le temps et condense le passé dans un état. Les gradients sur de longues distances impliquent de nombreux produits de Jacobiennes. Des mécanismes comme LSTM et GRU ont été conçus pour améliorer cette dynamique. L'attention introduit un chemin direct entre positions, au prix d'un calcul potentiellement quadratique. Des architectures récurrentes ou à état restent pertinentes lorsque le coût mémoire ou la structure du flux les favorise.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h_t=\phi(W_xx_t+W_hh_{t-1}+b)</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h t vaut phi appliquée à W x fois x t, plus W h fois h t moins un, plus b.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t | « té » | Position courante dans la séquence.</a:t>
            </a:r>
          </a:p>
          <a:p xmlns:a="http://schemas.openxmlformats.org/drawingml/2006/main">
            <a:pPr marL="0" lvl="0" indent="0" algn="l">
              <a:spcBef>
                <a:spcPts val="0"/>
              </a:spcBef>
              <a:spcAft>
                <a:spcPts val="0"/>
              </a:spcAft>
              <a:buNone/>
            </a:pPr>
            <a:r>
              <a:t>x_t | « x indice t » | Vecteur d’entrée à la position t.</a:t>
            </a:r>
          </a:p>
          <a:p xmlns:a="http://schemas.openxmlformats.org/drawingml/2006/main">
            <a:pPr marL="0" lvl="0" indent="0" algn="l">
              <a:spcBef>
                <a:spcPts val="0"/>
              </a:spcBef>
              <a:spcAft>
                <a:spcPts val="0"/>
              </a:spcAft>
              <a:buNone/>
            </a:pPr>
            <a:r>
              <a:t>h_t,\ h_{t-1} | « ache t, ache t moins un » | État caché courant et état caché précédent.</a:t>
            </a:r>
          </a:p>
          <a:p xmlns:a="http://schemas.openxmlformats.org/drawingml/2006/main">
            <a:pPr marL="0" lvl="0" indent="0" algn="l">
              <a:spcBef>
                <a:spcPts val="0"/>
              </a:spcBef>
              <a:spcAft>
                <a:spcPts val="0"/>
              </a:spcAft>
              <a:buNone/>
            </a:pPr>
            <a:r>
              <a:t>W_x | « w indice x » | Matrice qui transforme l’entrée courante.</a:t>
            </a:r>
          </a:p>
          <a:p xmlns:a="http://schemas.openxmlformats.org/drawingml/2006/main">
            <a:pPr marL="0" lvl="0" indent="0" algn="l">
              <a:spcBef>
                <a:spcPts val="0"/>
              </a:spcBef>
              <a:spcAft>
                <a:spcPts val="0"/>
              </a:spcAft>
              <a:buNone/>
            </a:pPr>
            <a:r>
              <a:t>W_h | « w indice ache » | Matrice qui transforme l’état précédent.</a:t>
            </a:r>
          </a:p>
          <a:p xmlns:a="http://schemas.openxmlformats.org/drawingml/2006/main">
            <a:pPr marL="0" lvl="0" indent="0" algn="l">
              <a:spcBef>
                <a:spcPts val="0"/>
              </a:spcBef>
              <a:spcAft>
                <a:spcPts val="0"/>
              </a:spcAft>
              <a:buNone/>
            </a:pPr>
            <a:r>
              <a:t>b | « bé » | Biais du calcul de l’état.</a:t>
            </a:r>
          </a:p>
          <a:p xmlns:a="http://schemas.openxmlformats.org/drawingml/2006/main">
            <a:pPr marL="0" lvl="0" indent="0" algn="l">
              <a:spcBef>
                <a:spcPts val="0"/>
              </a:spcBef>
              <a:spcAft>
                <a:spcPts val="0"/>
              </a:spcAft>
              <a:buNone/>
            </a:pPr>
            <a:r>
              <a:t>\phi | « phi » | Activation appliquée composante par composante.</a:t>
            </a:r>
          </a:p>
          <a:p xmlns:a="http://schemas.openxmlformats.org/drawingml/2006/main">
            <a:pPr marL="0" lvl="0" indent="0" algn="l">
              <a:spcBef>
                <a:spcPts val="0"/>
              </a:spcBef>
              <a:spcAft>
                <a:spcPts val="0"/>
              </a:spcAft>
              <a:buNone/>
            </a:pPr>
            <a:r>
              <a:t>W_xx_t+W_hh_{t-1}+b | « W x fois x t, plus W h fois h t moins un, plus b » | Combinaison de l’information nouvelle et de l’état mémorisé.</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L’état courant dépend à la fois du token actuel et du résumé calculé au pas précédent.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Les mêmes matrices sont partagées entre les positions. Les indices x et h nomment le rôle des matrices, ils ne sont pas des variables qui multiplient W.</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Quel compromis apparaît avec des interactions entre toutes les positions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Un chemin plus direct, mais davantage de calcul et de mémoire selon l’implémentation.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Romain Tavenard — Introduction au Deep Learning, 2025</a:t>
            </a:r>
          </a:p>
          <a:p xmlns:a="http://schemas.openxmlformats.org/drawingml/2006/main">
            <a:pPr marL="0" lvl="0" indent="0" algn="l">
              <a:spcBef>
                <a:spcPts val="0"/>
              </a:spcBef>
              <a:spcAft>
                <a:spcPts val="0"/>
              </a:spcAft>
              <a:buNone/>
            </a:pPr>
            <a:r>
              <a:t>https://rtavenar.github.io/deep_book/book_fr.pdf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89 — EMBEDDINGS : DES IDENTIFIANTS AUX VECTEURS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Une entrée entière n'est pas une grandeur ordinale : l'identifiant 8 n'est pas intrinsèquement plus proche de 9 que de 2. L'embedding transforme cet index en vecteur continu. Sa table comporte V×d paramètres, ce qui peut devenir coûteux pour un grand vocabulaire. Seules les lignes utilisées contribuent directement à une étape donnée, selon le calcul et l'optimiseur. La proximité géométrique des vecteurs est une conséquence de l'objectif appris et ne garantit pas une relation sémantique précise. Pour le mini-Transformer, les tokens sont volontairement de petits symboles entiers afin d'isoler le mécanisme.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E\in\mathbb R^{V\times d},\qquad x_t=E[\operatorname{id}(t),:]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E est une matrice réelle à V lignes et d colonnes. »</a:t>
            </a:r>
          </a:p>
          <a:p xmlns:a="http://schemas.openxmlformats.org/drawingml/2006/main">
            <a:pPr marL="0" lvl="0" indent="0" algn="l">
              <a:spcBef>
                <a:spcPts val="0"/>
              </a:spcBef>
              <a:spcAft>
                <a:spcPts val="0"/>
              </a:spcAft>
              <a:buNone/>
            </a:pPr>
            <a:r>
              <a:t>« x t est la ligne de E correspondant à l’identifiant du token présent à la position t, en prenant toutes ses colonnes.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E | « e majuscule » | Table d’embeddings apprise.</a:t>
            </a:r>
          </a:p>
          <a:p xmlns:a="http://schemas.openxmlformats.org/drawingml/2006/main">
            <a:pPr marL="0" lvl="0" indent="0" algn="l">
              <a:spcBef>
                <a:spcPts val="0"/>
              </a:spcBef>
              <a:spcAft>
                <a:spcPts val="0"/>
              </a:spcAft>
              <a:buNone/>
            </a:pPr>
            <a:r>
              <a:t>V | « vé majuscule » | Nombre de tokens du vocabulaire.</a:t>
            </a:r>
          </a:p>
          <a:p xmlns:a="http://schemas.openxmlformats.org/drawingml/2006/main">
            <a:pPr marL="0" lvl="0" indent="0" algn="l">
              <a:spcBef>
                <a:spcPts val="0"/>
              </a:spcBef>
              <a:spcAft>
                <a:spcPts val="0"/>
              </a:spcAft>
              <a:buNone/>
            </a:pPr>
            <a:r>
              <a:t>d | « dé » | Dimension de chaque embedding.</a:t>
            </a:r>
          </a:p>
          <a:p xmlns:a="http://schemas.openxmlformats.org/drawingml/2006/main">
            <a:pPr marL="0" lvl="0" indent="0" algn="l">
              <a:spcBef>
                <a:spcPts val="0"/>
              </a:spcBef>
              <a:spcAft>
                <a:spcPts val="0"/>
              </a:spcAft>
              <a:buNone/>
            </a:pPr>
            <a:r>
              <a:t>\mathbb R^{V\times d} | « matrices réelles à V lignes et d colonnes » | Une ligne par token et une colonne par caractéristique.</a:t>
            </a:r>
          </a:p>
          <a:p xmlns:a="http://schemas.openxmlformats.org/drawingml/2006/main">
            <a:pPr marL="0" lvl="0" indent="0" algn="l">
              <a:spcBef>
                <a:spcPts val="0"/>
              </a:spcBef>
              <a:spcAft>
                <a:spcPts val="0"/>
              </a:spcAft>
              <a:buNone/>
            </a:pPr>
            <a:r>
              <a:t>t | « té » | Position du token dans la séquence.</a:t>
            </a:r>
          </a:p>
          <a:p xmlns:a="http://schemas.openxmlformats.org/drawingml/2006/main">
            <a:pPr marL="0" lvl="0" indent="0" algn="l">
              <a:spcBef>
                <a:spcPts val="0"/>
              </a:spcBef>
              <a:spcAft>
                <a:spcPts val="0"/>
              </a:spcAft>
              <a:buNone/>
            </a:pPr>
            <a:r>
              <a:t>\operatorname{id}(t) | « identifiant du token à la position t » | Dans cette écriture, index de la ligne qui correspond au token observé.</a:t>
            </a:r>
          </a:p>
          <a:p xmlns:a="http://schemas.openxmlformats.org/drawingml/2006/main">
            <a:pPr marL="0" lvl="0" indent="0" algn="l">
              <a:spcBef>
                <a:spcPts val="0"/>
              </a:spcBef>
              <a:spcAft>
                <a:spcPts val="0"/>
              </a:spcAft>
              <a:buNone/>
            </a:pPr>
            <a:r>
              <a:t>E[\operatorname{id}(t),:] | « E, ligne identifiant du token t, toutes les colonnes » | Sélection d’une ligne de la table.</a:t>
            </a:r>
          </a:p>
          <a:p xmlns:a="http://schemas.openxmlformats.org/drawingml/2006/main">
            <a:pPr marL="0" lvl="0" indent="0" algn="l">
              <a:spcBef>
                <a:spcPts val="0"/>
              </a:spcBef>
              <a:spcAft>
                <a:spcPts val="0"/>
              </a:spcAft>
              <a:buNone/>
            </a:pPr>
            <a:r>
              <a:t>x_t | « x indice t » | Vecteur d’embedding renvoyé à cette position.</a:t>
            </a:r>
          </a:p>
          <a:p xmlns:a="http://schemas.openxmlformats.org/drawingml/2006/main">
            <a:pPr marL="0" lvl="0" indent="0" algn="l">
              <a:spcBef>
                <a:spcPts val="0"/>
              </a:spcBef>
              <a:spcAft>
                <a:spcPts val="0"/>
              </a:spcAft>
              <a:buNone/>
            </a:pPr>
            <a:r>
              <a:t> :  | « deux-points, toutes les colonnes » | Notation d’indexation qui sélectionne toutes les caractéristiques.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Une consultation de table remplace un identifiant discret par un vecteur continu.</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L’identifiant du token n’est pas son numéro de position. V majuscule est ici la taille du vocabulaire, alors qu’il désigne les valeurs dans l’attention.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Combien de paramètres pour V=1000 et d=64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64 000, sans biais.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90 — INFORMATION DE POSITION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La propriété de permutation concerne une auto-attention sans masque positionnel et avec les mêmes projections à toutes les positions. Un masque causal introduit déjà une structure d'ordre, mais ne remplace pas toutes les informations de position utiles. Dans le notebook, une table de positions apprises est ajoutée à chaque embedding avant les blocs. Cela fixe une longueur maximale prévue et ne garantit pas une extrapolation à des positions jamais vues. Les encodages relatifs et rotatifs constituent d'autres choix, seulement mentionnés ici pour situer cette famille de solutions.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X_0=E[\text{tokens}]+P,\qquad\operatorname{SA}(\Pi X)=\Pi\operatorname{SA}(X)</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X zéro vaut les embeddings des tokens, plus leurs représentations de position P. »</a:t>
            </a:r>
          </a:p>
          <a:p xmlns:a="http://schemas.openxmlformats.org/drawingml/2006/main">
            <a:pPr marL="0" lvl="0" indent="0" algn="l">
              <a:spcBef>
                <a:spcPts val="0"/>
              </a:spcBef>
              <a:spcAft>
                <a:spcPts val="0"/>
              </a:spcAft>
              <a:buNone/>
            </a:pPr>
            <a:r>
              <a:t>« Sans information ni masque de position, l’auto-attention appliquée à X dont on a permuté les lignes donne la même permutation des sorties de l’auto-attention.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X_0 | « x indice zéro » | Représentations à l’entrée de la première couche Transformer.</a:t>
            </a:r>
          </a:p>
          <a:p xmlns:a="http://schemas.openxmlformats.org/drawingml/2006/main">
            <a:pPr marL="0" lvl="0" indent="0" algn="l">
              <a:spcBef>
                <a:spcPts val="0"/>
              </a:spcBef>
              <a:spcAft>
                <a:spcPts val="0"/>
              </a:spcAft>
              <a:buNone/>
            </a:pPr>
            <a:r>
              <a:t>E[\text{tokens}] | « embeddings des tokens » | Lignes de la table d’embeddings sélectionnées pour la séquence.</a:t>
            </a:r>
          </a:p>
          <a:p xmlns:a="http://schemas.openxmlformats.org/drawingml/2006/main">
            <a:pPr marL="0" lvl="0" indent="0" algn="l">
              <a:spcBef>
                <a:spcPts val="0"/>
              </a:spcBef>
              <a:spcAft>
                <a:spcPts val="0"/>
              </a:spcAft>
              <a:buNone/>
            </a:pPr>
            <a:r>
              <a:t>P | « pé majuscule » | Matrice d’informations de position, compatible avec la forme des embeddings.</a:t>
            </a:r>
          </a:p>
          <a:p xmlns:a="http://schemas.openxmlformats.org/drawingml/2006/main">
            <a:pPr marL="0" lvl="0" indent="0" algn="l">
              <a:spcBef>
                <a:spcPts val="0"/>
              </a:spcBef>
              <a:spcAft>
                <a:spcPts val="0"/>
              </a:spcAft>
              <a:buNone/>
            </a:pPr>
            <a:r>
              <a:t>+ | « plus » | Addition composante par composante des contenus et des positions.</a:t>
            </a:r>
          </a:p>
          <a:p xmlns:a="http://schemas.openxmlformats.org/drawingml/2006/main">
            <a:pPr marL="0" lvl="0" indent="0" algn="l">
              <a:spcBef>
                <a:spcPts val="0"/>
              </a:spcBef>
              <a:spcAft>
                <a:spcPts val="0"/>
              </a:spcAft>
              <a:buNone/>
            </a:pPr>
            <a:r>
              <a:t>\operatorname{SA} | « auto-attention, ou self-attention » | Opération d’attention où les requêtes, clés et valeurs proviennent de la même séquence.</a:t>
            </a:r>
          </a:p>
          <a:p xmlns:a="http://schemas.openxmlformats.org/drawingml/2006/main">
            <a:pPr marL="0" lvl="0" indent="0" algn="l">
              <a:spcBef>
                <a:spcPts val="0"/>
              </a:spcBef>
              <a:spcAft>
                <a:spcPts val="0"/>
              </a:spcAft>
              <a:buNone/>
            </a:pPr>
            <a:r>
              <a:t>\Pi | « pi majuscule » | Matrice qui permute l’ordre des lignes.</a:t>
            </a:r>
          </a:p>
          <a:p xmlns:a="http://schemas.openxmlformats.org/drawingml/2006/main">
            <a:pPr marL="0" lvl="0" indent="0" algn="l">
              <a:spcBef>
                <a:spcPts val="0"/>
              </a:spcBef>
              <a:spcAft>
                <a:spcPts val="0"/>
              </a:spcAft>
              <a:buNone/>
            </a:pPr>
            <a:r>
              <a:t>\Pi X | « pi appliquée à X » | Séquence dont les positions ont été réordonnées.</a:t>
            </a:r>
          </a:p>
          <a:p xmlns:a="http://schemas.openxmlformats.org/drawingml/2006/main">
            <a:pPr marL="0" lvl="0" indent="0" algn="l">
              <a:spcBef>
                <a:spcPts val="0"/>
              </a:spcBef>
              <a:spcAft>
                <a:spcPts val="0"/>
              </a:spcAft>
              <a:buNone/>
            </a:pPr>
            <a:r>
              <a:t>\Pi\operatorname{SA}(X) | « pi appliquée aux sorties de l’auto-attention » | Même permutation appliquée aux vecteurs de sortie.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deuxième égalité exprime l’équivariance par permutation de l’auto-attention dépourvue de structure positionnelle.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Pi majuscule est ici une matrice de permutation, pas le produit de plusieurs termes. L’égalité suppose notamment l’absence de masque positionnel et des projections partagées.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Que signifie l’équivariance par permutation de l’auto-attention non masquée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Permuter les tokens permute les sorties correspondantes.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Vaswani et al. — Attention Is All You Need, 2017</a:t>
            </a:r>
          </a:p>
          <a:p xmlns:a="http://schemas.openxmlformats.org/drawingml/2006/main">
            <a:pPr marL="0" lvl="0" indent="0" algn="l">
              <a:spcBef>
                <a:spcPts val="0"/>
              </a:spcBef>
              <a:spcAft>
                <a:spcPts val="0"/>
              </a:spcAft>
              <a:buNone/>
            </a:pPr>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91 — ENCODAGE SINUSOÏDAL DES POSITIONS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Décrire t comme la position et i comme un index de paire de caractéristiques. Les fréquences réparties sur plusieurs échelles rendent les positions distinguables dans différents régimes. Pour un décalage donné, les formules trigonométriques relient les sinus et cosinus de positions voisines par une transformation linéaire dans chaque paire. Cela motive l'approche sans prouver qu'un modèle entraîné sur une longueur donnée fonctionnera arbitrairement loin. Comparer avec la table apprise du TP : moins de structure imposée mais aucune valeur apprise au-delà des indices disponibles.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PE_{t,2i}=\sin\!\left(\frac{t}{10000^{2i/d}}\right),\qquad PE_{t,2i+1}=\cos\!\left(\frac{t}{10000^{2i/d}}\right)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P E, à la position t et à la coordonnée deux i, vaut le sinus de t divisé par dix mille à la puissance deux i sur d. »</a:t>
            </a:r>
          </a:p>
          <a:p xmlns:a="http://schemas.openxmlformats.org/drawingml/2006/main">
            <a:pPr marL="0" lvl="0" indent="0" algn="l">
              <a:spcBef>
                <a:spcPts val="0"/>
              </a:spcBef>
              <a:spcAft>
                <a:spcPts val="0"/>
              </a:spcAft>
              <a:buNone/>
            </a:pPr>
            <a:r>
              <a:t>« P E, à la position t et à la coordonnée deux i plus un, vaut le cosinus du même quotient.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PE_{t,2i} | « P E indice t, deux i » | Valeur de l’encodage de position pour le token de position t, sur la coordonnée paire 2i.</a:t>
            </a:r>
          </a:p>
          <a:p xmlns:a="http://schemas.openxmlformats.org/drawingml/2006/main">
            <a:pPr marL="0" lvl="0" indent="0" algn="l">
              <a:spcBef>
                <a:spcPts val="0"/>
              </a:spcBef>
              <a:spcAft>
                <a:spcPts val="0"/>
              </a:spcAft>
              <a:buNone/>
            </a:pPr>
            <a:r>
              <a:t>PE_{t,2i+1} | « P E indice t, deux i plus un » | Valeur sur la coordonnée impaire associée.</a:t>
            </a:r>
          </a:p>
          <a:p xmlns:a="http://schemas.openxmlformats.org/drawingml/2006/main">
            <a:pPr marL="0" lvl="0" indent="0" algn="l">
              <a:spcBef>
                <a:spcPts val="0"/>
              </a:spcBef>
              <a:spcAft>
                <a:spcPts val="0"/>
              </a:spcAft>
              <a:buNone/>
            </a:pPr>
            <a:r>
              <a:t>t | « té » | Position du token dans la séquence, en commençant ici à zéro.</a:t>
            </a:r>
          </a:p>
          <a:p xmlns:a="http://schemas.openxmlformats.org/drawingml/2006/main">
            <a:pPr marL="0" lvl="0" indent="0" algn="l">
              <a:spcBef>
                <a:spcPts val="0"/>
              </a:spcBef>
              <a:spcAft>
                <a:spcPts val="0"/>
              </a:spcAft>
              <a:buNone/>
            </a:pPr>
            <a:r>
              <a:t>i | « i » | Indice d’une paire de coordonnées ; ce n’est pas l’indice d’un token.</a:t>
            </a:r>
          </a:p>
          <a:p xmlns:a="http://schemas.openxmlformats.org/drawingml/2006/main">
            <a:pPr marL="0" lvl="0" indent="0" algn="l">
              <a:spcBef>
                <a:spcPts val="0"/>
              </a:spcBef>
              <a:spcAft>
                <a:spcPts val="0"/>
              </a:spcAft>
              <a:buNone/>
            </a:pPr>
            <a:r>
              <a:t>d | « dé » | Dimension de la représentation du token ; on suppose ici d pair.</a:t>
            </a:r>
          </a:p>
          <a:p xmlns:a="http://schemas.openxmlformats.org/drawingml/2006/main">
            <a:pPr marL="0" lvl="0" indent="0" algn="l">
              <a:spcBef>
                <a:spcPts val="0"/>
              </a:spcBef>
              <a:spcAft>
                <a:spcPts val="0"/>
              </a:spcAft>
              <a:buNone/>
            </a:pPr>
            <a:r>
              <a:t>2i,\ 2i+1 | « deux i ; deux i plus un » | Deux coordonnées consécutives : une paire sinus/cosinus.</a:t>
            </a:r>
          </a:p>
          <a:p xmlns:a="http://schemas.openxmlformats.org/drawingml/2006/main">
            <a:pPr marL="0" lvl="0" indent="0" algn="l">
              <a:spcBef>
                <a:spcPts val="0"/>
              </a:spcBef>
              <a:spcAft>
                <a:spcPts val="0"/>
              </a:spcAft>
              <a:buNone/>
            </a:pPr>
            <a:r>
              <a:t>\sin,\ \cos | « sinus ; cosinus » | Fonctions trigonométriques dont les arguments sont exprimés en radians.</a:t>
            </a:r>
          </a:p>
          <a:p xmlns:a="http://schemas.openxmlformats.org/drawingml/2006/main">
            <a:pPr marL="0" lvl="0" indent="0" algn="l">
              <a:spcBef>
                <a:spcPts val="0"/>
              </a:spcBef>
              <a:spcAft>
                <a:spcPts val="0"/>
              </a:spcAft>
              <a:buNone/>
            </a:pPr>
            <a:r>
              <a:t>10000^{2i/d} | « dix mille puissance deux i sur d » | Facteur d’échelle qui varie selon la paire de coordonnées. Toute la fraction 2i/d est l’exposant.</a:t>
            </a:r>
          </a:p>
          <a:p xmlns:a="http://schemas.openxmlformats.org/drawingml/2006/main">
            <a:pPr marL="0" lvl="0" indent="0" algn="l">
              <a:spcBef>
                <a:spcPts val="0"/>
              </a:spcBef>
              <a:spcAft>
                <a:spcPts val="0"/>
              </a:spcAft>
              <a:buNone/>
            </a:pPr>
            <a:r>
              <a:t>\frac{t}{10000^{2i/d}} | « t divisé par dix mille puissance deux i sur d » | Argument des fonctions : il associe la position à plusieurs fréquences.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Chaque position reçoit un vecteur déterministe. Les différentes coordonnées évoluent à des fréquences différentes, ce qui fournit au réseau une information d’ordre.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Les indices t et 2i identifient une case du tableau PE ; ce ne sont pas des puissances. La constante 10000 fixe une gamme de fréquences et n’est ni le nombre de tokens ni une probabilité.</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L’encodage sinusoidal contient-il des paramètres entraînables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Pas dans sa forme déterministe standard.</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Vaswani et al. — Attention Is All You Need, 2017</a:t>
            </a:r>
          </a:p>
          <a:p xmlns:a="http://schemas.openxmlformats.org/drawingml/2006/main">
            <a:pPr marL="0" lvl="0" indent="0" algn="l">
              <a:spcBef>
                <a:spcPts val="0"/>
              </a:spcBef>
              <a:spcAft>
                <a:spcPts val="0"/>
              </a:spcAft>
              <a:buNone/>
            </a:pPr>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92 — L’ATTENTION COMME SOMME PONDÉRÉE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Cette écriture suffit à expliquer le mécanisme sans métaphore obligatoire. La requête détermine ce que la position i cherche ; la clé fournit un espace de comparaison ; la valeur porte l'information mélangée dans la sortie. Les clés et les valeurs peuvent avoir des dimensions différentes, mais la dimension des requêtes doit correspondre à celle des clés pour un produit scalaire. Avec softmax, la sortie avant projection est dans l'enveloppe convexe des valeurs. Cela n'implique pas que le bloc complet soit une simple moyenne, puisqu'il comprend des projections, des résidus et des non-linéarités.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o_i=\sum_{j=1}^{n_k}\alpha_{ij}v_j,\qquad\sum_j\alpha_{ij}=1,\quad\alpha_{ij}\ge0</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o indice i est égal à la somme, pour j allant de un à n indice k, de alpha indice i j multiplié par v indice j. »</a:t>
            </a:r>
          </a:p>
          <a:p xmlns:a="http://schemas.openxmlformats.org/drawingml/2006/main">
            <a:pPr marL="0" lvl="0" indent="0" algn="l">
              <a:spcBef>
                <a:spcPts val="0"/>
              </a:spcBef>
              <a:spcAft>
                <a:spcPts val="0"/>
              </a:spcAft>
              <a:buNone/>
            </a:pPr>
            <a:r>
              <a:t>« Pour une requête i fixée, la somme des alpha i j sur les clés j vaut un, et chaque alpha i j est positif ou nul.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o_i | « o indice i » | Vecteur de sortie de l’attention pour la requête i.</a:t>
            </a:r>
          </a:p>
          <a:p xmlns:a="http://schemas.openxmlformats.org/drawingml/2006/main">
            <a:pPr marL="0" lvl="0" indent="0" algn="l">
              <a:spcBef>
                <a:spcPts val="0"/>
              </a:spcBef>
              <a:spcAft>
                <a:spcPts val="0"/>
              </a:spcAft>
              <a:buNone/>
            </a:pPr>
            <a:r>
              <a:t>i | « i » | Indice de la requête dont on calcule la représentation.</a:t>
            </a:r>
          </a:p>
          <a:p xmlns:a="http://schemas.openxmlformats.org/drawingml/2006/main">
            <a:pPr marL="0" lvl="0" indent="0" algn="l">
              <a:spcBef>
                <a:spcPts val="0"/>
              </a:spcBef>
              <a:spcAft>
                <a:spcPts val="0"/>
              </a:spcAft>
              <a:buNone/>
            </a:pPr>
            <a:r>
              <a:t>j | « ji » | Indice d’une clé et du vecteur de valeur associé.</a:t>
            </a:r>
          </a:p>
          <a:p xmlns:a="http://schemas.openxmlformats.org/drawingml/2006/main">
            <a:pPr marL="0" lvl="0" indent="0" algn="l">
              <a:spcBef>
                <a:spcPts val="0"/>
              </a:spcBef>
              <a:spcAft>
                <a:spcPts val="0"/>
              </a:spcAft>
              <a:buNone/>
            </a:pPr>
            <a:r>
              <a:t>n_k | « n indice k » | Nombre de clés et de valeurs disponibles.</a:t>
            </a:r>
          </a:p>
          <a:p xmlns:a="http://schemas.openxmlformats.org/drawingml/2006/main">
            <a:pPr marL="0" lvl="0" indent="0" algn="l">
              <a:spcBef>
                <a:spcPts val="0"/>
              </a:spcBef>
              <a:spcAft>
                <a:spcPts val="0"/>
              </a:spcAft>
              <a:buNone/>
            </a:pPr>
            <a:r>
              <a:t>\sum_{j=1}^{n_k} | « somme pour j de un à n indice k » | Addition de la contribution de chaque valeur.</a:t>
            </a:r>
          </a:p>
          <a:p xmlns:a="http://schemas.openxmlformats.org/drawingml/2006/main">
            <a:pPr marL="0" lvl="0" indent="0" algn="l">
              <a:spcBef>
                <a:spcPts val="0"/>
              </a:spcBef>
              <a:spcAft>
                <a:spcPts val="0"/>
              </a:spcAft>
              <a:buNone/>
            </a:pPr>
            <a:r>
              <a:t>\alpha_{ij} | « alpha indice i j » | Poids scalaire donné par la requête i à la valeur j.</a:t>
            </a:r>
          </a:p>
          <a:p xmlns:a="http://schemas.openxmlformats.org/drawingml/2006/main">
            <a:pPr marL="0" lvl="0" indent="0" algn="l">
              <a:spcBef>
                <a:spcPts val="0"/>
              </a:spcBef>
              <a:spcAft>
                <a:spcPts val="0"/>
              </a:spcAft>
              <a:buNone/>
            </a:pPr>
            <a:r>
              <a:t>v_j | « vé indice j » | Vecteur de valeur associé à la clé j.</a:t>
            </a:r>
          </a:p>
          <a:p xmlns:a="http://schemas.openxmlformats.org/drawingml/2006/main">
            <a:pPr marL="0" lvl="0" indent="0" algn="l">
              <a:spcBef>
                <a:spcPts val="0"/>
              </a:spcBef>
              <a:spcAft>
                <a:spcPts val="0"/>
              </a:spcAft>
              <a:buNone/>
            </a:pPr>
            <a:r>
              <a:t>\alpha_{ij}v_j | « alpha i j fois v j » | Multiplication de toutes les composantes de v_j par le même poids.</a:t>
            </a:r>
          </a:p>
          <a:p xmlns:a="http://schemas.openxmlformats.org/drawingml/2006/main">
            <a:pPr marL="0" lvl="0" indent="0" algn="l">
              <a:spcBef>
                <a:spcPts val="0"/>
              </a:spcBef>
              <a:spcAft>
                <a:spcPts val="0"/>
              </a:spcAft>
              <a:buNone/>
            </a:pPr>
            <a:r>
              <a:t>\sum_j\alpha_{ij}=1 | « la somme des alpha i j sur j vaut un » | Normalisation des poids d’une même requête.</a:t>
            </a:r>
          </a:p>
          <a:p xmlns:a="http://schemas.openxmlformats.org/drawingml/2006/main">
            <a:pPr marL="0" lvl="0" indent="0" algn="l">
              <a:spcBef>
                <a:spcPts val="0"/>
              </a:spcBef>
              <a:spcAft>
                <a:spcPts val="0"/>
              </a:spcAft>
              <a:buNone/>
            </a:pPr>
            <a:r>
              <a:t>\alpha_{ij}\ge0 | « alpha i j est supérieur ou égal à zéro » | Les poids sont non négatifs.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L’attention construit chaque sortie comme une moyenne pondérée des valeurs. Les poids changent avec la requête : deux tokens peuvent agréger différemment les mêmes valeurs.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La somme égale à un décrit les poids après softmax et avant un éventuel dropout d’attention. Un poids élevé indique une contribution à cette agrégation ; il ne constitue pas, à lui seul, une explication causale de la prédiction.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Sur quel axe les poids doivent-ils sommer à un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Sur l’axe des clés consultées par chaque requête.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Romain Tavenard — Introduction au Deep Learning, 2025</a:t>
            </a:r>
          </a:p>
          <a:p xmlns:a="http://schemas.openxmlformats.org/drawingml/2006/main">
            <a:pPr marL="0" lvl="0" indent="0" algn="l">
              <a:spcBef>
                <a:spcPts val="0"/>
              </a:spcBef>
              <a:spcAft>
                <a:spcPts val="0"/>
              </a:spcAft>
              <a:buNone/>
            </a:pPr>
            <a:r>
              <a:t>https://rtavenar.github.io/deep_book/book_fr.pdf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93 — Q, K, V : PROJECTIONS APPRISES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Ici, X a n lignes et d colonnes, en omettant le batch. Les matrices W ont donc l'orientation entrée×sortie, contrairement à la convention de stockage de nn.Linear exposée plus tôt. Le calcul reste identique : une bibliothèque stockant sortie×entrée applique la transposée. Q et K ont n×d_k éléments, V en a n×d_v. Les trois matrices sont différentes en général, même si leur entrée est commune. Le gradient traverse à la fois les valeurs et les scores qui règlent leur mélange ; l'attention est entraînée de bout en bout.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Q=XW_Q,\qquad K=XW_K,\qquad V=XW_V\\W_Q,W_K\in\mathbb R^{d\times d_k},\quad W_V\in\mathbb R^{d\times d_v}</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Q vaut X fois W indice Q ; K vaut X fois W indice K ; V vaut X fois W indice V. »</a:t>
            </a:r>
          </a:p>
          <a:p xmlns:a="http://schemas.openxmlformats.org/drawingml/2006/main">
            <a:pPr marL="0" lvl="0" indent="0" algn="l">
              <a:spcBef>
                <a:spcPts val="0"/>
              </a:spcBef>
              <a:spcAft>
                <a:spcPts val="0"/>
              </a:spcAft>
              <a:buNone/>
            </a:pPr>
            <a:r>
              <a:t>« W Q et W K appartiennent à l’espace des matrices réelles de dimension d par d indice k ; W V appartient à l’espace des matrices réelles de dimension d par d indice v.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 | « iks » | Matrice d’entrée de taille n × d : une ligne par token. La dimension de batch est omise.</a:t>
            </a:r>
          </a:p>
          <a:p xmlns:a="http://schemas.openxmlformats.org/drawingml/2006/main">
            <a:pPr marL="0" lvl="0" indent="0" algn="l">
              <a:spcBef>
                <a:spcPts val="0"/>
              </a:spcBef>
              <a:spcAft>
                <a:spcPts val="0"/>
              </a:spcAft>
              <a:buNone/>
            </a:pPr>
            <a:r>
              <a:t>Q,\ K,\ V | « ku, ka, vé » | Matrices des requêtes, clés et valeurs. Leurs tailles sont n × d_k, n × d_k et n × d_v.</a:t>
            </a:r>
          </a:p>
          <a:p xmlns:a="http://schemas.openxmlformats.org/drawingml/2006/main">
            <a:pPr marL="0" lvl="0" indent="0" algn="l">
              <a:spcBef>
                <a:spcPts val="0"/>
              </a:spcBef>
              <a:spcAft>
                <a:spcPts val="0"/>
              </a:spcAft>
              <a:buNone/>
            </a:pPr>
            <a:r>
              <a:t>W_Q,\ W_K,\ W_V | « double vé indice Q, K, V » | Trois matrices de paramètres appris qui projettent les mêmes entrées vers trois rôles.</a:t>
            </a:r>
          </a:p>
          <a:p xmlns:a="http://schemas.openxmlformats.org/drawingml/2006/main">
            <a:pPr marL="0" lvl="0" indent="0" algn="l">
              <a:spcBef>
                <a:spcPts val="0"/>
              </a:spcBef>
              <a:spcAft>
                <a:spcPts val="0"/>
              </a:spcAft>
              <a:buNone/>
            </a:pPr>
            <a:r>
              <a:t>XW_Q | « X fois W Q » | Produit matriciel, pas multiplication composante par composante.</a:t>
            </a:r>
          </a:p>
          <a:p xmlns:a="http://schemas.openxmlformats.org/drawingml/2006/main">
            <a:pPr marL="0" lvl="0" indent="0" algn="l">
              <a:spcBef>
                <a:spcPts val="0"/>
              </a:spcBef>
              <a:spcAft>
                <a:spcPts val="0"/>
              </a:spcAft>
              <a:buNone/>
            </a:pPr>
            <a:r>
              <a:t>d | « dé » | Dimension des représentations d’entrée.</a:t>
            </a:r>
          </a:p>
          <a:p xmlns:a="http://schemas.openxmlformats.org/drawingml/2006/main">
            <a:pPr marL="0" lvl="0" indent="0" algn="l">
              <a:spcBef>
                <a:spcPts val="0"/>
              </a:spcBef>
              <a:spcAft>
                <a:spcPts val="0"/>
              </a:spcAft>
              <a:buNone/>
            </a:pPr>
            <a:r>
              <a:t>d_k,\ d_v | « d indice k ; d indice v » | Dimensions respectives des requêtes/clés et des valeurs pour cette tête.</a:t>
            </a:r>
          </a:p>
          <a:p xmlns:a="http://schemas.openxmlformats.org/drawingml/2006/main">
            <a:pPr marL="0" lvl="0" indent="0" algn="l">
              <a:spcBef>
                <a:spcPts val="0"/>
              </a:spcBef>
              <a:spcAft>
                <a:spcPts val="0"/>
              </a:spcAft>
              <a:buNone/>
            </a:pPr>
            <a:r>
              <a:t>\in | « appartient à » | Indique le type et la dimension d’un objet.</a:t>
            </a:r>
          </a:p>
          <a:p xmlns:a="http://schemas.openxmlformats.org/drawingml/2006/main">
            <a:pPr marL="0" lvl="0" indent="0" algn="l">
              <a:spcBef>
                <a:spcPts val="0"/>
              </a:spcBef>
              <a:spcAft>
                <a:spcPts val="0"/>
              </a:spcAft>
              <a:buNone/>
            </a:pPr>
            <a:r>
              <a:t>\mathbb R^{d\times d_k} | « espace des matrices réelles d par d k » | Matrices à d lignes et d_k colonnes ; le symbole × sépare ici des dimensions.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Les requêtes servent à chercher, les clés à mesurer la compatibilité et les valeurs à fournir le contenu agrégé. Ce sont trois transformations apprises, pas trois copies nécessairement identiques.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Q et K doivent avoir la même largeur pour calculer leurs produits scalaires. La largeur d_v des valeurs peut être différente. Les biais sont omis dans cette écriture simplifiée.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Q=K=V dans une auto-attention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Pas en général : l’entrée est commune, les projections apprises sont distinctes.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94 — SCORES D’ATTENTION : TOUTES LES PAIRES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Écrire explicitement un produit scalaire entre une ligne de Q et une ligne de K. La transposition de K permet de calculer tous ces produits en une seule opération. Les lignes n'ont pas besoin d'avoir la même longueur en cross-attention : n_q peut être la longueur cible et n_k la longueur source. La largeur d_k doit en revanche être la même pour les deux. Le facteur racine carrée sera justifié ensuite. Une carte de scores brute n'est pas encore une carte de probabilités : ses valeurs peuvent être positives ou négatives et leur somme est quelconque.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S=\frac{QK^\top}{\sqrt{d_k}},\qquad S_{ij}=\frac{q_i^\top k_j}{\sqrt{d_k}}</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S vaut Q multiplié par K transposée, le tout divisé par la racine carrée de d indice k. »</a:t>
            </a:r>
          </a:p>
          <a:p xmlns:a="http://schemas.openxmlformats.org/drawingml/2006/main">
            <a:pPr marL="0" lvl="0" indent="0" algn="l">
              <a:spcBef>
                <a:spcPts val="0"/>
              </a:spcBef>
              <a:spcAft>
                <a:spcPts val="0"/>
              </a:spcAft>
              <a:buNone/>
            </a:pPr>
            <a:r>
              <a:t>« Le score S indice i j vaut le produit scalaire de q indice i et k indice j, divisé par la racine carrée de d indice k.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S | « esse » | Matrice des scores, de taille n_q × n_k.</a:t>
            </a:r>
          </a:p>
          <a:p xmlns:a="http://schemas.openxmlformats.org/drawingml/2006/main">
            <a:pPr marL="0" lvl="0" indent="0" algn="l">
              <a:spcBef>
                <a:spcPts val="0"/>
              </a:spcBef>
              <a:spcAft>
                <a:spcPts val="0"/>
              </a:spcAft>
              <a:buNone/>
            </a:pPr>
            <a:r>
              <a:t>S_{ij} | « esse indice i j » | Score entre la requête i et la clé j.</a:t>
            </a:r>
          </a:p>
          <a:p xmlns:a="http://schemas.openxmlformats.org/drawingml/2006/main">
            <a:pPr marL="0" lvl="0" indent="0" algn="l">
              <a:spcBef>
                <a:spcPts val="0"/>
              </a:spcBef>
              <a:spcAft>
                <a:spcPts val="0"/>
              </a:spcAft>
              <a:buNone/>
            </a:pPr>
            <a:r>
              <a:t>Q,\ K | « ku ; ka » | Matrices des requêtes et des clés, de tailles n_q × d_k et n_k × d_k.</a:t>
            </a:r>
          </a:p>
          <a:p xmlns:a="http://schemas.openxmlformats.org/drawingml/2006/main">
            <a:pPr marL="0" lvl="0" indent="0" algn="l">
              <a:spcBef>
                <a:spcPts val="0"/>
              </a:spcBef>
              <a:spcAft>
                <a:spcPts val="0"/>
              </a:spcAft>
              <a:buNone/>
            </a:pPr>
            <a:r>
              <a:t>{}^\top | « transposée » | Échange les lignes et les colonnes ; ce symbole n’est pas un exposant numérique.</a:t>
            </a:r>
          </a:p>
          <a:p xmlns:a="http://schemas.openxmlformats.org/drawingml/2006/main">
            <a:pPr marL="0" lvl="0" indent="0" algn="l">
              <a:spcBef>
                <a:spcPts val="0"/>
              </a:spcBef>
              <a:spcAft>
                <a:spcPts val="0"/>
              </a:spcAft>
              <a:buNone/>
            </a:pPr>
            <a:r>
              <a:t>QK^\top | « Q fois K transposée » | Produit matriciel qui calcule tous les scores requête–clé.</a:t>
            </a:r>
          </a:p>
          <a:p xmlns:a="http://schemas.openxmlformats.org/drawingml/2006/main">
            <a:pPr marL="0" lvl="0" indent="0" algn="l">
              <a:spcBef>
                <a:spcPts val="0"/>
              </a:spcBef>
              <a:spcAft>
                <a:spcPts val="0"/>
              </a:spcAft>
              <a:buNone/>
            </a:pPr>
            <a:r>
              <a:t>q_i,\ k_j | « ku indice i ; ka indice j » | Vecteurs représentant une requête et une clé. Dans q_i^T k_j, on les écrit comme des vecteurs colonnes.</a:t>
            </a:r>
          </a:p>
          <a:p xmlns:a="http://schemas.openxmlformats.org/drawingml/2006/main">
            <a:pPr marL="0" lvl="0" indent="0" algn="l">
              <a:spcBef>
                <a:spcPts val="0"/>
              </a:spcBef>
              <a:spcAft>
                <a:spcPts val="0"/>
              </a:spcAft>
              <a:buNone/>
            </a:pPr>
            <a:r>
              <a:t>q_i^\top k_j | « q i transposée fois k j » | Produit scalaire : somme des produits de composantes correspondantes.</a:t>
            </a:r>
          </a:p>
          <a:p xmlns:a="http://schemas.openxmlformats.org/drawingml/2006/main">
            <a:pPr marL="0" lvl="0" indent="0" algn="l">
              <a:spcBef>
                <a:spcPts val="0"/>
              </a:spcBef>
              <a:spcAft>
                <a:spcPts val="0"/>
              </a:spcAft>
              <a:buNone/>
            </a:pPr>
            <a:r>
              <a:t>d_k | « d indice k » | Nombre de composantes d’une requête ou d’une clé.</a:t>
            </a:r>
          </a:p>
          <a:p xmlns:a="http://schemas.openxmlformats.org/drawingml/2006/main">
            <a:pPr marL="0" lvl="0" indent="0" algn="l">
              <a:spcBef>
                <a:spcPts val="0"/>
              </a:spcBef>
              <a:spcAft>
                <a:spcPts val="0"/>
              </a:spcAft>
              <a:buNone/>
            </a:pPr>
            <a:r>
              <a:t>\sqrt{d_k} | « racine carrée de d indice k » | Facteur qui contrôle l’échelle des scores.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Chaque ligne de S compare une requête avec toutes les clés. Le calcul matriciel rassemble ces comparaisons pour les effectuer efficacement en parallèle.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Un score peut être négatif ou supérieur à un : ce n’est pas encore une probabilité. Diviser par √d_k ne normalise pas q et k à une norme unitaire ; ce n’est donc pas un calcul de similarité cosinus.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Quelle est la forme si Q a 5 lignes et K en a 8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5 × 8, avec une largeur d_k commune.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95 — POURQUOI DIVISER PAR √dₖ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Annoncer les hypothèses : composantes centrées, indépendantes, de variance unité, avec indépendance appropriée entre q et k. Chaque produit q_r k_r a alors une variance d'ordre un et la variance de la somme est proportionnelle au nombre de termes. Les représentations réelles n'obéissent pas exactement à ces hypothèses ; il s'agit d'une justification d'échelle. Un softmax très concentré peut avoir de faibles dérivées pour de nombreuses directions. Le facteur ne normalise pas la norme exacte de chaque requête et ne transforme pas le produit scalaire en similarité cosinus.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\operatorname{Var}\!\left(\sum_{r=1}^{d_k}q_rk_r\right)\approx d_k\quad\Longrightarrow\quad\operatorname{Var}\!\left(\frac{q^\top k}{\sqrt{d_k}}\right)\approx1</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La variance de la somme, pour r de un à d indice k, des produits q indice r fois k indice r est approximativement égale à d indice k. »</a:t>
            </a:r>
          </a:p>
          <a:p xmlns:a="http://schemas.openxmlformats.org/drawingml/2006/main">
            <a:pPr marL="0" lvl="0" indent="0" algn="l">
              <a:spcBef>
                <a:spcPts val="0"/>
              </a:spcBef>
              <a:spcAft>
                <a:spcPts val="0"/>
              </a:spcAft>
              <a:buNone/>
            </a:pPr>
            <a:r>
              <a:t>« Par conséquent, la variance du produit scalaire q transposée fois k, divisé par la racine carrée de d indice k, est approximativement égale à un.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\operatorname{Var} | « variance » | Mesure la dispersion d’une variable aléatoire autour de sa moyenne.</a:t>
            </a:r>
          </a:p>
          <a:p xmlns:a="http://schemas.openxmlformats.org/drawingml/2006/main">
            <a:pPr marL="0" lvl="0" indent="0" algn="l">
              <a:spcBef>
                <a:spcPts val="0"/>
              </a:spcBef>
              <a:spcAft>
                <a:spcPts val="0"/>
              </a:spcAft>
              <a:buNone/>
            </a:pPr>
            <a:r>
              <a:t>r | « erre » | Indice d’une composante des vecteurs q et k.</a:t>
            </a:r>
          </a:p>
          <a:p xmlns:a="http://schemas.openxmlformats.org/drawingml/2006/main">
            <a:pPr marL="0" lvl="0" indent="0" algn="l">
              <a:spcBef>
                <a:spcPts val="0"/>
              </a:spcBef>
              <a:spcAft>
                <a:spcPts val="0"/>
              </a:spcAft>
              <a:buNone/>
            </a:pPr>
            <a:r>
              <a:t>d_k | « d indice k » | Nombre de composantes additionnées dans le produit scalaire.</a:t>
            </a:r>
          </a:p>
          <a:p xmlns:a="http://schemas.openxmlformats.org/drawingml/2006/main">
            <a:pPr marL="0" lvl="0" indent="0" algn="l">
              <a:spcBef>
                <a:spcPts val="0"/>
              </a:spcBef>
              <a:spcAft>
                <a:spcPts val="0"/>
              </a:spcAft>
              <a:buNone/>
            </a:pPr>
            <a:r>
              <a:t>q_r,\ k_r | « ku indice r ; ka indice r » | Composantes aléatoires de la requête et de la clé.</a:t>
            </a:r>
          </a:p>
          <a:p xmlns:a="http://schemas.openxmlformats.org/drawingml/2006/main">
            <a:pPr marL="0" lvl="0" indent="0" algn="l">
              <a:spcBef>
                <a:spcPts val="0"/>
              </a:spcBef>
              <a:spcAft>
                <a:spcPts val="0"/>
              </a:spcAft>
              <a:buNone/>
            </a:pPr>
            <a:r>
              <a:t>\sum_{r=1}^{d_k}q_rk_r | « somme pour r de un à d k de q r fois k r » | Écriture développée du produit scalaire.</a:t>
            </a:r>
          </a:p>
          <a:p xmlns:a="http://schemas.openxmlformats.org/drawingml/2006/main">
            <a:pPr marL="0" lvl="0" indent="0" algn="l">
              <a:spcBef>
                <a:spcPts val="0"/>
              </a:spcBef>
              <a:spcAft>
                <a:spcPts val="0"/>
              </a:spcAft>
              <a:buNone/>
            </a:pPr>
            <a:r>
              <a:t>q^\top k | « q transposée fois k » | Même produit scalaire, en notation vectorielle.</a:t>
            </a:r>
          </a:p>
          <a:p xmlns:a="http://schemas.openxmlformats.org/drawingml/2006/main">
            <a:pPr marL="0" lvl="0" indent="0" algn="l">
              <a:spcBef>
                <a:spcPts val="0"/>
              </a:spcBef>
              <a:spcAft>
                <a:spcPts val="0"/>
              </a:spcAft>
              <a:buNone/>
            </a:pPr>
            <a:r>
              <a:t>\approx | « approximativement égal à » | Relation utilisée comme modèle de l’ordre de grandeur.</a:t>
            </a:r>
          </a:p>
          <a:p xmlns:a="http://schemas.openxmlformats.org/drawingml/2006/main">
            <a:pPr marL="0" lvl="0" indent="0" algn="l">
              <a:spcBef>
                <a:spcPts val="0"/>
              </a:spcBef>
              <a:spcAft>
                <a:spcPts val="0"/>
              </a:spcAft>
              <a:buNone/>
            </a:pPr>
            <a:r>
              <a:t>\Longrightarrow | « implique » ou « par conséquent » | Relie le constat sur la variance à l’effet de la mise à l’échelle.</a:t>
            </a:r>
          </a:p>
          <a:p xmlns:a="http://schemas.openxmlformats.org/drawingml/2006/main">
            <a:pPr marL="0" lvl="0" indent="0" algn="l">
              <a:spcBef>
                <a:spcPts val="0"/>
              </a:spcBef>
              <a:spcAft>
                <a:spcPts val="0"/>
              </a:spcAft>
              <a:buNone/>
            </a:pPr>
            <a:r>
              <a:t>\sqrt{d_k} | « racine carrée de d k » | Diviser la variable par √d_k divise sa variance par d_k.</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Sous des hypothèses d’indépendance et de variance unitaire, additionner d_k produits donne une variance d_k. La mise à l’échelle réduit le risque de scores extrêmes qui satureraient le softmax.</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raisonnement suppose notamment des composantes centrées, de variance unitaire, des requêtes et clés indépendantes dans ce modèle simplifié, et des termes non corrélés entre coordonnées. Ces conditions ne sont pas garanties exactement dans un réseau entraîné.</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Le facteur 1/√dₖ réalise-t-il une normalisation cosinus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il ne divise pas par les normes individuelles de q et k.</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Vaswani et al. — Attention Is All You Need, 2017</a:t>
            </a:r>
          </a:p>
          <a:p xmlns:a="http://schemas.openxmlformats.org/drawingml/2006/main">
            <a:pPr marL="0" lvl="0" indent="0" algn="l">
              <a:spcBef>
                <a:spcPts val="0"/>
              </a:spcBef>
              <a:spcAft>
                <a:spcPts val="0"/>
              </a:spcAft>
              <a:buNone/>
            </a:pPr>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96 — SOFTMAX PUIS AGRÉGATION DES VALEURS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Montrer que multiplier une matrice n_q×n_k par n_k×d_v produit n_q×d_v. Chaque requête obtient sa propre combinaison de valeurs. La même clé peut contribuer fortement à plusieurs requêtes ; il n'y a pas de contrainte de somme un par colonne. Le mécanisme n'est donc pas un appariement exclusif. Pour un batch multi-têtes, les axes batch et tête sont indépendants et le softmax reste appliqué sur le dernier axe des clés. Une erreur d'axe peut produire des tenseurs de formes plausibles tout en changeant complètement l'opération.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A=\operatorname{softmax}_{\rm lignes}(S),\qquad O=AV\in\mathbb R^{n_q\times d_v}</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A vaut le softmax de S, appliqué ligne par ligne. »</a:t>
            </a:r>
          </a:p>
          <a:p xmlns:a="http://schemas.openxmlformats.org/drawingml/2006/main">
            <a:pPr marL="0" lvl="0" indent="0" algn="l">
              <a:spcBef>
                <a:spcPts val="0"/>
              </a:spcBef>
              <a:spcAft>
                <a:spcPts val="0"/>
              </a:spcAft>
              <a:buNone/>
            </a:pPr>
            <a:r>
              <a:t>« O vaut A fois V et appartient à l’espace des matrices réelles à n indice q lignes et d indice v colonnes.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S | « esse » | Matrice des scores, de taille n_q × n_k.</a:t>
            </a:r>
          </a:p>
          <a:p xmlns:a="http://schemas.openxmlformats.org/drawingml/2006/main">
            <a:pPr marL="0" lvl="0" indent="0" algn="l">
              <a:spcBef>
                <a:spcPts val="0"/>
              </a:spcBef>
              <a:spcAft>
                <a:spcPts val="0"/>
              </a:spcAft>
              <a:buNone/>
            </a:pPr>
            <a:r>
              <a:t>\operatorname{softmax}_{\rm lignes} | « softmax par lignes » | Transforme les scores d’une requête en poids normalisés sur toutes les clés.</a:t>
            </a:r>
          </a:p>
          <a:p xmlns:a="http://schemas.openxmlformats.org/drawingml/2006/main">
            <a:pPr marL="0" lvl="0" indent="0" algn="l">
              <a:spcBef>
                <a:spcPts val="0"/>
              </a:spcBef>
              <a:spcAft>
                <a:spcPts val="0"/>
              </a:spcAft>
              <a:buNone/>
            </a:pPr>
            <a:r>
              <a:t>A | « a majuscule » | Matrice des poids d’attention, de même taille que S.</a:t>
            </a:r>
          </a:p>
          <a:p xmlns:a="http://schemas.openxmlformats.org/drawingml/2006/main">
            <a:pPr marL="0" lvl="0" indent="0" algn="l">
              <a:spcBef>
                <a:spcPts val="0"/>
              </a:spcBef>
              <a:spcAft>
                <a:spcPts val="0"/>
              </a:spcAft>
              <a:buNone/>
            </a:pPr>
            <a:r>
              <a:t>V | « vé majuscule » | Matrice des valeurs, de taille n_k × d_v.</a:t>
            </a:r>
          </a:p>
          <a:p xmlns:a="http://schemas.openxmlformats.org/drawingml/2006/main">
            <a:pPr marL="0" lvl="0" indent="0" algn="l">
              <a:spcBef>
                <a:spcPts val="0"/>
              </a:spcBef>
              <a:spcAft>
                <a:spcPts val="0"/>
              </a:spcAft>
              <a:buNone/>
            </a:pPr>
            <a:r>
              <a:t>O | « o majuscule » | Matrice des sorties d’attention, de taille n_q × d_v.</a:t>
            </a:r>
          </a:p>
          <a:p xmlns:a="http://schemas.openxmlformats.org/drawingml/2006/main">
            <a:pPr marL="0" lvl="0" indent="0" algn="l">
              <a:spcBef>
                <a:spcPts val="0"/>
              </a:spcBef>
              <a:spcAft>
                <a:spcPts val="0"/>
              </a:spcAft>
              <a:buNone/>
            </a:pPr>
            <a:r>
              <a:t>AV | « A fois V » | Produit matriciel qui agrège les valeurs avec les poids d’attention.</a:t>
            </a:r>
          </a:p>
          <a:p xmlns:a="http://schemas.openxmlformats.org/drawingml/2006/main">
            <a:pPr marL="0" lvl="0" indent="0" algn="l">
              <a:spcBef>
                <a:spcPts val="0"/>
              </a:spcBef>
              <a:spcAft>
                <a:spcPts val="0"/>
              </a:spcAft>
              <a:buNone/>
            </a:pPr>
            <a:r>
              <a:t>n_q,\ n_k | « n indice q ; n indice k » | Nombres de requêtes et de clés.</a:t>
            </a:r>
          </a:p>
          <a:p xmlns:a="http://schemas.openxmlformats.org/drawingml/2006/main">
            <a:pPr marL="0" lvl="0" indent="0" algn="l">
              <a:spcBef>
                <a:spcPts val="0"/>
              </a:spcBef>
              <a:spcAft>
                <a:spcPts val="0"/>
              </a:spcAft>
              <a:buNone/>
            </a:pPr>
            <a:r>
              <a:t>d_v | « d indice v » | Dimension de chaque valeur et de chaque sortie pour cette tête.</a:t>
            </a:r>
          </a:p>
          <a:p xmlns:a="http://schemas.openxmlformats.org/drawingml/2006/main">
            <a:pPr marL="0" lvl="0" indent="0" algn="l">
              <a:spcBef>
                <a:spcPts val="0"/>
              </a:spcBef>
              <a:spcAft>
                <a:spcPts val="0"/>
              </a:spcAft>
              <a:buNone/>
            </a:pPr>
            <a:r>
              <a:t>\in\mathbb R^{n_q\times d_v} | « appartient à l’espace des matrices réelles n q par d v » | Indique le nombre de lignes et de colonnes de la sortie.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 softmax choisit combien chaque valeur contribue. Le produit A V applique ensuite ces poids à toutes les composantes des valeurs. Les deux étapes séparent le choix des poids du contenu agrégé.</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softmax se fait sur les clés, donc sur les colonnes de chaque ligne. Ici O est une matrice de sortie ; sur la slide de complexité, O(·) désignera une notation asymptotique sans rapport.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Les colonnes de A doivent-elles aussi sommer à un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seule chaque distribution sur les clés, donc chaque ligne, est normalisée.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97 — ATTENTION : EXEMPLE NUMÉRIQUE COMPLET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Calculer les scores avant le softmax : les éléments diagonaux valent 1/racine(2) et les autres zéro. Le poids diagonal est exp(1/racine(2))/(exp(1/racine(2))+1), soit environ 0,6697615. Multiplier ensuite les poids de chaque ligne par V. La deuxième composante de la première sortie vaut deux fois 0,3302385, soit 0,660477. L'exemple volontairement petit montre que la sortie ne copie pas nécessairement un token unique. Le notebook refait le calcul en NumPy puis le compare à la version PyTorch, avec des assertions sur les valeurs et les sommes des lignes.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Q=K=\begin{bmatrix}1&amp;0\\0&amp;1\end{bmatrix},\quad V=\begin{bmatrix}1&amp;0\\0&amp;2\end{bmatrix}\\A\approx\begin{bmatrix}0.6698&amp;0.3302\\0.3302&amp;0.6698\end{bmatrix},\quad O\approx\begin{bmatrix}0.6698&amp;0.6605\\0.3302&amp;1.3395\end{bmatrix}</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Q et K sont égales à la matrice à deux lignes : première ligne, un puis zéro ; deuxième ligne, zéro puis un. V a pour première ligne un puis zéro, et pour deuxième ligne zéro puis deux. »</a:t>
            </a:r>
          </a:p>
          <a:p xmlns:a="http://schemas.openxmlformats.org/drawingml/2006/main">
            <a:pPr marL="0" lvl="0" indent="0" algn="l">
              <a:spcBef>
                <a:spcPts val="0"/>
              </a:spcBef>
              <a:spcAft>
                <a:spcPts val="0"/>
              </a:spcAft>
              <a:buNone/>
            </a:pPr>
            <a:r>
              <a:t>« A vaut approximativement : première ligne, zéro virgule six six neuf huit, puis zéro virgule trois trois zéro deux ; deuxième ligne, zéro virgule trois trois zéro deux, puis zéro virgule six six neuf huit. »</a:t>
            </a:r>
          </a:p>
          <a:p xmlns:a="http://schemas.openxmlformats.org/drawingml/2006/main">
            <a:pPr marL="0" lvl="0" indent="0" algn="l">
              <a:spcBef>
                <a:spcPts val="0"/>
              </a:spcBef>
              <a:spcAft>
                <a:spcPts val="0"/>
              </a:spcAft>
              <a:buNone/>
            </a:pPr>
            <a:r>
              <a:t>« O vaut approximativement : première ligne, zéro virgule six six neuf huit, puis zéro virgule six six zéro cinq ; deuxième ligne, zéro virgule trois trois zéro deux, puis un virgule trois trois neuf cinq.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Q=K | « Q égale K » | Dans cet exemple particulier, les deux matrices sont choisies identiques.</a:t>
            </a:r>
          </a:p>
          <a:p xmlns:a="http://schemas.openxmlformats.org/drawingml/2006/main">
            <a:pPr marL="0" lvl="0" indent="0" algn="l">
              <a:spcBef>
                <a:spcPts val="0"/>
              </a:spcBef>
              <a:spcAft>
                <a:spcPts val="0"/>
              </a:spcAft>
              <a:buNone/>
            </a:pPr>
            <a:r>
              <a:t>\begin{bmatrix}1&amp;0\\0&amp;1\end{bmatrix} | « matrice identité de taille deux » | Deux lignes et deux colonnes ; chaque ligne est un vecteur de requête ou de clé.</a:t>
            </a:r>
          </a:p>
          <a:p xmlns:a="http://schemas.openxmlformats.org/drawingml/2006/main">
            <a:pPr marL="0" lvl="0" indent="0" algn="l">
              <a:spcBef>
                <a:spcPts val="0"/>
              </a:spcBef>
              <a:spcAft>
                <a:spcPts val="0"/>
              </a:spcAft>
              <a:buNone/>
            </a:pPr>
            <a:r>
              <a:t>V | « vé » | Les valeurs sont (1, 0) et (0, 2), ce qui rend visible leur mélange.</a:t>
            </a:r>
          </a:p>
          <a:p xmlns:a="http://schemas.openxmlformats.org/drawingml/2006/main">
            <a:pPr marL="0" lvl="0" indent="0" algn="l">
              <a:spcBef>
                <a:spcPts val="0"/>
              </a:spcBef>
              <a:spcAft>
                <a:spcPts val="0"/>
              </a:spcAft>
              <a:buNone/>
            </a:pPr>
            <a:r>
              <a:t>d_k=2 | « d indice k vaut deux » | Les scores sont divisés par √2 avant softmax.</a:t>
            </a:r>
          </a:p>
          <a:p xmlns:a="http://schemas.openxmlformats.org/drawingml/2006/main">
            <a:pPr marL="0" lvl="0" indent="0" algn="l">
              <a:spcBef>
                <a:spcPts val="0"/>
              </a:spcBef>
              <a:spcAft>
                <a:spcPts val="0"/>
              </a:spcAft>
              <a:buNone/>
            </a:pPr>
            <a:r>
              <a:t>A | « a majuscule » | Poids obtenus par softmax sur chaque ligne de QK^T/√2.</a:t>
            </a:r>
          </a:p>
          <a:p xmlns:a="http://schemas.openxmlformats.org/drawingml/2006/main">
            <a:pPr marL="0" lvl="0" indent="0" algn="l">
              <a:spcBef>
                <a:spcPts val="0"/>
              </a:spcBef>
              <a:spcAft>
                <a:spcPts val="0"/>
              </a:spcAft>
              <a:buNone/>
            </a:pPr>
            <a:r>
              <a:t>O=AV | « O égale A fois V » | Sorties calculées à partir des poids et des valeurs.</a:t>
            </a:r>
          </a:p>
          <a:p xmlns:a="http://schemas.openxmlformats.org/drawingml/2006/main">
            <a:pPr marL="0" lvl="0" indent="0" algn="l">
              <a:spcBef>
                <a:spcPts val="0"/>
              </a:spcBef>
              <a:spcAft>
                <a:spcPts val="0"/>
              </a:spcAft>
              <a:buNone/>
            </a:pPr>
            <a:r>
              <a:t>\approx | « approximativement égal à » | Les nombres affichés sont arrondis à quatre décimales.</a:t>
            </a:r>
          </a:p>
          <a:p xmlns:a="http://schemas.openxmlformats.org/drawingml/2006/main">
            <a:pPr marL="0" lvl="0" indent="0" algn="l">
              <a:spcBef>
                <a:spcPts val="0"/>
              </a:spcBef>
              <a:spcAft>
                <a:spcPts val="0"/>
              </a:spcAft>
              <a:buNone/>
            </a:pPr>
            <a:r>
              <a:t>0.6698,\ 0.3302 | « zéro virgule six six neuf huit ; zéro virgule trois trois zéro deux » | Poids arrondis d’une ligne. Les décimales du support utilisent le point de la notation informatique.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Les scores diagonaux valent 1/√2 et les autres zéro. Pour la première requête, le premier poids vaut exp(1/√2)/(exp(1/√2)+1), soit environ 0,6697615. La première sortie est donc (0,6697615 ; 2 × 0,3302385), soit environ (0,6698 ; 0,6605).</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Les lignes de A somment à un ; celles de O n’ont aucune raison de sommer à un. Calculer avec les valeurs non arrondies puis arrondir le résultat évite de petits écarts de dernière décimale.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Pourquoi la seconde coordonnée de O₁ vaut-elle environ 0,6605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La seconde valeur contient 2, pondéré par environ 0,3302.</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98 — MASQUE CAUSAL ET MASQUE DE PADDING</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Distinguer l'information temporelle interdite de l'information absente. Une ligne entièrement masquée peut produire des NaN : il faut garantir au moins une clé accessible pour chaque requête effectivement évaluée. Les requêtes correspondant au padding doivent être exclues de la perte ou de l'agrégation finale selon la tâche. Les conventions booléennes des API peuvent différer ; nn.MultiheadAttention traite True comme une interdiction pour son masque booléen, alors que certaines fonctions d'attention optimisée utilisent un sens différent. Notre code manuel emploie masked_fill avec True pour interdire explicitement.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M_{ij}=\begin{cases}0&amp;j\le i\\-\infty&amp;j&gt;i\end{cases},\qquad A=\operatorname{softmax}(S+M)</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M indice i j vaut zéro si j est inférieur ou égal à i, et moins l’infini si j est strictement supérieur à i. »</a:t>
            </a:r>
          </a:p>
          <a:p xmlns:a="http://schemas.openxmlformats.org/drawingml/2006/main">
            <a:pPr marL="0" lvl="0" indent="0" algn="l">
              <a:spcBef>
                <a:spcPts val="0"/>
              </a:spcBef>
              <a:spcAft>
                <a:spcPts val="0"/>
              </a:spcAft>
              <a:buNone/>
            </a:pPr>
            <a:r>
              <a:t>« A vaut le softmax de la somme de S et de M, appliqué sur les clés de chaque requête.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M | « emme » | Matrice du masque additif, compatible avec la matrice des scores.</a:t>
            </a:r>
          </a:p>
          <a:p xmlns:a="http://schemas.openxmlformats.org/drawingml/2006/main">
            <a:pPr marL="0" lvl="0" indent="0" algn="l">
              <a:spcBef>
                <a:spcPts val="0"/>
              </a:spcBef>
              <a:spcAft>
                <a:spcPts val="0"/>
              </a:spcAft>
              <a:buNone/>
            </a:pPr>
            <a:r>
              <a:t>M_{ij} | « emme indice i j » | Valeur du masque pour une requête à la position i et une clé à la position j.</a:t>
            </a:r>
          </a:p>
          <a:p xmlns:a="http://schemas.openxmlformats.org/drawingml/2006/main">
            <a:pPr marL="0" lvl="0" indent="0" algn="l">
              <a:spcBef>
                <a:spcPts val="0"/>
              </a:spcBef>
              <a:spcAft>
                <a:spcPts val="0"/>
              </a:spcAft>
              <a:buNone/>
            </a:pPr>
            <a:r>
              <a:t>\begin{cases}\cdots\end{cases} | « défini par cas » | L’accolade indique qu’une valeur différente s’applique selon la condition.</a:t>
            </a:r>
          </a:p>
          <a:p xmlns:a="http://schemas.openxmlformats.org/drawingml/2006/main">
            <a:pPr marL="0" lvl="0" indent="0" algn="l">
              <a:spcBef>
                <a:spcPts val="0"/>
              </a:spcBef>
              <a:spcAft>
                <a:spcPts val="0"/>
              </a:spcAft>
              <a:buNone/>
            </a:pPr>
            <a:r>
              <a:t>j\le i | « j inférieur ou égal à i » | La clé est à la position courante ou dans le passé ; elle est autorisée.</a:t>
            </a:r>
          </a:p>
          <a:p xmlns:a="http://schemas.openxmlformats.org/drawingml/2006/main">
            <a:pPr marL="0" lvl="0" indent="0" algn="l">
              <a:spcBef>
                <a:spcPts val="0"/>
              </a:spcBef>
              <a:spcAft>
                <a:spcPts val="0"/>
              </a:spcAft>
              <a:buNone/>
            </a:pPr>
            <a:r>
              <a:t>j&gt;i | « j strictement supérieur à i » | La clé est dans le futur ; elle est interdite.</a:t>
            </a:r>
          </a:p>
          <a:p xmlns:a="http://schemas.openxmlformats.org/drawingml/2006/main">
            <a:pPr marL="0" lvl="0" indent="0" algn="l">
              <a:spcBef>
                <a:spcPts val="0"/>
              </a:spcBef>
              <a:spcAft>
                <a:spcPts val="0"/>
              </a:spcAft>
              <a:buNone/>
            </a:pPr>
            <a:r>
              <a:t>0 | « zéro » | Ajouter zéro conserve le score d’une position autorisée.</a:t>
            </a:r>
          </a:p>
          <a:p xmlns:a="http://schemas.openxmlformats.org/drawingml/2006/main">
            <a:pPr marL="0" lvl="0" indent="0" algn="l">
              <a:spcBef>
                <a:spcPts val="0"/>
              </a:spcBef>
              <a:spcAft>
                <a:spcPts val="0"/>
              </a:spcAft>
              <a:buNone/>
            </a:pPr>
            <a:r>
              <a:t>-\infty | « moins l’infini » | Valeur idéale qui annule le poids de la position après exponentiation et softmax.</a:t>
            </a:r>
          </a:p>
          <a:p xmlns:a="http://schemas.openxmlformats.org/drawingml/2006/main">
            <a:pPr marL="0" lvl="0" indent="0" algn="l">
              <a:spcBef>
                <a:spcPts val="0"/>
              </a:spcBef>
              <a:spcAft>
                <a:spcPts val="0"/>
              </a:spcAft>
              <a:buNone/>
            </a:pPr>
            <a:r>
              <a:t>S+M | « S plus M » | Addition composante par composante des scores et du masque.</a:t>
            </a:r>
          </a:p>
          <a:p xmlns:a="http://schemas.openxmlformats.org/drawingml/2006/main">
            <a:pPr marL="0" lvl="0" indent="0" algn="l">
              <a:spcBef>
                <a:spcPts val="0"/>
              </a:spcBef>
              <a:spcAft>
                <a:spcPts val="0"/>
              </a:spcAft>
              <a:buNone/>
            </a:pPr>
            <a:r>
              <a:t>A=\operatorname{softmax}(S+M) | « A égale softmax de S plus M » | Normalisation des seuls scores autorisés ; le softmax opère ligne par ligne.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Pour prédire le prochain token, une position ne doit pas exploiter les tokens suivants. Le masque causal conserve le passé et la position courante. Un masque de padding exclut, lui, les positions de remplissage.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zéro signifie ici « autorisé », car il s’agit d’un masque additif. Les conventions des masques booléens dépendent de l’API. Une ligne entièrement masquée nécessite un traitement explicite : le softmax de valeurs toutes égales à −∞ peut produire des NaN.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Multiplier les scores interdits par zéro suffit-il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exp(0) reste positif. Il faut les exclure avant la normalisation.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PyTorch 2.8 — MultiheadAttention</a:t>
            </a:r>
          </a:p>
          <a:p xmlns:a="http://schemas.openxmlformats.org/drawingml/2006/main">
            <a:pPr marL="0" lvl="0" indent="0" algn="l">
              <a:spcBef>
                <a:spcPts val="0"/>
              </a:spcBef>
              <a:spcAft>
                <a:spcPts val="0"/>
              </a:spcAft>
              <a:buNone/>
            </a:pPr>
            <a:r>
              <a:t>https://docs.pytorch.org/docs/2.8/generated/torch.nn.MultiheadAttention.html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99 — MULTI-HEAD ATTENTION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Dans la configuration standard, d est divisible par h et chaque tête utilise d_k=d_v=d/h. La concaténation restaure d composantes, puis W_O mélange l'information provenant des têtes. Les têtes peuvent apprendre des relations différentes, mais elles peuvent aussi être redondantes ; on ne doit pas leur attribuer automatiquement une fonction linguistique précise. À largeur d constante, augmenter h n'augmente pas forcément les paramètres des grandes projections, mais modifie la dimension par tête et certains coûts intermédiaires. L'entraînement ajuste ensemble toutes les projections.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\operatorname{head}_r=\operatorname{Attn}(XW_Q^{(r)},XW_K^{(r)},XW_V^{(r)})\\\operatorname{MHA}(X)=\operatorname{Concat}(\operatorname{head}_1,\ldots,\operatorname{head}_h)W_O</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La tête r est obtenue en appliquant l’attention à X fois W Q de la tête r, X fois W K de la tête r, et X fois W V de la tête r. »</a:t>
            </a:r>
          </a:p>
          <a:p xmlns:a="http://schemas.openxmlformats.org/drawingml/2006/main">
            <a:pPr marL="0" lvl="0" indent="0" algn="l">
              <a:spcBef>
                <a:spcPts val="0"/>
              </a:spcBef>
              <a:spcAft>
                <a:spcPts val="0"/>
              </a:spcAft>
              <a:buNone/>
            </a:pPr>
            <a:r>
              <a:t>« L’attention multi-têtes de X vaut la concaténation des têtes de un à h, multipliée par W indice O.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\operatorname{head}_r | « tête r » | Sortie de la r-ième tête d’attention.</a:t>
            </a:r>
          </a:p>
          <a:p xmlns:a="http://schemas.openxmlformats.org/drawingml/2006/main">
            <a:pPr marL="0" lvl="0" indent="0" algn="l">
              <a:spcBef>
                <a:spcPts val="0"/>
              </a:spcBef>
              <a:spcAft>
                <a:spcPts val="0"/>
              </a:spcAft>
              <a:buNone/>
            </a:pPr>
            <a:r>
              <a:t>r,\ h | « erre ; ache » | r est l’indice d’une tête ; h est le nombre total de têtes.</a:t>
            </a:r>
          </a:p>
          <a:p xmlns:a="http://schemas.openxmlformats.org/drawingml/2006/main">
            <a:pPr marL="0" lvl="0" indent="0" algn="l">
              <a:spcBef>
                <a:spcPts val="0"/>
              </a:spcBef>
              <a:spcAft>
                <a:spcPts val="0"/>
              </a:spcAft>
              <a:buNone/>
            </a:pPr>
            <a:r>
              <a:t>\operatorname{Attn} | « attention » | Opération qui calcule les poids à partir des requêtes et clés, puis agrège les valeurs.</a:t>
            </a:r>
          </a:p>
          <a:p xmlns:a="http://schemas.openxmlformats.org/drawingml/2006/main">
            <a:pPr marL="0" lvl="0" indent="0" algn="l">
              <a:spcBef>
                <a:spcPts val="0"/>
              </a:spcBef>
              <a:spcAft>
                <a:spcPts val="0"/>
              </a:spcAft>
              <a:buNone/>
            </a:pPr>
            <a:r>
              <a:t>W_Q^{(r)},\ W_K^{(r)},\ W_V^{(r)} | « W Q, W K et W V de la tête r » | Paramètres propres à une tête. Le (r) en haut est une étiquette, pas une puissance.</a:t>
            </a:r>
          </a:p>
          <a:p xmlns:a="http://schemas.openxmlformats.org/drawingml/2006/main">
            <a:pPr marL="0" lvl="0" indent="0" algn="l">
              <a:spcBef>
                <a:spcPts val="0"/>
              </a:spcBef>
              <a:spcAft>
                <a:spcPts val="0"/>
              </a:spcAft>
              <a:buNone/>
            </a:pPr>
            <a:r>
              <a:t>X | « iks » | Matrice des représentations d’entrée, de taille n × d.</a:t>
            </a:r>
          </a:p>
          <a:p xmlns:a="http://schemas.openxmlformats.org/drawingml/2006/main">
            <a:pPr marL="0" lvl="0" indent="0" algn="l">
              <a:spcBef>
                <a:spcPts val="0"/>
              </a:spcBef>
              <a:spcAft>
                <a:spcPts val="0"/>
              </a:spcAft>
              <a:buNone/>
            </a:pPr>
            <a:r>
              <a:t>\operatorname{MHA}(X) | « attention multi-têtes de X » | MHA signifie Multi-Head Attention.</a:t>
            </a:r>
          </a:p>
          <a:p xmlns:a="http://schemas.openxmlformats.org/drawingml/2006/main">
            <a:pPr marL="0" lvl="0" indent="0" algn="l">
              <a:spcBef>
                <a:spcPts val="0"/>
              </a:spcBef>
              <a:spcAft>
                <a:spcPts val="0"/>
              </a:spcAft>
              <a:buNone/>
            </a:pPr>
            <a:r>
              <a:t>\operatorname{Concat} | « concaténation » | Juxtaposition des sorties sur l’axe des caractéristiques, pas addition des têtes.</a:t>
            </a:r>
          </a:p>
          <a:p xmlns:a="http://schemas.openxmlformats.org/drawingml/2006/main">
            <a:pPr marL="0" lvl="0" indent="0" algn="l">
              <a:spcBef>
                <a:spcPts val="0"/>
              </a:spcBef>
              <a:spcAft>
                <a:spcPts val="0"/>
              </a:spcAft>
              <a:buNone/>
            </a:pPr>
            <a:r>
              <a:t>\ldots | « jusqu’à » | Les points de suspension représentent toutes les têtes intermédiaires.</a:t>
            </a:r>
          </a:p>
          <a:p xmlns:a="http://schemas.openxmlformats.org/drawingml/2006/main">
            <a:pPr marL="0" lvl="0" indent="0" algn="l">
              <a:spcBef>
                <a:spcPts val="0"/>
              </a:spcBef>
              <a:spcAft>
                <a:spcPts val="0"/>
              </a:spcAft>
              <a:buNone/>
            </a:pPr>
            <a:r>
              <a:t>W_O | « W indice O » | Projection finale apprise de taille h d_v × d lorsque chaque tête produit d_v caractéristiques.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Les têtes calculent des agrégations dans plusieurs espaces appris. La concaténation rassemble leurs résultats, puis W_O les recombine dans la dimension attendue par le bloc.</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Des têtes distinctes peuvent apprendre des comportements différents, mais leur spécialisation linguistique ou visuelle n’est pas garantie. Si d_v = d/h, la concaténation a exactement d caractéristiques.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 d=256 et h=8, quelle largeur par tête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32.</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Vaswani et al. — Attention Is All You Need, 2017</a:t>
            </a:r>
          </a:p>
          <a:p xmlns:a="http://schemas.openxmlformats.org/drawingml/2006/main">
            <a:pPr marL="0" lvl="0" indent="0" algn="l">
              <a:spcBef>
                <a:spcPts val="0"/>
              </a:spcBef>
              <a:spcAft>
                <a:spcPts val="0"/>
              </a:spcAft>
              <a:buNone/>
            </a:pPr>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100 — DÉPLIAGE DES AXES MULTI-TÊTES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Partir du tenseur B×n×d produit par une projection. On le reforme en B×n×h×d_h, puis on transpose les axes pour obtenir B×h×n×d_h. Le produit avec les clés transposées sur les deux derniers axes donne B×h×n×n. Après le mélange des valeurs, on inverse la permutation et on réunit les têtes. En PyTorch, un transpose peut rendre le stockage non contigu ; reshape sait parfois copier, tandis que view peut exiger contiguous. Le point conceptuel reste de ne pas fusionner des axes qui n'ont pas la même signification.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transpose-t-on avant de calculer les scores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Pour que chaque tête calcule indépendamment ses interactions entre positions.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101 — LAYERNORM : NORMALISER CHAQUE TOKEN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Dans le Transformer étudié, chaque token est normalisé séparément sur son dernier axe. Les paramètres gamma et beta ont d composantes partagées entre positions. LayerNorm ne mélange donc pas les tokens et ne transmet pas à elle seule d'information entre positions. Elle n'utilise pas les statistiques mobiles de BatchNorm ; ce contraste explique une partie de son intérêt pour des batches et longueurs variables. La normalisation influe sur l'échelle des activations et la dynamique d'optimisation, mais n'est pas un mécanisme de masquage ni une méthode de correction des fuites de cible.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\mu_i=\frac1d\sum_{r=1}^{d}X_{ir},\quad\operatorname{LN}(X_i)=\gamma\odot\frac{X_i-\mu_i}{\sqrt{\sigma_i^2+\varepsilon}}+\beta</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Mu indice i vaut un sur d fois la somme, pour r de un à d, de X indice i r. »</a:t>
            </a:r>
          </a:p>
          <a:p xmlns:a="http://schemas.openxmlformats.org/drawingml/2006/main">
            <a:pPr marL="0" lvl="0" indent="0" algn="l">
              <a:spcBef>
                <a:spcPts val="0"/>
              </a:spcBef>
              <a:spcAft>
                <a:spcPts val="0"/>
              </a:spcAft>
              <a:buNone/>
            </a:pPr>
            <a:r>
              <a:t>« La normalisation de couche de X indice i vaut gamma multiplié composante par composante par X i moins mu i, divisé par la racine carrée de sigma i au carré plus epsilon, puis plus bêta.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i,\ r | « i ; erre » | i repère un token ; r repère une caractéristique de ce token.</a:t>
            </a:r>
          </a:p>
          <a:p xmlns:a="http://schemas.openxmlformats.org/drawingml/2006/main">
            <a:pPr marL="0" lvl="0" indent="0" algn="l">
              <a:spcBef>
                <a:spcPts val="0"/>
              </a:spcBef>
              <a:spcAft>
                <a:spcPts val="0"/>
              </a:spcAft>
              <a:buNone/>
            </a:pPr>
            <a:r>
              <a:t>d | « dé » | Nombre de caractéristiques sur lesquelles on normalise.</a:t>
            </a:r>
          </a:p>
          <a:p xmlns:a="http://schemas.openxmlformats.org/drawingml/2006/main">
            <a:pPr marL="0" lvl="0" indent="0" algn="l">
              <a:spcBef>
                <a:spcPts val="0"/>
              </a:spcBef>
              <a:spcAft>
                <a:spcPts val="0"/>
              </a:spcAft>
              <a:buNone/>
            </a:pPr>
            <a:r>
              <a:t>X_{ir},\ X_i | « X indice i r ; X indice i » | X_ir est un nombre ; X_i est le vecteur complet du token i.</a:t>
            </a:r>
          </a:p>
          <a:p xmlns:a="http://schemas.openxmlformats.org/drawingml/2006/main">
            <a:pPr marL="0" lvl="0" indent="0" algn="l">
              <a:spcBef>
                <a:spcPts val="0"/>
              </a:spcBef>
              <a:spcAft>
                <a:spcPts val="0"/>
              </a:spcAft>
              <a:buNone/>
            </a:pPr>
            <a:r>
              <a:t>\mu_i | « mu indice i » | Moyenne des d composantes du token i.</a:t>
            </a:r>
          </a:p>
          <a:p xmlns:a="http://schemas.openxmlformats.org/drawingml/2006/main">
            <a:pPr marL="0" lvl="0" indent="0" algn="l">
              <a:spcBef>
                <a:spcPts val="0"/>
              </a:spcBef>
              <a:spcAft>
                <a:spcPts val="0"/>
              </a:spcAft>
              <a:buNone/>
            </a:pPr>
            <a:r>
              <a:t>\frac1d\sum_{r=1}^d | « un sur d fois la somme pour r de un à d » | Calcul d’une moyenne arithmétique.</a:t>
            </a:r>
          </a:p>
          <a:p xmlns:a="http://schemas.openxmlformats.org/drawingml/2006/main">
            <a:pPr marL="0" lvl="0" indent="0" algn="l">
              <a:spcBef>
                <a:spcPts val="0"/>
              </a:spcBef>
              <a:spcAft>
                <a:spcPts val="0"/>
              </a:spcAft>
              <a:buNone/>
            </a:pPr>
            <a:r>
              <a:t>\sigma_i^2 | « sigma indice i au carré » | Variance des caractéristiques du token i : moyenne des (X_ir − μ_i)².</a:t>
            </a:r>
          </a:p>
          <a:p xmlns:a="http://schemas.openxmlformats.org/drawingml/2006/main">
            <a:pPr marL="0" lvl="0" indent="0" algn="l">
              <a:spcBef>
                <a:spcPts val="0"/>
              </a:spcBef>
              <a:spcAft>
                <a:spcPts val="0"/>
              </a:spcAft>
              <a:buNone/>
            </a:pPr>
            <a:r>
              <a:t>\varepsilon | « epsilon » | Petite constante positive ajoutée à la variance pour stabiliser la division.</a:t>
            </a:r>
          </a:p>
          <a:p xmlns:a="http://schemas.openxmlformats.org/drawingml/2006/main">
            <a:pPr marL="0" lvl="0" indent="0" algn="l">
              <a:spcBef>
                <a:spcPts val="0"/>
              </a:spcBef>
              <a:spcAft>
                <a:spcPts val="0"/>
              </a:spcAft>
              <a:buNone/>
            </a:pPr>
            <a:r>
              <a:t>\sqrt{\sigma_i^2+\varepsilon} | « racine carrée de sigma i au carré plus epsilon » | Dénominateur complet ; epsilon est sous la racine.</a:t>
            </a:r>
          </a:p>
          <a:p xmlns:a="http://schemas.openxmlformats.org/drawingml/2006/main">
            <a:pPr marL="0" lvl="0" indent="0" algn="l">
              <a:spcBef>
                <a:spcPts val="0"/>
              </a:spcBef>
              <a:spcAft>
                <a:spcPts val="0"/>
              </a:spcAft>
              <a:buNone/>
            </a:pPr>
            <a:r>
              <a:t>\gamma,\ \beta | « gamma ; bêta » | Vecteurs appris de taille d : échelle et décalage, partagés entre positions.</a:t>
            </a:r>
          </a:p>
          <a:p xmlns:a="http://schemas.openxmlformats.org/drawingml/2006/main">
            <a:pPr marL="0" lvl="0" indent="0" algn="l">
              <a:spcBef>
                <a:spcPts val="0"/>
              </a:spcBef>
              <a:spcAft>
                <a:spcPts val="0"/>
              </a:spcAft>
              <a:buNone/>
            </a:pPr>
            <a:r>
              <a:t>\odot | « multiplié composante par composante » | Produit de Hadamard, à distinguer du produit matriciel.</a:t>
            </a:r>
          </a:p>
          <a:p xmlns:a="http://schemas.openxmlformats.org/drawingml/2006/main">
            <a:pPr marL="0" lvl="0" indent="0" algn="l">
              <a:spcBef>
                <a:spcPts val="0"/>
              </a:spcBef>
              <a:spcAft>
                <a:spcPts val="0"/>
              </a:spcAft>
              <a:buNone/>
            </a:pPr>
            <a:r>
              <a:t>\operatorname{LN} | « layer norm » ou « normalisation de couche » | Normalisation ici sur les caractéristiques d’un token, indépendamment des autres tokens.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moyenne et la variance sont recalculées pour chaque token. On centre et réduit son vecteur, puis on applique une transformation affine apprise. Les scalaires μ_i et σ_i sont diffusés sur les d composantes.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Cette formule ne moyenne pas sur le batch et n’utilise pas les moyennes mobiles de BatchNorm. Le symbole β désigne ici un décalage appris ; dans Adam, il désigne un coefficient de moyenne mobile.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LayerNorm transmet-elle de l’information d’un token au suivant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Pas lorsqu’elle ne normalise que les caractéristiques de chaque token.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Ba et al. — Layer Normalization, 2016</a:t>
            </a:r>
          </a:p>
          <a:p xmlns:a="http://schemas.openxmlformats.org/drawingml/2006/main">
            <a:pPr marL="0" lvl="0" indent="0" algn="l">
              <a:spcBef>
                <a:spcPts val="0"/>
              </a:spcBef>
              <a:spcAft>
                <a:spcPts val="0"/>
              </a:spcAft>
              <a:buNone/>
            </a:pPr>
            <a:r>
              <a:t>https://arxiv.org/abs/1607.06450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102 — LE MLP POSITION PAR POSITION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Le FFN n'est pas une attention supplémentaire. Il applique un MLP identique à chaque token ; l'échange d'information entre positions a lieu dans l'attention. Avec d_ff=4d et en négligeant les biais, les deux matrices du FFN contiennent 8d² paramètres. Les projections Q, K, V et O d'une auto-attention standard contiennent environ 4d² paramètres : le FFN peut donc représenter une part importante du bloc. L'activation du papier original est ReLU ; nos petits modèles utilisent GELU. Cette différence de variante doit être annoncée sans changer l'explication fondamentale.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\operatorname{FFN}(x)=W_2\,\phi(W_1x+b_1)+b_2,\qquad d\rightarrow d_{\rm ff}\rightarrow d</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Le réseau feed-forward de x vaut W deux fois phi de W un fois x plus b un, puis plus b deux. »</a:t>
            </a:r>
          </a:p>
          <a:p xmlns:a="http://schemas.openxmlformats.org/drawingml/2006/main">
            <a:pPr marL="0" lvl="0" indent="0" algn="l">
              <a:spcBef>
                <a:spcPts val="0"/>
              </a:spcBef>
              <a:spcAft>
                <a:spcPts val="0"/>
              </a:spcAft>
              <a:buNone/>
            </a:pPr>
            <a:r>
              <a:t>« La dimension passe de d à d indice F F, puis revient à d.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\operatorname{FFN} | « feed-forward network » ou « réseau à propagation avant » | Sous-réseau appliqué séparément à chaque position du Transformer.</a:t>
            </a:r>
          </a:p>
          <a:p xmlns:a="http://schemas.openxmlformats.org/drawingml/2006/main">
            <a:pPr marL="0" lvl="0" indent="0" algn="l">
              <a:spcBef>
                <a:spcPts val="0"/>
              </a:spcBef>
              <a:spcAft>
                <a:spcPts val="0"/>
              </a:spcAft>
              <a:buNone/>
            </a:pPr>
            <a:r>
              <a:t>x | « iks » | Vecteur colonne d’un token, de dimension d dans cette convention.</a:t>
            </a:r>
          </a:p>
          <a:p xmlns:a="http://schemas.openxmlformats.org/drawingml/2006/main">
            <a:pPr marL="0" lvl="0" indent="0" algn="l">
              <a:spcBef>
                <a:spcPts val="0"/>
              </a:spcBef>
              <a:spcAft>
                <a:spcPts val="0"/>
              </a:spcAft>
              <a:buNone/>
            </a:pPr>
            <a:r>
              <a:t>W_1,\ W_2 | « W un ; W deux » | Matrices apprises de tailles d_ff × d et d × d_ff.</a:t>
            </a:r>
          </a:p>
          <a:p xmlns:a="http://schemas.openxmlformats.org/drawingml/2006/main">
            <a:pPr marL="0" lvl="0" indent="0" algn="l">
              <a:spcBef>
                <a:spcPts val="0"/>
              </a:spcBef>
              <a:spcAft>
                <a:spcPts val="0"/>
              </a:spcAft>
              <a:buNone/>
            </a:pPr>
            <a:r>
              <a:t>b_1,\ b_2 | « bé un ; bé deux » | Vecteurs de biais, de dimensions d_ff et d.</a:t>
            </a:r>
          </a:p>
          <a:p xmlns:a="http://schemas.openxmlformats.org/drawingml/2006/main">
            <a:pPr marL="0" lvl="0" indent="0" algn="l">
              <a:spcBef>
                <a:spcPts val="0"/>
              </a:spcBef>
              <a:spcAft>
                <a:spcPts val="0"/>
              </a:spcAft>
              <a:buNone/>
            </a:pPr>
            <a:r>
              <a:t>\phi | « phi » | Fonction d’activation non linéaire, appliquée composante par composante, par exemple GELU.</a:t>
            </a:r>
          </a:p>
          <a:p xmlns:a="http://schemas.openxmlformats.org/drawingml/2006/main">
            <a:pPr marL="0" lvl="0" indent="0" algn="l">
              <a:spcBef>
                <a:spcPts val="0"/>
              </a:spcBef>
              <a:spcAft>
                <a:spcPts val="0"/>
              </a:spcAft>
              <a:buNone/>
            </a:pPr>
            <a:r>
              <a:t>W_1x+b_1 | « W un fois x plus b un » | Première transformation affine, qui produit d_ff caractéristiques.</a:t>
            </a:r>
          </a:p>
          <a:p xmlns:a="http://schemas.openxmlformats.org/drawingml/2006/main">
            <a:pPr marL="0" lvl="0" indent="0" algn="l">
              <a:spcBef>
                <a:spcPts val="0"/>
              </a:spcBef>
              <a:spcAft>
                <a:spcPts val="0"/>
              </a:spcAft>
              <a:buNone/>
            </a:pPr>
            <a:r>
              <a:t>W_2\phi(W_1x+b_1)+b_2 | « W deux fois phi de W un x plus b un, puis plus b deux » | Deuxième transformation affine après activation.</a:t>
            </a:r>
          </a:p>
          <a:p xmlns:a="http://schemas.openxmlformats.org/drawingml/2006/main">
            <a:pPr marL="0" lvl="0" indent="0" algn="l">
              <a:spcBef>
                <a:spcPts val="0"/>
              </a:spcBef>
              <a:spcAft>
                <a:spcPts val="0"/>
              </a:spcAft>
              <a:buNone/>
            </a:pPr>
            <a:r>
              <a:t>d,\ d_{\rm ff} | « dé ; d indice F F » | Dimensions de représentation et de la couche interne du FFN.</a:t>
            </a:r>
          </a:p>
          <a:p xmlns:a="http://schemas.openxmlformats.org/drawingml/2006/main">
            <a:pPr marL="0" lvl="0" indent="0" algn="l">
              <a:spcBef>
                <a:spcPts val="0"/>
              </a:spcBef>
              <a:spcAft>
                <a:spcPts val="0"/>
              </a:spcAft>
              <a:buNone/>
            </a:pPr>
            <a:r>
              <a:t>\rightarrow | « passe à » | Flèche indiquant une succession de dimensions, pas une limite mathématique.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L’attention mélange les informations entre positions ; le FFN transforme ensuite les caractéristiques de chaque position. Le même FFN, avec les mêmes poids, s’applique à tous les tokens.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La convention de vecteur colonne explique l’ordre W x ; d’autres slides emploient des tokens en lignes et écrivent X W. Ces écritures sont compatibles en transposant les matrices de paramètres.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Quelle partie du bloc mélange directement les positions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L’attention ; le FFN mélange les caractéristiques de chaque position.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103 — UN BLOC TRANSFORMER PRE-LN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Le papier de 2017 emploie une organisation post-normalisation : normaliser après l'addition résiduelle. Cette diapositive décrit explicitement la variante pre-LN utilisée dans le mini-modèle. Elle modifie la circulation du gradient et les conditions d'optimisation. On ne doit pas présenter une variante comme la seule définition possible d'un Transformer. Les dropout éventuels sont omis de la formule pour faire ressortir les branches ; dans le code, leur place et leur taux doivent être identifiables. Les formes des deux termes additionnés doivent toujours correspondre, y compris lors de changements de largeur.</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U=X+\operatorname{MHA}(\operatorname{LN}_1(X))\\Y=U+\operatorname{FFN}(\operatorname{LN}_2(U))</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U vaut X plus l’attention multi-têtes appliquée à la première normalisation de couche de X. »</a:t>
            </a:r>
          </a:p>
          <a:p xmlns:a="http://schemas.openxmlformats.org/drawingml/2006/main">
            <a:pPr marL="0" lvl="0" indent="0" algn="l">
              <a:spcBef>
                <a:spcPts val="0"/>
              </a:spcBef>
              <a:spcAft>
                <a:spcPts val="0"/>
              </a:spcAft>
              <a:buNone/>
            </a:pPr>
            <a:r>
              <a:t>« Y vaut U plus le réseau feed-forward appliqué à la deuxième normalisation de couche de U.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 | « iks » | Entrée du bloc, de taille B × n × d lorsque l’on explicite le batch.</a:t>
            </a:r>
          </a:p>
          <a:p xmlns:a="http://schemas.openxmlformats.org/drawingml/2006/main">
            <a:pPr marL="0" lvl="0" indent="0" algn="l">
              <a:spcBef>
                <a:spcPts val="0"/>
              </a:spcBef>
              <a:spcAft>
                <a:spcPts val="0"/>
              </a:spcAft>
              <a:buNone/>
            </a:pPr>
            <a:r>
              <a:t>U | « u » | Représentation intermédiaire après l’attention et la première addition résiduelle.</a:t>
            </a:r>
          </a:p>
          <a:p xmlns:a="http://schemas.openxmlformats.org/drawingml/2006/main">
            <a:pPr marL="0" lvl="0" indent="0" algn="l">
              <a:spcBef>
                <a:spcPts val="0"/>
              </a:spcBef>
              <a:spcAft>
                <a:spcPts val="0"/>
              </a:spcAft>
              <a:buNone/>
            </a:pPr>
            <a:r>
              <a:t>Y | « i grec » | Sortie du bloc, après le FFN et la deuxième addition résiduelle.</a:t>
            </a:r>
          </a:p>
          <a:p xmlns:a="http://schemas.openxmlformats.org/drawingml/2006/main">
            <a:pPr marL="0" lvl="0" indent="0" algn="l">
              <a:spcBef>
                <a:spcPts val="0"/>
              </a:spcBef>
              <a:spcAft>
                <a:spcPts val="0"/>
              </a:spcAft>
              <a:buNone/>
            </a:pPr>
            <a:r>
              <a:t>\operatorname{LN}_1,\ \operatorname{LN}_2 | « normalisation de couche un ; normalisation de couche deux » | Deux normalisations distinctes, avec leurs propres paramètres appris.</a:t>
            </a:r>
          </a:p>
          <a:p xmlns:a="http://schemas.openxmlformats.org/drawingml/2006/main">
            <a:pPr marL="0" lvl="0" indent="0" algn="l">
              <a:spcBef>
                <a:spcPts val="0"/>
              </a:spcBef>
              <a:spcAft>
                <a:spcPts val="0"/>
              </a:spcAft>
              <a:buNone/>
            </a:pPr>
            <a:r>
              <a:t>\operatorname{MHA} | « attention multi-têtes » | Sous-couche qui agrège des informations entre positions.</a:t>
            </a:r>
          </a:p>
          <a:p xmlns:a="http://schemas.openxmlformats.org/drawingml/2006/main">
            <a:pPr marL="0" lvl="0" indent="0" algn="l">
              <a:spcBef>
                <a:spcPts val="0"/>
              </a:spcBef>
              <a:spcAft>
                <a:spcPts val="0"/>
              </a:spcAft>
              <a:buNone/>
            </a:pPr>
            <a:r>
              <a:t>\operatorname{FFN} | « réseau feed-forward » | Sous-couche qui transforme les caractéristiques de chaque position.</a:t>
            </a:r>
          </a:p>
          <a:p xmlns:a="http://schemas.openxmlformats.org/drawingml/2006/main">
            <a:pPr marL="0" lvl="0" indent="0" algn="l">
              <a:spcBef>
                <a:spcPts val="0"/>
              </a:spcBef>
              <a:spcAft>
                <a:spcPts val="0"/>
              </a:spcAft>
              <a:buNone/>
            </a:pPr>
            <a:r>
              <a:t>+ | « plus » | Addition composante par composante de la branche transformée et de la branche résiduelle.</a:t>
            </a:r>
          </a:p>
          <a:p xmlns:a="http://schemas.openxmlformats.org/drawingml/2006/main">
            <a:pPr marL="0" lvl="0" indent="0" algn="l">
              <a:spcBef>
                <a:spcPts val="0"/>
              </a:spcBef>
              <a:spcAft>
                <a:spcPts val="0"/>
              </a:spcAft>
              <a:buNone/>
            </a:pPr>
            <a:r>
              <a:t>\operatorname{MHA}(\operatorname{LN}_1(X)) | « attention de la normalisation de X » | Composition : normaliser d’abord, appliquer l’attention ensuite.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Dans un bloc Pre-LN, la normalisation précède chaque sous-couche. Le chemin résiduel transmet X puis U directement, ce qui facilite la propagation du signal et des gradients.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Les deux termes de chaque addition doivent avoir la même forme. Les flèches de données ne sont pas des mises à jour de poids. Les dropout éventuels sont omis de cette formule.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Où se place la normalisation dans un bloc post-LN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Après la somme entre l’entrée résiduelle et la sortie de la sous-couche.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Xiong et al. — On Layer Normalization in the Transformer Architecture, 2020</a:t>
            </a:r>
          </a:p>
          <a:p xmlns:a="http://schemas.openxmlformats.org/drawingml/2006/main">
            <a:pPr marL="0" lvl="0" indent="0" algn="l">
              <a:spcBef>
                <a:spcPts val="0"/>
              </a:spcBef>
              <a:spcAft>
                <a:spcPts val="0"/>
              </a:spcAft>
              <a:buNone/>
            </a:pPr>
            <a:r>
              <a:t>https://arxiv.org/abs/2002.04745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104 — ENCODEUR : CONTEXTUALISER UNE SÉQUENCE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Un encodeur bidirectionnel est utile lorsque toute l'entrée est disponible. Pour une classification de séquence, une représentation spéciale ou une agrégation masquée peut alimenter la tête. Pour une étiquette par token, la tête est appliquée à chaque position. Il faut traiter le padding de manière cohérente dans l'attention, l'agrégation et la perte. L'adjectif bidirectionnel n'implique pas une récurrence : il décrit l'accès aux positions à gauche et à droite. Le même bloc peut être employé avec un masque causal dans une implémentation, mais le régime d'information change alors.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X_L=\operatorname{Block}_L\circ\cdots\circ\operatorname{Block}_1(X_0)</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X indice L est obtenu en appliquant à X indice zéro le bloc un, puis les blocs suivants, jusqu’au bloc L.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X_0 | « X indice zéro » | Représentations initiales des tokens, après incorporation de l’information de position.</a:t>
            </a:r>
          </a:p>
          <a:p xmlns:a="http://schemas.openxmlformats.org/drawingml/2006/main">
            <a:pPr marL="0" lvl="0" indent="0" algn="l">
              <a:spcBef>
                <a:spcPts val="0"/>
              </a:spcBef>
              <a:spcAft>
                <a:spcPts val="0"/>
              </a:spcAft>
              <a:buNone/>
            </a:pPr>
            <a:r>
              <a:t>X_L | « X indice L » | Représentations contextualisées après les L blocs.</a:t>
            </a:r>
          </a:p>
          <a:p xmlns:a="http://schemas.openxmlformats.org/drawingml/2006/main">
            <a:pPr marL="0" lvl="0" indent="0" algn="l">
              <a:spcBef>
                <a:spcPts val="0"/>
              </a:spcBef>
              <a:spcAft>
                <a:spcPts val="0"/>
              </a:spcAft>
              <a:buNone/>
            </a:pPr>
            <a:r>
              <a:t>L | « elle majuscule » | Nombre total de blocs de l’encodeur ; à distinguer de la fonction de perte ℒ.</a:t>
            </a:r>
          </a:p>
          <a:p xmlns:a="http://schemas.openxmlformats.org/drawingml/2006/main">
            <a:pPr marL="0" lvl="0" indent="0" algn="l">
              <a:spcBef>
                <a:spcPts val="0"/>
              </a:spcBef>
              <a:spcAft>
                <a:spcPts val="0"/>
              </a:spcAft>
              <a:buNone/>
            </a:pPr>
            <a:r>
              <a:t>\operatorname{Block}_1,\ \operatorname{Block}_L | « bloc un ; bloc L » | Premier et dernier blocs du réseau.</a:t>
            </a:r>
          </a:p>
          <a:p xmlns:a="http://schemas.openxmlformats.org/drawingml/2006/main">
            <a:pPr marL="0" lvl="0" indent="0" algn="l">
              <a:spcBef>
                <a:spcPts val="0"/>
              </a:spcBef>
              <a:spcAft>
                <a:spcPts val="0"/>
              </a:spcAft>
              <a:buNone/>
            </a:pPr>
            <a:r>
              <a:t>\circ | « composé avec » | Composition de fonctions : la fonction à droite s’applique en premier.</a:t>
            </a:r>
          </a:p>
          <a:p xmlns:a="http://schemas.openxmlformats.org/drawingml/2006/main">
            <a:pPr marL="0" lvl="0" indent="0" algn="l">
              <a:spcBef>
                <a:spcPts val="0"/>
              </a:spcBef>
              <a:spcAft>
                <a:spcPts val="0"/>
              </a:spcAft>
              <a:buNone/>
            </a:pPr>
            <a:r>
              <a:t>\cdots | « et ainsi de suite » | Les blocs intermédiaires, de 2 à L − 1.</a:t>
            </a:r>
          </a:p>
          <a:p xmlns:a="http://schemas.openxmlformats.org/drawingml/2006/main">
            <a:pPr marL="0" lvl="0" indent="0" algn="l">
              <a:spcBef>
                <a:spcPts val="0"/>
              </a:spcBef>
              <a:spcAft>
                <a:spcPts val="0"/>
              </a:spcAft>
              <a:buNone/>
            </a:pPr>
            <a:r>
              <a:t>\operatorname{Block}_L\circ\cdots\circ\operatorname{Block}_1 | « bloc L composé avec les blocs précédents jusqu’au bloc un » | Notation compacte de l’empilement, qui se calcule de droite à gauche.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Chaque bloc reçoit les représentations calculées par le précédent. La succession affine leur contextualisation sans nécessairement changer le nombre de tokens ni leur dimension.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L’ordre de lecture écrit de la composition peut tromper : Block_1 agit en premier. Les blocs ont en général des paramètres distincts, même lorsqu’ils ont la même architecture.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Peut-on utiliser un encodeur non masqué pour prédire le prochain token sans fuite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si les tokens futurs sont présents dans son entrée.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105 — CROSS-ATTENTION : RELIER DEUX SÉQUENCES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Dans un Transformer encodeur-décodeur de traduction, l'encodeur produit une mémoire source contextualisée et le décodeur interroge cette mémoire. Les scores ont alors n cible lignes et n source colonnes. Le masque de padding source interdit les positions ajoutées, tandis que la causalité s'applique principalement à l'auto-attention de la cible. Une cross-attention n'est pas intrinsèquement une traduction : elle peut aussi relier des modalités différentes. Il faut indiquer quels tenseurs fournissent Q et lesquels fournissent K et V pour rendre l'architecture compréhensible.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Q=X_{\rm cible}W_Q,\quad K=H_{\rm source}W_K,\quad V=H_{\rm source}W_V</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Q vaut X cible fois W Q ; K vaut H source fois W K ; V vaut H source fois W V.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X_{\rm cible} | « X cible » | Représentations de la séquence cible qui formule les requêtes.</a:t>
            </a:r>
          </a:p>
          <a:p xmlns:a="http://schemas.openxmlformats.org/drawingml/2006/main">
            <a:pPr marL="0" lvl="0" indent="0" algn="l">
              <a:spcBef>
                <a:spcPts val="0"/>
              </a:spcBef>
              <a:spcAft>
                <a:spcPts val="0"/>
              </a:spcAft>
              <a:buNone/>
            </a:pPr>
            <a:r>
              <a:t>H_{\rm source} | « ache source » | Représentations de la séquence source, par exemple produites par un encodeur.</a:t>
            </a:r>
          </a:p>
          <a:p xmlns:a="http://schemas.openxmlformats.org/drawingml/2006/main">
            <a:pPr marL="0" lvl="0" indent="0" algn="l">
              <a:spcBef>
                <a:spcPts val="0"/>
              </a:spcBef>
              <a:spcAft>
                <a:spcPts val="0"/>
              </a:spcAft>
              <a:buNone/>
            </a:pPr>
            <a:r>
              <a:t>Q | « ku » | Requêtes calculées à partir de la cible.</a:t>
            </a:r>
          </a:p>
          <a:p xmlns:a="http://schemas.openxmlformats.org/drawingml/2006/main">
            <a:pPr marL="0" lvl="0" indent="0" algn="l">
              <a:spcBef>
                <a:spcPts val="0"/>
              </a:spcBef>
              <a:spcAft>
                <a:spcPts val="0"/>
              </a:spcAft>
              <a:buNone/>
            </a:pPr>
            <a:r>
              <a:t>K,\ V | « ka ; vé » | Clés et valeurs calculées à partir de la source.</a:t>
            </a:r>
          </a:p>
          <a:p xmlns:a="http://schemas.openxmlformats.org/drawingml/2006/main">
            <a:pPr marL="0" lvl="0" indent="0" algn="l">
              <a:spcBef>
                <a:spcPts val="0"/>
              </a:spcBef>
              <a:spcAft>
                <a:spcPts val="0"/>
              </a:spcAft>
              <a:buNone/>
            </a:pPr>
            <a:r>
              <a:t>W_Q,\ W_K,\ W_V | « W Q ; W K ; W V » | Projections apprises, de tailles adaptées aux dimensions d’entrée et de sortie.</a:t>
            </a:r>
          </a:p>
          <a:p xmlns:a="http://schemas.openxmlformats.org/drawingml/2006/main">
            <a:pPr marL="0" lvl="0" indent="0" algn="l">
              <a:spcBef>
                <a:spcPts val="0"/>
              </a:spcBef>
              <a:spcAft>
                <a:spcPts val="0"/>
              </a:spcAft>
              <a:buNone/>
            </a:pPr>
            <a:r>
              <a:t>X_{\rm cible}W_Q | « X cible fois W Q » | Produit matriciel qui conserve le nombre de positions cibles.</a:t>
            </a:r>
          </a:p>
          <a:p xmlns:a="http://schemas.openxmlformats.org/drawingml/2006/main">
            <a:pPr marL="0" lvl="0" indent="0" algn="l">
              <a:spcBef>
                <a:spcPts val="0"/>
              </a:spcBef>
              <a:spcAft>
                <a:spcPts val="0"/>
              </a:spcAft>
              <a:buNone/>
            </a:pPr>
            <a:r>
              <a:t>H_{\rm source}W_K | « H source fois W K » | Produit matriciel qui conserve le nombre de positions sources.</a:t>
            </a:r>
          </a:p>
          <a:p xmlns:a="http://schemas.openxmlformats.org/drawingml/2006/main">
            <a:pPr marL="0" lvl="0" indent="0" algn="l">
              <a:spcBef>
                <a:spcPts val="0"/>
              </a:spcBef>
              <a:spcAft>
                <a:spcPts val="0"/>
              </a:spcAft>
              <a:buNone/>
            </a:pPr>
            <a:r>
              <a:t>{}_{\rm cible},\ {}_{\rm source} | « indice cible ; indice source » | Étiquettes qui indiquent l’origine des représentations, pas des variables à multiplier.</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Chaque position cible interroge les représentations sources. Les poids ont une ligne par position cible et une colonne par position source ; la sortie conserve le nombre de positions cibles.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nombre de requêtes peut être différent du nombre de clés. Les dimensions projetées de Q et K doivent coïncider pour calculer les scores ; les dimensions initiales des séquences source et cible ne sont pas nécessairement identiques.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Quelle longueur retrouve-t-on en sortie de cross-attention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La longueur des requêtes, donc celle de la cible ici.</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Vaswani et al. — Attention Is All You Need, 2017</a:t>
            </a:r>
          </a:p>
          <a:p xmlns:a="http://schemas.openxmlformats.org/drawingml/2006/main">
            <a:pPr marL="0" lvl="0" indent="0" algn="l">
              <a:spcBef>
                <a:spcPts val="0"/>
              </a:spcBef>
              <a:spcAft>
                <a:spcPts val="0"/>
              </a:spcAft>
              <a:buNone/>
            </a:pPr>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106 — TROIS FAMILLES D’ARCHITECTURES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nom Transformer couvre plusieurs régimes de calcul. Un encodeur consulte l'entrée disponible dans les deux directions. Un décodeur seul utilise une attention causale pour modéliser une séquence auto-régressive. Un encodeur-décodeur combine une mémoire source et une génération cible avec cross-attention. Le code PyTorch d'un petit décodeur seul peut réutiliser une pile nommée TransformerEncoder avec un masque causal ; le nom de la classe ne détermine pas à lui seul le régime probabiliste. Demander de tracer l'accès à l'information plutôt que de se fier seulement aux noms des composants.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Un décodeur seul nécessite-t-il une cross-attention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il peut ne contenir que de l’auto-attention causale et des FFN.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107 — COÛT DE L’ATTENTION DENSE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La matrice n×n apparaît pour chaque tête et chaque exemple lorsque l'implémentation la matérialise. Pour n=2048 et h=8, on obtient 33554432 éléments par exemple ; en float32, les seuls scores représentent 128 MiB, avant les gradients et les autres activations. Ce calcul ne constitue pas la mémoire totale d'un modèle. Des algorithmes optimisés évitent de conserver toute la matrice en mémoire tout en calculant l'attention exacte. Ils ne rendent pas automatiquement les interactions denses linéaires en calcul. Le FFN peut dominer pour certaines dimensions et longueurs.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T_{\rm attn}=O(n^2d),\quad T_{\rm proj+FFN}=O(nd^2)\\M_{\rm scores}=O(Bhn^2)\quad\text{si les scores sont materialises}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Le coût de l’attention est en grand O de n au carré fois d ; le coût des projections et du FFN est en grand O de n fois d au carré. »</a:t>
            </a:r>
          </a:p>
          <a:p xmlns:a="http://schemas.openxmlformats.org/drawingml/2006/main">
            <a:pPr marL="0" lvl="0" indent="0" algn="l">
              <a:spcBef>
                <a:spcPts val="0"/>
              </a:spcBef>
              <a:spcAft>
                <a:spcPts val="0"/>
              </a:spcAft>
              <a:buNone/>
            </a:pPr>
            <a:r>
              <a:t>« La mémoire des scores est en grand O de B fois h fois n au carré, si les scores sont matérialisés.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T_{\rm attn} | « té indice attention » | Ordre de grandeur du nombre d’opérations pour l’attention dense d’un bloc, par exemple.</a:t>
            </a:r>
          </a:p>
          <a:p xmlns:a="http://schemas.openxmlformats.org/drawingml/2006/main">
            <a:pPr marL="0" lvl="0" indent="0" algn="l">
              <a:spcBef>
                <a:spcPts val="0"/>
              </a:spcBef>
              <a:spcAft>
                <a:spcPts val="0"/>
              </a:spcAft>
              <a:buNone/>
            </a:pPr>
            <a:r>
              <a:t>T_{\rm proj+FFN} | « té indice projections et FFN » | Ordre de grandeur du calcul des projections et du réseau feed-forward.</a:t>
            </a:r>
          </a:p>
          <a:p xmlns:a="http://schemas.openxmlformats.org/drawingml/2006/main">
            <a:pPr marL="0" lvl="0" indent="0" algn="l">
              <a:spcBef>
                <a:spcPts val="0"/>
              </a:spcBef>
              <a:spcAft>
                <a:spcPts val="0"/>
              </a:spcAft>
              <a:buNone/>
            </a:pPr>
            <a:r>
              <a:t>O(\cdot) | « grand O de » | Notation asymptotique qui décrit une croissance en négligeant des constantes ; ce n’est pas une égalité de temps mesurés.</a:t>
            </a:r>
          </a:p>
          <a:p xmlns:a="http://schemas.openxmlformats.org/drawingml/2006/main">
            <a:pPr marL="0" lvl="0" indent="0" algn="l">
              <a:spcBef>
                <a:spcPts val="0"/>
              </a:spcBef>
              <a:spcAft>
                <a:spcPts val="0"/>
              </a:spcAft>
              <a:buNone/>
            </a:pPr>
            <a:r>
              <a:t>n | « enne » | Longueur de la séquence en self-attention.</a:t>
            </a:r>
          </a:p>
          <a:p xmlns:a="http://schemas.openxmlformats.org/drawingml/2006/main">
            <a:pPr marL="0" lvl="0" indent="0" algn="l">
              <a:spcBef>
                <a:spcPts val="0"/>
              </a:spcBef>
              <a:spcAft>
                <a:spcPts val="0"/>
              </a:spcAft>
              <a:buNone/>
            </a:pPr>
            <a:r>
              <a:t>d | « dé » | Dimension totale des représentations, répartie entre les têtes.</a:t>
            </a:r>
          </a:p>
          <a:p xmlns:a="http://schemas.openxmlformats.org/drawingml/2006/main">
            <a:pPr marL="0" lvl="0" indent="0" algn="l">
              <a:spcBef>
                <a:spcPts val="0"/>
              </a:spcBef>
              <a:spcAft>
                <a:spcPts val="0"/>
              </a:spcAft>
              <a:buNone/>
            </a:pPr>
            <a:r>
              <a:t>n^2d | « n au carré fois d » | Coût des interactions entre toutes les paires de positions.</a:t>
            </a:r>
          </a:p>
          <a:p xmlns:a="http://schemas.openxmlformats.org/drawingml/2006/main">
            <a:pPr marL="0" lvl="0" indent="0" algn="l">
              <a:spcBef>
                <a:spcPts val="0"/>
              </a:spcBef>
              <a:spcAft>
                <a:spcPts val="0"/>
              </a:spcAft>
              <a:buNone/>
            </a:pPr>
            <a:r>
              <a:t>nd^2 | « n fois d au carré » | Coût des transformations des caractéristiques, si d_ff est proportionnel à d.</a:t>
            </a:r>
          </a:p>
          <a:p xmlns:a="http://schemas.openxmlformats.org/drawingml/2006/main">
            <a:pPr marL="0" lvl="0" indent="0" algn="l">
              <a:spcBef>
                <a:spcPts val="0"/>
              </a:spcBef>
              <a:spcAft>
                <a:spcPts val="0"/>
              </a:spcAft>
              <a:buNone/>
            </a:pPr>
            <a:r>
              <a:t>M_{\rm scores} | « emme indice scores » | Nombre d’éléments des matrices de scores stockées.</a:t>
            </a:r>
          </a:p>
          <a:p xmlns:a="http://schemas.openxmlformats.org/drawingml/2006/main">
            <a:pPr marL="0" lvl="0" indent="0" algn="l">
              <a:spcBef>
                <a:spcPts val="0"/>
              </a:spcBef>
              <a:spcAft>
                <a:spcPts val="0"/>
              </a:spcAft>
              <a:buNone/>
            </a:pPr>
            <a:r>
              <a:t>B,\ h | « bé majuscule ; ache » | Taille du batch et nombre de têtes.</a:t>
            </a:r>
          </a:p>
          <a:p xmlns:a="http://schemas.openxmlformats.org/drawingml/2006/main">
            <a:pPr marL="0" lvl="0" indent="0" algn="l">
              <a:spcBef>
                <a:spcPts val="0"/>
              </a:spcBef>
              <a:spcAft>
                <a:spcPts val="0"/>
              </a:spcAft>
              <a:buNone/>
            </a:pPr>
            <a:r>
              <a:t>Bhn^2 | « B fois h fois n au carré » | Une matrice n × n pour chaque tête de chaque exemple.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Doubler la longueur multiplie par quatre le terme quadratique de l’attention, mais seulement par deux les termes linéaires en n. Cela explique les contraintes des longues séquences.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La formule de calcul omet le facteur B et se lit par exemple. La formule mémoire compte des éléments : multiplier par le nombre d’octets par élément pour obtenir des octets. Les implémentations comme FlashAttention évitent de stocker toute la matrice des scores, sans supprimer le nombre quadratique d’interactions de l’attention dense.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Doubler n multiplie-t-il la taille de la matrice de scores par deux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par quatre, à batch et nombre de têtes constants.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108 — ATTENTION MANUELLE : LE CŒUR DU CODE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Relier ligne par ligne l'extrait aux trois équations de l'attention. La transposition n'inverse que les deux derniers axes de K ; elle ne permute ni le batch ni la tête. Le masque doit être broadcastable vers la forme des scores. masked_fill retire les scores interdits en leur attribuant moins l'infini. Softmax est appliqué au dernier axe. L'extrait omet volontairement les projections et le dropout pour isoler le noyau du calcul ; le notebook complet les encapsule dans une classe multi-têtes et contrôle les dimensions avant l'agrégation.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erreur commet-on en utilisant softmax sur l’axe des requêtes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On normalise une autre relation que la distribution des clés pour chaque requête.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109 — TP 04 · VÉRIFIER L’ATTENTION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Déroulé : 25 minutes de calcul manuel, 45 minutes pour suivre les axes de la classe multi-têtes, 35 minutes de tests de masques, 25 minutes d'analyse des gradients et 20 minutes de restitution. Le test de causalité remplace les tokens futurs tout en gardant le préfixe identique : les sorties du préfixe doivent rester identiques en mode évaluation, avec dropout désactivé. Une carte d'attention peut illustrer une dépendance calculée, mais ne constitue pas une explication causale complète d'une décision. Les corrigés explicitent aussi le cas d'une ligne entièrement masquée.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doit contenir un résultat interprétable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Les valeurs numériques de référence et un test qui échouerait si le masque causal était retiré.</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110 — EXERCICE · UN BLOC À 256 DIMENSIONS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La largeur de tête vaut 256/8=32. Les quatre projections d×d contiennent 4×256²=262144 paramètres. Le FFN contient 256×1024 + 1024×256 =524288 paramètres. Le total des matrices de ces sous-couches est 786432. Cette somme n'inclut pas les embeddings, la tête de sortie, les biais ni les paramètres de normalisation. Les paramètres ne dépendent pas de n pour ces matrices, mais la mémoire d'attention et les activations en dépendent. Faire expliquer pourquoi plusieurs têtes ne multiplient pas nécessairement d'autant le nombre total de paramètres lorsque d reste fixe.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sous-couche porte ici deux fois plus de poids matriciels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FFN : 524 288 contre 262 144 pour les projections d’attention.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111 — JOUR 4 · À RETENIR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Faire reconstruire un bloc sans regarder les diapositives : embedding plus position, normalisation, projections, scores masqués, softmax, valeurs, concaténation, projection, résidu, puis FFN et second résidu. Les détails de variante doivent être annoncés, notamment pre-LN et post-LN. Une question utile consiste à retirer un composant fictivement : sans masque causal, une prédiction de token pourrait lire sa cible ; sans information de position, une auto-attention non masquée conserve l'équivalence par permutation. La journée suivante entraînera effectivement un petit modèle causal et reliera vision et séquences avec les patches.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vérification relie directement le code à la causalité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Modifier le futur et vérifier que les sorties du préfixe restent identiques.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112 — MODÈLES CAUSAUX ET SYNTHÈSE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journée articule les concepts et leur mise à l'épreuve. Commencer par une restitution de la séance précédente.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113 — JOUR 5 · DÉROULÉ DES 7 HEURES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114 — OBJECTIF AUTO-RÉGRESSIF</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La factorisation par la règle de la chaîne est exacte pour toute distribution de séquence ; le choix architectural détermine comment les probabilités conditionnelles sont paramétrées. Le token de début permet de définir le premier contexte. La moyenne doit ignorer les cibles de padding quand elles ne représentent pas une observation. En entraînement, toutes les positions peuvent être calculées en parallèle grâce au masque causal, même si la génération sera séquentielle. Une séquence avec plusieurs documents concaténés exige une décision sur les frontières et l'information autorisée entre documents.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p_\theta(x_{1:T})=\prod_{t=1}^{T}p_\theta(x_t\mid x_{&lt;t})\\\mathcal L=-\frac1T\sum_{t=1}^{T}\log p_\theta(x_t\mid x_{&lt;t})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La probabilité, paramétrée par thêta, de la séquence x de un à T est le produit, pour t de un à T, des probabilités de x t sachant tous les tokens qui le précèdent. »</a:t>
            </a:r>
          </a:p>
          <a:p xmlns:a="http://schemas.openxmlformats.org/drawingml/2006/main">
            <a:pPr marL="0" lvl="0" indent="0" algn="l">
              <a:spcBef>
                <a:spcPts val="0"/>
              </a:spcBef>
              <a:spcAft>
                <a:spcPts val="0"/>
              </a:spcAft>
              <a:buNone/>
            </a:pPr>
            <a:r>
              <a:t>« La perte L calligraphique vaut moins un sur T fois la somme, pour t de un à T, du logarithme de la probabilité de x t sachant ses prédécesseurs.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p_\theta | « pé indice thêta » | Distribution de probabilité du modèle dont les paramètres sont θ.</a:t>
            </a:r>
          </a:p>
          <a:p xmlns:a="http://schemas.openxmlformats.org/drawingml/2006/main">
            <a:pPr marL="0" lvl="0" indent="0" algn="l">
              <a:spcBef>
                <a:spcPts val="0"/>
              </a:spcBef>
              <a:spcAft>
                <a:spcPts val="0"/>
              </a:spcAft>
              <a:buNone/>
            </a:pPr>
            <a:r>
              <a:t>x_{1:T} | « x de un à T » | Séquence des T tokens considérés.</a:t>
            </a:r>
          </a:p>
          <a:p xmlns:a="http://schemas.openxmlformats.org/drawingml/2006/main">
            <a:pPr marL="0" lvl="0" indent="0" algn="l">
              <a:spcBef>
                <a:spcPts val="0"/>
              </a:spcBef>
              <a:spcAft>
                <a:spcPts val="0"/>
              </a:spcAft>
              <a:buNone/>
            </a:pPr>
            <a:r>
              <a:t>x_t | « x indice t » | Token observé à la position t.</a:t>
            </a:r>
          </a:p>
          <a:p xmlns:a="http://schemas.openxmlformats.org/drawingml/2006/main">
            <a:pPr marL="0" lvl="0" indent="0" algn="l">
              <a:spcBef>
                <a:spcPts val="0"/>
              </a:spcBef>
              <a:spcAft>
                <a:spcPts val="0"/>
              </a:spcAft>
              <a:buNone/>
            </a:pPr>
            <a:r>
              <a:t>x_{&lt;t} | « x avant t » ou « tokens précédant t » | Préfixe constitué des tokens de positions strictement inférieures à t.</a:t>
            </a:r>
          </a:p>
          <a:p xmlns:a="http://schemas.openxmlformats.org/drawingml/2006/main">
            <a:pPr marL="0" lvl="0" indent="0" algn="l">
              <a:spcBef>
                <a:spcPts val="0"/>
              </a:spcBef>
              <a:spcAft>
                <a:spcPts val="0"/>
              </a:spcAft>
              <a:buNone/>
            </a:pPr>
            <a:r>
              <a:t>\mid | « sachant » | Barre de conditionnement probabiliste ; ce n’est ni une division ni une norme.</a:t>
            </a:r>
          </a:p>
          <a:p xmlns:a="http://schemas.openxmlformats.org/drawingml/2006/main">
            <a:pPr marL="0" lvl="0" indent="0" algn="l">
              <a:spcBef>
                <a:spcPts val="0"/>
              </a:spcBef>
              <a:spcAft>
                <a:spcPts val="0"/>
              </a:spcAft>
              <a:buNone/>
            </a:pPr>
            <a:r>
              <a:t>\prod_{t=1}^T | « produit pour t allant de un à T » | Multiplication des probabilités conditionnelles de toutes les positions.</a:t>
            </a:r>
          </a:p>
          <a:p xmlns:a="http://schemas.openxmlformats.org/drawingml/2006/main">
            <a:pPr marL="0" lvl="0" indent="0" algn="l">
              <a:spcBef>
                <a:spcPts val="0"/>
              </a:spcBef>
              <a:spcAft>
                <a:spcPts val="0"/>
              </a:spcAft>
              <a:buNone/>
            </a:pPr>
            <a:r>
              <a:t>\mathcal L | « L calligraphique » | Perte de log-vraisemblance négative moyenne.</a:t>
            </a:r>
          </a:p>
          <a:p xmlns:a="http://schemas.openxmlformats.org/drawingml/2006/main">
            <a:pPr marL="0" lvl="0" indent="0" algn="l">
              <a:spcBef>
                <a:spcPts val="0"/>
              </a:spcBef>
              <a:spcAft>
                <a:spcPts val="0"/>
              </a:spcAft>
              <a:buNone/>
            </a:pPr>
            <a:r>
              <a:t>\sum_{t=1}^T | « somme pour t de un à T » | Addition des contributions des positions.</a:t>
            </a:r>
          </a:p>
          <a:p xmlns:a="http://schemas.openxmlformats.org/drawingml/2006/main">
            <a:pPr marL="0" lvl="0" indent="0" algn="l">
              <a:spcBef>
                <a:spcPts val="0"/>
              </a:spcBef>
              <a:spcAft>
                <a:spcPts val="0"/>
              </a:spcAft>
              <a:buNone/>
            </a:pPr>
            <a:r>
              <a:t>-\frac1T | « moins un sur T » | Change le signe et moyenne sur les T positions.</a:t>
            </a:r>
          </a:p>
          <a:p xmlns:a="http://schemas.openxmlformats.org/drawingml/2006/main">
            <a:pPr marL="0" lvl="0" indent="0" algn="l">
              <a:spcBef>
                <a:spcPts val="0"/>
              </a:spcBef>
              <a:spcAft>
                <a:spcPts val="0"/>
              </a:spcAft>
              <a:buNone/>
            </a:pPr>
            <a:r>
              <a:t>\log | « logarithme naturel » | Transforme le produit de probabilités en somme de logarithmes.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règle de chaîne factorise la probabilité d’une séquence. Maximiser les probabilités des tokens attendus revient à minimiser leur log-vraisemblance négative moyenne.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premier token est conditionné sur un préfixe vide ou sur un token de début selon la convention. Ici toutes les T positions comptent ; avec du padding, on moyenne seulement sur les positions valides. T désigne une longueur, pas une transposée.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Pourquoi l’entraînement peut-il être parallèle alors que la génération est séquentielle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Les vrais préfixes sont disponibles au train ; à l’inférence les prochains tokens restent à produire.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115 — DÉCALER ENTRÉES ET CIBLES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Montrer une séquence très courte avec des identifiants : [BOS,2,4,EOS]. L'entrée est [BOS,2,4] et la cible [2,4,EOS]. La sortie à la position de 2 doit prédire 4 en ayant accès à BOS et 2, mais pas à 4 en entrée future. Si l'on donne la même séquence comme entrée et cible, le modèle peut apprendre à copier le token qu'il voit déjà. Ce bug peut produire une perte très faible et une génération inutile. Le test de causalité et la lecture du décalage sont donc complémentaires.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\text{inputs}=s_{0:T-1},\qquad\text{targets}=s_{1:T}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Les entrées sont les tokens de la séquence s allant de l’indice zéro à l’indice T moins un inclus. Les cibles sont les tokens allant de l’indice un à l’indice T inclus.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s | « esse » | Séquence de T + 1 tokens, indexés de zéro à T.</a:t>
            </a:r>
          </a:p>
          <a:p xmlns:a="http://schemas.openxmlformats.org/drawingml/2006/main">
            <a:pPr marL="0" lvl="0" indent="0" algn="l">
              <a:spcBef>
                <a:spcPts val="0"/>
              </a:spcBef>
              <a:spcAft>
                <a:spcPts val="0"/>
              </a:spcAft>
              <a:buNone/>
            </a:pPr>
            <a:r>
              <a:t>\text{inputs} | « entrées » | Suite des T tokens fournis au modèle.</a:t>
            </a:r>
          </a:p>
          <a:p xmlns:a="http://schemas.openxmlformats.org/drawingml/2006/main">
            <a:pPr marL="0" lvl="0" indent="0" algn="l">
              <a:spcBef>
                <a:spcPts val="0"/>
              </a:spcBef>
              <a:spcAft>
                <a:spcPts val="0"/>
              </a:spcAft>
              <a:buNone/>
            </a:pPr>
            <a:r>
              <a:t>\text{targets} | « cibles » | Suite des T tokens que le modèle doit prédire.</a:t>
            </a:r>
          </a:p>
          <a:p xmlns:a="http://schemas.openxmlformats.org/drawingml/2006/main">
            <a:pPr marL="0" lvl="0" indent="0" algn="l">
              <a:spcBef>
                <a:spcPts val="0"/>
              </a:spcBef>
              <a:spcAft>
                <a:spcPts val="0"/>
              </a:spcAft>
              <a:buNone/>
            </a:pPr>
            <a:r>
              <a:t>s_{0:T-1} | « s de zéro à T moins un » | Tokens d’indices 0, 1, …, T − 1, dans la convention inclusive de cette formule.</a:t>
            </a:r>
          </a:p>
          <a:p xmlns:a="http://schemas.openxmlformats.org/drawingml/2006/main">
            <a:pPr marL="0" lvl="0" indent="0" algn="l">
              <a:spcBef>
                <a:spcPts val="0"/>
              </a:spcBef>
              <a:spcAft>
                <a:spcPts val="0"/>
              </a:spcAft>
              <a:buNone/>
            </a:pPr>
            <a:r>
              <a:t>s_{1:T} | « s de un à T » | Tokens d’indices 1, 2, …, T, dans la même convention.</a:t>
            </a:r>
          </a:p>
          <a:p xmlns:a="http://schemas.openxmlformats.org/drawingml/2006/main">
            <a:pPr marL="0" lvl="0" indent="0" algn="l">
              <a:spcBef>
                <a:spcPts val="0"/>
              </a:spcBef>
              <a:spcAft>
                <a:spcPts val="0"/>
              </a:spcAft>
              <a:buNone/>
            </a:pPr>
            <a:r>
              <a:t>: | « de … à … » | Indique un intervalle d’indices dans cette notation mathématique.</a:t>
            </a:r>
          </a:p>
          <a:p xmlns:a="http://schemas.openxmlformats.org/drawingml/2006/main">
            <a:pPr marL="0" lvl="0" indent="0" algn="l">
              <a:spcBef>
                <a:spcPts val="0"/>
              </a:spcBef>
              <a:spcAft>
                <a:spcPts val="0"/>
              </a:spcAft>
              <a:buNone/>
            </a:pPr>
            <a:r>
              <a:t>T-1 | « T moins un » | Dernier indice de l’entrée ; la soustraction porte sur l’indice.</a:t>
            </a:r>
          </a:p>
          <a:p xmlns:a="http://schemas.openxmlformats.org/drawingml/2006/main">
            <a:pPr marL="0" lvl="0" indent="0" algn="l">
              <a:spcBef>
                <a:spcPts val="0"/>
              </a:spcBef>
              <a:spcAft>
                <a:spcPts val="0"/>
              </a:spcAft>
              <a:buNone/>
            </a:pPr>
            <a:r>
              <a:t>T | « té majuscule » | Nombre de positions prédites et dernier indice de la séquence initiale.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Chaque entrée est associée au token suivant. Pour s = [BOS, a, b, EOS], les entrées sont [BOS, a, b] et les cibles [a, b, EOS]. Le masque causal empêche chaque entrée d’utiliser les tokens suivants.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Les bornes écrites ici sont inclusives. En Python, la borne de fin d’un slice est exclusive : utiliser s[:-1] et s[1:] pour réaliser ce décalage. Copier littéralement s[0:T-1] supprimerait un token de trop.</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Une perte quasi nulle dès le départ peut-elle révéler un mauvais décalage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Oui : le modèle peut voir directement le token qu’on lui demande de prédire.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116 — TEACHER FORCING ET GÉNÉRATION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 contraste est souvent appelé différence d'exposition aux contextes. La vraisemblance reste un objectif bien défini, mais une bonne performance conditionnée par les vrais préfixes ne garantit pas une génération de longue durée sans dérive. Dans le TP, on évalue séparément la perte sur séquences tenues à part et la capacité de continuation après un préfixe fixé. Les séquences sont synthétiques pour rendre la règle attendue explicite. Les modèles de langage réels ajoutent des contraintes de données, de tokenisation et d'usage qui ne sont pas reproduites par ce petit laboratoire.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vérifier aussi des continuations libres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Pour observer le comportement lorsque le modèle conditionne sur ses propres sorties.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117 — DÉCODAGE : ARGMAX, TEMPÉRATURE ET ÉCHANTILLONNAGE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Une petite température concentre la masse vers les plus grands logits ; une grande température aplatit la distribution. La limite vers zéro approche une sélection des maxima, mais diviser effectivement par zéro est une erreur. Top-k garde un nombre fixe de candidats ; top-p conserve un ensemble dont la masse cumulée atteint un seuil selon la règle employée. Ces transformations changent la distribution de génération et ne corrigent pas une connaissance erronée. Dans le TP, commencer par un décodage glouton pour comprendre le mécanisme, puis varier la température avec une graine de tirage explicite.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p_\tau(x_t=k\mid x_{&lt;t})=\operatorname{softmax}(z/\tau)_k,\qquad\tau&gt;0</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La probabilité, à température tau, que le token t soit k sachant le préfixe vaut la composante k du softmax des logits z divisés par tau, avec tau strictement positif.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p_\tau | « pé indice tau » | Distribution de génération après réglage de la température.</a:t>
            </a:r>
          </a:p>
          <a:p xmlns:a="http://schemas.openxmlformats.org/drawingml/2006/main">
            <a:pPr marL="0" lvl="0" indent="0" algn="l">
              <a:spcBef>
                <a:spcPts val="0"/>
              </a:spcBef>
              <a:spcAft>
                <a:spcPts val="0"/>
              </a:spcAft>
              <a:buNone/>
            </a:pPr>
            <a:r>
              <a:t>x_t=k | « x indice t égal à k » | Événement : choisir le token d’identifiant k à la position t.</a:t>
            </a:r>
          </a:p>
          <a:p xmlns:a="http://schemas.openxmlformats.org/drawingml/2006/main">
            <a:pPr marL="0" lvl="0" indent="0" algn="l">
              <a:spcBef>
                <a:spcPts val="0"/>
              </a:spcBef>
              <a:spcAft>
                <a:spcPts val="0"/>
              </a:spcAft>
              <a:buNone/>
            </a:pPr>
            <a:r>
              <a:t>x_{&lt;t} | « tokens précédant t » | Contexte utilisé pour calculer les logits.</a:t>
            </a:r>
          </a:p>
          <a:p xmlns:a="http://schemas.openxmlformats.org/drawingml/2006/main">
            <a:pPr marL="0" lvl="0" indent="0" algn="l">
              <a:spcBef>
                <a:spcPts val="0"/>
              </a:spcBef>
              <a:spcAft>
                <a:spcPts val="0"/>
              </a:spcAft>
              <a:buNone/>
            </a:pPr>
            <a:r>
              <a:t>\mid | « sachant » | Conditionnement sur le préfixe.</a:t>
            </a:r>
          </a:p>
          <a:p xmlns:a="http://schemas.openxmlformats.org/drawingml/2006/main">
            <a:pPr marL="0" lvl="0" indent="0" algn="l">
              <a:spcBef>
                <a:spcPts val="0"/>
              </a:spcBef>
              <a:spcAft>
                <a:spcPts val="0"/>
              </a:spcAft>
              <a:buNone/>
            </a:pPr>
            <a:r>
              <a:t>z | « zède » | Vecteur des logits, avec une composante par token du vocabulaire.</a:t>
            </a:r>
          </a:p>
          <a:p xmlns:a="http://schemas.openxmlformats.org/drawingml/2006/main">
            <a:pPr marL="0" lvl="0" indent="0" algn="l">
              <a:spcBef>
                <a:spcPts val="0"/>
              </a:spcBef>
              <a:spcAft>
                <a:spcPts val="0"/>
              </a:spcAft>
              <a:buNone/>
            </a:pPr>
            <a:r>
              <a:t>\tau | « tau » | Température, un scalaire positif qui règle la concentration de la distribution.</a:t>
            </a:r>
          </a:p>
          <a:p xmlns:a="http://schemas.openxmlformats.org/drawingml/2006/main">
            <a:pPr marL="0" lvl="0" indent="0" algn="l">
              <a:spcBef>
                <a:spcPts val="0"/>
              </a:spcBef>
              <a:spcAft>
                <a:spcPts val="0"/>
              </a:spcAft>
              <a:buNone/>
            </a:pPr>
            <a:r>
              <a:t>z/\tau | « z divisé par tau » | Division de chaque logit par le même scalaire avant le softmax.</a:t>
            </a:r>
          </a:p>
          <a:p xmlns:a="http://schemas.openxmlformats.org/drawingml/2006/main">
            <a:pPr marL="0" lvl="0" indent="0" algn="l">
              <a:spcBef>
                <a:spcPts val="0"/>
              </a:spcBef>
              <a:spcAft>
                <a:spcPts val="0"/>
              </a:spcAft>
              <a:buNone/>
            </a:pPr>
            <a:r>
              <a:t>\operatorname{softmax}(z/\tau)_k | « composante k du softmax de z sur tau » | Probabilité du token k après normalisation.</a:t>
            </a:r>
          </a:p>
          <a:p xmlns:a="http://schemas.openxmlformats.org/drawingml/2006/main">
            <a:pPr marL="0" lvl="0" indent="0" algn="l">
              <a:spcBef>
                <a:spcPts val="0"/>
              </a:spcBef>
              <a:spcAft>
                <a:spcPts val="0"/>
              </a:spcAft>
              <a:buNone/>
            </a:pPr>
            <a:r>
              <a:t>\tau&gt;0 | « tau strictement supérieur à zéro » | Condition nécessaire à cette formule.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Une petite température accentue les écarts entre logits et concentre les probabilités. Une grande température les atténue et rend la distribution plus uniforme.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On divise les logits, pas les probabilités déjà normalisées. Tau égal à zéro rend l’écriture indéfinie ; le décodage glouton est un choix séparé, ou une limite quand tau tend vers zéro avec un maximum unique. Une température basse ne garantit pas l’exactitude de la réponse.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Une température plus faible garantit-elle une réponse correcte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elle concentre la distribution du modèle, y compris sur ses erreurs.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118 — PERPLEXITÉ ET NORMALISATION DE LA PERTE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V désigne ici l'ensemble des positions valides, et non la taille du vocabulaire utilisée précédemment ; le préciser oralement. Pour éviter l'ambiguïté, parler de positions évaluées. Une distribution uniforme sur dix tokens a une perplexité de dix lorsque ces dix tokens sont les cibles possibles. Une perplexité de un correspond à une probabilité un sur les cibles observées dans cette évaluation, limite idéale. La perplexité d'un modèle à caractères et celle d'un modèle à sous-mots n'ont pas la même unité de normalisation. Dans le TP, les premiers symboles aléatoires restent intrinsèquement difficiles à prédire.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\operatorname{PPL}=\exp\!\left(-\frac1M\sum_{t\in\mathcal V}\log p_\theta(x_t\mid x_{&lt;t})\right),\quad M=|\mathcal V|</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La perplexité vaut l’exponentielle de moins un sur M fois la somme, sur les positions t appartenant à V calligraphique, du logarithme de la probabilité du token x t sachant les tokens précédents. »</a:t>
            </a:r>
          </a:p>
          <a:p xmlns:a="http://schemas.openxmlformats.org/drawingml/2006/main">
            <a:pPr marL="0" lvl="0" indent="0" algn="l">
              <a:spcBef>
                <a:spcPts val="0"/>
              </a:spcBef>
              <a:spcAft>
                <a:spcPts val="0"/>
              </a:spcAft>
              <a:buNone/>
            </a:pPr>
            <a:r>
              <a:t>« M est égal au cardinal de V calligraphique, c’est-à-dire au nombre de positions valides.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\operatorname{PPL} | « perplexité » | Exponentielle de la perte moyenne de log-vraisemblance négative.</a:t>
            </a:r>
          </a:p>
          <a:p xmlns:a="http://schemas.openxmlformats.org/drawingml/2006/main">
            <a:pPr marL="0" lvl="0" indent="0" algn="l">
              <a:spcBef>
                <a:spcPts val="0"/>
              </a:spcBef>
              <a:spcAft>
                <a:spcPts val="0"/>
              </a:spcAft>
              <a:buNone/>
            </a:pPr>
            <a:r>
              <a:t>\exp | « exponentielle » | Fonction inverse du logarithme naturel.</a:t>
            </a:r>
          </a:p>
          <a:p xmlns:a="http://schemas.openxmlformats.org/drawingml/2006/main">
            <a:pPr marL="0" lvl="0" indent="0" algn="l">
              <a:spcBef>
                <a:spcPts val="0"/>
              </a:spcBef>
              <a:spcAft>
                <a:spcPts val="0"/>
              </a:spcAft>
              <a:buNone/>
            </a:pPr>
            <a:r>
              <a:t>\mathcal V | « V calligraphique » | Ensemble des positions valides, après exclusion du padding et des positions ignorées.</a:t>
            </a:r>
          </a:p>
          <a:p xmlns:a="http://schemas.openxmlformats.org/drawingml/2006/main">
            <a:pPr marL="0" lvl="0" indent="0" algn="l">
              <a:spcBef>
                <a:spcPts val="0"/>
              </a:spcBef>
              <a:spcAft>
                <a:spcPts val="0"/>
              </a:spcAft>
              <a:buNone/>
            </a:pPr>
            <a:r>
              <a:t>t\in\mathcal V | « t appartient à V calligraphique » | Seules ces positions sont incluses dans la somme.</a:t>
            </a:r>
          </a:p>
          <a:p xmlns:a="http://schemas.openxmlformats.org/drawingml/2006/main">
            <a:pPr marL="0" lvl="0" indent="0" algn="l">
              <a:spcBef>
                <a:spcPts val="0"/>
              </a:spcBef>
              <a:spcAft>
                <a:spcPts val="0"/>
              </a:spcAft>
              <a:buNone/>
            </a:pPr>
            <a:r>
              <a:t>\sum_{t\in\mathcal V} | « somme sur les t appartenant à V calligraphique » | Addition des log-probabilités de tous les tokens évalués.</a:t>
            </a:r>
          </a:p>
          <a:p xmlns:a="http://schemas.openxmlformats.org/drawingml/2006/main">
            <a:pPr marL="0" lvl="0" indent="0" algn="l">
              <a:spcBef>
                <a:spcPts val="0"/>
              </a:spcBef>
              <a:spcAft>
                <a:spcPts val="0"/>
              </a:spcAft>
              <a:buNone/>
            </a:pPr>
            <a:r>
              <a:t>M=|\mathcal V| | « M égale le cardinal de V calligraphique » | M est le nombre de positions valides ; les barres simples désignent ici un cardinal.</a:t>
            </a:r>
          </a:p>
          <a:p xmlns:a="http://schemas.openxmlformats.org/drawingml/2006/main">
            <a:pPr marL="0" lvl="0" indent="0" algn="l">
              <a:spcBef>
                <a:spcPts val="0"/>
              </a:spcBef>
              <a:spcAft>
                <a:spcPts val="0"/>
              </a:spcAft>
              <a:buNone/>
            </a:pPr>
            <a:r>
              <a:t>p_\theta(x_t\mid x_{&lt;t}) | « probabilité de x t sachant les précédents, sous le modèle thêta » | Probabilité attribuée par le modèle au token réellement observé.</a:t>
            </a:r>
          </a:p>
          <a:p xmlns:a="http://schemas.openxmlformats.org/drawingml/2006/main">
            <a:pPr marL="0" lvl="0" indent="0" algn="l">
              <a:spcBef>
                <a:spcPts val="0"/>
              </a:spcBef>
              <a:spcAft>
                <a:spcPts val="0"/>
              </a:spcAft>
              <a:buNone/>
            </a:pPr>
            <a:r>
              <a:t>\log | « logarithme naturel » | Logarithme en base e, cohérent avec l’exponentielle utilisée.</a:t>
            </a:r>
          </a:p>
          <a:p xmlns:a="http://schemas.openxmlformats.org/drawingml/2006/main">
            <a:pPr marL="0" lvl="0" indent="0" algn="l">
              <a:spcBef>
                <a:spcPts val="0"/>
              </a:spcBef>
              <a:spcAft>
                <a:spcPts val="0"/>
              </a:spcAft>
              <a:buNone/>
            </a:pPr>
            <a:r>
              <a:t>-\frac1M | « moins un sur M » | Calcule la moyenne négative, en supposant M strictement positif.</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La perplexité est une transformation de la perte : une meilleure log-probabilité moyenne donne une perplexité plus faible. Une perte égale à log(8), par exemple, correspond à une perplexité de 8.</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V calligraphique représente ici des positions, pas le vocabulaire ni la matrice des valeurs d’attention. Comparer des perplexités exige la même tokenisation et le même protocole d’évaluation. La moyenne se calcule sur tous les tokens valides, sans moyenner naïvement des moyennes de batches de tailles différentes.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Que vaut exp(log(8))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8 ; c’est la perplexité d’un choix uniforme parmi huit possibilités.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119 — CACHE K/V À L’INFÉRENCE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Dans une multi-head attention standard, la largeur totale des clés et celle des valeurs valent souvent d, donc d_KV=d. Des variantes à clés et valeurs partagées changent ce facteur. Le cache contient un tenseur K et un tenseur V par couche, batch et position. Pour chaque nouveau token, on ne recalcule pas les projections du passé, mais on doit toujours comparer sa requête aux clés conservées. La mémoire croît donc avec la longueur de contexte. Le mini-modèle du TP recalcule volontairement le préfixe complet pour rester lisible ; il n'implémente pas de cache.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M_{KV}\approx2BLnd_{KV}\times\text{octets par element}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La mémoire du cache clés-valeurs vaut approximativement deux fois B fois L fois n fois d indice K V, multiplié par le nombre d’octets par élément.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M_{KV} | « emme indice K V » | Mémoire totale du cache de clés et valeurs, exprimée ici en octets.</a:t>
            </a:r>
          </a:p>
          <a:p xmlns:a="http://schemas.openxmlformats.org/drawingml/2006/main">
            <a:pPr marL="0" lvl="0" indent="0" algn="l">
              <a:spcBef>
                <a:spcPts val="0"/>
              </a:spcBef>
              <a:spcAft>
                <a:spcPts val="0"/>
              </a:spcAft>
              <a:buNone/>
            </a:pPr>
            <a:r>
              <a:t>\approx | « approximativement égal à » | Estimation qui ignore notamment les surcoûts d’allocation.</a:t>
            </a:r>
          </a:p>
          <a:p xmlns:a="http://schemas.openxmlformats.org/drawingml/2006/main">
            <a:pPr marL="0" lvl="0" indent="0" algn="l">
              <a:spcBef>
                <a:spcPts val="0"/>
              </a:spcBef>
              <a:spcAft>
                <a:spcPts val="0"/>
              </a:spcAft>
              <a:buNone/>
            </a:pPr>
            <a:r>
              <a:t>2 | « deux » | Deux familles de tenseurs à stocker : les clés et les valeurs.</a:t>
            </a:r>
          </a:p>
          <a:p xmlns:a="http://schemas.openxmlformats.org/drawingml/2006/main">
            <a:pPr marL="0" lvl="0" indent="0" algn="l">
              <a:spcBef>
                <a:spcPts val="0"/>
              </a:spcBef>
              <a:spcAft>
                <a:spcPts val="0"/>
              </a:spcAft>
              <a:buNone/>
            </a:pPr>
            <a:r>
              <a:t>B | « bé majuscule » | Nombre de séquences dans le batch.</a:t>
            </a:r>
          </a:p>
          <a:p xmlns:a="http://schemas.openxmlformats.org/drawingml/2006/main">
            <a:pPr marL="0" lvl="0" indent="0" algn="l">
              <a:spcBef>
                <a:spcPts val="0"/>
              </a:spcBef>
              <a:spcAft>
                <a:spcPts val="0"/>
              </a:spcAft>
              <a:buNone/>
            </a:pPr>
            <a:r>
              <a:t>L | « elle majuscule » | Nombre de couches dont on conserve le cache.</a:t>
            </a:r>
          </a:p>
          <a:p xmlns:a="http://schemas.openxmlformats.org/drawingml/2006/main">
            <a:pPr marL="0" lvl="0" indent="0" algn="l">
              <a:spcBef>
                <a:spcPts val="0"/>
              </a:spcBef>
              <a:spcAft>
                <a:spcPts val="0"/>
              </a:spcAft>
              <a:buNone/>
            </a:pPr>
            <a:r>
              <a:t>n | « enne » | Nombre de positions déjà mises en cache par séquence.</a:t>
            </a:r>
          </a:p>
          <a:p xmlns:a="http://schemas.openxmlformats.org/drawingml/2006/main">
            <a:pPr marL="0" lvl="0" indent="0" algn="l">
              <a:spcBef>
                <a:spcPts val="0"/>
              </a:spcBef>
              <a:spcAft>
                <a:spcPts val="0"/>
              </a:spcAft>
              <a:buNone/>
            </a:pPr>
            <a:r>
              <a:t>d_{KV} | « d indice K V » | Largeur totale des clés, ou des valeurs, toutes têtes KV réunies, pour un token et une couche.</a:t>
            </a:r>
          </a:p>
          <a:p xmlns:a="http://schemas.openxmlformats.org/drawingml/2006/main">
            <a:pPr marL="0" lvl="0" indent="0" algn="l">
              <a:spcBef>
                <a:spcPts val="0"/>
              </a:spcBef>
              <a:spcAft>
                <a:spcPts val="0"/>
              </a:spcAft>
              <a:buNone/>
            </a:pPr>
            <a:r>
              <a:t>\times | « multiplié par » | Produit des dimensions et de la taille d’un élément.</a:t>
            </a:r>
          </a:p>
          <a:p xmlns:a="http://schemas.openxmlformats.org/drawingml/2006/main">
            <a:pPr marL="0" lvl="0" indent="0" algn="l">
              <a:spcBef>
                <a:spcPts val="0"/>
              </a:spcBef>
              <a:spcAft>
                <a:spcPts val="0"/>
              </a:spcAft>
              <a:buNone/>
            </a:pPr>
            <a:r>
              <a:t>\text{octets par element} | « octets par élément » | Taille du type numérique utilisé : par exemple deux octets pour float16.</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Le cache évite de recalculer les clés et valeurs des tokens précédents pendant la génération. Son volume croît linéairement avec le batch, le nombre de couches et la longueur mémorisée.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facteur deux suppose la même largeur et le même type numérique pour K et V. d_KV inclut déjà toutes les têtes KV : ne pas remultiplier par leur nombre. Cette estimation exclut les poids du modèle et les autres buffers. En attention multi-têtes standard d_KV = d ; le partage des têtes KV peut le réduire.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Le cache supprime-t-il le besoin de consulter les tokens passés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il réutilise leurs clés et valeurs déjà calculées.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120 — VISION TRANSFORMER : UNE IMAGE EN PATCHES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La formule suppose H et W divisibles par P et des patches carrés de côté P. Chaque patch est converti en vecteur, puis en embedding appris. Un token de classification peut être ajouté ; d'autres variantes utilisent une agrégation des sorties. La couche de projection peut être implémentée comme une convolution de noyau P et de stride P, ce qui relie les deux familles sans les rendre identiques. Les positions sont indispensables pour préserver l'organisation spatiale dans l'approche standard. Une réduction de P augmente fortement le nombre de tokens et le coût de l'attention.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n=\frac{HW}{P^2},\qquad x_i\in\mathbb R^{P^2C},\qquad z_i=x_iW_E+p_i</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Le nombre de patches n vaut H fois W divisé par P au carré. Chaque patch aplati x indice i appartient à l’espace réel de dimension P au carré fois C. »</a:t>
            </a:r>
          </a:p>
          <a:p xmlns:a="http://schemas.openxmlformats.org/drawingml/2006/main">
            <a:pPr marL="0" lvl="0" indent="0" algn="l">
              <a:spcBef>
                <a:spcPts val="0"/>
              </a:spcBef>
              <a:spcAft>
                <a:spcPts val="0"/>
              </a:spcAft>
              <a:buNone/>
            </a:pPr>
            <a:r>
              <a:t>« z indice i vaut x indice i fois W indice E, plus p indice i.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H,\ W | « ache ; double vé » | Hauteur et largeur de l’image, en pixels.</a:t>
            </a:r>
          </a:p>
          <a:p xmlns:a="http://schemas.openxmlformats.org/drawingml/2006/main">
            <a:pPr marL="0" lvl="0" indent="0" algn="l">
              <a:spcBef>
                <a:spcPts val="0"/>
              </a:spcBef>
              <a:spcAft>
                <a:spcPts val="0"/>
              </a:spcAft>
              <a:buNone/>
            </a:pPr>
            <a:r>
              <a:t>P | « pé majuscule » | Longueur du côté d’un patch carré, en pixels.</a:t>
            </a:r>
          </a:p>
          <a:p xmlns:a="http://schemas.openxmlformats.org/drawingml/2006/main">
            <a:pPr marL="0" lvl="0" indent="0" algn="l">
              <a:spcBef>
                <a:spcPts val="0"/>
              </a:spcBef>
              <a:spcAft>
                <a:spcPts val="0"/>
              </a:spcAft>
              <a:buNone/>
            </a:pPr>
            <a:r>
              <a:t>P^2 | « P au carré » | Nombre de pixels spatiaux d’un patch.</a:t>
            </a:r>
          </a:p>
          <a:p xmlns:a="http://schemas.openxmlformats.org/drawingml/2006/main">
            <a:pPr marL="0" lvl="0" indent="0" algn="l">
              <a:spcBef>
                <a:spcPts val="0"/>
              </a:spcBef>
              <a:spcAft>
                <a:spcPts val="0"/>
              </a:spcAft>
              <a:buNone/>
            </a:pPr>
            <a:r>
              <a:t>C | « cé majuscule » | Nombre de canaux, par exemple trois pour une image RGB.</a:t>
            </a:r>
          </a:p>
          <a:p xmlns:a="http://schemas.openxmlformats.org/drawingml/2006/main">
            <a:pPr marL="0" lvl="0" indent="0" algn="l">
              <a:spcBef>
                <a:spcPts val="0"/>
              </a:spcBef>
              <a:spcAft>
                <a:spcPts val="0"/>
              </a:spcAft>
              <a:buNone/>
            </a:pPr>
            <a:r>
              <a:t>n=HW/P^2 | « n égale H fois W sur P au carré » | Nombre de patches non chevauchants, avant l’ajout éventuel de tokens spéciaux.</a:t>
            </a:r>
          </a:p>
          <a:p xmlns:a="http://schemas.openxmlformats.org/drawingml/2006/main">
            <a:pPr marL="0" lvl="0" indent="0" algn="l">
              <a:spcBef>
                <a:spcPts val="0"/>
              </a:spcBef>
              <a:spcAft>
                <a:spcPts val="0"/>
              </a:spcAft>
              <a:buNone/>
            </a:pPr>
            <a:r>
              <a:t>x_i\in\mathbb R^{P^2C} | « x i appartient à l’espace réel de dimension P au carré fois C » | Vecteur des pixels du patch i, après aplatissement.</a:t>
            </a:r>
          </a:p>
          <a:p xmlns:a="http://schemas.openxmlformats.org/drawingml/2006/main">
            <a:pPr marL="0" lvl="0" indent="0" algn="l">
              <a:spcBef>
                <a:spcPts val="0"/>
              </a:spcBef>
              <a:spcAft>
                <a:spcPts val="0"/>
              </a:spcAft>
              <a:buNone/>
            </a:pPr>
            <a:r>
              <a:t>W_E | « W indice E » | Matrice de projection apprise de taille (P²C) × d.</a:t>
            </a:r>
          </a:p>
          <a:p xmlns:a="http://schemas.openxmlformats.org/drawingml/2006/main">
            <a:pPr marL="0" lvl="0" indent="0" algn="l">
              <a:spcBef>
                <a:spcPts val="0"/>
              </a:spcBef>
              <a:spcAft>
                <a:spcPts val="0"/>
              </a:spcAft>
              <a:buNone/>
            </a:pPr>
            <a:r>
              <a:t>p_i | « pé minuscule indice i » | Vecteur de position associé au patch i, de dimension d.</a:t>
            </a:r>
          </a:p>
          <a:p xmlns:a="http://schemas.openxmlformats.org/drawingml/2006/main">
            <a:pPr marL="0" lvl="0" indent="0" algn="l">
              <a:spcBef>
                <a:spcPts val="0"/>
              </a:spcBef>
              <a:spcAft>
                <a:spcPts val="0"/>
              </a:spcAft>
              <a:buNone/>
            </a:pPr>
            <a:r>
              <a:t>z_i | « zède indice i » | Représentation du patch de dimension d, après projection et ajout de position.</a:t>
            </a:r>
          </a:p>
          <a:p xmlns:a="http://schemas.openxmlformats.org/drawingml/2006/main">
            <a:pPr marL="0" lvl="0" indent="0" algn="l">
              <a:spcBef>
                <a:spcPts val="0"/>
              </a:spcBef>
              <a:spcAft>
                <a:spcPts val="0"/>
              </a:spcAft>
              <a:buNone/>
            </a:pPr>
            <a:r>
              <a:t>x_iW_E | « x i fois W E » | Produit matriciel écrit avec x_i sous forme de vecteur ligne.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Une image est convertie en séquence de patches. Chaque patch est aplati, projeté dans l’espace du Transformer, puis enrichi de son information de position.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On suppose H et W divisibles par P, avec des patches carrés non chevauchants. P désigne ici une taille de patch, pas un nombre de paramètres. Le p_i minuscule est un vecteur de position, pas une probabilité ; la formule de n exclut un éventuel token CLS.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Combien de valeurs dans un patch RGB 16×16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16×16×3 = 768.</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LECTURES ET RÉFÉRENCES</a:t>
            </a:r>
          </a:p>
          <a:p xmlns:a="http://schemas.openxmlformats.org/drawingml/2006/main">
            <a:pPr marL="0" lvl="0" indent="0" algn="l">
              <a:spcBef>
                <a:spcPts val="0"/>
              </a:spcBef>
              <a:spcAft>
                <a:spcPts val="0"/>
              </a:spcAft>
              <a:buNone/>
            </a:pPr>
            <a:r>
              <a:t>Dosovitskiy et al. — An Image is Worth 16x16 Words, 2020</a:t>
            </a:r>
          </a:p>
          <a:p xmlns:a="http://schemas.openxmlformats.org/drawingml/2006/main">
            <a:pPr marL="0" lvl="0" indent="0" algn="l">
              <a:spcBef>
                <a:spcPts val="0"/>
              </a:spcBef>
              <a:spcAft>
                <a:spcPts val="0"/>
              </a:spcAft>
              <a:buNone/>
            </a:pPr>
            <a:r>
              <a:t>https://arxiv.org/abs/2010.11929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121 — PATCHES : CALCULER LE COÛT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Le dernier rapport porte uniquement sur les matrices d'attention des tokens visuels sans token de classification. En ajoutant ce token, le rapport exact devient 785²/197², légèrement différent de seize. Cette précision montre l'intérêt de distinguer une approximation d'ordre de grandeur d'un calcul exact. La projection de chaque patch change aussi avec P ; tout le coût du modèle ne suit donc pas nécessairement le même facteur. Des patches plus petits gardent une granularité spatiale plus fine, mais le compromis dépend de la tâche, des données et du budget.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\left(\frac{224}{16}\right)^2=196,\qquad\left(\frac{224}{8}\right)^2=784\\\frac{784^2}{196^2}=16</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Deux cent vingt-quatre divisé par seize, le quotient au carré, vaut cent quatre-vingt-seize. »</a:t>
            </a:r>
          </a:p>
          <a:p xmlns:a="http://schemas.openxmlformats.org/drawingml/2006/main">
            <a:pPr marL="0" lvl="0" indent="0" algn="l">
              <a:spcBef>
                <a:spcPts val="0"/>
              </a:spcBef>
              <a:spcAft>
                <a:spcPts val="0"/>
              </a:spcAft>
              <a:buNone/>
            </a:pPr>
            <a:r>
              <a:t>« Deux cent vingt-quatre divisé par huit, le quotient au carré, vaut sept cent quatre-vingt-quatre. »</a:t>
            </a:r>
          </a:p>
          <a:p xmlns:a="http://schemas.openxmlformats.org/drawingml/2006/main">
            <a:pPr marL="0" lvl="0" indent="0" algn="l">
              <a:spcBef>
                <a:spcPts val="0"/>
              </a:spcBef>
              <a:spcAft>
                <a:spcPts val="0"/>
              </a:spcAft>
              <a:buNone/>
            </a:pPr>
            <a:r>
              <a:t>« Sept cent quatre-vingt-quatre au carré divisé par cent quatre-vingt-seize au carré vaut seize.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224 | « deux cent vingt-quatre » | Hauteur et largeur en pixels de l’image carrée.</a:t>
            </a:r>
          </a:p>
          <a:p xmlns:a="http://schemas.openxmlformats.org/drawingml/2006/main">
            <a:pPr marL="0" lvl="0" indent="0" algn="l">
              <a:spcBef>
                <a:spcPts val="0"/>
              </a:spcBef>
              <a:spcAft>
                <a:spcPts val="0"/>
              </a:spcAft>
              <a:buNone/>
            </a:pPr>
            <a:r>
              <a:t>16,\ 8 | « seize ; huit » | Deux tailles possibles pour le côté d’un patch carré.</a:t>
            </a:r>
          </a:p>
          <a:p xmlns:a="http://schemas.openxmlformats.org/drawingml/2006/main">
            <a:pPr marL="0" lvl="0" indent="0" algn="l">
              <a:spcBef>
                <a:spcPts val="0"/>
              </a:spcBef>
              <a:spcAft>
                <a:spcPts val="0"/>
              </a:spcAft>
              <a:buNone/>
            </a:pPr>
            <a:r>
              <a:t>224/16,\ 224/8 | « deux cent vingt-quatre sur seize ; sur huit » | Nombres de patches le long d’un seul côté : 14 et 28.</a:t>
            </a:r>
          </a:p>
          <a:p xmlns:a="http://schemas.openxmlformats.org/drawingml/2006/main">
            <a:pPr marL="0" lvl="0" indent="0" algn="l">
              <a:spcBef>
                <a:spcPts val="0"/>
              </a:spcBef>
              <a:spcAft>
                <a:spcPts val="0"/>
              </a:spcAft>
              <a:buNone/>
            </a:pPr>
            <a:r>
              <a:t>(224/16)^2 | « le quotient deux cent vingt-quatre sur seize, au carré » | Nombre total de patches de 16 × 16 pixels : 14 × 14 = 196.</a:t>
            </a:r>
          </a:p>
          <a:p xmlns:a="http://schemas.openxmlformats.org/drawingml/2006/main">
            <a:pPr marL="0" lvl="0" indent="0" algn="l">
              <a:spcBef>
                <a:spcPts val="0"/>
              </a:spcBef>
              <a:spcAft>
                <a:spcPts val="0"/>
              </a:spcAft>
              <a:buNone/>
            </a:pPr>
            <a:r>
              <a:t>(224/8)^2 | « le quotient deux cent vingt-quatre sur huit, au carré » | Nombre total de patches de 8 × 8 pixels : 28 × 28 = 784.</a:t>
            </a:r>
          </a:p>
          <a:p xmlns:a="http://schemas.openxmlformats.org/drawingml/2006/main">
            <a:pPr marL="0" lvl="0" indent="0" algn="l">
              <a:spcBef>
                <a:spcPts val="0"/>
              </a:spcBef>
              <a:spcAft>
                <a:spcPts val="0"/>
              </a:spcAft>
              <a:buNone/>
            </a:pPr>
            <a:r>
              <a:t>196,\ 784 | « cent quatre-vingt-seize ; sept cent quatre-vingt-quatre » | Longueurs des deux séquences de patches, sans token spécial.</a:t>
            </a:r>
          </a:p>
          <a:p xmlns:a="http://schemas.openxmlformats.org/drawingml/2006/main">
            <a:pPr marL="0" lvl="0" indent="0" algn="l">
              <a:spcBef>
                <a:spcPts val="0"/>
              </a:spcBef>
              <a:spcAft>
                <a:spcPts val="0"/>
              </a:spcAft>
              <a:buNone/>
            </a:pPr>
            <a:r>
              <a:t>784^2/196^2 | « sept cent quatre-vingt-quatre au carré sur cent quatre-vingt-seize au carré » | Rapport des nombres de paires de patches dans l’attention dense.</a:t>
            </a:r>
          </a:p>
          <a:p xmlns:a="http://schemas.openxmlformats.org/drawingml/2006/main">
            <a:pPr marL="0" lvl="0" indent="0" algn="l">
              <a:spcBef>
                <a:spcPts val="0"/>
              </a:spcBef>
              <a:spcAft>
                <a:spcPts val="0"/>
              </a:spcAft>
              <a:buNone/>
            </a:pPr>
            <a:r>
              <a:t>16 | « seize » | Facteur de croissance du nombre de scores d’attention lorsque la taille du patch est divisée par deux.</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Diviser par deux le côté des patches multiplie par quatre leur nombre. Comme chaque patch peut interagir avec tous les autres, le nombre de paires est alors multiplié par seize.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 carré dans la première ligne compte les deux axes de l’image ; le carré dans la deuxième ligne compte les paires de tokens. Le facteur seize concerne les scores et le terme quadratique de l’attention, pas nécessairement le temps total du modèle ni toutes ses allocations mémoire.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Diviser la taille de patch par deux double-t-il n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Non : n est multiplié par quatre pour une image 2D.</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122 — CNN ET VIT : COMPARER LES HYPOTHÈSES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Éviter un classement absolu des architectures. Les CNN imposent une localité et un partage spatiaux forts ; les Transformers permettent un mélange global dépendant du contenu dans les couches d'attention denses. Les données, le préentraînement, les augmentations, la résolution et le budget peuvent modifier les conclusions empiriques. Un ViT ne devient pas automatiquement supérieur parce qu'il appartient à une famille plus récente. Les architectures hybrides et hiérarchiques rendent la frontière moins stricte. L'évaluation doit comparer des recettes documentées plutôt qu'un nom de famille isolé.</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 contrôle est indispensable pour comparer CNN et ViT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protocole de données, préentraînement, résolution et budget de calcul.</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Dosovitskiy et al. — An Image is Worth 16x16 Words, 2020</ns12:t>
            </ns12:r>
          </ns12:p>
          <ns13:p xmlns:ns13="http://schemas.openxmlformats.org/drawingml/2006/main">
            <ns13:pPr marL="0" lvl="0" indent="0" algn="l">
              <ns13:spcBef>
                <ns13:spcPts val="0"/>
              </ns13:spcBef>
              <ns13:spcAft>
                <ns13:spcPts val="0"/>
              </ns13:spcAft>
              <ns13:buNone/>
            </ns13:pPr>
            <ns13:r>
              <ns13:t>https://arxiv.org/abs/2010.11929</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123 — TRANSFERT DANS UN TRANSFORMER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même principe backbone-tête vu pour les CNN s'applique aux encodeurs Transformers, mais avec des choix supplémentaires : tokenisation, positions, masque et agrégation. Pour un modèle causal, la tâche peut être formulée comme une prédiction de séquence ; il faut vérifier que les cibles et le masquage de perte correspondent à l'objectif. Les méthodes d'adaptation à faible nombre de paramètres sont une extension possible, pas détaillée dans ce cours d'introduction. Un petit nombre de paramètres adaptés ne garantit ni un faible coût d'inférence ni une absence d'oubli sur la tâche source.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Changer seulement la tête suffit-il si la tokenisation est incompatible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les identifiants, embeddings et prétraitements doivent rester cohérents.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124 — LIMITES ET INTERPRÉTATION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Les informations peuvent transiter par plusieurs têtes, les valeurs, les résidus et les MLP ; une carte d'attention ne décrit donc qu'une partie du calcul. Une vérification causale demanderait des interventions contrôlées, elles-mêmes à interpréter prudemment. Pour les modèles génératifs, la vraisemblance entraîne la prédiction de séquences, pas une garantie de vérité. Dans un projet appliqué, analyser les populations concernées, la provenance et l'autorisation d'usage des données, ainsi que les risques d'erreurs spécifiques au domaine. Les exemples jouets du cours ne valident pas ces conditions de déploiement.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Une carte d’attention suffit-elle à prouver pourquoi une classe a été prédite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elle ne couvre qu’une partie des chemins de calcul.</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125 — TP 05 : LA TÂCHE ET SON PROTOCOLE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Les quatre premiers symboles sont choisis dans un alphabet de huit possibilités. Ils ne peuvent pas tous être déduits du préfixe ; une partie de la perte est donc irréductible pour cette distribution. Les répétitions suivantes constituent les positions de copie prévisibles. Le découpage se fait sur les motifs de quatre symboles, avant la répétition, pour éviter qu'une séquence identique soit présente dans plusieurs partitions. Il s'agit d'une tâche synthétique de structure séquentielle, pas d'une évaluation linguistique. La métrique de copie complète la perplexité et permet de distinguer apprentissage de la règle et prédiction des symboles initiaux.</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\langle BOS\rangle,\ a,b,c,d,\ a,b,c,d,\ a,b,c,d,\ \langle EOS\rangle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Token de début de séquence, puis a, b, c, d ; à nouveau a, b, c, d ; une troisième fois a, b, c, d ; puis token de fin de séquence.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\langle BOS\rangle | « token de début de séquence » | BOS signifie Begin Of Sequence. C’est un symbole spécial du vocabulaire.</a:t>
            </a:r>
          </a:p>
          <a:p xmlns:a="http://schemas.openxmlformats.org/drawingml/2006/main">
            <a:pPr marL="0" lvl="0" indent="0" algn="l">
              <a:spcBef>
                <a:spcPts val="0"/>
              </a:spcBef>
              <a:spcAft>
                <a:spcPts val="0"/>
              </a:spcAft>
              <a:buNone/>
            </a:pPr>
            <a:r>
              <a:t>\langle EOS\rangle | « token de fin de séquence » | EOS signifie End Of Sequence. Le modèle apprend notamment à prédire ce symbole.</a:t>
            </a:r>
          </a:p>
          <a:p xmlns:a="http://schemas.openxmlformats.org/drawingml/2006/main">
            <a:pPr marL="0" lvl="0" indent="0" algn="l">
              <a:spcBef>
                <a:spcPts val="0"/>
              </a:spcBef>
              <a:spcAft>
                <a:spcPts val="0"/>
              </a:spcAft>
              <a:buNone/>
            </a:pPr>
            <a:r>
              <a:t>a,\ b,\ c,\ d | « a ; bé ; cé ; dé » | Quatre tokens du motif à répéter ; ces lettres ne désignent ici ni des dimensions ni des paramètres.</a:t>
            </a:r>
          </a:p>
          <a:p xmlns:a="http://schemas.openxmlformats.org/drawingml/2006/main">
            <a:pPr marL="0" lvl="0" indent="0" algn="l">
              <a:spcBef>
                <a:spcPts val="0"/>
              </a:spcBef>
              <a:spcAft>
                <a:spcPts val="0"/>
              </a:spcAft>
              <a:buNone/>
            </a:pPr>
            <a:r>
              <a:t>\langle\ \rangle | « chevrons » | Délimitent le nom d’un token spécial ; ils ne représentent pas un produit scalaire.</a:t>
            </a:r>
          </a:p>
          <a:p xmlns:a="http://schemas.openxmlformats.org/drawingml/2006/main">
            <a:pPr marL="0" lvl="0" indent="0" algn="l">
              <a:spcBef>
                <a:spcPts val="0"/>
              </a:spcBef>
              <a:spcAft>
                <a:spcPts val="0"/>
              </a:spcAft>
              <a:buNone/>
            </a:pPr>
            <a:r>
              <a:t>, | « puis » | Sépare les positions successives dans cette représentation de la séquence.</a:t>
            </a:r>
          </a:p>
          <a:p xmlns:a="http://schemas.openxmlformats.org/drawingml/2006/main">
            <a:pPr marL="0" lvl="0" indent="0" algn="l">
              <a:spcBef>
                <a:spcPts val="0"/>
              </a:spcBef>
              <a:spcAft>
                <a:spcPts val="0"/>
              </a:spcAft>
              <a:buNone/>
            </a:pPr>
            <a:r>
              <a:t>a,b,c,d\;\text{repete trois fois} | « le motif a, b, c, d répété trois fois » | Dépendance synthétique que le modèle doit apprendre à reproduire.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Cette tâche artificielle rend visibles les dépendances entre tokens : le modèle doit retrouver le motif, le répéter et s’arrêter. L’exemple comporte 14 tokens si l’on compte BOS et EOS.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L’exemple illustre la structure du jeu de données du TP, pas une équation algébrique. Prédire une répétition sur ce jeu ne démontre pas une compréhension générale du langage. L’entraînement doit toujours décaler les cibles d’un token.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Pourquoi ne pas exiger une perte globale nulle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Les symboles initiaux du motif sont aléatoires et ne sont pas entièrement prévisibles.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126 — TP 05 · ENTRAÎNER UN MINI-TRANSFORMER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Organisation : 25 minutes pour les données et l'objectif, 40 minutes d'inspection du bloc et des masques, 40 minutes d'entraînement et d'évaluation, 40 minutes d'ablation et 35 minutes de restitution. Les étudiants doivent d'abord prouver l'absence d'accès au futur. Le test modifie la fin d'une entrée et vérifie les logits du préfixe. L'ablation choisit un facteur, par exemple la position ou le nombre de têtes, puis reconduit le même protocole. Un modèle qui apprend imparfaitement la copie reste utile pour étudier le diagnostic. Le notebook inclut aussi un exercice de mise en patches sans entraînement d'un grand ViT.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doit contenir un résultat interprétable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Une expérience reproductible et une explication des mécanismes, même si la copie reste imparfaite.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127 — ABLATIONS : CHANGER UN FACTEUR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Faire annoncer l'hypothèse avant l'exécution. Une ablation utile doit préciser ce qui reste fixé et ce qui change. Retirer le masque causal est un contrôle de fuite, pas une amélioration admissible de l'objectif auto-régressif. Retirer les positions teste un mécanisme différent et peut ne pas dégrader toutes les tâches de la même manière. Modifier les têtes à largeur fixe ne modifie pas nécessairement les paramètres comme le ferait une modification de d. Les conclusions doivent citer le nombre de graines et le budget réellement exécuté, et distinguer une observation locale d'une propriété générale.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Si un modèle sans masque obtient une meilleure perte, peut-on le déclarer meilleur en génération causale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il peut exploiter les tokens futurs et résoudre un autre problème.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128 — ÉVALUATION FINALE : EXPLIQUER ET PROUVER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barème proposé totalise vingt points et peut être adapté au règlement de la formation. Évaluer une présentation de dix minutes par binôme, accompagnée d'un notebook exécuté et d'un court compte rendu individuel. Faire poser une question de gradient, une question de formes et une question de validité expérimentale. Ne pas attribuer tous les points à l'accuracy : un résultat performant avec fuite de données échoue sur le protocole. Inversement, un résultat limité mais bien contrôlé peut démontrer la maîtrise des mécanismes et une capacité de diagnostic.</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preuve doit accompagner un score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protocole qui permet de comprendre ce que ce score estime.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129 — SYNTHÈSE : UN MÊME CADRE, PLUSIEURS STRUCTURES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EXPLICATION TECHNIQUE</a:t>
            </a:r>
          </a:p>
          <a:p xmlns:a="http://schemas.openxmlformats.org/drawingml/2006/main">
            <a:pPr marL="0" lvl="0" indent="0" algn="l">
              <a:spcBef>
                <a:spcPts val="0"/>
              </a:spcBef>
              <a:spcAft>
                <a:spcPts val="0"/>
              </a:spcAft>
              <a:buNone/>
            </a:pPr>
            <a:r>
              <a:t>Revenir à l'unité conceptuelle du cours. Un MLP, un CNN et un Transformer diffèrent par leurs opérations et les contraintes qu'ils imposent, mais chacun définit une fonction paramétrée et une perte différentiable. La rétropropagation traverse le graphe correspondant ; l'optimiseur utilise ses gradients. Les paramètres de convolution sont partagés entre positions spatiales, ceux du FFN Transformer entre tokens, et les poids d'attention eux-mêmes sont calculés à partir du contenu. La performance dépend ensuite des données et de l'évaluation, pas uniquement de la famille du modèle.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ÉQUATION — SOURCE LATEX</a:t>
            </a:r>
          </a:p>
          <a:p xmlns:a="http://schemas.openxmlformats.org/drawingml/2006/main">
            <a:pPr marL="0" lvl="0" indent="0" algn="l">
              <a:spcBef>
                <a:spcPts val="0"/>
              </a:spcBef>
              <a:spcAft>
                <a:spcPts val="0"/>
              </a:spcAft>
              <a:buNone/>
            </a:pPr>
            <a:r>
              <a:t>\text{donnees}\ \longrightarrow\ f_\theta\ \longrightarrow\ \mathcal L\ \xrightarrow{\rm backprop}\ \nabla_\theta\mathcal L\ \xrightarrow{\rm optimiseur}\ \theta'</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LECTURE À VOIX HAUTE</a:t>
            </a:r>
          </a:p>
          <a:p xmlns:a="http://schemas.openxmlformats.org/drawingml/2006/main">
            <a:pPr marL="0" lvl="0" indent="0" algn="l">
              <a:spcBef>
                <a:spcPts val="0"/>
              </a:spcBef>
              <a:spcAft>
                <a:spcPts val="0"/>
              </a:spcAft>
              <a:buNone/>
            </a:pPr>
            <a:r>
              <a:t>« Les données passent dans le modèle paramétré par thêta ; les prédictions permettent de calculer la perte L calligraphique ; la rétropropagation calcule son gradient par rapport à thêta ; l’optimiseur utilise ce gradient pour obtenir les paramètres mis à jour, thêta prime.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SYMBOLES : NOM À PRONONCER ET SENS</a:t>
            </a:r>
          </a:p>
          <a:p xmlns:a="http://schemas.openxmlformats.org/drawingml/2006/main">
            <a:pPr marL="0" lvl="0" indent="0" algn="l">
              <a:spcBef>
                <a:spcPts val="0"/>
              </a:spcBef>
              <a:spcAft>
                <a:spcPts val="0"/>
              </a:spcAft>
              <a:buNone/>
            </a:pPr>
            <a:r>
              <a:t>Symbole | Nom à prononcer | Sens ici</a:t>
            </a:r>
          </a:p>
          <a:p xmlns:a="http://schemas.openxmlformats.org/drawingml/2006/main">
            <a:pPr marL="0" lvl="0" indent="0" algn="l">
              <a:spcBef>
                <a:spcPts val="0"/>
              </a:spcBef>
              <a:spcAft>
                <a:spcPts val="0"/>
              </a:spcAft>
              <a:buNone/>
            </a:pPr>
            <a:r>
              <a:t>\text{donnees} | « données » | Entrées du modèle ; les cibles participent aussi au calcul de la perte supervisée même si elles ne sont pas dessinées ici.</a:t>
            </a:r>
          </a:p>
          <a:p xmlns:a="http://schemas.openxmlformats.org/drawingml/2006/main">
            <a:pPr marL="0" lvl="0" indent="0" algn="l">
              <a:spcBef>
                <a:spcPts val="0"/>
              </a:spcBef>
              <a:spcAft>
                <a:spcPts val="0"/>
              </a:spcAft>
              <a:buNone/>
            </a:pPr>
            <a:r>
              <a:t>f_\theta | « effe indice thêta » | Fonction représentée par le réseau, avec ses paramètres θ.</a:t>
            </a:r>
          </a:p>
          <a:p xmlns:a="http://schemas.openxmlformats.org/drawingml/2006/main">
            <a:pPr marL="0" lvl="0" indent="0" algn="l">
              <a:spcBef>
                <a:spcPts val="0"/>
              </a:spcBef>
              <a:spcAft>
                <a:spcPts val="0"/>
              </a:spcAft>
              <a:buNone/>
            </a:pPr>
            <a:r>
              <a:t>\mathcal L | « L calligraphique » | Objectif scalaire calculé à partir des prédictions et des cibles dans le cadre supervisé.</a:t>
            </a:r>
          </a:p>
          <a:p xmlns:a="http://schemas.openxmlformats.org/drawingml/2006/main">
            <a:pPr marL="0" lvl="0" indent="0" algn="l">
              <a:spcBef>
                <a:spcPts val="0"/>
              </a:spcBef>
              <a:spcAft>
                <a:spcPts val="0"/>
              </a:spcAft>
              <a:buNone/>
            </a:pPr>
            <a:r>
              <a:t>\nabla | « nabla » | Symbole qui désigne un gradient.</a:t>
            </a:r>
          </a:p>
          <a:p xmlns:a="http://schemas.openxmlformats.org/drawingml/2006/main">
            <a:pPr marL="0" lvl="0" indent="0" algn="l">
              <a:spcBef>
                <a:spcPts val="0"/>
              </a:spcBef>
              <a:spcAft>
                <a:spcPts val="0"/>
              </a:spcAft>
              <a:buNone/>
            </a:pPr>
            <a:r>
              <a:t>\nabla_\theta\mathcal L | « gradient de L par rapport à thêta » | Ensemble des dérivées partielles de la perte par rapport à chacun des paramètres.</a:t>
            </a:r>
          </a:p>
          <a:p xmlns:a="http://schemas.openxmlformats.org/drawingml/2006/main">
            <a:pPr marL="0" lvl="0" indent="0" algn="l">
              <a:spcBef>
                <a:spcPts val="0"/>
              </a:spcBef>
              <a:spcAft>
                <a:spcPts val="0"/>
              </a:spcAft>
              <a:buNone/>
            </a:pPr>
            <a:r>
              <a:t>\xrightarrow{\rm backprop} | « puis, par rétropropagation » | Étape qui applique la règle de la chaîne pour calculer les dérivées.</a:t>
            </a:r>
          </a:p>
          <a:p xmlns:a="http://schemas.openxmlformats.org/drawingml/2006/main">
            <a:pPr marL="0" lvl="0" indent="0" algn="l">
              <a:spcBef>
                <a:spcPts val="0"/>
              </a:spcBef>
              <a:spcAft>
                <a:spcPts val="0"/>
              </a:spcAft>
              <a:buNone/>
            </a:pPr>
            <a:r>
              <a:t>\xrightarrow{\rm optimiseur} | « puis, par l’optimiseur » | Étape qui détermine la mise à jour à partir du gradient et, selon l’algorithme, de son état interne.</a:t>
            </a:r>
          </a:p>
          <a:p xmlns:a="http://schemas.openxmlformats.org/drawingml/2006/main">
            <a:pPr marL="0" lvl="0" indent="0" algn="l">
              <a:spcBef>
                <a:spcPts val="0"/>
              </a:spcBef>
              <a:spcAft>
                <a:spcPts val="0"/>
              </a:spcAft>
              <a:buNone/>
            </a:pPr>
            <a:r>
              <a:t>\theta' | « thêta prime » | Nouvelles valeurs des paramètres après une étape ; le prime n’est pas ici une dérivée.</a:t>
            </a:r>
          </a:p>
          <a:p xmlns:a="http://schemas.openxmlformats.org/drawingml/2006/main">
            <a:pPr marL="0" lvl="0" indent="0" algn="l">
              <a:spcBef>
                <a:spcPts val="0"/>
              </a:spcBef>
              <a:spcAft>
                <a:spcPts val="0"/>
              </a:spcAft>
              <a:buNone/>
            </a:pPr>
            <a:r>
              <a:t>\longrightarrow | « conduit à » ou « passe dans » | Flèche de déroulement du calcul ; elle n’exprime pas une égalité.</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INTERPRÉTATION</a:t>
            </a:r>
          </a:p>
          <a:p xmlns:a="http://schemas.openxmlformats.org/drawingml/2006/main">
            <a:pPr marL="0" lvl="0" indent="0" algn="l">
              <a:spcBef>
                <a:spcPts val="0"/>
              </a:spcBef>
              <a:spcAft>
                <a:spcPts val="0"/>
              </a:spcAft>
              <a:buNone/>
            </a:pPr>
            <a:r>
              <a:t>Ce schéma rassemble la boucle d’apprentissage : prédire, mesurer l’erreur, calculer les dérivées et mettre à jour les paramètres. Les nouvelles valeurs servent au passage suivant.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POINT D’ATTENTION</a:t>
            </a:r>
          </a:p>
          <a:p xmlns:a="http://schemas.openxmlformats.org/drawingml/2006/main">
            <a:pPr marL="0" lvl="0" indent="0" algn="l">
              <a:spcBef>
                <a:spcPts val="0"/>
              </a:spcBef>
              <a:spcAft>
                <a:spcPts val="0"/>
              </a:spcAft>
              <a:buNone/>
            </a:pPr>
            <a:r>
              <a:t>La rétropropagation calcule des gradients ; elle ne choisit pas à elle seule la mise à jour. C’est l’optimiseur qui effectue cette mise à jour. Le gradient n’est ni une probabilité ni une nouvelle prédiction.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QUESTION À POSER</a:t>
            </a:r>
          </a:p>
          <a:p xmlns:a="http://schemas.openxmlformats.org/drawingml/2006/main">
            <a:pPr marL="0" lvl="0" indent="0" algn="l">
              <a:spcBef>
                <a:spcPts val="0"/>
              </a:spcBef>
              <a:spcAft>
                <a:spcPts val="0"/>
              </a:spcAft>
              <a:buNone/>
            </a:pPr>
            <a:r>
              <a:t>Qu’est-ce qui change entre MLP, CNN et Transformer ?</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RÉPONSE ATTENDUE</a:t>
            </a:r>
          </a:p>
          <a:p xmlns:a="http://schemas.openxmlformats.org/drawingml/2006/main">
            <a:pPr marL="0" lvl="0" indent="0" algn="l">
              <a:spcBef>
                <a:spcPts val="0"/>
              </a:spcBef>
              <a:spcAft>
                <a:spcPts val="0"/>
              </a:spcAft>
              <a:buNone/>
            </a:pPr>
            <a:r>
              <a:t>Le graphe de calcul et ses hypothèses de structure, tout en gardant le cadre d’apprentissage.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EXEMPLE ET EXPLICATION PÉDAGOGIQUES ORIGINAUX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130 — EXERCICE DE SYNTHÈSE : AUDIT D’UN MODÈLE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Corrigé : les cibles doivent être décalées d'un token par rapport aux entrées. Sinon, la position courante voit déjà le symbole à prédire. Un masque additif constitué de zéros et de uns n'interdit aucune position ; il décale seulement les scores. Le masque doit utiliser moins l'infini pour les positions interdites, ou une convention booléenne correctement interprétée par l'API. Tester un petit exemple explicite de décalage et modifier les tokens futurs tout en comparant les logits du préfixe en mode évaluation. Vérifier également les sommes des poids et les entrées de la matrice masquée.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Quels deux contrôles doit-on exécuter avant de relancer l’entraînement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 exemple entrée/cible décalé et un test d’invariance du préfixe aux modifications du futur.</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131 — LECTURES FOURNIES : FONDEMENTS ET MÉTHODE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Ces quatre supports constituent des lectures complémentaires, pas des textes à mémoriser intégralement. Bigot fournit une entrée mathématique sur le risque, les réseaux multicouches et les CNN. Le cours de Tavenard, dans sa version PDF datée du 11 août 2025, couvre aussi la régularisation, les architectures et l'attention. Le support RCP 209 2025–2026 du CNAM est signé Javiera Castillo Navarro. Geoffrey Daniel insiste sur l'utilisation et la méthodologie. La version HTML de Tavenard permet une navigation par chapitre. Les numéros indiqués ci-dessous sont ceux des pages PDF lorsqu'ils sont cités dans le guide.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lecture reprendre pour revoir les notions de risque et de réseau multicouche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support de Jérémie Bigot et les chapitres 1 à 4 de Tavenard.</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Jérémie Bigot — Introduction au Deep Learning</ns12:t>
            </ns12:r>
          </ns12:p>
          <ns13:p xmlns:ns13="http://schemas.openxmlformats.org/drawingml/2006/main">
            <ns13:pPr marL="0" lvl="0" indent="0" algn="l">
              <ns13:spcBef>
                <ns13:spcPts val="0"/>
              </ns13:spcBef>
              <ns13:spcAft>
                <ns13:spcPts val="0"/>
              </ns13:spcAft>
              <ns13:buNone/>
            </ns13:pPr>
            <ns13:r>
              <ns13:t>https://www.math.u-bordeaux.fr/~jbigot/Site/Enseignement_files/Intro_DeepLearning.pdf</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Romain Tavenard — Introduction au Deep Learning, 2025</ns15:t>
            </ns15:r>
          </ns15:p>
          <ns16:p xmlns:ns16="http://schemas.openxmlformats.org/drawingml/2006/main">
            <ns16:pPr marL="0" lvl="0" indent="0" algn="l">
              <ns16:spcBef>
                <ns16:spcPts val="0"/>
              </ns16:spcBef>
              <ns16:spcAft>
                <ns16:spcPts val="0"/>
              </ns16:spcAft>
              <ns16:buNone/>
            </ns16:pPr>
            <ns16:r>
              <ns16:t>https://rtavenar.github.io/deep_book/book_fr.pdf</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Javiera Castillo Navarro — RCP 209, 2025–2026</ns18:t>
            </ns18:r>
          </ns18:p>
          <ns19:p xmlns:ns19="http://schemas.openxmlformats.org/drawingml/2006/main">
            <ns19:pPr marL="0" lvl="0" indent="0" algn="l">
              <ns19:spcBef>
                <ns19:spcPts val="0"/>
              </ns19:spcBef>
              <ns19:spcAft>
                <ns19:spcPts val="0"/>
              </ns19:spcAft>
              <ns19:buNone/>
            </ns19:pPr>
            <ns19:r>
              <ns19:t>https://cedric.cnam.fr/vertigo/Cours/ml2/docs/coursDeep1.pdf</ns19:t>
            </ns19:r>
          </ns19:p>
          <ns20:p xmlns:ns20="http://schemas.openxmlformats.org/drawingml/2006/main">
            <ns20:pPr marL="0" lvl="0" indent="0" algn="l">
              <ns20:spcBef>
                <ns20:spcPts val="0"/>
              </ns20:spcBef>
              <ns20:spcAft>
                <ns20:spcPts val="0"/>
              </ns20:spcAft>
              <ns20:buNone/>
            </ns20:pPr>
            <ns20:r>
              <ns20:t/>
            </ns20:r>
          </ns20:p>
          <ns21:p xmlns:ns21="http://schemas.openxmlformats.org/drawingml/2006/main">
            <ns21:pPr marL="0" lvl="0" indent="0" algn="l">
              <ns21:spcBef>
                <ns21:spcPts val="0"/>
              </ns21:spcBef>
              <ns21:spcAft>
                <ns21:spcPts val="0"/>
              </ns21:spcAft>
              <ns21:buNone/>
            </ns21:pPr>
            <ns21:r>
              <ns21:t>Geoffrey Daniel — Réseaux de neurones et deep learning : utilisation et méthodologie</ns21:t>
            </ns21:r>
          </ns21:p>
          <ns22:p xmlns:ns22="http://schemas.openxmlformats.org/drawingml/2006/main">
            <ns22:pPr marL="0" lvl="0" indent="0" algn="l">
              <ns22:spcBef>
                <ns22:spcPts val="0"/>
              </ns22:spcBef>
              <ns22:spcAft>
                <ns22:spcPts val="0"/>
              </ns22:spcAft>
              <ns22:buNone/>
            </ns22:pPr>
            <ns22:r>
              <ns22:t>https://indico.in2p3.fr/event/17858/attachments/49454/65831/Deep_Learning_Seance_1.pdf</ns22:t>
            </ns22:r>
          </ns22:p>
          <ns23:p xmlns:ns23="http://schemas.openxmlformats.org/drawingml/2006/main">
            <ns23:pPr marL="0" lvl="0" indent="0" algn="l">
              <ns23:spcBef>
                <ns23:spcPts val="0"/>
              </ns23:spcBef>
              <ns23:spcAft>
                <ns23:spcPts val="0"/>
              </ns23:spcAft>
              <ns23:buNone/>
            </ns23:pPr>
            <ns23:r>
              <ns23:t/>
            </ns23:r>
          </ns23:p>
          <ns24:p xmlns:ns24="http://schemas.openxmlformats.org/drawingml/2006/main">
            <ns24:pPr marL="0" lvl="0" indent="0" algn="l">
              <ns24:spcBef>
                <ns24:spcPts val="0"/>
              </ns24:spcBef>
              <ns24:spcAft>
                <ns24:spcPts val="0"/>
              </ns24:spcAft>
              <ns24:buNone/>
            </ns24:pPr>
            <ns24:r>
              <ns24:t>Romain Tavenard — Version HTML du cours</ns24:t>
            </ns24:r>
          </ns24:p>
          <ns25:p xmlns:ns25="http://schemas.openxmlformats.org/drawingml/2006/main">
            <ns25:pPr marL="0" lvl="0" indent="0" algn="l">
              <ns25:spcBef>
                <ns25:spcPts val="0"/>
              </ns25:spcBef>
              <ns25:spcAft>
                <ns25:spcPts val="0"/>
              </ns25:spcAft>
              <ns25:buNone/>
            </ns25:pPr>
            <ns25:r>
              <ns25:t>https://rtavenar.github.io/deep_book/fr/content/fr/intro.html</ns25:t>
            </ns25:r>
          </ns2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132 — ARTICLES : ARCHITECTURES ET OPTIMISATION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Utiliser les articles pour distinguer la définition historique d'une architecture des variantes modernes. Attention Is All You Need décrit un Transformer encodeur-décodeur avec post-normalisation. ResNet introduit la formulation résiduelle pour la vision. Le travail sur ViT montre comment traiter une image comme une séquence de patches dans un régime de préentraînement explicite. Adam et AdamW répondent à des choix d'optimisation différents. Lire les sections de méthode avant les tableaux de scores, puis demander quelles données, quel budget et quelle évaluation rendent ces scores interprétables.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revenir à l’article original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Pour identifier les hypothèses et les choix exacts de l’architecture étudiée.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Vaswani et al. — Attention Is All You Need, 2017</ns12:t>
            </ns12:r>
          </ns12:p>
          <ns13:p xmlns:ns13="http://schemas.openxmlformats.org/drawingml/2006/main">
            <ns13:pPr marL="0" lvl="0" indent="0" algn="l">
              <ns13:spcBef>
                <ns13:spcPts val="0"/>
              </ns13:spcBef>
              <ns13:spcAft>
                <ns13:spcPts val="0"/>
              </ns13:spcAft>
              <ns13:buNone/>
            </ns13:pPr>
            <ns13:r>
              <ns13:t>https://arxiv.org/abs/1706.03762</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He et al. — Deep Residual Learning for Image Recognition, 2015</ns15:t>
            </ns15:r>
          </ns15:p>
          <ns16:p xmlns:ns16="http://schemas.openxmlformats.org/drawingml/2006/main">
            <ns16:pPr marL="0" lvl="0" indent="0" algn="l">
              <ns16:spcBef>
                <ns16:spcPts val="0"/>
              </ns16:spcBef>
              <ns16:spcAft>
                <ns16:spcPts val="0"/>
              </ns16:spcAft>
              <ns16:buNone/>
            </ns16:pPr>
            <ns16:r>
              <ns16:t>https://arxiv.org/abs/1512.03385</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Dosovitskiy et al. — An Image is Worth 16x16 Words, 2020</ns18:t>
            </ns18:r>
          </ns18:p>
          <ns19:p xmlns:ns19="http://schemas.openxmlformats.org/drawingml/2006/main">
            <ns19:pPr marL="0" lvl="0" indent="0" algn="l">
              <ns19:spcBef>
                <ns19:spcPts val="0"/>
              </ns19:spcBef>
              <ns19:spcAft>
                <ns19:spcPts val="0"/>
              </ns19:spcAft>
              <ns19:buNone/>
            </ns19:pPr>
            <ns19:r>
              <ns19:t>https://arxiv.org/abs/2010.11929</ns19:t>
            </ns19:r>
          </ns19:p>
          <ns20:p xmlns:ns20="http://schemas.openxmlformats.org/drawingml/2006/main">
            <ns20:pPr marL="0" lvl="0" indent="0" algn="l">
              <ns20:spcBef>
                <ns20:spcPts val="0"/>
              </ns20:spcBef>
              <ns20:spcAft>
                <ns20:spcPts val="0"/>
              </ns20:spcAft>
              <ns20:buNone/>
            </ns20:pPr>
            <ns20:r>
              <ns20:t/>
            </ns20:r>
          </ns20:p>
          <ns21:p xmlns:ns21="http://schemas.openxmlformats.org/drawingml/2006/main">
            <ns21:pPr marL="0" lvl="0" indent="0" algn="l">
              <ns21:spcBef>
                <ns21:spcPts val="0"/>
              </ns21:spcBef>
              <ns21:spcAft>
                <ns21:spcPts val="0"/>
              </ns21:spcAft>
              <ns21:buNone/>
            </ns21:pPr>
            <ns21:r>
              <ns21:t>Kingma et Ba — Adam, 2014</ns21:t>
            </ns21:r>
          </ns21:p>
          <ns22:p xmlns:ns22="http://schemas.openxmlformats.org/drawingml/2006/main">
            <ns22:pPr marL="0" lvl="0" indent="0" algn="l">
              <ns22:spcBef>
                <ns22:spcPts val="0"/>
              </ns22:spcBef>
              <ns22:spcAft>
                <ns22:spcPts val="0"/>
              </ns22:spcAft>
              <ns22:buNone/>
            </ns22:pPr>
            <ns22:r>
              <ns22:t>https://arxiv.org/abs/1412.6980</ns22:t>
            </ns22:r>
          </ns22:p>
          <ns23:p xmlns:ns23="http://schemas.openxmlformats.org/drawingml/2006/main">
            <ns23:pPr marL="0" lvl="0" indent="0" algn="l">
              <ns23:spcBef>
                <ns23:spcPts val="0"/>
              </ns23:spcBef>
              <ns23:spcAft>
                <ns23:spcPts val="0"/>
              </ns23:spcAft>
              <ns23:buNone/>
            </ns23:pPr>
            <ns23:r>
              <ns23:t/>
            </ns23:r>
          </ns23:p>
          <ns24:p xmlns:ns24="http://schemas.openxmlformats.org/drawingml/2006/main">
            <ns24:pPr marL="0" lvl="0" indent="0" algn="l">
              <ns24:spcBef>
                <ns24:spcPts val="0"/>
              </ns24:spcBef>
              <ns24:spcAft>
                <ns24:spcPts val="0"/>
              </ns24:spcAft>
              <ns24:buNone/>
            </ns24:pPr>
            <ns24:r>
              <ns24:t>Loshchilov et Hutter — Decoupled Weight Decay Regularization, 2017</ns24:t>
            </ns24:r>
          </ns24:p>
          <ns25:p xmlns:ns25="http://schemas.openxmlformats.org/drawingml/2006/main">
            <ns25:pPr marL="0" lvl="0" indent="0" algn="l">
              <ns25:spcBef>
                <ns25:spcPts val="0"/>
              </ns25:spcBef>
              <ns25:spcAft>
                <ns25:spcPts val="0"/>
              </ns25:spcAft>
              <ns25:buNone/>
            </ns25:pPr>
            <ns25:r>
              <ns25:t>https://arxiv.org/abs/1711.05101</ns25:t>
            </ns25:r>
          </ns2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133 — NORMALISATION ET DOCUMENTATION DES API</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Ces références aident à vérifier les détails qui modifient réellement une implémentation. Les publications sur BatchNorm et LayerNorm expliquent les axes et les paramètres. L'analyse pre-LN/post-LN éclaire la place de la normalisation, sans remplacer une validation sur la configuration retenue. Les pages PyTorch consultées sont celles de la version 2.8 utilisée dans les dépendances des TP. En lisant une documentation d'API, vérifier les formes, les valeurs par défaut, la réduction d'une perte et le sens d'un masque booléen. Une signature familière peut cacher des conventions différentes.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vérifier avant de remplacer une attention manuelle par une API optimisée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Les formes, la mise à l’échelle, les masques, le dropout et le sens des booléens.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Ioffe et Szegedy — Batch Normalization, 2015</ns12:t>
            </ns12:r>
          </ns12:p>
          <ns13:p xmlns:ns13="http://schemas.openxmlformats.org/drawingml/2006/main">
            <ns13:pPr marL="0" lvl="0" indent="0" algn="l">
              <ns13:spcBef>
                <ns13:spcPts val="0"/>
              </ns13:spcBef>
              <ns13:spcAft>
                <ns13:spcPts val="0"/>
              </ns13:spcAft>
              <ns13:buNone/>
            </ns13:pPr>
            <ns13:r>
              <ns13:t>https://arxiv.org/abs/1502.03167</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Ba et al. — Layer Normalization, 2016</ns15:t>
            </ns15:r>
          </ns15:p>
          <ns16:p xmlns:ns16="http://schemas.openxmlformats.org/drawingml/2006/main">
            <ns16:pPr marL="0" lvl="0" indent="0" algn="l">
              <ns16:spcBef>
                <ns16:spcPts val="0"/>
              </ns16:spcBef>
              <ns16:spcAft>
                <ns16:spcPts val="0"/>
              </ns16:spcAft>
              <ns16:buNone/>
            </ns16:pPr>
            <ns16:r>
              <ns16:t>https://arxiv.org/abs/1607.06450</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Xiong et al. — On Layer Normalization in the Transformer Architecture, 2020</ns18:t>
            </ns18:r>
          </ns18:p>
          <ns19:p xmlns:ns19="http://schemas.openxmlformats.org/drawingml/2006/main">
            <ns19:pPr marL="0" lvl="0" indent="0" algn="l">
              <ns19:spcBef>
                <ns19:spcPts val="0"/>
              </ns19:spcBef>
              <ns19:spcAft>
                <ns19:spcPts val="0"/>
              </ns19:spcAft>
              <ns19:buNone/>
            </ns19:pPr>
            <ns19:r>
              <ns19:t>https://arxiv.org/abs/2002.04745</ns19:t>
            </ns19:r>
          </ns19:p>
          <ns20:p xmlns:ns20="http://schemas.openxmlformats.org/drawingml/2006/main">
            <ns20:pPr marL="0" lvl="0" indent="0" algn="l">
              <ns20:spcBef>
                <ns20:spcPts val="0"/>
              </ns20:spcBef>
              <ns20:spcAft>
                <ns20:spcPts val="0"/>
              </ns20:spcAft>
              <ns20:buNone/>
            </ns20:pPr>
            <ns20:r>
              <ns20:t/>
            </ns20:r>
          </ns20:p>
          <ns21:p xmlns:ns21="http://schemas.openxmlformats.org/drawingml/2006/main">
            <ns21:pPr marL="0" lvl="0" indent="0" algn="l">
              <ns21:spcBef>
                <ns21:spcPts val="0"/>
              </ns21:spcBef>
              <ns21:spcAft>
                <ns21:spcPts val="0"/>
              </ns21:spcAft>
              <ns21:buNone/>
            </ns21:pPr>
            <ns21:r>
              <ns21:t>PyTorch 2.8 — Conv2d</ns21:t>
            </ns21:r>
          </ns21:p>
          <ns22:p xmlns:ns22="http://schemas.openxmlformats.org/drawingml/2006/main">
            <ns22:pPr marL="0" lvl="0" indent="0" algn="l">
              <ns22:spcBef>
                <ns22:spcPts val="0"/>
              </ns22:spcBef>
              <ns22:spcAft>
                <ns22:spcPts val="0"/>
              </ns22:spcAft>
              <ns22:buNone/>
            </ns22:pPr>
            <ns22:r>
              <ns22:t>https://docs.pytorch.org/docs/2.8/generated/torch.nn.Conv2d.html</ns22:t>
            </ns22:r>
          </ns22:p>
          <ns23:p xmlns:ns23="http://schemas.openxmlformats.org/drawingml/2006/main">
            <ns23:pPr marL="0" lvl="0" indent="0" algn="l">
              <ns23:spcBef>
                <ns23:spcPts val="0"/>
              </ns23:spcBef>
              <ns23:spcAft>
                <ns23:spcPts val="0"/>
              </ns23:spcAft>
              <ns23:buNone/>
            </ns23:pPr>
            <ns23:r>
              <ns23:t/>
            </ns23:r>
          </ns23:p>
          <ns24:p xmlns:ns24="http://schemas.openxmlformats.org/drawingml/2006/main">
            <ns24:pPr marL="0" lvl="0" indent="0" algn="l">
              <ns24:spcBef>
                <ns24:spcPts val="0"/>
              </ns24:spcBef>
              <ns24:spcAft>
                <ns24:spcPts val="0"/>
              </ns24:spcAft>
              <ns24:buNone/>
            </ns24:pPr>
            <ns24:r>
              <ns24:t>PyTorch 2.8 — CrossEntropyLoss</ns24:t>
            </ns24:r>
          </ns24:p>
          <ns25:p xmlns:ns25="http://schemas.openxmlformats.org/drawingml/2006/main">
            <ns25:pPr marL="0" lvl="0" indent="0" algn="l">
              <ns25:spcBef>
                <ns25:spcPts val="0"/>
              </ns25:spcBef>
              <ns25:spcAft>
                <ns25:spcPts val="0"/>
              </ns25:spcAft>
              <ns25:buNone/>
            </ns25:pPr>
            <ns25:r>
              <ns25:t>https://docs.pytorch.org/docs/2.8/generated/torch.nn.CrossEntropyLoss.html</ns25:t>
            </ns25:r>
          </ns25:p>
          <ns26:p xmlns:ns26="http://schemas.openxmlformats.org/drawingml/2006/main">
            <ns26:pPr marL="0" lvl="0" indent="0" algn="l">
              <ns26:spcBef>
                <ns26:spcPts val="0"/>
              </ns26:spcBef>
              <ns26:spcAft>
                <ns26:spcPts val="0"/>
              </ns26:spcAft>
              <ns26:buNone/>
            </ns26:pPr>
            <ns26:r>
              <ns26:t/>
            </ns26:r>
          </ns26:p>
          <ns27:p xmlns:ns27="http://schemas.openxmlformats.org/drawingml/2006/main">
            <ns27:pPr marL="0" lvl="0" indent="0" algn="l">
              <ns27:spcBef>
                <ns27:spcPts val="0"/>
              </ns27:spcBef>
              <ns27:spcAft>
                <ns27:spcPts val="0"/>
              </ns27:spcAft>
              <ns27:buNone/>
            </ns27:pPr>
            <ns27:r>
              <ns27:t>PyTorch 2.8 — MultiheadAttention</ns27:t>
            </ns27:r>
          </ns27:p>
          <ns28:p xmlns:ns28="http://schemas.openxmlformats.org/drawingml/2006/main">
            <ns28:pPr marL="0" lvl="0" indent="0" algn="l">
              <ns28:spcBef>
                <ns28:spcPts val="0"/>
              </ns28:spcBef>
              <ns28:spcAft>
                <ns28:spcPts val="0"/>
              </ns28:spcAft>
              <ns28:buNone/>
            </ns28:pPr>
            <ns28:r>
              <ns28:t>https://docs.pytorch.org/docs/2.8/generated/torch.nn.MultiheadAttention.html</ns28:t>
            </ns28:r>
          </ns2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134 — VOTRE CHECKLIST TECHNIQUE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Terminer par un retour sur les preuves de maîtrise annoncées en début de cours. Demander à chaque étudiant de choisir la compétence la moins solide et de formuler un exercice permettant de la renforcer. Les notebooks, les sources LaTeX et les notes du présentateur permettent de reprendre les démonstrations. Le meilleur prolongement consiste à garder un protocole simple et à augmenter progressivement la difficulté, plutôt qu'à passer directement à un modèle très grand. Une compréhension précise des formes, des objectifs et des masques se transfère à des architectures plus complexes.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partie savez-vous vérifier sans vous fier seulement à un score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Les dimensions, le gradient, les invariants de l’attention et la séparation des données.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135 — MERCI</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Inviter les étudiants à revenir sur une équation, un résultat de TP ou une erreur observée. Pour chaque question, partir du problème et des hypothèses avant de choisir une architecture. La conclusion attendue est une capacité à expliquer un calcul, à construire une expérience et à reconnaître les limites de ce que les résultats démontrent. Les suites possibles sont un projet de vision sur données réelles, une étude de modèles préentraînés ou une analyse plus avancée de l'optimisation et des architectures séquentielles.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slideMasters/slideMaster1.xml" Id="R3ccdf77f6eee446f"/></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theme/theme2.xml" Id="R9ad65b6ec0794e01"/><Relationship Type="http://schemas.openxmlformats.org/officeDocument/2006/relationships/slideLayout" Target="../slideLayouts/slideLayout1.xml" Id="Rf5e7e448777b44a3"/></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5e7e448777b44a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slideLayouts/slideLayout1.xml" Id="Re0e5ee55aa684680"/><Relationship Type="http://schemas.openxmlformats.org/officeDocument/2006/relationships/image" Target="../media/image.png" Id="Ra4439ec5ff3442e9"/><Relationship Type="http://schemas.openxmlformats.org/officeDocument/2006/relationships/image" Target="../media/image2.png" Id="R0e1b795fb6114da7"/><Relationship Type="http://schemas.openxmlformats.org/officeDocument/2006/relationships/notesSlide" Target="../notesSlides/notesSlide1.xml" Id="Rdf5c64bf37894cae"/></Relationships>
</file>

<file path=ppt/slides/_rels/slide2.xml.rels><?xml version='1.0' encoding='UTF-8' standalone='yes'?>
<Relationships xmlns="http://schemas.openxmlformats.org/package/2006/relationships"><Relationship Type="http://schemas.openxmlformats.org/officeDocument/2006/relationships/slideLayout" Target="../slideLayouts/slideLayout1.xml" Id="Rd437ecb207384172"/><Relationship Type="http://schemas.openxmlformats.org/officeDocument/2006/relationships/image" Target="../media/image3.png" Id="Rc52306bc64ef4ff6"/><Relationship Type="http://schemas.openxmlformats.org/officeDocument/2006/relationships/image" Target="../media/image4.png" Id="R2c636b8758a64d1c"/><Relationship Type="http://schemas.openxmlformats.org/officeDocument/2006/relationships/image" Target="../media/image.png" Id="R152ba8970e4b43c1"/><Relationship Type="http://schemas.openxmlformats.org/officeDocument/2006/relationships/image" Target="../media/image2.png" Id="R14df214fb6cc413e"/><Relationship Type="http://schemas.openxmlformats.org/officeDocument/2006/relationships/image" Target="../media/image5.png" Id="R5bdb387870c44f85"/><Relationship Type="http://schemas.openxmlformats.org/officeDocument/2006/relationships/notesSlide" Target="../notesSlides/notesSlide2.xml" Id="R38ac0525f2a14f12"/></Relationships>
</file>

<file path=ppt/slides/_rels/slide3.xml.rels><?xml version='1.0' encoding='UTF-8' standalone='yes'?>
<Relationships xmlns="http://schemas.openxmlformats.org/package/2006/relationships"><Relationship Type="http://schemas.openxmlformats.org/officeDocument/2006/relationships/slideLayout" Target="../intro/slideLayouts/slideLayout1.xml" Id="Re2100e4dd49c4e94"/><Relationship Type="http://schemas.openxmlformats.org/officeDocument/2006/relationships/image" Target="../intro/media/image.png" Id="R3ab3bb89a16240d5"/><Relationship Type="http://schemas.openxmlformats.org/officeDocument/2006/relationships/image" Target="../intro/media/image2.png" Id="Rb095e476e00d4e9e"/><Relationship Type="http://schemas.openxmlformats.org/officeDocument/2006/relationships/notesSlide" Target="../notesSlides/notesSlide3.xml" Id="R7c2656b307174a44"/></Relationships>
</file>

<file path=ppt/slides/_rels/slide4.xml.rels><?xml version='1.0' encoding='UTF-8' standalone='yes'?>
<Relationships xmlns="http://schemas.openxmlformats.org/package/2006/relationships"><Relationship Type="http://schemas.openxmlformats.org/officeDocument/2006/relationships/slideLayout" Target="../intro/slideLayouts/slideLayout1.xml" Id="R3208e9fa767742a5"/><Relationship Type="http://schemas.openxmlformats.org/officeDocument/2006/relationships/image" Target="../intro/media/image3.png" Id="Rb2f60b538883495e"/><Relationship Type="http://schemas.openxmlformats.org/officeDocument/2006/relationships/image" Target="../intro/media/image4.png" Id="R84b396d26c7d4542"/><Relationship Type="http://schemas.openxmlformats.org/officeDocument/2006/relationships/image" Target="../intro/media/image5.png" Id="R8998c7617f9e484e"/><Relationship Type="http://schemas.openxmlformats.org/officeDocument/2006/relationships/image" Target="../intro/media/image.svg" Id="R7177f9e284024625"/><Relationship Type="http://schemas.openxmlformats.org/officeDocument/2006/relationships/notesSlide" Target="../notesSlides/notesSlide4.xml" Id="R87b33769a5f246b0"/></Relationships>
</file>

<file path=ppt/slides/_rels/slide5.xml.rels><?xml version='1.0' encoding='UTF-8' standalone='yes'?>
<Relationships xmlns="http://schemas.openxmlformats.org/package/2006/relationships"><Relationship Type="http://schemas.openxmlformats.org/officeDocument/2006/relationships/slideLayout" Target="../intro/slideLayouts/slideLayout1.xml" Id="Reee75bc0fe194358"/><Relationship Type="http://schemas.openxmlformats.org/officeDocument/2006/relationships/image" Target="../intro/media/image3.png" Id="R84718e5fd0324d97"/><Relationship Type="http://schemas.openxmlformats.org/officeDocument/2006/relationships/image" Target="../intro/media/image4.png" Id="Rbf8be59eb4eb4405"/><Relationship Type="http://schemas.openxmlformats.org/officeDocument/2006/relationships/notesSlide" Target="../notesSlides/notesSlide5.xml" Id="Rb0b3684998954e64"/></Relationships>
</file>

<file path=ppt/slides/_rels/slide6.xml.rels><?xml version='1.0' encoding='UTF-8' standalone='yes'?>
<Relationships xmlns="http://schemas.openxmlformats.org/package/2006/relationships"><Relationship Type="http://schemas.openxmlformats.org/officeDocument/2006/relationships/slideLayout" Target="../intro/slideLayouts/slideLayout1.xml" Id="Rc75f61bf6c794132"/><Relationship Type="http://schemas.openxmlformats.org/officeDocument/2006/relationships/image" Target="../intro/media/image3.png" Id="R8705ee626f904bbc"/><Relationship Type="http://schemas.openxmlformats.org/officeDocument/2006/relationships/image" Target="../intro/media/image4.png" Id="R12619cc84b974e18"/><Relationship Type="http://schemas.openxmlformats.org/officeDocument/2006/relationships/notesSlide" Target="../notesSlides/notesSlide6.xml" Id="Ra2f9afcf23d1412b"/></Relationships>
</file>

<file path=ppt/slides/_rels/slide7.xml.rels><?xml version='1.0' encoding='UTF-8' standalone='yes'?>
<Relationships xmlns="http://schemas.openxmlformats.org/package/2006/relationships"><Relationship Type="http://schemas.openxmlformats.org/officeDocument/2006/relationships/slideLayout" Target="../intro/slideLayouts/slideLayout1.xml" Id="R19101a37738c44ff"/><Relationship Type="http://schemas.openxmlformats.org/officeDocument/2006/relationships/image" Target="../intro/media/image3.png" Id="Rb5a8adb004c4433e"/><Relationship Type="http://schemas.openxmlformats.org/officeDocument/2006/relationships/image" Target="../intro/media/image4.png" Id="R57a3a09b1cb448bc"/><Relationship Type="http://schemas.openxmlformats.org/officeDocument/2006/relationships/image" Target="../intro/media/image6.png" Id="Rdc689932a9cd414b"/><Relationship Type="http://schemas.openxmlformats.org/officeDocument/2006/relationships/notesSlide" Target="../notesSlides/notesSlide7.xml" Id="R22e6b109b5244c32"/></Relationships>
</file>

<file path=ppt/slides/_rels/slide8.xml.rels><?xml version='1.0' encoding='UTF-8' standalone='yes'?>
<Relationships xmlns="http://schemas.openxmlformats.org/package/2006/relationships"><Relationship Type="http://schemas.openxmlformats.org/officeDocument/2006/relationships/slideLayout" Target="../intro/slideLayouts/slideLayout1.xml" Id="Re09b894876414712"/><Relationship Type="http://schemas.openxmlformats.org/officeDocument/2006/relationships/image" Target="../intro/media/image3.png" Id="R753756a70e7b4c11"/><Relationship Type="http://schemas.openxmlformats.org/officeDocument/2006/relationships/image" Target="../intro/media/image4.png" Id="R1e00aa55b5904f33"/><Relationship Type="http://schemas.openxmlformats.org/officeDocument/2006/relationships/image" Target="../intro/media/image7.png" Id="R6147c88621aa4439"/><Relationship Type="http://schemas.openxmlformats.org/officeDocument/2006/relationships/notesSlide" Target="../notesSlides/notesSlide8.xml" Id="R846d1ac2e80043cf"/></Relationships>
</file>

<file path=ppt/slides/_rels/slide9.xml.rels><?xml version='1.0' encoding='UTF-8' standalone='yes'?>
<Relationships xmlns="http://schemas.openxmlformats.org/package/2006/relationships"><Relationship Type="http://schemas.openxmlformats.org/officeDocument/2006/relationships/slideLayout" Target="../intro/slideLayouts/slideLayout1.xml" Id="Raab627e633d94157"/><Relationship Type="http://schemas.openxmlformats.org/officeDocument/2006/relationships/image" Target="../intro/media/image3.png" Id="R8f8dd52a207c4bf7"/><Relationship Type="http://schemas.openxmlformats.org/officeDocument/2006/relationships/image" Target="../intro/media/image4.png" Id="R7292422912fd4564"/><Relationship Type="http://schemas.openxmlformats.org/officeDocument/2006/relationships/image" Target="../intro/media/image8.png" Id="R4ddb9df119b74b08"/><Relationship Type="http://schemas.openxmlformats.org/officeDocument/2006/relationships/image" Target="../intro/media/image2.svg" Id="R7bccb62e4ac74937"/><Relationship Type="http://schemas.openxmlformats.org/officeDocument/2006/relationships/notesSlide" Target="../notesSlides/notesSlide9.xml" Id="Rc930940ca5d94365"/></Relationships>
</file>

<file path=ppt/slides/_rels/slide10.xml.rels><?xml version='1.0' encoding='UTF-8' standalone='yes'?>
<Relationships xmlns="http://schemas.openxmlformats.org/package/2006/relationships"><Relationship Type="http://schemas.openxmlformats.org/officeDocument/2006/relationships/slideLayout" Target="../intro/slideLayouts/slideLayout1.xml" Id="Reead616ccaba4a69"/><Relationship Type="http://schemas.openxmlformats.org/officeDocument/2006/relationships/image" Target="../intro/media/image3.png" Id="Rfce210303a764f12"/><Relationship Type="http://schemas.openxmlformats.org/officeDocument/2006/relationships/image" Target="../intro/media/image4.png" Id="R7bd304d1fbe44382"/><Relationship Type="http://schemas.openxmlformats.org/officeDocument/2006/relationships/notesSlide" Target="../notesSlides/notesSlide10.xml" Id="R54ecc2bdaf8d4903"/></Relationships>
</file>

<file path=ppt/slides/_rels/slide11.xml.rels><?xml version='1.0' encoding='UTF-8' standalone='yes'?>
<Relationships xmlns="http://schemas.openxmlformats.org/package/2006/relationships"><Relationship Type="http://schemas.openxmlformats.org/officeDocument/2006/relationships/slideLayout" Target="../intro/slideLayouts/slideLayout1.xml" Id="R44c8e4fe5f644548"/><Relationship Type="http://schemas.openxmlformats.org/officeDocument/2006/relationships/image" Target="../intro/media/image3.png" Id="Rb788f1b8b309486b"/><Relationship Type="http://schemas.openxmlformats.org/officeDocument/2006/relationships/image" Target="../intro/media/image4.png" Id="Rb905a096a9b04d31"/><Relationship Type="http://schemas.openxmlformats.org/officeDocument/2006/relationships/notesSlide" Target="../notesSlides/notesSlide11.xml" Id="R901ace622dce4322"/></Relationships>
</file>

<file path=ppt/slides/_rels/slide12.xml.rels><?xml version='1.0' encoding='UTF-8' standalone='yes'?>
<Relationships xmlns="http://schemas.openxmlformats.org/package/2006/relationships"><Relationship Type="http://schemas.openxmlformats.org/officeDocument/2006/relationships/slideLayout" Target="../intro/slideLayouts/slideLayout1.xml" Id="Re1a7f950dedf40c8"/><Relationship Type="http://schemas.openxmlformats.org/officeDocument/2006/relationships/image" Target="../intro/media/image3.png" Id="Rcb16105c502a452d"/><Relationship Type="http://schemas.openxmlformats.org/officeDocument/2006/relationships/image" Target="../intro/media/image4.png" Id="R9ee4a8775bf74a38"/><Relationship Type="http://schemas.openxmlformats.org/officeDocument/2006/relationships/notesSlide" Target="../notesSlides/notesSlide12.xml" Id="R542100dce7744475"/></Relationships>
</file>

<file path=ppt/slides/_rels/slide13.xml.rels><?xml version='1.0' encoding='UTF-8' standalone='yes'?>
<Relationships xmlns="http://schemas.openxmlformats.org/package/2006/relationships"><Relationship Type="http://schemas.openxmlformats.org/officeDocument/2006/relationships/slideLayout" Target="../slideLayouts/slideLayout1.xml" Id="R2555bfbee9854ceb"/><Relationship Type="http://schemas.openxmlformats.org/officeDocument/2006/relationships/image" Target="../media/image5.png" Id="R96b24b5ab74c4b4f"/><Relationship Type="http://schemas.openxmlformats.org/officeDocument/2006/relationships/image" Target="../media/image6.png" Id="R01c7f924c7654c57"/><Relationship Type="http://schemas.openxmlformats.org/officeDocument/2006/relationships/notesSlide" Target="../notesSlides/notesSlide13.xml" Id="R3cde3718b70b4fd5"/></Relationships>
</file>

<file path=ppt/slides/_rels/slide14.xml.rels><?xml version='1.0' encoding='UTF-8' standalone='yes'?>
<Relationships xmlns="http://schemas.openxmlformats.org/package/2006/relationships"><Relationship Type="http://schemas.openxmlformats.org/officeDocument/2006/relationships/slideLayout" Target="../slideLayouts/slideLayout1.xml" Id="R6fc11ddc7e57434d"/><Relationship Type="http://schemas.openxmlformats.org/officeDocument/2006/relationships/image" Target="../media/image5.png" Id="R067fb47c730b4c6d"/><Relationship Type="http://schemas.openxmlformats.org/officeDocument/2006/relationships/image" Target="../media/image6.png" Id="Rf677bf9a3c4041e3"/><Relationship Type="http://schemas.openxmlformats.org/officeDocument/2006/relationships/notesSlide" Target="../notesSlides/notesSlide14.xml" Id="Ra653c65dcb834b49"/></Relationships>
</file>

<file path=ppt/slides/_rels/slide15.xml.rels><?xml version='1.0' encoding='UTF-8' standalone='yes'?>
<Relationships xmlns="http://schemas.openxmlformats.org/package/2006/relationships"><Relationship Type="http://schemas.openxmlformats.org/officeDocument/2006/relationships/slideLayout" Target="../slideLayouts/slideLayout1.xml" Id="R4b7edc4a55554ce7"/><Relationship Type="http://schemas.openxmlformats.org/officeDocument/2006/relationships/image" Target="../media/image5.png" Id="Rca5766c69fbf4dd4"/><Relationship Type="http://schemas.openxmlformats.org/officeDocument/2006/relationships/image" Target="../media/image6.png" Id="R22e91c8dabfa456b"/><Relationship Type="http://schemas.openxmlformats.org/officeDocument/2006/relationships/image" Target="../media/image7.png" Id="R60dd5cfc75e84d6b"/><Relationship Type="http://schemas.openxmlformats.org/officeDocument/2006/relationships/image" Target="../media/image.svg" Id="Re973d689a8814833"/><Relationship Type="http://schemas.openxmlformats.org/officeDocument/2006/relationships/notesSlide" Target="../notesSlides/notesSlide15.xml" Id="R0ffe979e67c2471d"/></Relationships>
</file>

<file path=ppt/slides/_rels/slide16.xml.rels><?xml version='1.0' encoding='UTF-8' standalone='yes'?>
<Relationships xmlns="http://schemas.openxmlformats.org/package/2006/relationships"><Relationship Type="http://schemas.openxmlformats.org/officeDocument/2006/relationships/slideLayout" Target="../slideLayouts/slideLayout1.xml" Id="R0ead1859d37940a0"/><Relationship Type="http://schemas.openxmlformats.org/officeDocument/2006/relationships/image" Target="../media/image.png" Id="Ra0789cafa04b43ef"/><Relationship Type="http://schemas.openxmlformats.org/officeDocument/2006/relationships/image" Target="../media/image2.png" Id="R29033371a519443f"/><Relationship Type="http://schemas.openxmlformats.org/officeDocument/2006/relationships/notesSlide" Target="../notesSlides/notesSlide16.xml" Id="R375e989b24be4b8b"/></Relationships>
</file>

<file path=ppt/slides/_rels/slide17.xml.rels><?xml version='1.0' encoding='UTF-8' standalone='yes'?>
<Relationships xmlns="http://schemas.openxmlformats.org/package/2006/relationships"><Relationship Type="http://schemas.openxmlformats.org/officeDocument/2006/relationships/slideLayout" Target="../slideLayouts/slideLayout1.xml" Id="R0ab1d0ddd72c4175"/><Relationship Type="http://schemas.openxmlformats.org/officeDocument/2006/relationships/image" Target="../media/image5.png" Id="R70b74cac684a4a32"/><Relationship Type="http://schemas.openxmlformats.org/officeDocument/2006/relationships/image" Target="../media/image6.png" Id="R3c6da5fb4e78495c"/><Relationship Type="http://schemas.openxmlformats.org/officeDocument/2006/relationships/notesSlide" Target="../notesSlides/notesSlide17.xml" Id="R51c8ce6fe557481b"/></Relationships>
</file>

<file path=ppt/slides/_rels/slide18.xml.rels><?xml version='1.0' encoding='UTF-8' standalone='yes'?>
<Relationships xmlns="http://schemas.openxmlformats.org/package/2006/relationships"><Relationship Type="http://schemas.openxmlformats.org/officeDocument/2006/relationships/slideLayout" Target="../slideLayouts/slideLayout1.xml" Id="Ra3d6b1c47d12497b"/><Relationship Type="http://schemas.openxmlformats.org/officeDocument/2006/relationships/image" Target="../media/image5.png" Id="Rf9514982bff842db"/><Relationship Type="http://schemas.openxmlformats.org/officeDocument/2006/relationships/image" Target="../media/image6.png" Id="Raedda27880ae4082"/><Relationship Type="http://schemas.openxmlformats.org/officeDocument/2006/relationships/image" Target="../media/image8.png" Id="Ra9c63adbefc84f0d"/><Relationship Type="http://schemas.openxmlformats.org/officeDocument/2006/relationships/image" Target="../media/image2.svg" Id="Rd63abf6753514b3b"/><Relationship Type="http://schemas.openxmlformats.org/officeDocument/2006/relationships/notesSlide" Target="../notesSlides/notesSlide18.xml" Id="R9e9a9da310904889"/></Relationships>
</file>

<file path=ppt/slides/_rels/slide19.xml.rels><?xml version='1.0' encoding='UTF-8' standalone='yes'?>
<Relationships xmlns="http://schemas.openxmlformats.org/package/2006/relationships"><Relationship Type="http://schemas.openxmlformats.org/officeDocument/2006/relationships/slideLayout" Target="../slideLayouts/slideLayout1.xml" Id="R8ae370f38be74630"/><Relationship Type="http://schemas.openxmlformats.org/officeDocument/2006/relationships/image" Target="../media/image5.png" Id="R746426253f4343dc"/><Relationship Type="http://schemas.openxmlformats.org/officeDocument/2006/relationships/image" Target="../media/image6.png" Id="Rbfcdc6dc77fc42d5"/><Relationship Type="http://schemas.openxmlformats.org/officeDocument/2006/relationships/image" Target="../media/image9.png" Id="Rae6d7841a1f247e1"/><Relationship Type="http://schemas.openxmlformats.org/officeDocument/2006/relationships/image" Target="../media/image3.svg" Id="R52f5276fdaa441bd"/><Relationship Type="http://schemas.openxmlformats.org/officeDocument/2006/relationships/notesSlide" Target="../notesSlides/notesSlide19.xml" Id="Rbea842425f6b4313"/></Relationships>
</file>

<file path=ppt/slides/_rels/slide20.xml.rels><?xml version='1.0' encoding='UTF-8' standalone='yes'?>
<Relationships xmlns="http://schemas.openxmlformats.org/package/2006/relationships"><Relationship Type="http://schemas.openxmlformats.org/officeDocument/2006/relationships/slideLayout" Target="../slideLayouts/slideLayout1.xml" Id="R2c98f7d7659a4d0a"/><Relationship Type="http://schemas.openxmlformats.org/officeDocument/2006/relationships/image" Target="../media/image5.png" Id="R0527ab156da54320"/><Relationship Type="http://schemas.openxmlformats.org/officeDocument/2006/relationships/image" Target="../media/image6.png" Id="Racdd9c7596e84b05"/><Relationship Type="http://schemas.openxmlformats.org/officeDocument/2006/relationships/image" Target="../media/image10.png" Id="Ra77af29d26b34abb"/><Relationship Type="http://schemas.openxmlformats.org/officeDocument/2006/relationships/image" Target="../media/image4.svg" Id="Rab4fa0b6252942a5"/><Relationship Type="http://schemas.openxmlformats.org/officeDocument/2006/relationships/notesSlide" Target="../notesSlides/notesSlide20.xml" Id="Rb5c85dfdcfe34f51"/></Relationships>
</file>

<file path=ppt/slides/_rels/slide21.xml.rels><?xml version='1.0' encoding='UTF-8' standalone='yes'?>
<Relationships xmlns="http://schemas.openxmlformats.org/package/2006/relationships"><Relationship Type="http://schemas.openxmlformats.org/officeDocument/2006/relationships/slideLayout" Target="../slideLayouts/slideLayout1.xml" Id="Rc887b6708bdd423d"/><Relationship Type="http://schemas.openxmlformats.org/officeDocument/2006/relationships/image" Target="../media/image5.png" Id="R8a3f001314e0440b"/><Relationship Type="http://schemas.openxmlformats.org/officeDocument/2006/relationships/image" Target="../media/image6.png" Id="R4391d972eeeb4ca6"/><Relationship Type="http://schemas.openxmlformats.org/officeDocument/2006/relationships/chart" Target="charts/chart1.xml" Id="R9cee17fe7be648bb"/><Relationship Type="http://schemas.openxmlformats.org/officeDocument/2006/relationships/notesSlide" Target="../notesSlides/notesSlide21.xml" Id="R6e578cea3c0d4e5e"/></Relationships>
</file>

<file path=ppt/slides/_rels/slide22.xml.rels><?xml version='1.0' encoding='UTF-8' standalone='yes'?>
<Relationships xmlns="http://schemas.openxmlformats.org/package/2006/relationships"><Relationship Type="http://schemas.openxmlformats.org/officeDocument/2006/relationships/slideLayout" Target="../slideLayouts/slideLayout1.xml" Id="Rdbbc5c97b0a048b2"/><Relationship Type="http://schemas.openxmlformats.org/officeDocument/2006/relationships/image" Target="../media/image5.png" Id="Rbb2e691ad46a4f1b"/><Relationship Type="http://schemas.openxmlformats.org/officeDocument/2006/relationships/image" Target="../media/image6.png" Id="R030327c4a2a7426a"/><Relationship Type="http://schemas.openxmlformats.org/officeDocument/2006/relationships/image" Target="../media/image11.png" Id="R093d951729c04cf1"/><Relationship Type="http://schemas.openxmlformats.org/officeDocument/2006/relationships/image" Target="../media/image5.svg" Id="R65bce1f6b4ce41b5"/><Relationship Type="http://schemas.openxmlformats.org/officeDocument/2006/relationships/notesSlide" Target="../notesSlides/notesSlide22.xml" Id="Rc600b3bcf2e04cdd"/></Relationships>
</file>

<file path=ppt/slides/_rels/slide23.xml.rels><?xml version='1.0' encoding='UTF-8' standalone='yes'?>
<Relationships xmlns="http://schemas.openxmlformats.org/package/2006/relationships"><Relationship Type="http://schemas.openxmlformats.org/officeDocument/2006/relationships/slideLayout" Target="../slideLayouts/slideLayout1.xml" Id="R83272fab58014571"/><Relationship Type="http://schemas.openxmlformats.org/officeDocument/2006/relationships/image" Target="../media/image5.png" Id="R31874a8a2ed24d3d"/><Relationship Type="http://schemas.openxmlformats.org/officeDocument/2006/relationships/image" Target="../media/image6.png" Id="R2ccbb309a38c40f0"/><Relationship Type="http://schemas.openxmlformats.org/officeDocument/2006/relationships/image" Target="../media/image12.png" Id="Ra855cbf673c34ff1"/><Relationship Type="http://schemas.openxmlformats.org/officeDocument/2006/relationships/image" Target="../media/image6.svg" Id="R1d7f86a75d2c4edc"/><Relationship Type="http://schemas.openxmlformats.org/officeDocument/2006/relationships/notesSlide" Target="../notesSlides/notesSlide23.xml" Id="R91da29fdf4d44857"/></Relationships>
</file>

<file path=ppt/slides/_rels/slide24.xml.rels><?xml version='1.0' encoding='UTF-8' standalone='yes'?>
<Relationships xmlns="http://schemas.openxmlformats.org/package/2006/relationships"><Relationship Type="http://schemas.openxmlformats.org/officeDocument/2006/relationships/slideLayout" Target="../slideLayouts/slideLayout1.xml" Id="R7f70ef8af8e34050"/><Relationship Type="http://schemas.openxmlformats.org/officeDocument/2006/relationships/image" Target="../media/image5.png" Id="R5cc047a7199f4a1a"/><Relationship Type="http://schemas.openxmlformats.org/officeDocument/2006/relationships/image" Target="../media/image6.png" Id="Rf42d9b4e620343d8"/><Relationship Type="http://schemas.openxmlformats.org/officeDocument/2006/relationships/notesSlide" Target="../notesSlides/notesSlide24.xml" Id="R17fb3e0d3e2f48ac"/></Relationships>
</file>

<file path=ppt/slides/_rels/slide25.xml.rels><?xml version='1.0' encoding='UTF-8' standalone='yes'?>
<Relationships xmlns="http://schemas.openxmlformats.org/package/2006/relationships"><Relationship Type="http://schemas.openxmlformats.org/officeDocument/2006/relationships/slideLayout" Target="../slideLayouts/slideLayout1.xml" Id="R5586dd8a195c4a20"/><Relationship Type="http://schemas.openxmlformats.org/officeDocument/2006/relationships/image" Target="../media/image5.png" Id="Re0da114153254289"/><Relationship Type="http://schemas.openxmlformats.org/officeDocument/2006/relationships/image" Target="../media/image6.png" Id="Rcbf0dbd716b84df1"/><Relationship Type="http://schemas.openxmlformats.org/officeDocument/2006/relationships/image" Target="../media/image13.png" Id="R1c6e353ce98840b5"/><Relationship Type="http://schemas.openxmlformats.org/officeDocument/2006/relationships/image" Target="../media/image7.svg" Id="R2e0801a2fd114ad2"/><Relationship Type="http://schemas.openxmlformats.org/officeDocument/2006/relationships/notesSlide" Target="../notesSlides/notesSlide25.xml" Id="Ra7518f2e951e4ac8"/></Relationships>
</file>

<file path=ppt/slides/_rels/slide26.xml.rels><?xml version='1.0' encoding='UTF-8' standalone='yes'?>
<Relationships xmlns="http://schemas.openxmlformats.org/package/2006/relationships"><Relationship Type="http://schemas.openxmlformats.org/officeDocument/2006/relationships/slideLayout" Target="../slideLayouts/slideLayout1.xml" Id="R411e4dc5d657426c"/><Relationship Type="http://schemas.openxmlformats.org/officeDocument/2006/relationships/image" Target="../media/image5.png" Id="R2c6a48ac972b4c45"/><Relationship Type="http://schemas.openxmlformats.org/officeDocument/2006/relationships/image" Target="../media/image6.png" Id="Rd705e0f12aed4a31"/><Relationship Type="http://schemas.openxmlformats.org/officeDocument/2006/relationships/image" Target="../media/image14.png" Id="Rcc0ef67c5f7b45be"/><Relationship Type="http://schemas.openxmlformats.org/officeDocument/2006/relationships/image" Target="../media/image8.svg" Id="Re8194297afe64ece"/><Relationship Type="http://schemas.openxmlformats.org/officeDocument/2006/relationships/notesSlide" Target="../notesSlides/notesSlide26.xml" Id="R04c925646fa44490"/></Relationships>
</file>

<file path=ppt/slides/_rels/slide27.xml.rels><?xml version='1.0' encoding='UTF-8' standalone='yes'?>
<Relationships xmlns="http://schemas.openxmlformats.org/package/2006/relationships"><Relationship Type="http://schemas.openxmlformats.org/officeDocument/2006/relationships/slideLayout" Target="../slideLayouts/slideLayout1.xml" Id="Rcfedd3f53cf34b7e"/><Relationship Type="http://schemas.openxmlformats.org/officeDocument/2006/relationships/image" Target="../media/image5.png" Id="Rec23a84c24ec4c4e"/><Relationship Type="http://schemas.openxmlformats.org/officeDocument/2006/relationships/image" Target="../media/image6.png" Id="R9b038e1d2a994262"/><Relationship Type="http://schemas.openxmlformats.org/officeDocument/2006/relationships/image" Target="../media/image15.png" Id="R41c7b0d18d5f4fe9"/><Relationship Type="http://schemas.openxmlformats.org/officeDocument/2006/relationships/image" Target="../media/image9.svg" Id="R6a569a36cfab4a0a"/><Relationship Type="http://schemas.openxmlformats.org/officeDocument/2006/relationships/notesSlide" Target="../notesSlides/notesSlide27.xml" Id="R557d2903887847dc"/></Relationships>
</file>

<file path=ppt/slides/_rels/slide28.xml.rels><?xml version='1.0' encoding='UTF-8' standalone='yes'?>
<Relationships xmlns="http://schemas.openxmlformats.org/package/2006/relationships"><Relationship Type="http://schemas.openxmlformats.org/officeDocument/2006/relationships/slideLayout" Target="../slideLayouts/slideLayout1.xml" Id="Raf7a6afcd0c24d4b"/><Relationship Type="http://schemas.openxmlformats.org/officeDocument/2006/relationships/image" Target="../media/image5.png" Id="Rfd6fa98d96554fe6"/><Relationship Type="http://schemas.openxmlformats.org/officeDocument/2006/relationships/image" Target="../media/image6.png" Id="Rc249a9867ee54c6b"/><Relationship Type="http://schemas.openxmlformats.org/officeDocument/2006/relationships/image" Target="../media/image16.png" Id="R9f9453131f2643ec"/><Relationship Type="http://schemas.openxmlformats.org/officeDocument/2006/relationships/image" Target="../media/image10.svg" Id="R529a690494be4b77"/><Relationship Type="http://schemas.openxmlformats.org/officeDocument/2006/relationships/notesSlide" Target="../notesSlides/notesSlide28.xml" Id="R0a3300e2a3ed4358"/></Relationships>
</file>

<file path=ppt/slides/_rels/slide29.xml.rels><?xml version='1.0' encoding='UTF-8' standalone='yes'?>
<Relationships xmlns="http://schemas.openxmlformats.org/package/2006/relationships"><Relationship Type="http://schemas.openxmlformats.org/officeDocument/2006/relationships/slideLayout" Target="../slideLayouts/slideLayout1.xml" Id="R896ba1ffaa054253"/><Relationship Type="http://schemas.openxmlformats.org/officeDocument/2006/relationships/image" Target="../media/image5.png" Id="R9d8ce19a2ff14724"/><Relationship Type="http://schemas.openxmlformats.org/officeDocument/2006/relationships/image" Target="../media/image6.png" Id="R598b14a954ea4a05"/><Relationship Type="http://schemas.openxmlformats.org/officeDocument/2006/relationships/image" Target="../media/image17.png" Id="R42f8b90eba7a43fa"/><Relationship Type="http://schemas.openxmlformats.org/officeDocument/2006/relationships/image" Target="../media/image11.svg" Id="R5e2ace9e75554241"/><Relationship Type="http://schemas.openxmlformats.org/officeDocument/2006/relationships/notesSlide" Target="../notesSlides/notesSlide29.xml" Id="R2f9b01e795bb4017"/></Relationships>
</file>

<file path=ppt/slides/_rels/slide30.xml.rels><?xml version='1.0' encoding='UTF-8' standalone='yes'?>
<Relationships xmlns="http://schemas.openxmlformats.org/package/2006/relationships"><Relationship Type="http://schemas.openxmlformats.org/officeDocument/2006/relationships/slideLayout" Target="../slideLayouts/slideLayout1.xml" Id="R8bcd46d241cf4998"/><Relationship Type="http://schemas.openxmlformats.org/officeDocument/2006/relationships/image" Target="../media/image5.png" Id="Ra3034905977249b3"/><Relationship Type="http://schemas.openxmlformats.org/officeDocument/2006/relationships/image" Target="../media/image6.png" Id="R00c3f6759832415d"/><Relationship Type="http://schemas.openxmlformats.org/officeDocument/2006/relationships/image" Target="../media/image18.png" Id="Rc1ad5df4717f4f41"/><Relationship Type="http://schemas.openxmlformats.org/officeDocument/2006/relationships/image" Target="../media/image12.svg" Id="R30cbbe4cf8214ae3"/><Relationship Type="http://schemas.openxmlformats.org/officeDocument/2006/relationships/notesSlide" Target="../notesSlides/notesSlide30.xml" Id="R0489a8a3b30e419e"/></Relationships>
</file>

<file path=ppt/slides/_rels/slide31.xml.rels><?xml version='1.0' encoding='UTF-8' standalone='yes'?>
<Relationships xmlns="http://schemas.openxmlformats.org/package/2006/relationships"><Relationship Type="http://schemas.openxmlformats.org/officeDocument/2006/relationships/slideLayout" Target="../slideLayouts/slideLayout1.xml" Id="Rf539f0cb4f7e44b3"/><Relationship Type="http://schemas.openxmlformats.org/officeDocument/2006/relationships/image" Target="../media/image5.png" Id="R233c619b9d1b48c3"/><Relationship Type="http://schemas.openxmlformats.org/officeDocument/2006/relationships/image" Target="../media/image6.png" Id="Ra84f7cef24b941a3"/><Relationship Type="http://schemas.openxmlformats.org/officeDocument/2006/relationships/image" Target="../media/image19.png" Id="R8e907b157c224cd7"/><Relationship Type="http://schemas.openxmlformats.org/officeDocument/2006/relationships/image" Target="../media/image13.svg" Id="R7d622ed2c0f3486c"/><Relationship Type="http://schemas.openxmlformats.org/officeDocument/2006/relationships/notesSlide" Target="../notesSlides/notesSlide31.xml" Id="Rc189ecfd01b94028"/></Relationships>
</file>

<file path=ppt/slides/_rels/slide32.xml.rels><?xml version='1.0' encoding='UTF-8' standalone='yes'?>
<Relationships xmlns="http://schemas.openxmlformats.org/package/2006/relationships"><Relationship Type="http://schemas.openxmlformats.org/officeDocument/2006/relationships/slideLayout" Target="../slideLayouts/slideLayout1.xml" Id="R7ab15ffa3d9c4239"/><Relationship Type="http://schemas.openxmlformats.org/officeDocument/2006/relationships/image" Target="../media/image5.png" Id="R5626138e2822479b"/><Relationship Type="http://schemas.openxmlformats.org/officeDocument/2006/relationships/image" Target="../media/image6.png" Id="R2adf38882e22402d"/><Relationship Type="http://schemas.openxmlformats.org/officeDocument/2006/relationships/image" Target="../media/image20.png" Id="R694b8190188a4043"/><Relationship Type="http://schemas.openxmlformats.org/officeDocument/2006/relationships/image" Target="../media/image14.svg" Id="Rb09d688340454b85"/><Relationship Type="http://schemas.openxmlformats.org/officeDocument/2006/relationships/notesSlide" Target="../notesSlides/notesSlide32.xml" Id="R29fc68170aaf40a9"/></Relationships>
</file>

<file path=ppt/slides/_rels/slide33.xml.rels><?xml version='1.0' encoding='UTF-8' standalone='yes'?>
<Relationships xmlns="http://schemas.openxmlformats.org/package/2006/relationships"><Relationship Type="http://schemas.openxmlformats.org/officeDocument/2006/relationships/slideLayout" Target="../slideLayouts/slideLayout1.xml" Id="R4404d494f6df4fa4"/><Relationship Type="http://schemas.openxmlformats.org/officeDocument/2006/relationships/image" Target="../media/image5.png" Id="Rfd6c2267d92340b4"/><Relationship Type="http://schemas.openxmlformats.org/officeDocument/2006/relationships/image" Target="../media/image6.png" Id="R247cdb7081ae4d6a"/><Relationship Type="http://schemas.openxmlformats.org/officeDocument/2006/relationships/image" Target="../media/image21.png" Id="R06139c3928144934"/><Relationship Type="http://schemas.openxmlformats.org/officeDocument/2006/relationships/image" Target="../media/image15.svg" Id="Rfc5adcc50994497f"/><Relationship Type="http://schemas.openxmlformats.org/officeDocument/2006/relationships/notesSlide" Target="../notesSlides/notesSlide33.xml" Id="R22ed864cc6644d44"/></Relationships>
</file>

<file path=ppt/slides/_rels/slide34.xml.rels><?xml version='1.0' encoding='UTF-8' standalone='yes'?>
<Relationships xmlns="http://schemas.openxmlformats.org/package/2006/relationships"><Relationship Type="http://schemas.openxmlformats.org/officeDocument/2006/relationships/slideLayout" Target="../slideLayouts/slideLayout1.xml" Id="R031e773fbb494511"/><Relationship Type="http://schemas.openxmlformats.org/officeDocument/2006/relationships/image" Target="../media/image5.png" Id="R19ab41cc35f446fd"/><Relationship Type="http://schemas.openxmlformats.org/officeDocument/2006/relationships/image" Target="../media/image6.png" Id="R30470da6a21c4b3d"/><Relationship Type="http://schemas.openxmlformats.org/officeDocument/2006/relationships/image" Target="../media/image22.png" Id="R57458eebd192410b"/><Relationship Type="http://schemas.openxmlformats.org/officeDocument/2006/relationships/image" Target="../media/image16.svg" Id="R0fc5da7b2d7b4e5d"/><Relationship Type="http://schemas.openxmlformats.org/officeDocument/2006/relationships/notesSlide" Target="../notesSlides/notesSlide34.xml" Id="Re9987036af254a1e"/></Relationships>
</file>

<file path=ppt/slides/_rels/slide35.xml.rels><?xml version='1.0' encoding='UTF-8' standalone='yes'?>
<Relationships xmlns="http://schemas.openxmlformats.org/package/2006/relationships"><Relationship Type="http://schemas.openxmlformats.org/officeDocument/2006/relationships/slideLayout" Target="../slideLayouts/slideLayout1.xml" Id="Re551f1b4d27d44a0"/><Relationship Type="http://schemas.openxmlformats.org/officeDocument/2006/relationships/image" Target="../media/image5.png" Id="R8562f2930c3e4117"/><Relationship Type="http://schemas.openxmlformats.org/officeDocument/2006/relationships/image" Target="../media/image6.png" Id="R0689c8c049824ade"/><Relationship Type="http://schemas.openxmlformats.org/officeDocument/2006/relationships/image" Target="../media/image23.png" Id="R26daccdf95b344fe"/><Relationship Type="http://schemas.openxmlformats.org/officeDocument/2006/relationships/image" Target="../media/image17.svg" Id="Rf9fed77c170140bc"/><Relationship Type="http://schemas.openxmlformats.org/officeDocument/2006/relationships/notesSlide" Target="../notesSlides/notesSlide35.xml" Id="R39d9e723ae104a1c"/></Relationships>
</file>

<file path=ppt/slides/_rels/slide36.xml.rels><?xml version='1.0' encoding='UTF-8' standalone='yes'?>
<Relationships xmlns="http://schemas.openxmlformats.org/package/2006/relationships"><Relationship Type="http://schemas.openxmlformats.org/officeDocument/2006/relationships/slideLayout" Target="../slideLayouts/slideLayout1.xml" Id="R792cc47c6e2c4a74"/><Relationship Type="http://schemas.openxmlformats.org/officeDocument/2006/relationships/image" Target="../media/image5.png" Id="Rc8684a39bb3543bc"/><Relationship Type="http://schemas.openxmlformats.org/officeDocument/2006/relationships/image" Target="../media/image6.png" Id="Raaca8c64e5554855"/><Relationship Type="http://schemas.openxmlformats.org/officeDocument/2006/relationships/image" Target="../media/image24.png" Id="R16082c7569264e36"/><Relationship Type="http://schemas.openxmlformats.org/officeDocument/2006/relationships/image" Target="../media/image18.svg" Id="R141e3eceb45f41ec"/><Relationship Type="http://schemas.openxmlformats.org/officeDocument/2006/relationships/notesSlide" Target="../notesSlides/notesSlide36.xml" Id="R234109c6f3254ece"/></Relationships>
</file>

<file path=ppt/slides/_rels/slide37.xml.rels><?xml version='1.0' encoding='UTF-8' standalone='yes'?>
<Relationships xmlns="http://schemas.openxmlformats.org/package/2006/relationships"><Relationship Type="http://schemas.openxmlformats.org/officeDocument/2006/relationships/slideLayout" Target="../slideLayouts/slideLayout1.xml" Id="Rb4441ce6c4fd4751"/><Relationship Type="http://schemas.openxmlformats.org/officeDocument/2006/relationships/image" Target="../media/image5.png" Id="Reca4f0a196854496"/><Relationship Type="http://schemas.openxmlformats.org/officeDocument/2006/relationships/image" Target="../media/image6.png" Id="R48c91e4544114037"/><Relationship Type="http://schemas.openxmlformats.org/officeDocument/2006/relationships/notesSlide" Target="../notesSlides/notesSlide37.xml" Id="Rf75925d4134243fa"/></Relationships>
</file>

<file path=ppt/slides/_rels/slide38.xml.rels><?xml version='1.0' encoding='UTF-8' standalone='yes'?>
<Relationships xmlns="http://schemas.openxmlformats.org/package/2006/relationships"><Relationship Type="http://schemas.openxmlformats.org/officeDocument/2006/relationships/slideLayout" Target="../slideLayouts/slideLayout1.xml" Id="R97ad74a1b21740d1"/><Relationship Type="http://schemas.openxmlformats.org/officeDocument/2006/relationships/image" Target="../media/image5.png" Id="R293fb941e99347a2"/><Relationship Type="http://schemas.openxmlformats.org/officeDocument/2006/relationships/image" Target="../media/image6.png" Id="Rf075c6747a024f43"/><Relationship Type="http://schemas.openxmlformats.org/officeDocument/2006/relationships/notesSlide" Target="../notesSlides/notesSlide38.xml" Id="R3ab42265e1e24b8c"/></Relationships>
</file>

<file path=ppt/slides/_rels/slide39.xml.rels><?xml version='1.0' encoding='UTF-8' standalone='yes'?>
<Relationships xmlns="http://schemas.openxmlformats.org/package/2006/relationships"><Relationship Type="http://schemas.openxmlformats.org/officeDocument/2006/relationships/slideLayout" Target="../slideLayouts/slideLayout1.xml" Id="Rbaa74b5ac9cf4e72"/><Relationship Type="http://schemas.openxmlformats.org/officeDocument/2006/relationships/image" Target="../media/image25.png" Id="R91d3719b07f94c4e"/><Relationship Type="http://schemas.openxmlformats.org/officeDocument/2006/relationships/image" Target="../media/image26.png" Id="R054f1ab67ca84034"/><Relationship Type="http://schemas.openxmlformats.org/officeDocument/2006/relationships/image" Target="../media/image27.png" Id="R6f0a00221a2f49dd"/><Relationship Type="http://schemas.openxmlformats.org/officeDocument/2006/relationships/image" Target="../media/image28.png" Id="R5251b458c5ef46c8"/><Relationship Type="http://schemas.openxmlformats.org/officeDocument/2006/relationships/image" Target="../media/image29.png" Id="R84b6c37d4d6b4350"/><Relationship Type="http://schemas.openxmlformats.org/officeDocument/2006/relationships/image" Target="../media/image30.png" Id="Rb4569024293f4899"/><Relationship Type="http://schemas.openxmlformats.org/officeDocument/2006/relationships/image" Target="../media/image31.png" Id="R066102fede0c4604"/><Relationship Type="http://schemas.openxmlformats.org/officeDocument/2006/relationships/image" Target="../media/image.png" Id="Rdec6182dd71b4b55"/><Relationship Type="http://schemas.openxmlformats.org/officeDocument/2006/relationships/image" Target="../media/image2.png" Id="R9f06776c22884f26"/><Relationship Type="http://schemas.openxmlformats.org/officeDocument/2006/relationships/notesSlide" Target="../notesSlides/notesSlide39.xml" Id="R57257489df2e4b1a"/></Relationships>
</file>

<file path=ppt/slides/_rels/slide40.xml.rels><?xml version='1.0' encoding='UTF-8' standalone='yes'?>
<Relationships xmlns="http://schemas.openxmlformats.org/package/2006/relationships"><Relationship Type="http://schemas.openxmlformats.org/officeDocument/2006/relationships/slideLayout" Target="../slideLayouts/slideLayout1.xml" Id="Rc9a5126028c7433a"/><Relationship Type="http://schemas.openxmlformats.org/officeDocument/2006/relationships/image" Target="../media/image5.png" Id="R25f4ef1b9410460e"/><Relationship Type="http://schemas.openxmlformats.org/officeDocument/2006/relationships/image" Target="../media/image6.png" Id="Ra5139ec3747a4946"/><Relationship Type="http://schemas.openxmlformats.org/officeDocument/2006/relationships/notesSlide" Target="../notesSlides/notesSlide40.xml" Id="Rd463f850e129436a"/></Relationships>
</file>

<file path=ppt/slides/_rels/slide41.xml.rels><?xml version='1.0' encoding='UTF-8' standalone='yes'?>
<Relationships xmlns="http://schemas.openxmlformats.org/package/2006/relationships"><Relationship Type="http://schemas.openxmlformats.org/officeDocument/2006/relationships/slideLayout" Target="../slideLayouts/slideLayout1.xml" Id="Rcdcce7cb01a348d6"/><Relationship Type="http://schemas.openxmlformats.org/officeDocument/2006/relationships/image" Target="../media/image5.png" Id="R998adcf7f2fa48d9"/><Relationship Type="http://schemas.openxmlformats.org/officeDocument/2006/relationships/image" Target="../media/image6.png" Id="Rc4e5efea85ab446a"/><Relationship Type="http://schemas.openxmlformats.org/officeDocument/2006/relationships/notesSlide" Target="../notesSlides/notesSlide41.xml" Id="R8c86fd785a6745c5"/></Relationships>
</file>

<file path=ppt/slides/_rels/slide42.xml.rels><?xml version='1.0' encoding='UTF-8' standalone='yes'?>
<Relationships xmlns="http://schemas.openxmlformats.org/package/2006/relationships"><Relationship Type="http://schemas.openxmlformats.org/officeDocument/2006/relationships/slideLayout" Target="../slideLayouts/slideLayout1.xml" Id="Ra15c9f977ff248f2"/><Relationship Type="http://schemas.openxmlformats.org/officeDocument/2006/relationships/image" Target="../media/image5.png" Id="R580ef07f94ad41be"/><Relationship Type="http://schemas.openxmlformats.org/officeDocument/2006/relationships/image" Target="../media/image6.png" Id="R312ade71cc1b4e7c"/><Relationship Type="http://schemas.openxmlformats.org/officeDocument/2006/relationships/notesSlide" Target="../notesSlides/notesSlide42.xml" Id="Rbc3203c70c444015"/></Relationships>
</file>

<file path=ppt/slides/_rels/slide43.xml.rels><?xml version='1.0' encoding='UTF-8' standalone='yes'?>
<Relationships xmlns="http://schemas.openxmlformats.org/package/2006/relationships"><Relationship Type="http://schemas.openxmlformats.org/officeDocument/2006/relationships/slideLayout" Target="../slideLayouts/slideLayout1.xml" Id="R73f8e382a0ee4e7e"/><Relationship Type="http://schemas.openxmlformats.org/officeDocument/2006/relationships/image" Target="../media/image.png" Id="R946ae24e8a4d4c47"/><Relationship Type="http://schemas.openxmlformats.org/officeDocument/2006/relationships/image" Target="../media/image2.png" Id="R600ee2ccf85a438c"/><Relationship Type="http://schemas.openxmlformats.org/officeDocument/2006/relationships/notesSlide" Target="../notesSlides/notesSlide43.xml" Id="Rf38b19fe9eb54737"/></Relationships>
</file>

<file path=ppt/slides/_rels/slide44.xml.rels><?xml version='1.0' encoding='UTF-8' standalone='yes'?>
<Relationships xmlns="http://schemas.openxmlformats.org/package/2006/relationships"><Relationship Type="http://schemas.openxmlformats.org/officeDocument/2006/relationships/slideLayout" Target="../slideLayouts/slideLayout1.xml" Id="R752a3263608343bf"/><Relationship Type="http://schemas.openxmlformats.org/officeDocument/2006/relationships/image" Target="../media/image5.png" Id="R57e81071950747ac"/><Relationship Type="http://schemas.openxmlformats.org/officeDocument/2006/relationships/image" Target="../media/image6.png" Id="R27358036942c4ae5"/><Relationship Type="http://schemas.openxmlformats.org/officeDocument/2006/relationships/notesSlide" Target="../notesSlides/notesSlide44.xml" Id="R771f9ac7dd764bac"/></Relationships>
</file>

<file path=ppt/slides/_rels/slide45.xml.rels><?xml version='1.0' encoding='UTF-8' standalone='yes'?>
<Relationships xmlns="http://schemas.openxmlformats.org/package/2006/relationships"><Relationship Type="http://schemas.openxmlformats.org/officeDocument/2006/relationships/slideLayout" Target="../slideLayouts/slideLayout1.xml" Id="R98950fb969fa42cb"/><Relationship Type="http://schemas.openxmlformats.org/officeDocument/2006/relationships/image" Target="../media/image5.png" Id="R7557692f813a40dd"/><Relationship Type="http://schemas.openxmlformats.org/officeDocument/2006/relationships/image" Target="../media/image6.png" Id="Rc72288cf5b7d4ebc"/><Relationship Type="http://schemas.openxmlformats.org/officeDocument/2006/relationships/image" Target="../media/image32.png" Id="Raeef4d28bc9949c8"/><Relationship Type="http://schemas.openxmlformats.org/officeDocument/2006/relationships/image" Target="../media/image19.svg" Id="Rb9675bd8059545ba"/><Relationship Type="http://schemas.openxmlformats.org/officeDocument/2006/relationships/notesSlide" Target="../notesSlides/notesSlide45.xml" Id="R3a2c85438db74d36"/></Relationships>
</file>

<file path=ppt/slides/_rels/slide46.xml.rels><?xml version='1.0' encoding='UTF-8' standalone='yes'?>
<Relationships xmlns="http://schemas.openxmlformats.org/package/2006/relationships"><Relationship Type="http://schemas.openxmlformats.org/officeDocument/2006/relationships/slideLayout" Target="../slideLayouts/slideLayout1.xml" Id="R7a70421971314394"/><Relationship Type="http://schemas.openxmlformats.org/officeDocument/2006/relationships/image" Target="../media/image5.png" Id="R829a3b7818734cbe"/><Relationship Type="http://schemas.openxmlformats.org/officeDocument/2006/relationships/image" Target="../media/image6.png" Id="R561cdb68464d4605"/><Relationship Type="http://schemas.openxmlformats.org/officeDocument/2006/relationships/image" Target="../media/image33.png" Id="R356786aa4e8142d9"/><Relationship Type="http://schemas.openxmlformats.org/officeDocument/2006/relationships/image" Target="../media/image20.svg" Id="R7540a0c06d4c4bd4"/><Relationship Type="http://schemas.openxmlformats.org/officeDocument/2006/relationships/notesSlide" Target="../notesSlides/notesSlide46.xml" Id="R1edc0837bd144ff2"/></Relationships>
</file>

<file path=ppt/slides/_rels/slide47.xml.rels><?xml version='1.0' encoding='UTF-8' standalone='yes'?>
<Relationships xmlns="http://schemas.openxmlformats.org/package/2006/relationships"><Relationship Type="http://schemas.openxmlformats.org/officeDocument/2006/relationships/slideLayout" Target="../slideLayouts/slideLayout1.xml" Id="Ra07c5bacd14c4cf5"/><Relationship Type="http://schemas.openxmlformats.org/officeDocument/2006/relationships/image" Target="../media/image5.png" Id="R26cd947c9a0c45d6"/><Relationship Type="http://schemas.openxmlformats.org/officeDocument/2006/relationships/image" Target="../media/image6.png" Id="R9a68ce8342cf473c"/><Relationship Type="http://schemas.openxmlformats.org/officeDocument/2006/relationships/image" Target="../media/image34.png" Id="R495b482852d64a04"/><Relationship Type="http://schemas.openxmlformats.org/officeDocument/2006/relationships/image" Target="../media/image21.svg" Id="R4321edeb86034bf7"/><Relationship Type="http://schemas.openxmlformats.org/officeDocument/2006/relationships/notesSlide" Target="../notesSlides/notesSlide47.xml" Id="R6de2f709c2d241fc"/></Relationships>
</file>

<file path=ppt/slides/_rels/slide48.xml.rels><?xml version='1.0' encoding='UTF-8' standalone='yes'?>
<Relationships xmlns="http://schemas.openxmlformats.org/package/2006/relationships"><Relationship Type="http://schemas.openxmlformats.org/officeDocument/2006/relationships/slideLayout" Target="../slideLayouts/slideLayout1.xml" Id="Rb732b4bf2e5d4ab7"/><Relationship Type="http://schemas.openxmlformats.org/officeDocument/2006/relationships/image" Target="../media/image5.png" Id="R8b686fb3a96f41f9"/><Relationship Type="http://schemas.openxmlformats.org/officeDocument/2006/relationships/image" Target="../media/image6.png" Id="Rf8a29fe4b7f24d73"/><Relationship Type="http://schemas.openxmlformats.org/officeDocument/2006/relationships/image" Target="../media/image35.png" Id="R9af4474d913342ef"/><Relationship Type="http://schemas.openxmlformats.org/officeDocument/2006/relationships/image" Target="../media/image22.svg" Id="R86a7d419bf0f480c"/><Relationship Type="http://schemas.openxmlformats.org/officeDocument/2006/relationships/notesSlide" Target="../notesSlides/notesSlide48.xml" Id="R2780266668074cf7"/></Relationships>
</file>

<file path=ppt/slides/_rels/slide49.xml.rels><?xml version='1.0' encoding='UTF-8' standalone='yes'?>
<Relationships xmlns="http://schemas.openxmlformats.org/package/2006/relationships"><Relationship Type="http://schemas.openxmlformats.org/officeDocument/2006/relationships/slideLayout" Target="../slideLayouts/slideLayout1.xml" Id="R4a17970174a74e2b"/><Relationship Type="http://schemas.openxmlformats.org/officeDocument/2006/relationships/image" Target="../media/image5.png" Id="R3c1529f5ef0646eb"/><Relationship Type="http://schemas.openxmlformats.org/officeDocument/2006/relationships/image" Target="../media/image6.png" Id="Rdd2a124f6cf740db"/><Relationship Type="http://schemas.openxmlformats.org/officeDocument/2006/relationships/image" Target="../media/image36.png" Id="Ra229978514a04fa7"/><Relationship Type="http://schemas.openxmlformats.org/officeDocument/2006/relationships/image" Target="../media/image23.svg" Id="R7ddac5c8faa14b2b"/><Relationship Type="http://schemas.openxmlformats.org/officeDocument/2006/relationships/notesSlide" Target="../notesSlides/notesSlide49.xml" Id="R41f3f657d5be4c28"/></Relationships>
</file>

<file path=ppt/slides/_rels/slide50.xml.rels><?xml version='1.0' encoding='UTF-8' standalone='yes'?>
<Relationships xmlns="http://schemas.openxmlformats.org/package/2006/relationships"><Relationship Type="http://schemas.openxmlformats.org/officeDocument/2006/relationships/slideLayout" Target="../slideLayouts/slideLayout1.xml" Id="R26b7dd9f50cb4508"/><Relationship Type="http://schemas.openxmlformats.org/officeDocument/2006/relationships/image" Target="../media/image5.png" Id="R4f5eb642085744e9"/><Relationship Type="http://schemas.openxmlformats.org/officeDocument/2006/relationships/image" Target="../media/image6.png" Id="Rbaee1d65c17240df"/><Relationship Type="http://schemas.openxmlformats.org/officeDocument/2006/relationships/image" Target="../media/image37.png" Id="R33567fa3f0364f7d"/><Relationship Type="http://schemas.openxmlformats.org/officeDocument/2006/relationships/image" Target="../media/image24.svg" Id="Rdbc4fd32bd1e4198"/><Relationship Type="http://schemas.openxmlformats.org/officeDocument/2006/relationships/notesSlide" Target="../notesSlides/notesSlide50.xml" Id="Rb95ec11cd57341a1"/></Relationships>
</file>

<file path=ppt/slides/_rels/slide51.xml.rels><?xml version='1.0' encoding='UTF-8' standalone='yes'?>
<Relationships xmlns="http://schemas.openxmlformats.org/package/2006/relationships"><Relationship Type="http://schemas.openxmlformats.org/officeDocument/2006/relationships/slideLayout" Target="../slideLayouts/slideLayout1.xml" Id="R8605b349d739476b"/><Relationship Type="http://schemas.openxmlformats.org/officeDocument/2006/relationships/image" Target="../media/image5.png" Id="Rf76231a28d2049dc"/><Relationship Type="http://schemas.openxmlformats.org/officeDocument/2006/relationships/image" Target="../media/image6.png" Id="Rd60622480ea642e6"/><Relationship Type="http://schemas.openxmlformats.org/officeDocument/2006/relationships/image" Target="../media/image38.png" Id="R045ea92359aa4ac4"/><Relationship Type="http://schemas.openxmlformats.org/officeDocument/2006/relationships/image" Target="../media/image25.svg" Id="Rb53a9c97079e453d"/><Relationship Type="http://schemas.openxmlformats.org/officeDocument/2006/relationships/notesSlide" Target="../notesSlides/notesSlide51.xml" Id="Reebf1f9dbece4a63"/></Relationships>
</file>

<file path=ppt/slides/_rels/slide52.xml.rels><?xml version='1.0' encoding='UTF-8' standalone='yes'?>
<Relationships xmlns="http://schemas.openxmlformats.org/package/2006/relationships"><Relationship Type="http://schemas.openxmlformats.org/officeDocument/2006/relationships/slideLayout" Target="../slideLayouts/slideLayout1.xml" Id="Rd02d728b4df14f5f"/><Relationship Type="http://schemas.openxmlformats.org/officeDocument/2006/relationships/image" Target="../media/image5.png" Id="Re4bffa25c6784890"/><Relationship Type="http://schemas.openxmlformats.org/officeDocument/2006/relationships/image" Target="../media/image6.png" Id="R46e61ec953684a48"/><Relationship Type="http://schemas.openxmlformats.org/officeDocument/2006/relationships/image" Target="../media/image39.png" Id="Rc7d5e65986ff45ee"/><Relationship Type="http://schemas.openxmlformats.org/officeDocument/2006/relationships/image" Target="../media/image26.svg" Id="R7b1af4c788b343ed"/><Relationship Type="http://schemas.openxmlformats.org/officeDocument/2006/relationships/notesSlide" Target="../notesSlides/notesSlide52.xml" Id="Rf0c47a5ee2bd4ce8"/></Relationships>
</file>

<file path=ppt/slides/_rels/slide53.xml.rels><?xml version='1.0' encoding='UTF-8' standalone='yes'?>
<Relationships xmlns="http://schemas.openxmlformats.org/package/2006/relationships"><Relationship Type="http://schemas.openxmlformats.org/officeDocument/2006/relationships/slideLayout" Target="../slideLayouts/slideLayout1.xml" Id="R33d65612c3c94df1"/><Relationship Type="http://schemas.openxmlformats.org/officeDocument/2006/relationships/image" Target="../media/image5.png" Id="R3ce33d651ea64b4f"/><Relationship Type="http://schemas.openxmlformats.org/officeDocument/2006/relationships/image" Target="../media/image6.png" Id="R17fdb4c9b58846ae"/><Relationship Type="http://schemas.openxmlformats.org/officeDocument/2006/relationships/chart" Target="charts/chart2.xml" Id="R83b9b69327a0449f"/><Relationship Type="http://schemas.openxmlformats.org/officeDocument/2006/relationships/notesSlide" Target="../notesSlides/notesSlide53.xml" Id="R91884c334b244b77"/></Relationships>
</file>

<file path=ppt/slides/_rels/slide54.xml.rels><?xml version='1.0' encoding='UTF-8' standalone='yes'?>
<Relationships xmlns="http://schemas.openxmlformats.org/package/2006/relationships"><Relationship Type="http://schemas.openxmlformats.org/officeDocument/2006/relationships/slideLayout" Target="../slideLayouts/slideLayout1.xml" Id="R792683a8683e4e7b"/><Relationship Type="http://schemas.openxmlformats.org/officeDocument/2006/relationships/image" Target="../media/image5.png" Id="Rf984ac8744b4450b"/><Relationship Type="http://schemas.openxmlformats.org/officeDocument/2006/relationships/image" Target="../media/image6.png" Id="Rc292ef25f4e241b3"/><Relationship Type="http://schemas.openxmlformats.org/officeDocument/2006/relationships/notesSlide" Target="../notesSlides/notesSlide54.xml" Id="Ra5506dd3f8f74ba3"/></Relationships>
</file>

<file path=ppt/slides/_rels/slide55.xml.rels><?xml version='1.0' encoding='UTF-8' standalone='yes'?>
<Relationships xmlns="http://schemas.openxmlformats.org/package/2006/relationships"><Relationship Type="http://schemas.openxmlformats.org/officeDocument/2006/relationships/slideLayout" Target="../slideLayouts/slideLayout1.xml" Id="R404bee37cec14ae4"/><Relationship Type="http://schemas.openxmlformats.org/officeDocument/2006/relationships/image" Target="../media/image5.png" Id="R81e38ddee78546b1"/><Relationship Type="http://schemas.openxmlformats.org/officeDocument/2006/relationships/image" Target="../media/image6.png" Id="R54e1c17613554d69"/><Relationship Type="http://schemas.openxmlformats.org/officeDocument/2006/relationships/image" Target="../media/image40.png" Id="R8e13159676504817"/><Relationship Type="http://schemas.openxmlformats.org/officeDocument/2006/relationships/image" Target="../media/image27.svg" Id="R64647916061148c7"/><Relationship Type="http://schemas.openxmlformats.org/officeDocument/2006/relationships/notesSlide" Target="../notesSlides/notesSlide55.xml" Id="R05a171a516344c1e"/></Relationships>
</file>

<file path=ppt/slides/_rels/slide56.xml.rels><?xml version='1.0' encoding='UTF-8' standalone='yes'?>
<Relationships xmlns="http://schemas.openxmlformats.org/package/2006/relationships"><Relationship Type="http://schemas.openxmlformats.org/officeDocument/2006/relationships/slideLayout" Target="../slideLayouts/slideLayout1.xml" Id="Rb53f0f4355d34994"/><Relationship Type="http://schemas.openxmlformats.org/officeDocument/2006/relationships/image" Target="../media/image5.png" Id="Ra733443d98be4efd"/><Relationship Type="http://schemas.openxmlformats.org/officeDocument/2006/relationships/image" Target="../media/image6.png" Id="R96ba06aa92a84d92"/><Relationship Type="http://schemas.openxmlformats.org/officeDocument/2006/relationships/image" Target="../media/image41.png" Id="R19bb86aea7224716"/><Relationship Type="http://schemas.openxmlformats.org/officeDocument/2006/relationships/image" Target="../media/image28.svg" Id="R3a66e2d336ae4bd3"/><Relationship Type="http://schemas.openxmlformats.org/officeDocument/2006/relationships/notesSlide" Target="../notesSlides/notesSlide56.xml" Id="R71dbf4352d3d4ba3"/></Relationships>
</file>

<file path=ppt/slides/_rels/slide57.xml.rels><?xml version='1.0' encoding='UTF-8' standalone='yes'?>
<Relationships xmlns="http://schemas.openxmlformats.org/package/2006/relationships"><Relationship Type="http://schemas.openxmlformats.org/officeDocument/2006/relationships/slideLayout" Target="../slideLayouts/slideLayout1.xml" Id="R14251c95c6eb4a22"/><Relationship Type="http://schemas.openxmlformats.org/officeDocument/2006/relationships/image" Target="../media/image5.png" Id="R4c672d1fc3b940bd"/><Relationship Type="http://schemas.openxmlformats.org/officeDocument/2006/relationships/image" Target="../media/image6.png" Id="R463204437acf4abd"/><Relationship Type="http://schemas.openxmlformats.org/officeDocument/2006/relationships/image" Target="../media/image42.png" Id="Rd524f601eed549a3"/><Relationship Type="http://schemas.openxmlformats.org/officeDocument/2006/relationships/image" Target="../media/image29.svg" Id="R50a983c28fa74319"/><Relationship Type="http://schemas.openxmlformats.org/officeDocument/2006/relationships/notesSlide" Target="../notesSlides/notesSlide57.xml" Id="Rc9113ab978c849dc"/></Relationships>
</file>

<file path=ppt/slides/_rels/slide58.xml.rels><?xml version='1.0' encoding='UTF-8' standalone='yes'?>
<Relationships xmlns="http://schemas.openxmlformats.org/package/2006/relationships"><Relationship Type="http://schemas.openxmlformats.org/officeDocument/2006/relationships/slideLayout" Target="../slideLayouts/slideLayout1.xml" Id="R26cd95c58af647cd"/><Relationship Type="http://schemas.openxmlformats.org/officeDocument/2006/relationships/image" Target="../media/image5.png" Id="Rcf3bc706b95443a8"/><Relationship Type="http://schemas.openxmlformats.org/officeDocument/2006/relationships/image" Target="../media/image6.png" Id="Ra65798efb8aa47f0"/><Relationship Type="http://schemas.openxmlformats.org/officeDocument/2006/relationships/notesSlide" Target="../notesSlides/notesSlide58.xml" Id="R406dcd1a58d748c2"/></Relationships>
</file>

<file path=ppt/slides/_rels/slide59.xml.rels><?xml version='1.0' encoding='UTF-8' standalone='yes'?>
<Relationships xmlns="http://schemas.openxmlformats.org/package/2006/relationships"><Relationship Type="http://schemas.openxmlformats.org/officeDocument/2006/relationships/slideLayout" Target="../slideLayouts/slideLayout1.xml" Id="Re83ff56d4f704fb2"/><Relationship Type="http://schemas.openxmlformats.org/officeDocument/2006/relationships/image" Target="../media/image5.png" Id="Rcb3413d5b33a443d"/><Relationship Type="http://schemas.openxmlformats.org/officeDocument/2006/relationships/image" Target="../media/image6.png" Id="R9abe36d0954d42dd"/><Relationship Type="http://schemas.openxmlformats.org/officeDocument/2006/relationships/image" Target="../media/image43.png" Id="Rbc06976e71cc4153"/><Relationship Type="http://schemas.openxmlformats.org/officeDocument/2006/relationships/image" Target="../media/image30.svg" Id="Rd384442932cf450a"/><Relationship Type="http://schemas.openxmlformats.org/officeDocument/2006/relationships/notesSlide" Target="../notesSlides/notesSlide59.xml" Id="Rf66148ab4dc74fd5"/></Relationships>
</file>

<file path=ppt/slides/_rels/slide60.xml.rels><?xml version='1.0' encoding='UTF-8' standalone='yes'?>
<Relationships xmlns="http://schemas.openxmlformats.org/package/2006/relationships"><Relationship Type="http://schemas.openxmlformats.org/officeDocument/2006/relationships/slideLayout" Target="../slideLayouts/slideLayout1.xml" Id="R1b0e9e8ebaaa43f0"/><Relationship Type="http://schemas.openxmlformats.org/officeDocument/2006/relationships/image" Target="../media/image5.png" Id="R6c3e02bc0a9442d5"/><Relationship Type="http://schemas.openxmlformats.org/officeDocument/2006/relationships/image" Target="../media/image6.png" Id="Rf795ec01174f4619"/><Relationship Type="http://schemas.openxmlformats.org/officeDocument/2006/relationships/image" Target="../media/image44.png" Id="Rad5d94798a20434f"/><Relationship Type="http://schemas.openxmlformats.org/officeDocument/2006/relationships/image" Target="../media/image31.svg" Id="Ra8cb96bb936f4ff1"/><Relationship Type="http://schemas.openxmlformats.org/officeDocument/2006/relationships/notesSlide" Target="../notesSlides/notesSlide60.xml" Id="R4c24b60d56e54bc4"/></Relationships>
</file>

<file path=ppt/slides/_rels/slide61.xml.rels><?xml version='1.0' encoding='UTF-8' standalone='yes'?>
<Relationships xmlns="http://schemas.openxmlformats.org/package/2006/relationships"><Relationship Type="http://schemas.openxmlformats.org/officeDocument/2006/relationships/slideLayout" Target="../slideLayouts/slideLayout1.xml" Id="Rc3fbf856c700467c"/><Relationship Type="http://schemas.openxmlformats.org/officeDocument/2006/relationships/image" Target="../media/image5.png" Id="R065376e13c9c442a"/><Relationship Type="http://schemas.openxmlformats.org/officeDocument/2006/relationships/image" Target="../media/image6.png" Id="Rc34fdffd37684ad3"/><Relationship Type="http://schemas.openxmlformats.org/officeDocument/2006/relationships/image" Target="../media/image45.png" Id="R622cdef36f7e499f"/><Relationship Type="http://schemas.openxmlformats.org/officeDocument/2006/relationships/image" Target="../media/image32.svg" Id="Rd81dddced6554b56"/><Relationship Type="http://schemas.openxmlformats.org/officeDocument/2006/relationships/notesSlide" Target="../notesSlides/notesSlide61.xml" Id="Ree0ce02e4ce348c2"/></Relationships>
</file>

<file path=ppt/slides/_rels/slide62.xml.rels><?xml version='1.0' encoding='UTF-8' standalone='yes'?>
<Relationships xmlns="http://schemas.openxmlformats.org/package/2006/relationships"><Relationship Type="http://schemas.openxmlformats.org/officeDocument/2006/relationships/slideLayout" Target="../slideLayouts/slideLayout1.xml" Id="R95de5073ca5f49f7"/><Relationship Type="http://schemas.openxmlformats.org/officeDocument/2006/relationships/image" Target="../media/image5.png" Id="Ra19f5583562c47bd"/><Relationship Type="http://schemas.openxmlformats.org/officeDocument/2006/relationships/image" Target="../media/image6.png" Id="R02741374b1b84416"/><Relationship Type="http://schemas.openxmlformats.org/officeDocument/2006/relationships/image" Target="../media/image46.png" Id="R82571e52af784cf2"/><Relationship Type="http://schemas.openxmlformats.org/officeDocument/2006/relationships/image" Target="../media/image33.svg" Id="R6769075f817f4b19"/><Relationship Type="http://schemas.openxmlformats.org/officeDocument/2006/relationships/notesSlide" Target="../notesSlides/notesSlide62.xml" Id="R775c2a7c889f4931"/></Relationships>
</file>

<file path=ppt/slides/_rels/slide63.xml.rels><?xml version='1.0' encoding='UTF-8' standalone='yes'?>
<Relationships xmlns="http://schemas.openxmlformats.org/package/2006/relationships"><Relationship Type="http://schemas.openxmlformats.org/officeDocument/2006/relationships/slideLayout" Target="../slideLayouts/slideLayout1.xml" Id="R97a577b02b6b4f98"/><Relationship Type="http://schemas.openxmlformats.org/officeDocument/2006/relationships/image" Target="../media/image25.png" Id="Rafbecefe26e3479e"/><Relationship Type="http://schemas.openxmlformats.org/officeDocument/2006/relationships/image" Target="../media/image26.png" Id="R9cccbfb12d5942d9"/><Relationship Type="http://schemas.openxmlformats.org/officeDocument/2006/relationships/image" Target="../media/image27.png" Id="R3689315c3ef74738"/><Relationship Type="http://schemas.openxmlformats.org/officeDocument/2006/relationships/image" Target="../media/image28.png" Id="Rec4268781cc647c9"/><Relationship Type="http://schemas.openxmlformats.org/officeDocument/2006/relationships/image" Target="../media/image29.png" Id="R345713df8a6e4cc7"/><Relationship Type="http://schemas.openxmlformats.org/officeDocument/2006/relationships/image" Target="../media/image30.png" Id="Rb1f9ad4091524452"/><Relationship Type="http://schemas.openxmlformats.org/officeDocument/2006/relationships/image" Target="../media/image31.png" Id="R6cb4f464c9134047"/><Relationship Type="http://schemas.openxmlformats.org/officeDocument/2006/relationships/image" Target="../media/image.png" Id="Rdfdbebda08084d6c"/><Relationship Type="http://schemas.openxmlformats.org/officeDocument/2006/relationships/image" Target="../media/image2.png" Id="Rd70263be88124dfb"/><Relationship Type="http://schemas.openxmlformats.org/officeDocument/2006/relationships/notesSlide" Target="../notesSlides/notesSlide63.xml" Id="R7e3cc6c1a0b24ffb"/></Relationships>
</file>

<file path=ppt/slides/_rels/slide64.xml.rels><?xml version='1.0' encoding='UTF-8' standalone='yes'?>
<Relationships xmlns="http://schemas.openxmlformats.org/package/2006/relationships"><Relationship Type="http://schemas.openxmlformats.org/officeDocument/2006/relationships/slideLayout" Target="../slideLayouts/slideLayout1.xml" Id="Rdea2e3fdfdb54661"/><Relationship Type="http://schemas.openxmlformats.org/officeDocument/2006/relationships/image" Target="../media/image5.png" Id="Rc9385a5e39e44b5b"/><Relationship Type="http://schemas.openxmlformats.org/officeDocument/2006/relationships/image" Target="../media/image6.png" Id="R02660ca88ebf4019"/><Relationship Type="http://schemas.openxmlformats.org/officeDocument/2006/relationships/notesSlide" Target="../notesSlides/notesSlide64.xml" Id="R76d3abb35a03428b"/></Relationships>
</file>

<file path=ppt/slides/_rels/slide65.xml.rels><?xml version='1.0' encoding='UTF-8' standalone='yes'?>
<Relationships xmlns="http://schemas.openxmlformats.org/package/2006/relationships"><Relationship Type="http://schemas.openxmlformats.org/officeDocument/2006/relationships/slideLayout" Target="../slideLayouts/slideLayout1.xml" Id="R7cee34c7f84e4c01"/><Relationship Type="http://schemas.openxmlformats.org/officeDocument/2006/relationships/image" Target="../media/image5.png" Id="R074e3b9a1dca4904"/><Relationship Type="http://schemas.openxmlformats.org/officeDocument/2006/relationships/image" Target="../media/image6.png" Id="R14dc99c7a67a4f3b"/><Relationship Type="http://schemas.openxmlformats.org/officeDocument/2006/relationships/notesSlide" Target="../notesSlides/notesSlide65.xml" Id="Rc600b27db77340f8"/></Relationships>
</file>

<file path=ppt/slides/_rels/slide66.xml.rels><?xml version='1.0' encoding='UTF-8' standalone='yes'?>
<Relationships xmlns="http://schemas.openxmlformats.org/package/2006/relationships"><Relationship Type="http://schemas.openxmlformats.org/officeDocument/2006/relationships/slideLayout" Target="../slideLayouts/slideLayout1.xml" Id="R6d57dec3596f4df7"/><Relationship Type="http://schemas.openxmlformats.org/officeDocument/2006/relationships/image" Target="../media/image.png" Id="R189e3babdd7e4e61"/><Relationship Type="http://schemas.openxmlformats.org/officeDocument/2006/relationships/image" Target="../media/image2.png" Id="R5e82b6ab03004c5c"/><Relationship Type="http://schemas.openxmlformats.org/officeDocument/2006/relationships/notesSlide" Target="../notesSlides/notesSlide66.xml" Id="R2e4ebebe195d4ba7"/></Relationships>
</file>

<file path=ppt/slides/_rels/slide67.xml.rels><?xml version='1.0' encoding='UTF-8' standalone='yes'?>
<Relationships xmlns="http://schemas.openxmlformats.org/package/2006/relationships"><Relationship Type="http://schemas.openxmlformats.org/officeDocument/2006/relationships/slideLayout" Target="../slideLayouts/slideLayout1.xml" Id="R6cafc47b009944c5"/><Relationship Type="http://schemas.openxmlformats.org/officeDocument/2006/relationships/image" Target="../media/image5.png" Id="Re752090bb19a4822"/><Relationship Type="http://schemas.openxmlformats.org/officeDocument/2006/relationships/image" Target="../media/image6.png" Id="Rce100862dabf4a2e"/><Relationship Type="http://schemas.openxmlformats.org/officeDocument/2006/relationships/notesSlide" Target="../notesSlides/notesSlide67.xml" Id="Rbbf7be113d54415f"/></Relationships>
</file>

<file path=ppt/slides/_rels/slide68.xml.rels><?xml version='1.0' encoding='UTF-8' standalone='yes'?>
<Relationships xmlns="http://schemas.openxmlformats.org/package/2006/relationships"><Relationship Type="http://schemas.openxmlformats.org/officeDocument/2006/relationships/slideLayout" Target="../slideLayouts/slideLayout1.xml" Id="R4c40bd8430014e77"/><Relationship Type="http://schemas.openxmlformats.org/officeDocument/2006/relationships/image" Target="../media/image5.png" Id="R29258d4e7ccf4714"/><Relationship Type="http://schemas.openxmlformats.org/officeDocument/2006/relationships/image" Target="../media/image6.png" Id="Rab0aabd452fc44ec"/><Relationship Type="http://schemas.openxmlformats.org/officeDocument/2006/relationships/notesSlide" Target="../notesSlides/notesSlide68.xml" Id="R9636fc1f29f0463b"/></Relationships>
</file>

<file path=ppt/slides/_rels/slide69.xml.rels><?xml version='1.0' encoding='UTF-8' standalone='yes'?>
<Relationships xmlns="http://schemas.openxmlformats.org/package/2006/relationships"><Relationship Type="http://schemas.openxmlformats.org/officeDocument/2006/relationships/slideLayout" Target="../slideLayouts/slideLayout1.xml" Id="R056c65bcb6a14c67"/><Relationship Type="http://schemas.openxmlformats.org/officeDocument/2006/relationships/image" Target="../media/image5.png" Id="R18f37af993c54f3c"/><Relationship Type="http://schemas.openxmlformats.org/officeDocument/2006/relationships/image" Target="../media/image6.png" Id="Rc7fd0b246a6f4996"/><Relationship Type="http://schemas.openxmlformats.org/officeDocument/2006/relationships/image" Target="../media/image47.png" Id="R42a57b4b2e084ecb"/><Relationship Type="http://schemas.openxmlformats.org/officeDocument/2006/relationships/image" Target="../media/image34.svg" Id="Rf06c2fe517874829"/><Relationship Type="http://schemas.openxmlformats.org/officeDocument/2006/relationships/notesSlide" Target="../notesSlides/notesSlide69.xml" Id="Rff803fcb0fd44157"/></Relationships>
</file>

<file path=ppt/slides/_rels/slide70.xml.rels><?xml version='1.0' encoding='UTF-8' standalone='yes'?>
<Relationships xmlns="http://schemas.openxmlformats.org/package/2006/relationships"><Relationship Type="http://schemas.openxmlformats.org/officeDocument/2006/relationships/slideLayout" Target="../slideLayouts/slideLayout1.xml" Id="Rcd36458bb5e145a4"/><Relationship Type="http://schemas.openxmlformats.org/officeDocument/2006/relationships/image" Target="../media/image5.png" Id="Rfdb75ac20a3342c9"/><Relationship Type="http://schemas.openxmlformats.org/officeDocument/2006/relationships/image" Target="../media/image6.png" Id="R57803e4b8ff74440"/><Relationship Type="http://schemas.openxmlformats.org/officeDocument/2006/relationships/image" Target="../media/image48.png" Id="R5682e3afa3df4d52"/><Relationship Type="http://schemas.openxmlformats.org/officeDocument/2006/relationships/image" Target="../media/image35.svg" Id="R95f62c50c0ff411e"/><Relationship Type="http://schemas.openxmlformats.org/officeDocument/2006/relationships/notesSlide" Target="../notesSlides/notesSlide70.xml" Id="Rf9f3916110b94a44"/></Relationships>
</file>

<file path=ppt/slides/_rels/slide71.xml.rels><?xml version='1.0' encoding='UTF-8' standalone='yes'?>
<Relationships xmlns="http://schemas.openxmlformats.org/package/2006/relationships"><Relationship Type="http://schemas.openxmlformats.org/officeDocument/2006/relationships/slideLayout" Target="../slideLayouts/slideLayout1.xml" Id="R5f9b8b6b30374e9b"/><Relationship Type="http://schemas.openxmlformats.org/officeDocument/2006/relationships/image" Target="../media/image5.png" Id="R47e7110931ad48ae"/><Relationship Type="http://schemas.openxmlformats.org/officeDocument/2006/relationships/image" Target="../media/image6.png" Id="R60c3b24de15c4ab6"/><Relationship Type="http://schemas.openxmlformats.org/officeDocument/2006/relationships/image" Target="../media/image49.png" Id="Re8a4b7bcacf44ba1"/><Relationship Type="http://schemas.openxmlformats.org/officeDocument/2006/relationships/image" Target="../media/image36.svg" Id="R2944d8340caa432b"/><Relationship Type="http://schemas.openxmlformats.org/officeDocument/2006/relationships/notesSlide" Target="../notesSlides/notesSlide71.xml" Id="R428f48fd2ca74ef3"/></Relationships>
</file>

<file path=ppt/slides/_rels/slide72.xml.rels><?xml version='1.0' encoding='UTF-8' standalone='yes'?>
<Relationships xmlns="http://schemas.openxmlformats.org/package/2006/relationships"><Relationship Type="http://schemas.openxmlformats.org/officeDocument/2006/relationships/slideLayout" Target="../slideLayouts/slideLayout1.xml" Id="R011394f1c293435b"/><Relationship Type="http://schemas.openxmlformats.org/officeDocument/2006/relationships/image" Target="../media/image5.png" Id="Rd71c5e7c7d784314"/><Relationship Type="http://schemas.openxmlformats.org/officeDocument/2006/relationships/image" Target="../media/image6.png" Id="R97cb4dc9d1f74191"/><Relationship Type="http://schemas.openxmlformats.org/officeDocument/2006/relationships/image" Target="../media/image50.png" Id="R7776d70162ff4590"/><Relationship Type="http://schemas.openxmlformats.org/officeDocument/2006/relationships/image" Target="../media/image37.svg" Id="Rfb0f8e2a1cc0462c"/><Relationship Type="http://schemas.openxmlformats.org/officeDocument/2006/relationships/notesSlide" Target="../notesSlides/notesSlide72.xml" Id="Rbc27f2282796475e"/></Relationships>
</file>

<file path=ppt/slides/_rels/slide73.xml.rels><?xml version='1.0' encoding='UTF-8' standalone='yes'?>
<Relationships xmlns="http://schemas.openxmlformats.org/package/2006/relationships"><Relationship Type="http://schemas.openxmlformats.org/officeDocument/2006/relationships/slideLayout" Target="../slideLayouts/slideLayout1.xml" Id="R95b42fe9dc8f40d7"/><Relationship Type="http://schemas.openxmlformats.org/officeDocument/2006/relationships/image" Target="../media/image5.png" Id="R36bf20221388405b"/><Relationship Type="http://schemas.openxmlformats.org/officeDocument/2006/relationships/image" Target="../media/image6.png" Id="R14e2d3390262423f"/><Relationship Type="http://schemas.openxmlformats.org/officeDocument/2006/relationships/notesSlide" Target="../notesSlides/notesSlide73.xml" Id="R24818c867e4e489b"/></Relationships>
</file>

<file path=ppt/slides/_rels/slide74.xml.rels><?xml version='1.0' encoding='UTF-8' standalone='yes'?>
<Relationships xmlns="http://schemas.openxmlformats.org/package/2006/relationships"><Relationship Type="http://schemas.openxmlformats.org/officeDocument/2006/relationships/slideLayout" Target="../slideLayouts/slideLayout1.xml" Id="R9fc303fef84c499b"/><Relationship Type="http://schemas.openxmlformats.org/officeDocument/2006/relationships/image" Target="../media/image5.png" Id="Rf2455d7fce1b49f0"/><Relationship Type="http://schemas.openxmlformats.org/officeDocument/2006/relationships/image" Target="../media/image6.png" Id="Rd5fc144ec5f34968"/><Relationship Type="http://schemas.openxmlformats.org/officeDocument/2006/relationships/notesSlide" Target="../notesSlides/notesSlide74.xml" Id="Rb103ef7f4b724e22"/></Relationships>
</file>

<file path=ppt/slides/_rels/slide75.xml.rels><?xml version='1.0' encoding='UTF-8' standalone='yes'?>
<Relationships xmlns="http://schemas.openxmlformats.org/package/2006/relationships"><Relationship Type="http://schemas.openxmlformats.org/officeDocument/2006/relationships/slideLayout" Target="../slideLayouts/slideLayout1.xml" Id="Rc3d1ba24caa7474d"/><Relationship Type="http://schemas.openxmlformats.org/officeDocument/2006/relationships/image" Target="../media/image5.png" Id="R5218865f75124858"/><Relationship Type="http://schemas.openxmlformats.org/officeDocument/2006/relationships/image" Target="../media/image6.png" Id="R51c3a3c5230d4b16"/><Relationship Type="http://schemas.openxmlformats.org/officeDocument/2006/relationships/image" Target="../media/image51.png" Id="R7a87596670bb47ec"/><Relationship Type="http://schemas.openxmlformats.org/officeDocument/2006/relationships/image" Target="../media/image38.svg" Id="R9d629951166742d0"/><Relationship Type="http://schemas.openxmlformats.org/officeDocument/2006/relationships/notesSlide" Target="../notesSlides/notesSlide75.xml" Id="R0e106e0d7a1043d3"/></Relationships>
</file>

<file path=ppt/slides/_rels/slide76.xml.rels><?xml version='1.0' encoding='UTF-8' standalone='yes'?>
<Relationships xmlns="http://schemas.openxmlformats.org/package/2006/relationships"><Relationship Type="http://schemas.openxmlformats.org/officeDocument/2006/relationships/slideLayout" Target="../slideLayouts/slideLayout1.xml" Id="Re2c019e6279e4e93"/><Relationship Type="http://schemas.openxmlformats.org/officeDocument/2006/relationships/image" Target="../media/image5.png" Id="Rfe77a7a0b8a44e75"/><Relationship Type="http://schemas.openxmlformats.org/officeDocument/2006/relationships/image" Target="../media/image6.png" Id="R2560abc0d84f4e4c"/><Relationship Type="http://schemas.openxmlformats.org/officeDocument/2006/relationships/image" Target="../media/image52.png" Id="R76618f0fc1284b8d"/><Relationship Type="http://schemas.openxmlformats.org/officeDocument/2006/relationships/image" Target="../media/image39.svg" Id="R98794b2ea29541e1"/><Relationship Type="http://schemas.openxmlformats.org/officeDocument/2006/relationships/notesSlide" Target="../notesSlides/notesSlide76.xml" Id="R2f8db75af153475c"/></Relationships>
</file>

<file path=ppt/slides/_rels/slide77.xml.rels><?xml version='1.0' encoding='UTF-8' standalone='yes'?>
<Relationships xmlns="http://schemas.openxmlformats.org/package/2006/relationships"><Relationship Type="http://schemas.openxmlformats.org/officeDocument/2006/relationships/slideLayout" Target="../slideLayouts/slideLayout1.xml" Id="R7c3e190bcccf4ba6"/><Relationship Type="http://schemas.openxmlformats.org/officeDocument/2006/relationships/image" Target="../media/image5.png" Id="R4de3dbb4838543cd"/><Relationship Type="http://schemas.openxmlformats.org/officeDocument/2006/relationships/image" Target="../media/image6.png" Id="Rc78112bb241d4659"/><Relationship Type="http://schemas.openxmlformats.org/officeDocument/2006/relationships/notesSlide" Target="../notesSlides/notesSlide77.xml" Id="Rfcd1006d84ad45a2"/></Relationships>
</file>

<file path=ppt/slides/_rels/slide78.xml.rels><?xml version='1.0' encoding='UTF-8' standalone='yes'?>
<Relationships xmlns="http://schemas.openxmlformats.org/package/2006/relationships"><Relationship Type="http://schemas.openxmlformats.org/officeDocument/2006/relationships/slideLayout" Target="../slideLayouts/slideLayout1.xml" Id="R9652066855804fcd"/><Relationship Type="http://schemas.openxmlformats.org/officeDocument/2006/relationships/image" Target="../media/image5.png" Id="R880958439aad4cdf"/><Relationship Type="http://schemas.openxmlformats.org/officeDocument/2006/relationships/image" Target="../media/image6.png" Id="Rab3bc3c8ed0e41ca"/><Relationship Type="http://schemas.openxmlformats.org/officeDocument/2006/relationships/notesSlide" Target="../notesSlides/notesSlide78.xml" Id="R7b1581368c574a8b"/></Relationships>
</file>

<file path=ppt/slides/_rels/slide79.xml.rels><?xml version='1.0' encoding='UTF-8' standalone='yes'?>
<Relationships xmlns="http://schemas.openxmlformats.org/package/2006/relationships"><Relationship Type="http://schemas.openxmlformats.org/officeDocument/2006/relationships/slideLayout" Target="../slideLayouts/slideLayout1.xml" Id="Rbcc6566a0e7e45ec"/><Relationship Type="http://schemas.openxmlformats.org/officeDocument/2006/relationships/image" Target="../media/image5.png" Id="R3e18e2f2d5e34796"/><Relationship Type="http://schemas.openxmlformats.org/officeDocument/2006/relationships/image" Target="../media/image6.png" Id="R8d082849a36d4304"/><Relationship Type="http://schemas.openxmlformats.org/officeDocument/2006/relationships/notesSlide" Target="../notesSlides/notesSlide79.xml" Id="Rcf20f46dca214fc3"/></Relationships>
</file>

<file path=ppt/slides/_rels/slide80.xml.rels><?xml version='1.0' encoding='UTF-8' standalone='yes'?>
<Relationships xmlns="http://schemas.openxmlformats.org/package/2006/relationships"><Relationship Type="http://schemas.openxmlformats.org/officeDocument/2006/relationships/slideLayout" Target="../slideLayouts/slideLayout1.xml" Id="R2d2c0b46af394cb9"/><Relationship Type="http://schemas.openxmlformats.org/officeDocument/2006/relationships/image" Target="../media/image5.png" Id="R3b480b3f8c804f07"/><Relationship Type="http://schemas.openxmlformats.org/officeDocument/2006/relationships/image" Target="../media/image6.png" Id="R159707f104f94eb1"/><Relationship Type="http://schemas.openxmlformats.org/officeDocument/2006/relationships/notesSlide" Target="../notesSlides/notesSlide80.xml" Id="R036ab0eb995c4c26"/></Relationships>
</file>

<file path=ppt/slides/_rels/slide81.xml.rels><?xml version='1.0' encoding='UTF-8' standalone='yes'?>
<Relationships xmlns="http://schemas.openxmlformats.org/package/2006/relationships"><Relationship Type="http://schemas.openxmlformats.org/officeDocument/2006/relationships/slideLayout" Target="../slideLayouts/slideLayout1.xml" Id="R9e946cc2a7ef4ff1"/><Relationship Type="http://schemas.openxmlformats.org/officeDocument/2006/relationships/image" Target="../media/image5.png" Id="R799c1a2d834e43b5"/><Relationship Type="http://schemas.openxmlformats.org/officeDocument/2006/relationships/image" Target="../media/image6.png" Id="Rfe6f84894a744cf5"/><Relationship Type="http://schemas.openxmlformats.org/officeDocument/2006/relationships/notesSlide" Target="../notesSlides/notesSlide81.xml" Id="Rc554aa23ff744593"/></Relationships>
</file>

<file path=ppt/slides/_rels/slide82.xml.rels><?xml version='1.0' encoding='UTF-8' standalone='yes'?>
<Relationships xmlns="http://schemas.openxmlformats.org/package/2006/relationships"><Relationship Type="http://schemas.openxmlformats.org/officeDocument/2006/relationships/slideLayout" Target="../slideLayouts/slideLayout1.xml" Id="R7fa633fd16f542ba"/><Relationship Type="http://schemas.openxmlformats.org/officeDocument/2006/relationships/image" Target="../media/image5.png" Id="Rb03bdd7c6b0c4d85"/><Relationship Type="http://schemas.openxmlformats.org/officeDocument/2006/relationships/image" Target="../media/image6.png" Id="R702538da500a40e7"/><Relationship Type="http://schemas.openxmlformats.org/officeDocument/2006/relationships/notesSlide" Target="../notesSlides/notesSlide82.xml" Id="Ra37b7775045544ae"/></Relationships>
</file>

<file path=ppt/slides/_rels/slide83.xml.rels><?xml version='1.0' encoding='UTF-8' standalone='yes'?>
<Relationships xmlns="http://schemas.openxmlformats.org/package/2006/relationships"><Relationship Type="http://schemas.openxmlformats.org/officeDocument/2006/relationships/slideLayout" Target="../slideLayouts/slideLayout1.xml" Id="R6fcd7e257b4f4481"/><Relationship Type="http://schemas.openxmlformats.org/officeDocument/2006/relationships/image" Target="../media/image25.png" Id="R2ef83645ec304d85"/><Relationship Type="http://schemas.openxmlformats.org/officeDocument/2006/relationships/image" Target="../media/image26.png" Id="R57a194d68d044216"/><Relationship Type="http://schemas.openxmlformats.org/officeDocument/2006/relationships/image" Target="../media/image27.png" Id="Rbc55bc7aa5dd4a17"/><Relationship Type="http://schemas.openxmlformats.org/officeDocument/2006/relationships/image" Target="../media/image28.png" Id="Rf076dc8b04f44f7b"/><Relationship Type="http://schemas.openxmlformats.org/officeDocument/2006/relationships/image" Target="../media/image29.png" Id="R2e34e4a2c32e404b"/><Relationship Type="http://schemas.openxmlformats.org/officeDocument/2006/relationships/image" Target="../media/image30.png" Id="R837cb1e46e9f46c9"/><Relationship Type="http://schemas.openxmlformats.org/officeDocument/2006/relationships/image" Target="../media/image31.png" Id="R4073f85ca8ad43c4"/><Relationship Type="http://schemas.openxmlformats.org/officeDocument/2006/relationships/image" Target="../media/image.png" Id="Reaf06f3f960c4bb8"/><Relationship Type="http://schemas.openxmlformats.org/officeDocument/2006/relationships/image" Target="../media/image2.png" Id="R3cc8f30f091044a7"/><Relationship Type="http://schemas.openxmlformats.org/officeDocument/2006/relationships/notesSlide" Target="../notesSlides/notesSlide83.xml" Id="R04100e2a93954253"/></Relationships>
</file>

<file path=ppt/slides/_rels/slide84.xml.rels><?xml version='1.0' encoding='UTF-8' standalone='yes'?>
<Relationships xmlns="http://schemas.openxmlformats.org/package/2006/relationships"><Relationship Type="http://schemas.openxmlformats.org/officeDocument/2006/relationships/slideLayout" Target="../slideLayouts/slideLayout1.xml" Id="R5314a3830faa462b"/><Relationship Type="http://schemas.openxmlformats.org/officeDocument/2006/relationships/image" Target="../media/image5.png" Id="R9a102e35a5dc4e65"/><Relationship Type="http://schemas.openxmlformats.org/officeDocument/2006/relationships/image" Target="../media/image6.png" Id="R81bd28393c6843cd"/><Relationship Type="http://schemas.openxmlformats.org/officeDocument/2006/relationships/notesSlide" Target="../notesSlides/notesSlide84.xml" Id="Ra7b85cb6b61c443b"/></Relationships>
</file>

<file path=ppt/slides/_rels/slide85.xml.rels><?xml version='1.0' encoding='UTF-8' standalone='yes'?>
<Relationships xmlns="http://schemas.openxmlformats.org/package/2006/relationships"><Relationship Type="http://schemas.openxmlformats.org/officeDocument/2006/relationships/slideLayout" Target="../slideLayouts/slideLayout1.xml" Id="Rd925c9ccbac940e3"/><Relationship Type="http://schemas.openxmlformats.org/officeDocument/2006/relationships/image" Target="../media/image.png" Id="Rb4e9e67b57d54567"/><Relationship Type="http://schemas.openxmlformats.org/officeDocument/2006/relationships/image" Target="../media/image2.png" Id="Rf335e2453dad493d"/><Relationship Type="http://schemas.openxmlformats.org/officeDocument/2006/relationships/notesSlide" Target="../notesSlides/notesSlide85.xml" Id="R65121f98e2074472"/></Relationships>
</file>

<file path=ppt/slides/_rels/slide86.xml.rels><?xml version='1.0' encoding='UTF-8' standalone='yes'?>
<Relationships xmlns="http://schemas.openxmlformats.org/package/2006/relationships"><Relationship Type="http://schemas.openxmlformats.org/officeDocument/2006/relationships/slideLayout" Target="../slideLayouts/slideLayout1.xml" Id="R832d7de8d4584ae3"/><Relationship Type="http://schemas.openxmlformats.org/officeDocument/2006/relationships/image" Target="../media/image5.png" Id="R76f3c108ea274f80"/><Relationship Type="http://schemas.openxmlformats.org/officeDocument/2006/relationships/image" Target="../media/image6.png" Id="Re447415788584f1e"/><Relationship Type="http://schemas.openxmlformats.org/officeDocument/2006/relationships/notesSlide" Target="../notesSlides/notesSlide86.xml" Id="Rc4669a506b7a4071"/></Relationships>
</file>

<file path=ppt/slides/_rels/slide87.xml.rels><?xml version='1.0' encoding='UTF-8' standalone='yes'?>
<Relationships xmlns="http://schemas.openxmlformats.org/package/2006/relationships"><Relationship Type="http://schemas.openxmlformats.org/officeDocument/2006/relationships/slideLayout" Target="../slideLayouts/slideLayout1.xml" Id="R3c99c281d27a4665"/><Relationship Type="http://schemas.openxmlformats.org/officeDocument/2006/relationships/image" Target="../media/image5.png" Id="Rc03662e4a72944ff"/><Relationship Type="http://schemas.openxmlformats.org/officeDocument/2006/relationships/image" Target="../media/image6.png" Id="Rb5ceb5ee97f74b6f"/><Relationship Type="http://schemas.openxmlformats.org/officeDocument/2006/relationships/image" Target="../media/image53.png" Id="Re71a49e5cf98499d"/><Relationship Type="http://schemas.openxmlformats.org/officeDocument/2006/relationships/image" Target="../media/image40.svg" Id="R5b5cee7ac89c41bd"/><Relationship Type="http://schemas.openxmlformats.org/officeDocument/2006/relationships/notesSlide" Target="../notesSlides/notesSlide87.xml" Id="R2f55300326ad4449"/></Relationships>
</file>

<file path=ppt/slides/_rels/slide88.xml.rels><?xml version='1.0' encoding='UTF-8' standalone='yes'?>
<Relationships xmlns="http://schemas.openxmlformats.org/package/2006/relationships"><Relationship Type="http://schemas.openxmlformats.org/officeDocument/2006/relationships/slideLayout" Target="../slideLayouts/slideLayout1.xml" Id="R1261d8a1c10d4105"/><Relationship Type="http://schemas.openxmlformats.org/officeDocument/2006/relationships/image" Target="../media/image5.png" Id="R168a39b655b0418a"/><Relationship Type="http://schemas.openxmlformats.org/officeDocument/2006/relationships/image" Target="../media/image6.png" Id="Ra84e899789164f8e"/><Relationship Type="http://schemas.openxmlformats.org/officeDocument/2006/relationships/image" Target="../media/image54.png" Id="R82cdd0b42cf54b8b"/><Relationship Type="http://schemas.openxmlformats.org/officeDocument/2006/relationships/image" Target="../media/image41.svg" Id="Rfbf27cf20d064fa0"/><Relationship Type="http://schemas.openxmlformats.org/officeDocument/2006/relationships/notesSlide" Target="../notesSlides/notesSlide88.xml" Id="R56de1e19065b49e6"/></Relationships>
</file>

<file path=ppt/slides/_rels/slide89.xml.rels><?xml version='1.0' encoding='UTF-8' standalone='yes'?>
<Relationships xmlns="http://schemas.openxmlformats.org/package/2006/relationships"><Relationship Type="http://schemas.openxmlformats.org/officeDocument/2006/relationships/slideLayout" Target="../slideLayouts/slideLayout1.xml" Id="R8e20625980b145bc"/><Relationship Type="http://schemas.openxmlformats.org/officeDocument/2006/relationships/image" Target="../media/image5.png" Id="R8f65f898fc1c4b03"/><Relationship Type="http://schemas.openxmlformats.org/officeDocument/2006/relationships/image" Target="../media/image6.png" Id="R64b820dc798c4b2e"/><Relationship Type="http://schemas.openxmlformats.org/officeDocument/2006/relationships/image" Target="../media/image55.png" Id="Ra7eb773214dc4223"/><Relationship Type="http://schemas.openxmlformats.org/officeDocument/2006/relationships/image" Target="../media/image42.svg" Id="Rcdce28b5e9514708"/><Relationship Type="http://schemas.openxmlformats.org/officeDocument/2006/relationships/notesSlide" Target="../notesSlides/notesSlide89.xml" Id="R51ffcaef80874ac9"/></Relationships>
</file>

<file path=ppt/slides/_rels/slide90.xml.rels><?xml version='1.0' encoding='UTF-8' standalone='yes'?>
<Relationships xmlns="http://schemas.openxmlformats.org/package/2006/relationships"><Relationship Type="http://schemas.openxmlformats.org/officeDocument/2006/relationships/slideLayout" Target="../slideLayouts/slideLayout1.xml" Id="Rcde6ad7811e64cd1"/><Relationship Type="http://schemas.openxmlformats.org/officeDocument/2006/relationships/image" Target="../media/image5.png" Id="R9029c6dd7aae42d8"/><Relationship Type="http://schemas.openxmlformats.org/officeDocument/2006/relationships/image" Target="../media/image6.png" Id="Rdf5e7423008a4552"/><Relationship Type="http://schemas.openxmlformats.org/officeDocument/2006/relationships/image" Target="../media/image56.png" Id="Rd0f6795b211141c0"/><Relationship Type="http://schemas.openxmlformats.org/officeDocument/2006/relationships/image" Target="../media/image43.svg" Id="Rf222cd96e87540c5"/><Relationship Type="http://schemas.openxmlformats.org/officeDocument/2006/relationships/notesSlide" Target="../notesSlides/notesSlide90.xml" Id="R17a2470a3a7c4e90"/></Relationships>
</file>

<file path=ppt/slides/_rels/slide91.xml.rels><?xml version='1.0' encoding='UTF-8' standalone='yes'?>
<Relationships xmlns="http://schemas.openxmlformats.org/package/2006/relationships"><Relationship Type="http://schemas.openxmlformats.org/officeDocument/2006/relationships/slideLayout" Target="../slideLayouts/slideLayout1.xml" Id="R7de5620808ad4f54"/><Relationship Type="http://schemas.openxmlformats.org/officeDocument/2006/relationships/image" Target="../media/image5.png" Id="Rf3622d9b5e7141e2"/><Relationship Type="http://schemas.openxmlformats.org/officeDocument/2006/relationships/image" Target="../media/image6.png" Id="R117f01f41833447a"/><Relationship Type="http://schemas.openxmlformats.org/officeDocument/2006/relationships/image" Target="../media/image57.png" Id="Rf4fabe7eacda4649"/><Relationship Type="http://schemas.openxmlformats.org/officeDocument/2006/relationships/image" Target="../media/image44.svg" Id="R48ab391e9b1a4978"/><Relationship Type="http://schemas.openxmlformats.org/officeDocument/2006/relationships/notesSlide" Target="../notesSlides/notesSlide91.xml" Id="R964312cb04144705"/></Relationships>
</file>

<file path=ppt/slides/_rels/slide92.xml.rels><?xml version='1.0' encoding='UTF-8' standalone='yes'?>
<Relationships xmlns="http://schemas.openxmlformats.org/package/2006/relationships"><Relationship Type="http://schemas.openxmlformats.org/officeDocument/2006/relationships/slideLayout" Target="../slideLayouts/slideLayout1.xml" Id="Rc8a9f5a8a7714a40"/><Relationship Type="http://schemas.openxmlformats.org/officeDocument/2006/relationships/image" Target="../media/image5.png" Id="R84c0166761114462"/><Relationship Type="http://schemas.openxmlformats.org/officeDocument/2006/relationships/image" Target="../media/image6.png" Id="Ra3a8101b6f134768"/><Relationship Type="http://schemas.openxmlformats.org/officeDocument/2006/relationships/image" Target="../media/image58.png" Id="Rb55a2bd6aafd42af"/><Relationship Type="http://schemas.openxmlformats.org/officeDocument/2006/relationships/image" Target="../media/image45.svg" Id="Rf6534bfffbb14ee5"/><Relationship Type="http://schemas.openxmlformats.org/officeDocument/2006/relationships/notesSlide" Target="../notesSlides/notesSlide92.xml" Id="R6bf9f305017d44fe"/></Relationships>
</file>

<file path=ppt/slides/_rels/slide93.xml.rels><?xml version='1.0' encoding='UTF-8' standalone='yes'?>
<Relationships xmlns="http://schemas.openxmlformats.org/package/2006/relationships"><Relationship Type="http://schemas.openxmlformats.org/officeDocument/2006/relationships/slideLayout" Target="../slideLayouts/slideLayout1.xml" Id="R911a8b10e46c43d4"/><Relationship Type="http://schemas.openxmlformats.org/officeDocument/2006/relationships/image" Target="../media/image5.png" Id="R97821a6dd4804c10"/><Relationship Type="http://schemas.openxmlformats.org/officeDocument/2006/relationships/image" Target="../media/image6.png" Id="Ree32dc40e01847c7"/><Relationship Type="http://schemas.openxmlformats.org/officeDocument/2006/relationships/image" Target="../media/image59.png" Id="R85feb38825fd489d"/><Relationship Type="http://schemas.openxmlformats.org/officeDocument/2006/relationships/image" Target="../media/image46.svg" Id="R2f109654cb03474a"/><Relationship Type="http://schemas.openxmlformats.org/officeDocument/2006/relationships/notesSlide" Target="../notesSlides/notesSlide93.xml" Id="R525938147a6c4717"/></Relationships>
</file>

<file path=ppt/slides/_rels/slide94.xml.rels><?xml version='1.0' encoding='UTF-8' standalone='yes'?>
<Relationships xmlns="http://schemas.openxmlformats.org/package/2006/relationships"><Relationship Type="http://schemas.openxmlformats.org/officeDocument/2006/relationships/slideLayout" Target="../slideLayouts/slideLayout1.xml" Id="R05cfb8dc35ef4ffe"/><Relationship Type="http://schemas.openxmlformats.org/officeDocument/2006/relationships/image" Target="../media/image5.png" Id="R536ca7ac706744df"/><Relationship Type="http://schemas.openxmlformats.org/officeDocument/2006/relationships/image" Target="../media/image6.png" Id="R23a388e93668479a"/><Relationship Type="http://schemas.openxmlformats.org/officeDocument/2006/relationships/image" Target="../media/image60.png" Id="R83c55748483c442d"/><Relationship Type="http://schemas.openxmlformats.org/officeDocument/2006/relationships/image" Target="../media/image47.svg" Id="R11973307d240465b"/><Relationship Type="http://schemas.openxmlformats.org/officeDocument/2006/relationships/notesSlide" Target="../notesSlides/notesSlide94.xml" Id="R7d87532e52314f5a"/></Relationships>
</file>

<file path=ppt/slides/_rels/slide95.xml.rels><?xml version='1.0' encoding='UTF-8' standalone='yes'?>
<Relationships xmlns="http://schemas.openxmlformats.org/package/2006/relationships"><Relationship Type="http://schemas.openxmlformats.org/officeDocument/2006/relationships/slideLayout" Target="../slideLayouts/slideLayout1.xml" Id="R23f02b2d88f2484d"/><Relationship Type="http://schemas.openxmlformats.org/officeDocument/2006/relationships/image" Target="../media/image5.png" Id="Rae4eccf07b67465c"/><Relationship Type="http://schemas.openxmlformats.org/officeDocument/2006/relationships/image" Target="../media/image6.png" Id="R6624d6e8aa344ab0"/><Relationship Type="http://schemas.openxmlformats.org/officeDocument/2006/relationships/image" Target="../media/image61.png" Id="R10041698c5614c96"/><Relationship Type="http://schemas.openxmlformats.org/officeDocument/2006/relationships/image" Target="../media/image48.svg" Id="R6534993e7479440c"/><Relationship Type="http://schemas.openxmlformats.org/officeDocument/2006/relationships/notesSlide" Target="../notesSlides/notesSlide95.xml" Id="R8a37c8e7d4894d4e"/></Relationships>
</file>

<file path=ppt/slides/_rels/slide96.xml.rels><?xml version='1.0' encoding='UTF-8' standalone='yes'?>
<Relationships xmlns="http://schemas.openxmlformats.org/package/2006/relationships"><Relationship Type="http://schemas.openxmlformats.org/officeDocument/2006/relationships/slideLayout" Target="../slideLayouts/slideLayout1.xml" Id="Rfe200786998841b2"/><Relationship Type="http://schemas.openxmlformats.org/officeDocument/2006/relationships/image" Target="../media/image5.png" Id="Rf58f4622a59946bc"/><Relationship Type="http://schemas.openxmlformats.org/officeDocument/2006/relationships/image" Target="../media/image6.png" Id="R31c238c6fa2b455e"/><Relationship Type="http://schemas.openxmlformats.org/officeDocument/2006/relationships/image" Target="../media/image62.png" Id="R496fd328c236410f"/><Relationship Type="http://schemas.openxmlformats.org/officeDocument/2006/relationships/image" Target="../media/image49.svg" Id="R5dc52a5ddfd54e4b"/><Relationship Type="http://schemas.openxmlformats.org/officeDocument/2006/relationships/notesSlide" Target="../notesSlides/notesSlide96.xml" Id="R2e384d407917432d"/></Relationships>
</file>

<file path=ppt/slides/_rels/slide97.xml.rels><?xml version='1.0' encoding='UTF-8' standalone='yes'?>
<Relationships xmlns="http://schemas.openxmlformats.org/package/2006/relationships"><Relationship Type="http://schemas.openxmlformats.org/officeDocument/2006/relationships/slideLayout" Target="../slideLayouts/slideLayout1.xml" Id="Rf488b6c9b09c4a2f"/><Relationship Type="http://schemas.openxmlformats.org/officeDocument/2006/relationships/image" Target="../media/image5.png" Id="Rdd5a6f8681264428"/><Relationship Type="http://schemas.openxmlformats.org/officeDocument/2006/relationships/image" Target="../media/image6.png" Id="R04e9962ebb4643e7"/><Relationship Type="http://schemas.openxmlformats.org/officeDocument/2006/relationships/image" Target="../media/image63.png" Id="R987052244aa4461f"/><Relationship Type="http://schemas.openxmlformats.org/officeDocument/2006/relationships/image" Target="../media/image50.svg" Id="R8aa37e041aed4ed6"/><Relationship Type="http://schemas.openxmlformats.org/officeDocument/2006/relationships/notesSlide" Target="../notesSlides/notesSlide97.xml" Id="Rc023b4bf22b4493b"/></Relationships>
</file>

<file path=ppt/slides/_rels/slide98.xml.rels><?xml version='1.0' encoding='UTF-8' standalone='yes'?>
<Relationships xmlns="http://schemas.openxmlformats.org/package/2006/relationships"><Relationship Type="http://schemas.openxmlformats.org/officeDocument/2006/relationships/slideLayout" Target="../slideLayouts/slideLayout1.xml" Id="Rf71b2b20402c4504"/><Relationship Type="http://schemas.openxmlformats.org/officeDocument/2006/relationships/image" Target="../media/image5.png" Id="Rac407f4e295b437a"/><Relationship Type="http://schemas.openxmlformats.org/officeDocument/2006/relationships/image" Target="../media/image6.png" Id="Rf4a5494fbe974154"/><Relationship Type="http://schemas.openxmlformats.org/officeDocument/2006/relationships/image" Target="../media/image64.png" Id="R2825a0456b6b4e93"/><Relationship Type="http://schemas.openxmlformats.org/officeDocument/2006/relationships/image" Target="../media/image51.svg" Id="R1f83f497aab64962"/><Relationship Type="http://schemas.openxmlformats.org/officeDocument/2006/relationships/notesSlide" Target="../notesSlides/notesSlide98.xml" Id="R593f6b143cb543a4"/></Relationships>
</file>

<file path=ppt/slides/_rels/slide99.xml.rels><?xml version='1.0' encoding='UTF-8' standalone='yes'?>
<Relationships xmlns="http://schemas.openxmlformats.org/package/2006/relationships"><Relationship Type="http://schemas.openxmlformats.org/officeDocument/2006/relationships/slideLayout" Target="../slideLayouts/slideLayout1.xml" Id="R89599e1aaf0a4b40"/><Relationship Type="http://schemas.openxmlformats.org/officeDocument/2006/relationships/image" Target="../media/image5.png" Id="Rfebbc1bf725d4b39"/><Relationship Type="http://schemas.openxmlformats.org/officeDocument/2006/relationships/image" Target="../media/image6.png" Id="Raeea72ef60d8451f"/><Relationship Type="http://schemas.openxmlformats.org/officeDocument/2006/relationships/image" Target="../media/image65.png" Id="R6ce8b78ca5c74aff"/><Relationship Type="http://schemas.openxmlformats.org/officeDocument/2006/relationships/image" Target="../media/image52.svg" Id="R4e3bd5be17f14b73"/><Relationship Type="http://schemas.openxmlformats.org/officeDocument/2006/relationships/notesSlide" Target="../notesSlides/notesSlide99.xml" Id="R499d0ebf5a584fa0"/></Relationships>
</file>

<file path=ppt/slides/_rels/slide100.xml.rels><?xml version='1.0' encoding='UTF-8' standalone='yes'?>
<Relationships xmlns="http://schemas.openxmlformats.org/package/2006/relationships"><Relationship Type="http://schemas.openxmlformats.org/officeDocument/2006/relationships/slideLayout" Target="../slideLayouts/slideLayout1.xml" Id="R48b67cb5ea324854"/><Relationship Type="http://schemas.openxmlformats.org/officeDocument/2006/relationships/image" Target="../media/image5.png" Id="Rcba0eed4adc04861"/><Relationship Type="http://schemas.openxmlformats.org/officeDocument/2006/relationships/image" Target="../media/image6.png" Id="Rdee3afc2cb664644"/><Relationship Type="http://schemas.openxmlformats.org/officeDocument/2006/relationships/notesSlide" Target="../notesSlides/notesSlide100.xml" Id="Rf48a99894ed44e7e"/></Relationships>
</file>

<file path=ppt/slides/_rels/slide101.xml.rels><?xml version='1.0' encoding='UTF-8' standalone='yes'?>
<Relationships xmlns="http://schemas.openxmlformats.org/package/2006/relationships"><Relationship Type="http://schemas.openxmlformats.org/officeDocument/2006/relationships/slideLayout" Target="../slideLayouts/slideLayout1.xml" Id="R5233a2b9f6d44bc9"/><Relationship Type="http://schemas.openxmlformats.org/officeDocument/2006/relationships/image" Target="../media/image5.png" Id="R5c1b54be65544162"/><Relationship Type="http://schemas.openxmlformats.org/officeDocument/2006/relationships/image" Target="../media/image6.png" Id="R97d33ea8c9cd42b3"/><Relationship Type="http://schemas.openxmlformats.org/officeDocument/2006/relationships/image" Target="../media/image66.png" Id="R1e5abe7b89fb4434"/><Relationship Type="http://schemas.openxmlformats.org/officeDocument/2006/relationships/image" Target="../media/image53.svg" Id="R81f66a5028d741c4"/><Relationship Type="http://schemas.openxmlformats.org/officeDocument/2006/relationships/notesSlide" Target="../notesSlides/notesSlide101.xml" Id="Rd385abd67d1f4722"/></Relationships>
</file>

<file path=ppt/slides/_rels/slide102.xml.rels><?xml version='1.0' encoding='UTF-8' standalone='yes'?>
<Relationships xmlns="http://schemas.openxmlformats.org/package/2006/relationships"><Relationship Type="http://schemas.openxmlformats.org/officeDocument/2006/relationships/slideLayout" Target="../slideLayouts/slideLayout1.xml" Id="R282de5d0b144404d"/><Relationship Type="http://schemas.openxmlformats.org/officeDocument/2006/relationships/image" Target="../media/image5.png" Id="Reca73ea03e1244fc"/><Relationship Type="http://schemas.openxmlformats.org/officeDocument/2006/relationships/image" Target="../media/image6.png" Id="R0399df82fd04409b"/><Relationship Type="http://schemas.openxmlformats.org/officeDocument/2006/relationships/image" Target="../media/image67.png" Id="R27bf56eb4ecf4067"/><Relationship Type="http://schemas.openxmlformats.org/officeDocument/2006/relationships/image" Target="../media/image54.svg" Id="Rd378971bb89c4ec6"/><Relationship Type="http://schemas.openxmlformats.org/officeDocument/2006/relationships/notesSlide" Target="../notesSlides/notesSlide102.xml" Id="Rbc82b5db84bf4258"/></Relationships>
</file>

<file path=ppt/slides/_rels/slide103.xml.rels><?xml version='1.0' encoding='UTF-8' standalone='yes'?>
<Relationships xmlns="http://schemas.openxmlformats.org/package/2006/relationships"><Relationship Type="http://schemas.openxmlformats.org/officeDocument/2006/relationships/slideLayout" Target="../slideLayouts/slideLayout1.xml" Id="Rde2a4e466b6449b2"/><Relationship Type="http://schemas.openxmlformats.org/officeDocument/2006/relationships/image" Target="../media/image5.png" Id="R0e41a5e2470e45fe"/><Relationship Type="http://schemas.openxmlformats.org/officeDocument/2006/relationships/image" Target="../media/image6.png" Id="R4fb762bd75414ecd"/><Relationship Type="http://schemas.openxmlformats.org/officeDocument/2006/relationships/image" Target="../media/image68.png" Id="Rb62578f0f47640d1"/><Relationship Type="http://schemas.openxmlformats.org/officeDocument/2006/relationships/image" Target="../media/image55.svg" Id="Rffff2d170a424578"/><Relationship Type="http://schemas.openxmlformats.org/officeDocument/2006/relationships/notesSlide" Target="../notesSlides/notesSlide103.xml" Id="R390403082a4d47bc"/></Relationships>
</file>

<file path=ppt/slides/_rels/slide104.xml.rels><?xml version='1.0' encoding='UTF-8' standalone='yes'?>
<Relationships xmlns="http://schemas.openxmlformats.org/package/2006/relationships"><Relationship Type="http://schemas.openxmlformats.org/officeDocument/2006/relationships/slideLayout" Target="../slideLayouts/slideLayout1.xml" Id="Rae9909e7eb014bd8"/><Relationship Type="http://schemas.openxmlformats.org/officeDocument/2006/relationships/image" Target="../media/image5.png" Id="R80ff3cfeebd3454b"/><Relationship Type="http://schemas.openxmlformats.org/officeDocument/2006/relationships/image" Target="../media/image6.png" Id="R6c86a3ddada3448c"/><Relationship Type="http://schemas.openxmlformats.org/officeDocument/2006/relationships/image" Target="../media/image69.png" Id="Re6dc8add36544eca"/><Relationship Type="http://schemas.openxmlformats.org/officeDocument/2006/relationships/image" Target="../media/image56.svg" Id="R70629824f82c4350"/><Relationship Type="http://schemas.openxmlformats.org/officeDocument/2006/relationships/notesSlide" Target="../notesSlides/notesSlide104.xml" Id="R256e8ddaa2544a6f"/></Relationships>
</file>

<file path=ppt/slides/_rels/slide105.xml.rels><?xml version='1.0' encoding='UTF-8' standalone='yes'?>
<Relationships xmlns="http://schemas.openxmlformats.org/package/2006/relationships"><Relationship Type="http://schemas.openxmlformats.org/officeDocument/2006/relationships/slideLayout" Target="../slideLayouts/slideLayout1.xml" Id="R4fd73db92d4b44d0"/><Relationship Type="http://schemas.openxmlformats.org/officeDocument/2006/relationships/image" Target="../media/image5.png" Id="R79d77131f7ce4e15"/><Relationship Type="http://schemas.openxmlformats.org/officeDocument/2006/relationships/image" Target="../media/image6.png" Id="R4e0593e3a81847e7"/><Relationship Type="http://schemas.openxmlformats.org/officeDocument/2006/relationships/image" Target="../media/image70.png" Id="R21e589bf88a64456"/><Relationship Type="http://schemas.openxmlformats.org/officeDocument/2006/relationships/image" Target="../media/image57.svg" Id="R8d786ae20f5e4357"/><Relationship Type="http://schemas.openxmlformats.org/officeDocument/2006/relationships/notesSlide" Target="../notesSlides/notesSlide105.xml" Id="R27efa0493b1a4d3e"/></Relationships>
</file>

<file path=ppt/slides/_rels/slide106.xml.rels><?xml version='1.0' encoding='UTF-8' standalone='yes'?>
<Relationships xmlns="http://schemas.openxmlformats.org/package/2006/relationships"><Relationship Type="http://schemas.openxmlformats.org/officeDocument/2006/relationships/slideLayout" Target="../slideLayouts/slideLayout1.xml" Id="R4dbafb529810426e"/><Relationship Type="http://schemas.openxmlformats.org/officeDocument/2006/relationships/image" Target="../media/image5.png" Id="Reaae97056846412b"/><Relationship Type="http://schemas.openxmlformats.org/officeDocument/2006/relationships/image" Target="../media/image6.png" Id="R3f1facba14304f63"/><Relationship Type="http://schemas.openxmlformats.org/officeDocument/2006/relationships/notesSlide" Target="../notesSlides/notesSlide106.xml" Id="Rffbcce25f22b4d74"/></Relationships>
</file>

<file path=ppt/slides/_rels/slide107.xml.rels><?xml version='1.0' encoding='UTF-8' standalone='yes'?>
<Relationships xmlns="http://schemas.openxmlformats.org/package/2006/relationships"><Relationship Type="http://schemas.openxmlformats.org/officeDocument/2006/relationships/slideLayout" Target="../slideLayouts/slideLayout1.xml" Id="R900ccdc467b34293"/><Relationship Type="http://schemas.openxmlformats.org/officeDocument/2006/relationships/image" Target="../media/image5.png" Id="Rc1deda76116e455c"/><Relationship Type="http://schemas.openxmlformats.org/officeDocument/2006/relationships/image" Target="../media/image6.png" Id="Rae7390fe300043ed"/><Relationship Type="http://schemas.openxmlformats.org/officeDocument/2006/relationships/image" Target="../media/image71.png" Id="R9970ce2a57834ea6"/><Relationship Type="http://schemas.openxmlformats.org/officeDocument/2006/relationships/image" Target="../media/image58.svg" Id="R81348039f8c240a1"/><Relationship Type="http://schemas.openxmlformats.org/officeDocument/2006/relationships/notesSlide" Target="../notesSlides/notesSlide107.xml" Id="R7149e739bf4c44ca"/></Relationships>
</file>

<file path=ppt/slides/_rels/slide108.xml.rels><?xml version='1.0' encoding='UTF-8' standalone='yes'?>
<Relationships xmlns="http://schemas.openxmlformats.org/package/2006/relationships"><Relationship Type="http://schemas.openxmlformats.org/officeDocument/2006/relationships/slideLayout" Target="../slideLayouts/slideLayout1.xml" Id="Rf5ad6a80bea24404"/><Relationship Type="http://schemas.openxmlformats.org/officeDocument/2006/relationships/image" Target="../media/image5.png" Id="R384271b0e3674e05"/><Relationship Type="http://schemas.openxmlformats.org/officeDocument/2006/relationships/image" Target="../media/image6.png" Id="R8c489e4f09bb470e"/><Relationship Type="http://schemas.openxmlformats.org/officeDocument/2006/relationships/notesSlide" Target="../notesSlides/notesSlide108.xml" Id="Rddfb4bd6eb724ecd"/></Relationships>
</file>

<file path=ppt/slides/_rels/slide109.xml.rels><?xml version='1.0' encoding='UTF-8' standalone='yes'?>
<Relationships xmlns="http://schemas.openxmlformats.org/package/2006/relationships"><Relationship Type="http://schemas.openxmlformats.org/officeDocument/2006/relationships/slideLayout" Target="../slideLayouts/slideLayout1.xml" Id="R1865966d76cf49c1"/><Relationship Type="http://schemas.openxmlformats.org/officeDocument/2006/relationships/image" Target="../media/image25.png" Id="Rbf3d4ce9ecb8464c"/><Relationship Type="http://schemas.openxmlformats.org/officeDocument/2006/relationships/image" Target="../media/image26.png" Id="Rf1e7b4134ca4431f"/><Relationship Type="http://schemas.openxmlformats.org/officeDocument/2006/relationships/image" Target="../media/image27.png" Id="Rf9b903bf9b9746bb"/><Relationship Type="http://schemas.openxmlformats.org/officeDocument/2006/relationships/image" Target="../media/image28.png" Id="Re02b6176bd994088"/><Relationship Type="http://schemas.openxmlformats.org/officeDocument/2006/relationships/image" Target="../media/image29.png" Id="R83bbaf126ab940e1"/><Relationship Type="http://schemas.openxmlformats.org/officeDocument/2006/relationships/image" Target="../media/image30.png" Id="R7ffe917537294c08"/><Relationship Type="http://schemas.openxmlformats.org/officeDocument/2006/relationships/image" Target="../media/image31.png" Id="R485ee83415624a6e"/><Relationship Type="http://schemas.openxmlformats.org/officeDocument/2006/relationships/image" Target="../media/image.png" Id="R9d86a6cec35d46ea"/><Relationship Type="http://schemas.openxmlformats.org/officeDocument/2006/relationships/image" Target="../media/image2.png" Id="R794c5d02c75f45e3"/><Relationship Type="http://schemas.openxmlformats.org/officeDocument/2006/relationships/notesSlide" Target="../notesSlides/notesSlide109.xml" Id="Ra0d8ab7d97714828"/></Relationships>
</file>

<file path=ppt/slides/_rels/slide110.xml.rels><?xml version='1.0' encoding='UTF-8' standalone='yes'?>
<Relationships xmlns="http://schemas.openxmlformats.org/package/2006/relationships"><Relationship Type="http://schemas.openxmlformats.org/officeDocument/2006/relationships/slideLayout" Target="../slideLayouts/slideLayout1.xml" Id="R304b676b96af4d3d"/><Relationship Type="http://schemas.openxmlformats.org/officeDocument/2006/relationships/image" Target="../media/image5.png" Id="Re980aba7102c42c3"/><Relationship Type="http://schemas.openxmlformats.org/officeDocument/2006/relationships/image" Target="../media/image6.png" Id="R8139acff0da14a8f"/><Relationship Type="http://schemas.openxmlformats.org/officeDocument/2006/relationships/notesSlide" Target="../notesSlides/notesSlide110.xml" Id="Rcca20a3d03eb46a3"/></Relationships>
</file>

<file path=ppt/slides/_rels/slide111.xml.rels><?xml version='1.0' encoding='UTF-8' standalone='yes'?>
<Relationships xmlns="http://schemas.openxmlformats.org/package/2006/relationships"><Relationship Type="http://schemas.openxmlformats.org/officeDocument/2006/relationships/slideLayout" Target="../slideLayouts/slideLayout1.xml" Id="R226760c3dc994f36"/><Relationship Type="http://schemas.openxmlformats.org/officeDocument/2006/relationships/image" Target="../media/image5.png" Id="Rf96e4821ba6d48df"/><Relationship Type="http://schemas.openxmlformats.org/officeDocument/2006/relationships/image" Target="../media/image6.png" Id="R099ba7f6f34f499e"/><Relationship Type="http://schemas.openxmlformats.org/officeDocument/2006/relationships/notesSlide" Target="../notesSlides/notesSlide111.xml" Id="R1ba9eae7b4c34c2c"/></Relationships>
</file>

<file path=ppt/slides/_rels/slide112.xml.rels><?xml version='1.0' encoding='UTF-8' standalone='yes'?>
<Relationships xmlns="http://schemas.openxmlformats.org/package/2006/relationships"><Relationship Type="http://schemas.openxmlformats.org/officeDocument/2006/relationships/slideLayout" Target="../slideLayouts/slideLayout1.xml" Id="R8dde4c651e4d4558"/><Relationship Type="http://schemas.openxmlformats.org/officeDocument/2006/relationships/image" Target="../media/image.png" Id="R867411dbcf2746b1"/><Relationship Type="http://schemas.openxmlformats.org/officeDocument/2006/relationships/image" Target="../media/image2.png" Id="R5ae5b905d443489a"/><Relationship Type="http://schemas.openxmlformats.org/officeDocument/2006/relationships/notesSlide" Target="../notesSlides/notesSlide112.xml" Id="Re5b8ff7a41494631"/></Relationships>
</file>

<file path=ppt/slides/_rels/slide113.xml.rels><?xml version='1.0' encoding='UTF-8' standalone='yes'?>
<Relationships xmlns="http://schemas.openxmlformats.org/package/2006/relationships"><Relationship Type="http://schemas.openxmlformats.org/officeDocument/2006/relationships/slideLayout" Target="../slideLayouts/slideLayout1.xml" Id="Rffc496a62d054475"/><Relationship Type="http://schemas.openxmlformats.org/officeDocument/2006/relationships/image" Target="../media/image5.png" Id="R4052875672864502"/><Relationship Type="http://schemas.openxmlformats.org/officeDocument/2006/relationships/image" Target="../media/image6.png" Id="R75677cc3e57c42c9"/><Relationship Type="http://schemas.openxmlformats.org/officeDocument/2006/relationships/notesSlide" Target="../notesSlides/notesSlide113.xml" Id="R0f4b36c8e2194533"/></Relationships>
</file>

<file path=ppt/slides/_rels/slide114.xml.rels><?xml version='1.0' encoding='UTF-8' standalone='yes'?>
<Relationships xmlns="http://schemas.openxmlformats.org/package/2006/relationships"><Relationship Type="http://schemas.openxmlformats.org/officeDocument/2006/relationships/slideLayout" Target="../slideLayouts/slideLayout1.xml" Id="Rbb72872f75ac4f14"/><Relationship Type="http://schemas.openxmlformats.org/officeDocument/2006/relationships/image" Target="../media/image5.png" Id="R9d3f82208ea842c7"/><Relationship Type="http://schemas.openxmlformats.org/officeDocument/2006/relationships/image" Target="../media/image6.png" Id="R2fcce1fe2d87468c"/><Relationship Type="http://schemas.openxmlformats.org/officeDocument/2006/relationships/image" Target="../media/image72.png" Id="Re49f8504d9c64d08"/><Relationship Type="http://schemas.openxmlformats.org/officeDocument/2006/relationships/image" Target="../media/image59.svg" Id="Rb6e9899e3bc34367"/><Relationship Type="http://schemas.openxmlformats.org/officeDocument/2006/relationships/notesSlide" Target="../notesSlides/notesSlide114.xml" Id="Rd627ee193e1a4fa5"/></Relationships>
</file>

<file path=ppt/slides/_rels/slide115.xml.rels><?xml version='1.0' encoding='UTF-8' standalone='yes'?>
<Relationships xmlns="http://schemas.openxmlformats.org/package/2006/relationships"><Relationship Type="http://schemas.openxmlformats.org/officeDocument/2006/relationships/slideLayout" Target="../slideLayouts/slideLayout1.xml" Id="Re46d2c1519e94bf7"/><Relationship Type="http://schemas.openxmlformats.org/officeDocument/2006/relationships/image" Target="../media/image5.png" Id="R7a7aaa3986c84bfa"/><Relationship Type="http://schemas.openxmlformats.org/officeDocument/2006/relationships/image" Target="../media/image6.png" Id="Racef08b8e5d3480b"/><Relationship Type="http://schemas.openxmlformats.org/officeDocument/2006/relationships/image" Target="../media/image73.png" Id="Re1c658b589fc4871"/><Relationship Type="http://schemas.openxmlformats.org/officeDocument/2006/relationships/image" Target="../media/image60.svg" Id="R6bf0758f7d8e41b8"/><Relationship Type="http://schemas.openxmlformats.org/officeDocument/2006/relationships/notesSlide" Target="../notesSlides/notesSlide115.xml" Id="R22b29ddd971a446f"/></Relationships>
</file>

<file path=ppt/slides/_rels/slide116.xml.rels><?xml version='1.0' encoding='UTF-8' standalone='yes'?>
<Relationships xmlns="http://schemas.openxmlformats.org/package/2006/relationships"><Relationship Type="http://schemas.openxmlformats.org/officeDocument/2006/relationships/slideLayout" Target="../slideLayouts/slideLayout1.xml" Id="R3137c1f77f684e5c"/><Relationship Type="http://schemas.openxmlformats.org/officeDocument/2006/relationships/image" Target="../media/image5.png" Id="Rf1a79cb216454a7e"/><Relationship Type="http://schemas.openxmlformats.org/officeDocument/2006/relationships/image" Target="../media/image6.png" Id="Rdf79c63a83524d96"/><Relationship Type="http://schemas.openxmlformats.org/officeDocument/2006/relationships/notesSlide" Target="../notesSlides/notesSlide116.xml" Id="R5bc30fe58c57400d"/></Relationships>
</file>

<file path=ppt/slides/_rels/slide117.xml.rels><?xml version='1.0' encoding='UTF-8' standalone='yes'?>
<Relationships xmlns="http://schemas.openxmlformats.org/package/2006/relationships"><Relationship Type="http://schemas.openxmlformats.org/officeDocument/2006/relationships/slideLayout" Target="../slideLayouts/slideLayout1.xml" Id="R6220216bc6da4f35"/><Relationship Type="http://schemas.openxmlformats.org/officeDocument/2006/relationships/image" Target="../media/image5.png" Id="R588017606acd43bb"/><Relationship Type="http://schemas.openxmlformats.org/officeDocument/2006/relationships/image" Target="../media/image6.png" Id="Re4dd003036ca4c63"/><Relationship Type="http://schemas.openxmlformats.org/officeDocument/2006/relationships/image" Target="../media/image74.png" Id="Rf448bea258b442bf"/><Relationship Type="http://schemas.openxmlformats.org/officeDocument/2006/relationships/image" Target="../media/image61.svg" Id="R4b5c62d061a241fd"/><Relationship Type="http://schemas.openxmlformats.org/officeDocument/2006/relationships/notesSlide" Target="../notesSlides/notesSlide117.xml" Id="R9e1d9ceb8ae24d87"/></Relationships>
</file>

<file path=ppt/slides/_rels/slide118.xml.rels><?xml version='1.0' encoding='UTF-8' standalone='yes'?>
<Relationships xmlns="http://schemas.openxmlformats.org/package/2006/relationships"><Relationship Type="http://schemas.openxmlformats.org/officeDocument/2006/relationships/slideLayout" Target="../slideLayouts/slideLayout1.xml" Id="Rbe208f4a38714294"/><Relationship Type="http://schemas.openxmlformats.org/officeDocument/2006/relationships/image" Target="../media/image5.png" Id="Rda58435ceeb14855"/><Relationship Type="http://schemas.openxmlformats.org/officeDocument/2006/relationships/image" Target="../media/image6.png" Id="R8b09bf0173d3412b"/><Relationship Type="http://schemas.openxmlformats.org/officeDocument/2006/relationships/image" Target="../media/image75.png" Id="R604c311bd82a4f80"/><Relationship Type="http://schemas.openxmlformats.org/officeDocument/2006/relationships/image" Target="../media/image62.svg" Id="R0ae6ef6debf04501"/><Relationship Type="http://schemas.openxmlformats.org/officeDocument/2006/relationships/notesSlide" Target="../notesSlides/notesSlide118.xml" Id="R95b29779f4d740c1"/></Relationships>
</file>

<file path=ppt/slides/_rels/slide119.xml.rels><?xml version='1.0' encoding='UTF-8' standalone='yes'?>
<Relationships xmlns="http://schemas.openxmlformats.org/package/2006/relationships"><Relationship Type="http://schemas.openxmlformats.org/officeDocument/2006/relationships/slideLayout" Target="../slideLayouts/slideLayout1.xml" Id="R01bef65df8e94c96"/><Relationship Type="http://schemas.openxmlformats.org/officeDocument/2006/relationships/image" Target="../media/image5.png" Id="Re6f2996cc9b64d37"/><Relationship Type="http://schemas.openxmlformats.org/officeDocument/2006/relationships/image" Target="../media/image6.png" Id="R684b5d0ada3947a9"/><Relationship Type="http://schemas.openxmlformats.org/officeDocument/2006/relationships/image" Target="../media/image76.png" Id="Rdc5133d0cc184c5e"/><Relationship Type="http://schemas.openxmlformats.org/officeDocument/2006/relationships/image" Target="../media/image63.svg" Id="Rd47fee61cca7489b"/><Relationship Type="http://schemas.openxmlformats.org/officeDocument/2006/relationships/notesSlide" Target="../notesSlides/notesSlide119.xml" Id="R2482624902024b0c"/></Relationships>
</file>

<file path=ppt/slides/_rels/slide120.xml.rels><?xml version='1.0' encoding='UTF-8' standalone='yes'?>
<Relationships xmlns="http://schemas.openxmlformats.org/package/2006/relationships"><Relationship Type="http://schemas.openxmlformats.org/officeDocument/2006/relationships/slideLayout" Target="../slideLayouts/slideLayout1.xml" Id="R9c901d97a1ab48f4"/><Relationship Type="http://schemas.openxmlformats.org/officeDocument/2006/relationships/image" Target="../media/image5.png" Id="Reb83b53401fc46e4"/><Relationship Type="http://schemas.openxmlformats.org/officeDocument/2006/relationships/image" Target="../media/image6.png" Id="R6be95f9e0a1f4664"/><Relationship Type="http://schemas.openxmlformats.org/officeDocument/2006/relationships/image" Target="../media/image77.png" Id="R58acd69817af44d2"/><Relationship Type="http://schemas.openxmlformats.org/officeDocument/2006/relationships/image" Target="../media/image64.svg" Id="Rfa61653ee5ea4a2f"/><Relationship Type="http://schemas.openxmlformats.org/officeDocument/2006/relationships/notesSlide" Target="../notesSlides/notesSlide120.xml" Id="R42d27a9ea79444aa"/></Relationships>
</file>

<file path=ppt/slides/_rels/slide121.xml.rels><?xml version='1.0' encoding='UTF-8' standalone='yes'?>
<Relationships xmlns="http://schemas.openxmlformats.org/package/2006/relationships"><Relationship Type="http://schemas.openxmlformats.org/officeDocument/2006/relationships/slideLayout" Target="../slideLayouts/slideLayout1.xml" Id="R59ba586c54874e4b"/><Relationship Type="http://schemas.openxmlformats.org/officeDocument/2006/relationships/image" Target="../media/image5.png" Id="R68e90810d9534b7f"/><Relationship Type="http://schemas.openxmlformats.org/officeDocument/2006/relationships/image" Target="../media/image6.png" Id="Rb37ecc83067d454b"/><Relationship Type="http://schemas.openxmlformats.org/officeDocument/2006/relationships/image" Target="../media/image78.png" Id="Rc395a0d3fe374fd0"/><Relationship Type="http://schemas.openxmlformats.org/officeDocument/2006/relationships/image" Target="../media/image65.svg" Id="R4bd95acd91d442da"/><Relationship Type="http://schemas.openxmlformats.org/officeDocument/2006/relationships/notesSlide" Target="../notesSlides/notesSlide121.xml" Id="Rd735129360d24625"/></Relationships>
</file>

<file path=ppt/slides/_rels/slide122.xml.rels><?xml version='1.0' encoding='UTF-8' standalone='yes'?>
<Relationships xmlns="http://schemas.openxmlformats.org/package/2006/relationships"><Relationship Type="http://schemas.openxmlformats.org/officeDocument/2006/relationships/slideLayout" Target="../slideLayouts/slideLayout1.xml" Id="Rfa3a180e72ab4b9b"/><Relationship Type="http://schemas.openxmlformats.org/officeDocument/2006/relationships/image" Target="../media/image5.png" Id="Raf879e36bc964b77"/><Relationship Type="http://schemas.openxmlformats.org/officeDocument/2006/relationships/image" Target="../media/image6.png" Id="Red20534a82ab4d06"/><Relationship Type="http://schemas.openxmlformats.org/officeDocument/2006/relationships/notesSlide" Target="../notesSlides/notesSlide122.xml" Id="R8c7b7ff8e0314812"/></Relationships>
</file>

<file path=ppt/slides/_rels/slide123.xml.rels><?xml version='1.0' encoding='UTF-8' standalone='yes'?>
<Relationships xmlns="http://schemas.openxmlformats.org/package/2006/relationships"><Relationship Type="http://schemas.openxmlformats.org/officeDocument/2006/relationships/slideLayout" Target="../slideLayouts/slideLayout1.xml" Id="R0f3ce66a6b11482c"/><Relationship Type="http://schemas.openxmlformats.org/officeDocument/2006/relationships/image" Target="../media/image5.png" Id="Rebbafac3507f4875"/><Relationship Type="http://schemas.openxmlformats.org/officeDocument/2006/relationships/image" Target="../media/image6.png" Id="R1184b4a1722a447d"/><Relationship Type="http://schemas.openxmlformats.org/officeDocument/2006/relationships/notesSlide" Target="../notesSlides/notesSlide123.xml" Id="Rfd07dae553a749ca"/></Relationships>
</file>

<file path=ppt/slides/_rels/slide124.xml.rels><?xml version='1.0' encoding='UTF-8' standalone='yes'?>
<Relationships xmlns="http://schemas.openxmlformats.org/package/2006/relationships"><Relationship Type="http://schemas.openxmlformats.org/officeDocument/2006/relationships/slideLayout" Target="../slideLayouts/slideLayout1.xml" Id="Rb0326351d849442a"/><Relationship Type="http://schemas.openxmlformats.org/officeDocument/2006/relationships/image" Target="../media/image5.png" Id="R35d7c0b8772946f7"/><Relationship Type="http://schemas.openxmlformats.org/officeDocument/2006/relationships/image" Target="../media/image6.png" Id="R8ac52d8662944da0"/><Relationship Type="http://schemas.openxmlformats.org/officeDocument/2006/relationships/notesSlide" Target="../notesSlides/notesSlide124.xml" Id="R681df8c0ef084d16"/></Relationships>
</file>

<file path=ppt/slides/_rels/slide125.xml.rels><?xml version='1.0' encoding='UTF-8' standalone='yes'?>
<Relationships xmlns="http://schemas.openxmlformats.org/package/2006/relationships"><Relationship Type="http://schemas.openxmlformats.org/officeDocument/2006/relationships/slideLayout" Target="../slideLayouts/slideLayout1.xml" Id="Rcc85d01b450d4f4d"/><Relationship Type="http://schemas.openxmlformats.org/officeDocument/2006/relationships/image" Target="../media/image5.png" Id="Rb5c9dc1e8add4aa9"/><Relationship Type="http://schemas.openxmlformats.org/officeDocument/2006/relationships/image" Target="../media/image6.png" Id="Re96168b3f8774f8b"/><Relationship Type="http://schemas.openxmlformats.org/officeDocument/2006/relationships/image" Target="../media/image79.png" Id="Rb328d9411f024b44"/><Relationship Type="http://schemas.openxmlformats.org/officeDocument/2006/relationships/image" Target="../media/image66.svg" Id="Rd6333602e085473d"/><Relationship Type="http://schemas.openxmlformats.org/officeDocument/2006/relationships/notesSlide" Target="../notesSlides/notesSlide125.xml" Id="R558a570318594785"/></Relationships>
</file>

<file path=ppt/slides/_rels/slide126.xml.rels><?xml version='1.0' encoding='UTF-8' standalone='yes'?>
<Relationships xmlns="http://schemas.openxmlformats.org/package/2006/relationships"><Relationship Type="http://schemas.openxmlformats.org/officeDocument/2006/relationships/slideLayout" Target="../slideLayouts/slideLayout1.xml" Id="Ra904c34b82db4c5f"/><Relationship Type="http://schemas.openxmlformats.org/officeDocument/2006/relationships/image" Target="../media/image25.png" Id="Redc62b7bd48b4420"/><Relationship Type="http://schemas.openxmlformats.org/officeDocument/2006/relationships/image" Target="../media/image26.png" Id="Rb6a382124746498d"/><Relationship Type="http://schemas.openxmlformats.org/officeDocument/2006/relationships/image" Target="../media/image27.png" Id="R409fa82481e64f1f"/><Relationship Type="http://schemas.openxmlformats.org/officeDocument/2006/relationships/image" Target="../media/image28.png" Id="R8a3f69c03be24c2a"/><Relationship Type="http://schemas.openxmlformats.org/officeDocument/2006/relationships/image" Target="../media/image29.png" Id="R3356bae0e350416f"/><Relationship Type="http://schemas.openxmlformats.org/officeDocument/2006/relationships/image" Target="../media/image30.png" Id="R7b1fc32fc4f645c7"/><Relationship Type="http://schemas.openxmlformats.org/officeDocument/2006/relationships/image" Target="../media/image31.png" Id="R2e5319ab80184b3a"/><Relationship Type="http://schemas.openxmlformats.org/officeDocument/2006/relationships/image" Target="../media/image.png" Id="R06dba437322744b3"/><Relationship Type="http://schemas.openxmlformats.org/officeDocument/2006/relationships/image" Target="../media/image2.png" Id="Rac234a3e94cb4d01"/><Relationship Type="http://schemas.openxmlformats.org/officeDocument/2006/relationships/notesSlide" Target="../notesSlides/notesSlide126.xml" Id="R748f4bd9175f4795"/></Relationships>
</file>

<file path=ppt/slides/_rels/slide127.xml.rels><?xml version='1.0' encoding='UTF-8' standalone='yes'?>
<Relationships xmlns="http://schemas.openxmlformats.org/package/2006/relationships"><Relationship Type="http://schemas.openxmlformats.org/officeDocument/2006/relationships/slideLayout" Target="../slideLayouts/slideLayout1.xml" Id="R4172bc2925d142a0"/><Relationship Type="http://schemas.openxmlformats.org/officeDocument/2006/relationships/image" Target="../media/image5.png" Id="R46b1229d2eba4e31"/><Relationship Type="http://schemas.openxmlformats.org/officeDocument/2006/relationships/image" Target="../media/image6.png" Id="R11d223bd95664e71"/><Relationship Type="http://schemas.openxmlformats.org/officeDocument/2006/relationships/notesSlide" Target="../notesSlides/notesSlide127.xml" Id="R7f76c4a15b164d93"/></Relationships>
</file>

<file path=ppt/slides/_rels/slide128.xml.rels><?xml version='1.0' encoding='UTF-8' standalone='yes'?>
<Relationships xmlns="http://schemas.openxmlformats.org/package/2006/relationships"><Relationship Type="http://schemas.openxmlformats.org/officeDocument/2006/relationships/slideLayout" Target="../slideLayouts/slideLayout1.xml" Id="R20f4ef6455654967"/><Relationship Type="http://schemas.openxmlformats.org/officeDocument/2006/relationships/image" Target="../media/image5.png" Id="R81f4fc3e9e1c45dc"/><Relationship Type="http://schemas.openxmlformats.org/officeDocument/2006/relationships/image" Target="../media/image6.png" Id="Rf28743eba5d4463a"/><Relationship Type="http://schemas.openxmlformats.org/officeDocument/2006/relationships/notesSlide" Target="../notesSlides/notesSlide128.xml" Id="R6174c9aa4c85499d"/></Relationships>
</file>

<file path=ppt/slides/_rels/slide129.xml.rels><?xml version='1.0' encoding='UTF-8' standalone='yes'?>
<Relationships xmlns="http://schemas.openxmlformats.org/package/2006/relationships"><Relationship Type="http://schemas.openxmlformats.org/officeDocument/2006/relationships/slideLayout" Target="../slideLayouts/slideLayout1.xml" Id="R4b93bfb473e2450e"/><Relationship Type="http://schemas.openxmlformats.org/officeDocument/2006/relationships/image" Target="../media/image5.png" Id="R1641cbc91e024330"/><Relationship Type="http://schemas.openxmlformats.org/officeDocument/2006/relationships/image" Target="../media/image6.png" Id="R33ec7c9b22644373"/><Relationship Type="http://schemas.openxmlformats.org/officeDocument/2006/relationships/image" Target="../media/image80.png" Id="R99b8815676954440"/><Relationship Type="http://schemas.openxmlformats.org/officeDocument/2006/relationships/image" Target="../media/image67.svg" Id="R0936179712ef4938"/><Relationship Type="http://schemas.openxmlformats.org/officeDocument/2006/relationships/notesSlide" Target="../notesSlides/notesSlide129.xml" Id="Rb3f36edf05d14581"/></Relationships>
</file>

<file path=ppt/slides/_rels/slide130.xml.rels><?xml version='1.0' encoding='UTF-8' standalone='yes'?>
<Relationships xmlns="http://schemas.openxmlformats.org/package/2006/relationships"><Relationship Type="http://schemas.openxmlformats.org/officeDocument/2006/relationships/slideLayout" Target="../slideLayouts/slideLayout1.xml" Id="Rff6e9cb89ecd429e"/><Relationship Type="http://schemas.openxmlformats.org/officeDocument/2006/relationships/image" Target="../media/image5.png" Id="Rb8697c0e058145d1"/><Relationship Type="http://schemas.openxmlformats.org/officeDocument/2006/relationships/image" Target="../media/image6.png" Id="Rfbdcbdbfe33d4b75"/><Relationship Type="http://schemas.openxmlformats.org/officeDocument/2006/relationships/notesSlide" Target="../notesSlides/notesSlide130.xml" Id="R51ffb16ea5e84a1e"/></Relationships>
</file>

<file path=ppt/slides/_rels/slide131.xml.rels><?xml version='1.0' encoding='UTF-8' standalone='yes'?>
<Relationships xmlns="http://schemas.openxmlformats.org/package/2006/relationships"><Relationship Type="http://schemas.openxmlformats.org/officeDocument/2006/relationships/slideLayout" Target="../slideLayouts/slideLayout1.xml" Id="R4ebe892575ee49b3"/><Relationship Type="http://schemas.openxmlformats.org/officeDocument/2006/relationships/image" Target="../media/image5.png" Id="Rdfbef2dbac714c22"/><Relationship Type="http://schemas.openxmlformats.org/officeDocument/2006/relationships/image" Target="../media/image6.png" Id="Re9dbae78695341ca"/><Relationship Type="http://schemas.openxmlformats.org/officeDocument/2006/relationships/hyperlink" Target="https://www.math.u-bordeaux.fr/~jbigot/Site/Enseignement_files/Intro_DeepLearning.pdf" TargetMode="External" Id="R4926c69fdec5430c"/><Relationship Type="http://schemas.openxmlformats.org/officeDocument/2006/relationships/hyperlink" Target="https://rtavenar.github.io/deep_book/book_fr.pdf" TargetMode="External" Id="Rc633243255894117"/><Relationship Type="http://schemas.openxmlformats.org/officeDocument/2006/relationships/hyperlink" Target="https://cedric.cnam.fr/vertigo/Cours/ml2/docs/coursDeep1.pdf" TargetMode="External" Id="R167655b008a84039"/><Relationship Type="http://schemas.openxmlformats.org/officeDocument/2006/relationships/hyperlink" Target="https://indico.in2p3.fr/event/17858/attachments/49454/65831/Deep_Learning_Seance_1.pdf" TargetMode="External" Id="R1b604622bc3c4010"/><Relationship Type="http://schemas.openxmlformats.org/officeDocument/2006/relationships/hyperlink" Target="https://rtavenar.github.io/deep_book/fr/content/fr/intro.html" TargetMode="External" Id="Rb089ecf4f02a4d14"/><Relationship Type="http://schemas.openxmlformats.org/officeDocument/2006/relationships/notesSlide" Target="../notesSlides/notesSlide131.xml" Id="R04e8864b05de4c16"/></Relationships>
</file>

<file path=ppt/slides/_rels/slide132.xml.rels><?xml version='1.0' encoding='UTF-8' standalone='yes'?>
<Relationships xmlns="http://schemas.openxmlformats.org/package/2006/relationships"><Relationship Type="http://schemas.openxmlformats.org/officeDocument/2006/relationships/slideLayout" Target="../slideLayouts/slideLayout1.xml" Id="Re0796692a053432d"/><Relationship Type="http://schemas.openxmlformats.org/officeDocument/2006/relationships/image" Target="../media/image5.png" Id="R406ade015d2e410f"/><Relationship Type="http://schemas.openxmlformats.org/officeDocument/2006/relationships/image" Target="../media/image6.png" Id="R16848265cfce4b19"/><Relationship Type="http://schemas.openxmlformats.org/officeDocument/2006/relationships/hyperlink" Target="https://arxiv.org/abs/1706.03762" TargetMode="External" Id="R920d5adb0a394869"/><Relationship Type="http://schemas.openxmlformats.org/officeDocument/2006/relationships/hyperlink" Target="https://arxiv.org/abs/1512.03385" TargetMode="External" Id="R50c678e57f1c4730"/><Relationship Type="http://schemas.openxmlformats.org/officeDocument/2006/relationships/hyperlink" Target="https://arxiv.org/abs/2010.11929" TargetMode="External" Id="Rb188d6e95fba433d"/><Relationship Type="http://schemas.openxmlformats.org/officeDocument/2006/relationships/hyperlink" Target="https://arxiv.org/abs/1412.6980" TargetMode="External" Id="Rb806dea402a84d17"/><Relationship Type="http://schemas.openxmlformats.org/officeDocument/2006/relationships/hyperlink" Target="https://arxiv.org/abs/1711.05101" TargetMode="External" Id="Re90b08be4a4a4a5d"/><Relationship Type="http://schemas.openxmlformats.org/officeDocument/2006/relationships/notesSlide" Target="../notesSlides/notesSlide132.xml" Id="R27f9b007af8544fc"/></Relationships>
</file>

<file path=ppt/slides/_rels/slide133.xml.rels><?xml version='1.0' encoding='UTF-8' standalone='yes'?>
<Relationships xmlns="http://schemas.openxmlformats.org/package/2006/relationships"><Relationship Type="http://schemas.openxmlformats.org/officeDocument/2006/relationships/slideLayout" Target="../slideLayouts/slideLayout1.xml" Id="R9ac999f14a5949c1"/><Relationship Type="http://schemas.openxmlformats.org/officeDocument/2006/relationships/image" Target="../media/image5.png" Id="R3545bead504842e8"/><Relationship Type="http://schemas.openxmlformats.org/officeDocument/2006/relationships/image" Target="../media/image6.png" Id="R35f25378f8474eb3"/><Relationship Type="http://schemas.openxmlformats.org/officeDocument/2006/relationships/hyperlink" Target="https://arxiv.org/abs/1502.03167" TargetMode="External" Id="R459555c9722540e6"/><Relationship Type="http://schemas.openxmlformats.org/officeDocument/2006/relationships/hyperlink" Target="https://arxiv.org/abs/1607.06450" TargetMode="External" Id="R1b3348aeda5c4563"/><Relationship Type="http://schemas.openxmlformats.org/officeDocument/2006/relationships/hyperlink" Target="https://arxiv.org/abs/2002.04745" TargetMode="External" Id="R0f76327ae6aa4e0b"/><Relationship Type="http://schemas.openxmlformats.org/officeDocument/2006/relationships/hyperlink" Target="https://docs.pytorch.org/docs/2.8/generated/torch.nn.Conv2d.html" TargetMode="External" Id="R03fab7f30c7f451d"/><Relationship Type="http://schemas.openxmlformats.org/officeDocument/2006/relationships/hyperlink" Target="https://docs.pytorch.org/docs/2.8/generated/torch.nn.CrossEntropyLoss.html" TargetMode="External" Id="Re9282214c9614eed"/><Relationship Type="http://schemas.openxmlformats.org/officeDocument/2006/relationships/hyperlink" Target="https://docs.pytorch.org/docs/2.8/generated/torch.nn.MultiheadAttention.html" TargetMode="External" Id="R4e30e392f807438d"/><Relationship Type="http://schemas.openxmlformats.org/officeDocument/2006/relationships/notesSlide" Target="../notesSlides/notesSlide133.xml" Id="R24f4387f7182476a"/></Relationships>
</file>

<file path=ppt/slides/_rels/slide134.xml.rels><?xml version='1.0' encoding='UTF-8' standalone='yes'?>
<Relationships xmlns="http://schemas.openxmlformats.org/package/2006/relationships"><Relationship Type="http://schemas.openxmlformats.org/officeDocument/2006/relationships/slideLayout" Target="../slideLayouts/slideLayout1.xml" Id="Rd34e2cb93c114579"/><Relationship Type="http://schemas.openxmlformats.org/officeDocument/2006/relationships/image" Target="../media/image5.png" Id="R3f5899a015e44901"/><Relationship Type="http://schemas.openxmlformats.org/officeDocument/2006/relationships/image" Target="../media/image6.png" Id="Ra86b51aee6644230"/><Relationship Type="http://schemas.openxmlformats.org/officeDocument/2006/relationships/notesSlide" Target="../notesSlides/notesSlide134.xml" Id="Rbee18c0d727a43b4"/></Relationships>
</file>

<file path=ppt/slides/_rels/slide135.xml.rels><?xml version='1.0' encoding='UTF-8' standalone='yes'?>
<Relationships xmlns="http://schemas.openxmlformats.org/package/2006/relationships"><Relationship Type="http://schemas.openxmlformats.org/officeDocument/2006/relationships/slideLayout" Target="../slideLayouts/slideLayout1.xml" Id="Rcc9a6eb330a3491b"/><Relationship Type="http://schemas.openxmlformats.org/officeDocument/2006/relationships/image" Target="../media/image.png" Id="R8a237a7c68464b99"/><Relationship Type="http://schemas.openxmlformats.org/officeDocument/2006/relationships/image" Target="../media/image2.png" Id="R65670192c2954a8d"/><Relationship Type="http://schemas.openxmlformats.org/officeDocument/2006/relationships/notesSlide" Target="../notesSlides/notesSlide135.xml" Id="Rdb7ab332b9b34848"/></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Sigmoïde</c:v>
          </c:tx>
          <c:spPr>
            <a:solidFill xmlns:a="http://schemas.openxmlformats.org/drawingml/2006/main">
              <a:srgbClr val="0A1047"/>
            </a:solidFill>
            <a:ln xmlns:a="http://schemas.openxmlformats.org/drawingml/2006/main" w="28575">
              <a:solidFill>
                <a:srgbClr val="0A1047"/>
              </a:solidFill>
            </a:ln>
          </c:spPr>
          <c:marker>
            <c:symbol val="none"/>
          </c:marker>
          <c:cat>
            <c:numRef>
              <c:f>'Chart Data'!$A$2:$A$18</c:f>
              <c:numCache>
                <c:formatCode>General</c:formatCode>
                <c:ptCount val="17"/>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numCache>
            </c:numRef>
          </c:cat>
          <c:val>
            <c:numRef>
              <c:f>'Chart Data'!$B$2:$B$18</c:f>
              <c:numCache>
                <c:formatCode>General</c:formatCode>
                <c:ptCount val="17"/>
                <c:pt idx="0">
                  <c:v>0.01798621</c:v>
                </c:pt>
                <c:pt idx="1">
                  <c:v>0.029312231</c:v>
                </c:pt>
                <c:pt idx="2">
                  <c:v>0.047425873</c:v>
                </c:pt>
                <c:pt idx="3">
                  <c:v>0.07585818</c:v>
                </c:pt>
                <c:pt idx="4">
                  <c:v>0.11920292</c:v>
                </c:pt>
                <c:pt idx="5">
                  <c:v>0.18242552</c:v>
                </c:pt>
                <c:pt idx="6">
                  <c:v>0.26894142</c:v>
                </c:pt>
                <c:pt idx="7">
                  <c:v>0.37754067</c:v>
                </c:pt>
                <c:pt idx="8">
                  <c:v>0.5</c:v>
                </c:pt>
                <c:pt idx="9">
                  <c:v>0.62245933</c:v>
                </c:pt>
                <c:pt idx="10">
                  <c:v>0.73105858</c:v>
                </c:pt>
                <c:pt idx="11">
                  <c:v>0.81757448</c:v>
                </c:pt>
                <c:pt idx="12">
                  <c:v>0.88079708</c:v>
                </c:pt>
                <c:pt idx="13">
                  <c:v>0.92414182</c:v>
                </c:pt>
                <c:pt idx="14">
                  <c:v>0.95257413</c:v>
                </c:pt>
                <c:pt idx="15">
                  <c:v>0.97068777</c:v>
                </c:pt>
                <c:pt idx="16">
                  <c:v>0.98201379</c:v>
                </c:pt>
              </c:numCache>
            </c:numRef>
          </c:val>
          <c:smooth val="0"/>
        </c:ser>
        <c:ser>
          <c:idx val="1"/>
          <c:order val="1"/>
          <c:tx>
            <c:v>ReLU</c:v>
          </c:tx>
          <c:spPr>
            <a:solidFill xmlns:a="http://schemas.openxmlformats.org/drawingml/2006/main">
              <a:srgbClr val="FF7912"/>
            </a:solidFill>
            <a:ln xmlns:a="http://schemas.openxmlformats.org/drawingml/2006/main" w="28575">
              <a:solidFill>
                <a:srgbClr val="FF7912"/>
              </a:solidFill>
            </a:ln>
          </c:spPr>
          <c:marker>
            <c:symbol val="none"/>
          </c:marker>
          <c:cat>
            <c:numRef>
              <c:f>'Chart Data'!$C$2:$C$18</c:f>
              <c:numCache>
                <c:formatCode>General</c:formatCode>
                <c:ptCount val="17"/>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numCache>
            </c:numRef>
          </c:cat>
          <c:val>
            <c:numRef>
              <c:f>'Chart Data'!$D$2:$D$18</c:f>
              <c:numCache>
                <c:formatCode>General</c:formatCode>
                <c:ptCount val="17"/>
                <c:pt idx="0">
                  <c:v>0</c:v>
                </c:pt>
                <c:pt idx="1">
                  <c:v>0</c:v>
                </c:pt>
                <c:pt idx="2">
                  <c:v>0</c:v>
                </c:pt>
                <c:pt idx="3">
                  <c:v>0</c:v>
                </c:pt>
                <c:pt idx="4">
                  <c:v>0</c:v>
                </c:pt>
                <c:pt idx="5">
                  <c:v>0</c:v>
                </c:pt>
                <c:pt idx="6">
                  <c:v>0</c:v>
                </c:pt>
                <c:pt idx="7">
                  <c:v>0</c:v>
                </c:pt>
                <c:pt idx="8">
                  <c:v>0</c:v>
                </c:pt>
                <c:pt idx="9">
                  <c:v>0.5</c:v>
                </c:pt>
                <c:pt idx="10">
                  <c:v>1</c:v>
                </c:pt>
                <c:pt idx="11">
                  <c:v>1.5</c:v>
                </c:pt>
                <c:pt idx="12">
                  <c:v>2</c:v>
                </c:pt>
                <c:pt idx="13">
                  <c:v>2.5</c:v>
                </c:pt>
                <c:pt idx="14">
                  <c:v>3</c:v>
                </c:pt>
                <c:pt idx="15">
                  <c:v>3.5</c:v>
                </c:pt>
                <c:pt idx="16">
                  <c:v>4</c:v>
                </c:pt>
              </c:numCache>
            </c:numRef>
          </c:val>
          <c:smooth val="0"/>
        </c:ser>
        <c:dLbls>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M Sans"/>
                    <a:ea typeface="DM Sans"/>
                    <a:cs typeface="DM Sans"/>
                  </a:rPr>
                  <a:t>Préactivation z</a:t>
                </a:r>
              </a:p>
            </c:rich>
          </c:tx>
          <c:overlay val="0"/>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M Sans"/>
                <a:ea typeface="DM Sans"/>
                <a:cs typeface="DM Sans"/>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DM Sans"/>
                    <a:ea typeface="DM Sans"/>
                    <a:cs typeface="DM Sans"/>
                  </a:rPr>
                  <a:t>Activation</a:t>
                </a:r>
              </a:p>
            </c:rich>
          </c:tx>
          <c:overlay val="0"/>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M Sans"/>
                <a:ea typeface="DM Sans"/>
                <a:cs typeface="DM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DM Sans"/>
              <a:ea typeface="DM Sans"/>
              <a:cs typeface="DM Sans"/>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 (illustration)</c:v>
          </c:tx>
          <c:spPr>
            <a:solidFill xmlns:a="http://schemas.openxmlformats.org/drawingml/2006/main">
              <a:srgbClr val="0A1047"/>
            </a:solidFill>
            <a:ln xmlns:a="http://schemas.openxmlformats.org/drawingml/2006/main" w="28575">
              <a:solidFill>
                <a:srgbClr val="0A1047"/>
              </a:solidFill>
            </a:ln>
          </c:spPr>
          <c:marker>
            <c:symbol val="none"/>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General</c:formatCode>
                <c:ptCount val="12"/>
                <c:pt idx="0">
                  <c:v>0.74198067</c:v>
                </c:pt>
                <c:pt idx="1">
                  <c:v>0.59555106</c:v>
                </c:pt>
                <c:pt idx="2">
                  <c:v>0.48151157</c:v>
                </c:pt>
                <c:pt idx="3">
                  <c:v>0.39269752</c:v>
                </c:pt>
                <c:pt idx="4">
                  <c:v>0.32352908</c:v>
                </c:pt>
                <c:pt idx="5">
                  <c:v>0.26966064</c:v>
                </c:pt>
                <c:pt idx="6">
                  <c:v>0.22770785</c:v>
                </c:pt>
                <c:pt idx="7">
                  <c:v>0.19503499</c:v>
                </c:pt>
                <c:pt idx="8">
                  <c:v>0.16958934</c:v>
                </c:pt>
                <c:pt idx="9">
                  <c:v>0.14977225</c:v>
                </c:pt>
                <c:pt idx="10">
                  <c:v>0.13433868</c:v>
                </c:pt>
                <c:pt idx="11">
                  <c:v>0.12231901</c:v>
                </c:pt>
              </c:numCache>
            </c:numRef>
          </c:val>
          <c:smooth val="0"/>
        </c:ser>
        <c:ser>
          <c:idx val="1"/>
          <c:order val="1"/>
          <c:tx>
            <c:v>Validation (illustration)</c:v>
          </c:tx>
          <c:spPr>
            <a:solidFill xmlns:a="http://schemas.openxmlformats.org/drawingml/2006/main">
              <a:srgbClr val="FF7912"/>
            </a:solidFill>
            <a:ln xmlns:a="http://schemas.openxmlformats.org/drawingml/2006/main" w="28575">
              <a:solidFill>
                <a:srgbClr val="FF7912"/>
              </a:solidFill>
            </a:ln>
          </c:spPr>
          <c:marker>
            <c:symbol val="none"/>
          </c:marker>
          <c:cat>
            <c:numRef>
              <c:f>'Chart Data'!$C$2:$C$13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Data'!$D$2:$D$13</c:f>
              <c:numCache>
                <c:formatCode>General</c:formatCode>
                <c:ptCount val="12"/>
                <c:pt idx="0">
                  <c:v>0.79887818</c:v>
                </c:pt>
                <c:pt idx="1">
                  <c:v>0.58607541</c:v>
                </c:pt>
                <c:pt idx="2">
                  <c:v>0.4370915</c:v>
                </c:pt>
                <c:pt idx="3">
                  <c:v>0.33723742</c:v>
                </c:pt>
                <c:pt idx="4">
                  <c:v>0.27598804</c:v>
                </c:pt>
                <c:pt idx="5">
                  <c:v>0.24580175</c:v>
                </c:pt>
                <c:pt idx="6">
                  <c:v>0.24127477</c:v>
                </c:pt>
                <c:pt idx="7">
                  <c:v>0.25853511</c:v>
                </c:pt>
                <c:pt idx="8">
                  <c:v>0.29480836</c:v>
                </c:pt>
                <c:pt idx="9">
                  <c:v>0.34810659</c:v>
                </c:pt>
                <c:pt idx="10">
                  <c:v>0.41700538</c:v>
                </c:pt>
                <c:pt idx="11">
                  <c:v>0.50048407</c:v>
                </c:pt>
              </c:numCache>
            </c:numRef>
          </c:val>
          <c:smooth val="0"/>
        </c:ser>
        <c:dLbls>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M Sans"/>
                    <a:ea typeface="DM Sans"/>
                    <a:cs typeface="DM Sans"/>
                  </a:rPr>
                  <a:t>Époque</a:t>
                </a:r>
              </a:p>
            </c:rich>
          </c:tx>
          <c:overlay val="0"/>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M Sans"/>
                <a:ea typeface="DM Sans"/>
                <a:cs typeface="DM Sans"/>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DM Sans"/>
                    <a:ea typeface="DM Sans"/>
                    <a:cs typeface="DM Sans"/>
                  </a:rPr>
                  <a:t>Perte</a:t>
                </a:r>
              </a:p>
            </c:rich>
          </c:tx>
          <c:overlay val="0"/>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M Sans"/>
                <a:ea typeface="DM Sans"/>
                <a:cs typeface="DM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DM Sans"/>
              <a:ea typeface="DM Sans"/>
              <a:cs typeface="DM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BF2E00"/>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C65C5180-0BE0-4786-89FB-D3642C3D8B3A}"/>
              </a:ext>
            </a:extLst>
          </p:cNvPr>
          <p:cNvSpPr>
            <a:spLocks xmlns:a="http://schemas.openxmlformats.org/drawingml/2006/main" noGrp="1"/>
          </p:cNvSpPr>
          <p:nvPr/>
        </p:nvSpPr>
        <p:spPr>
          <a:xfrm xmlns:a="http://schemas.openxmlformats.org/drawingml/2006/main">
            <a:off x="914400" y="1224375"/>
            <a:ext cx="103629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defRPr sz="7575">
                <a:solidFill>
                  <a:srgbClr val="FFFFFF"/>
                </a:solidFill>
                <a:latin typeface="Archivo Black"/>
                <a:ea typeface="Archivo Black"/>
                <a:cs typeface="Archivo Black"/>
              </a:defRPr>
            </a:pPr>
            <a:r>
              <a:rPr sz="7575">
                <a:solidFill>
                  <a:srgbClr val="FFFFFF"/>
                </a:solidFill>
                <a:latin typeface="Archivo Black"/>
                <a:ea typeface="Archivo Black"/>
                <a:cs typeface="Archivo Black"/>
              </a:rPr>
              <a:t>DEEP LEARNING</a:t>
            </a:r>
            <a:endParaRPr sz="7600" b="0" i="0" u="none" cap="none">
              <a:solidFill>
                <a:schemeClr val="dk1"/>
              </a:solidFill>
              <a:latin typeface="Calibri"/>
              <a:ea typeface="Calibri"/>
              <a:cs typeface="Calibri"/>
            </a:endParaRPr>
          </a:p>
        </p:txBody>
      </p:sp>
      <p:sp>
        <p:nvSpPr>
          <p:cNvPr id="17" name="Google Shape;17;p3">
            <a:extLst xmlns:a="http://schemas.openxmlformats.org/drawingml/2006/main">
              <a:ext uri="{FF2B5EF4-FFF2-40B4-BE49-F238E27FC236}">
                <a16:creationId xmlns:a16="http://schemas.microsoft.com/office/drawing/2014/main" id="{4878C810-5A89-48C3-A2EB-941471523157}"/>
              </a:ext>
            </a:extLst>
          </p:cNvPr>
          <p:cNvSpPr>
            <a:spLocks xmlns:a="http://schemas.openxmlformats.org/drawingml/2006/main" noGrp="1"/>
          </p:cNvSpPr>
          <p:nvPr/>
        </p:nvSpPr>
        <p:spPr>
          <a:xfrm xmlns:a="http://schemas.openxmlformats.org/drawingml/2006/main">
            <a:off x="914400" y="2166575"/>
            <a:ext cx="9265200" cy="105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pPr>
            <a:r>
              <a:rPr sz="4500">
                <a:solidFill>
                  <a:srgbClr val="FFFFFF"/>
                </a:solidFill>
                <a:latin typeface="Archivo Black"/>
                <a:ea typeface="Archivo Black"/>
                <a:cs typeface="Archivo Black"/>
              </a:rPr>
              <a:t>CNN &amp; Transformers</a:t>
            </a:r>
            <a:endParaRPr sz="45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213AB5C9-913F-4C4B-9844-B134E2165B9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34" name="Google Shape;19;p3"/>
          <p:cNvPicPr>
            <a:picLocks xmlns:a="http://schemas.openxmlformats.org/drawingml/2006/main" noChangeAspect="1"/>
          </p:cNvPicPr>
          <p:nvPr/>
        </p:nvPicPr>
        <p:blipFill>
          <a:blip xmlns:r="http://schemas.openxmlformats.org/officeDocument/2006/relationships" xmlns:a="http://schemas.openxmlformats.org/drawingml/2006/main" r:embed="Ra4439ec5ff3442e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20" name="Google Shape;20;p3">
            <a:extLst xmlns:a="http://schemas.openxmlformats.org/drawingml/2006/main">
              <a:ext uri="{FF2B5EF4-FFF2-40B4-BE49-F238E27FC236}">
                <a16:creationId xmlns:a16="http://schemas.microsoft.com/office/drawing/2014/main" id="{32A8C6DF-DB62-451C-BFA9-4C6C8B40E399}"/>
              </a:ext>
            </a:extLst>
          </p:cNvPr>
          <p:cNvSpPr>
            <a:spLocks xmlns:a="http://schemas.openxmlformats.org/drawingml/2006/main" noGrp="1"/>
          </p:cNvSpPr>
          <p:nvPr/>
        </p:nvSpPr>
        <p:spPr>
          <a:xfrm xmlns:a="http://schemas.openxmlformats.org/drawingml/2006/main">
            <a:off x="10458907" y="4496105"/>
            <a:ext cx="1162200" cy="1410000"/>
          </a:xfrm>
          <a:prstGeom xmlns:a="http://schemas.openxmlformats.org/drawingml/2006/main" prst="roundRect">
            <a:avLst>
              <a:gd name="adj" fmla="val 5159"/>
            </a:avLst>
          </a:prstGeom>
          <a:solidFill xmlns:a="http://schemas.openxmlformats.org/drawingml/2006/main">
            <a:srgbClr val="FFFFFF"/>
          </a:solidFill>
          <a:ln xmlns:a="http://schemas.openxmlformats.org/drawingml/2006/main" w="12700" cmpd="sng">
            <a:solidFill>
              <a:srgbClr val="E5E7EB"/>
            </a:solidFill>
            <a:prstDash val="solid"/>
            <a:headEnd type="none" w="sm" len="sm"/>
            <a:tailEnd type="none" w="sm" len="sm"/>
          </a:ln>
          <a:effectLst xmlns:a="http://schemas.openxmlformats.org/drawingml/2006/main">
            <a:outerShdw blurRad="63500" dist="38100" dir="5400000" algn="bl" rotWithShape="0">
              <a:srgbClr val="000000">
                <a:alpha val="471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 name="Google Shape;21;p3">
            <a:extLst xmlns:a="http://schemas.openxmlformats.org/drawingml/2006/main">
              <a:ext uri="{FF2B5EF4-FFF2-40B4-BE49-F238E27FC236}">
                <a16:creationId xmlns:a16="http://schemas.microsoft.com/office/drawing/2014/main" id="{614C6BD6-755E-4344-80A7-125343C81C09}"/>
              </a:ext>
            </a:extLst>
          </p:cNvPr>
          <p:cNvSpPr>
            <a:spLocks xmlns:a="http://schemas.openxmlformats.org/drawingml/2006/main" noGrp="1"/>
          </p:cNvSpPr>
          <p:nvPr/>
        </p:nvSpPr>
        <p:spPr>
          <a:xfrm xmlns:a="http://schemas.openxmlformats.org/drawingml/2006/main">
            <a:off x="10553700" y="5638800"/>
            <a:ext cx="99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pPr>
            <a:r>
              <a:rPr sz="1125" b="0" i="0" u="none" cap="none">
                <a:solidFill>
                  <a:srgbClr val="000000"/>
                </a:solidFill>
                <a:latin typeface="Archivo Black"/>
                <a:ea typeface="Archivo Black"/>
                <a:cs typeface="Archivo Black"/>
              </a:rPr>
              <a:t>5 JOURS</a:t>
            </a:r>
            <a:endParaRPr sz="1125" b="0" i="0" u="none" cap="none">
              <a:solidFill>
                <a:srgbClr val="000000"/>
              </a:solidFill>
              <a:latin typeface="Calibri"/>
              <a:ea typeface="Calibri"/>
              <a:cs typeface="Calibri"/>
            </a:endParaRPr>
          </a:p>
        </p:txBody>
      </p:sp>
      <p:sp>
        <p:nvSpPr>
          <p:cNvPr id="22" name="Google Shape;22;p3">
            <a:extLst xmlns:a="http://schemas.openxmlformats.org/drawingml/2006/main">
              <a:ext uri="{FF2B5EF4-FFF2-40B4-BE49-F238E27FC236}">
                <a16:creationId xmlns:a16="http://schemas.microsoft.com/office/drawing/2014/main" id="{0F0D5521-7834-4FE5-AE7C-4C61C4F74BA1}"/>
              </a:ext>
            </a:extLst>
          </p:cNvPr>
          <p:cNvSpPr>
            <a:spLocks xmlns:a="http://schemas.openxmlformats.org/drawingml/2006/main" noGrp="1"/>
          </p:cNvSpPr>
          <p:nvPr/>
        </p:nvSpPr>
        <p:spPr>
          <a:xfrm xmlns:a="http://schemas.openxmlformats.org/drawingml/2006/main">
            <a:off x="10534650" y="4572000"/>
            <a:ext cx="10191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pPr>
            <a:r>
              <a:rPr sz="1125">
                <a:solidFill>
                  <a:srgbClr val="000000"/>
                </a:solidFill>
                <a:latin typeface="Archivo Black"/>
                <a:ea typeface="Archivo Black"/>
                <a:cs typeface="Archivo Black"/>
              </a:rPr>
              <a:t>MASTER 2</a:t>
            </a:r>
            <a:endParaRPr sz="1125" b="0" i="0" u="none" cap="none">
              <a:solidFill>
                <a:srgbClr val="000000"/>
              </a:solidFill>
              <a:latin typeface="Calibri"/>
              <a:ea typeface="Calibri"/>
              <a:cs typeface="Calibri"/>
            </a:endParaRPr>
          </a:p>
        </p:txBody>
      </p:sp>
      <p:sp>
        <p:nvSpPr>
          <p:cNvPr id="23" name="Google Shape;23;p3">
            <a:extLst xmlns:a="http://schemas.openxmlformats.org/drawingml/2006/main">
              <a:ext uri="{FF2B5EF4-FFF2-40B4-BE49-F238E27FC236}">
                <a16:creationId xmlns:a16="http://schemas.microsoft.com/office/drawing/2014/main" id="{9354403E-572D-4062-B38B-057B6305B562}"/>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24" name="Google Shape;24;p3">
            <a:extLst xmlns:a="http://schemas.openxmlformats.org/drawingml/2006/main">
              <a:ext uri="{FF2B5EF4-FFF2-40B4-BE49-F238E27FC236}">
                <a16:creationId xmlns:a16="http://schemas.microsoft.com/office/drawing/2014/main" id="{DF5AAFDE-6ABF-4F0D-BEF4-43882B8E11CF}"/>
              </a:ext>
            </a:extLst>
          </p:cNvPr>
          <p:cNvSpPr>
            <a:spLocks xmlns:a="http://schemas.openxmlformats.org/drawingml/2006/main" noGrp="1"/>
          </p:cNvSpPr>
          <p:nvPr/>
        </p:nvSpPr>
        <p:spPr>
          <a:xfrm xmlns:a="http://schemas.openxmlformats.org/drawingml/2006/main">
            <a:off x="914400" y="5705856"/>
            <a:ext cx="10362900" cy="9000"/>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 name="Google Shape;25;p3">
            <a:extLst xmlns:a="http://schemas.openxmlformats.org/drawingml/2006/main">
              <a:ext uri="{FF2B5EF4-FFF2-40B4-BE49-F238E27FC236}">
                <a16:creationId xmlns:a16="http://schemas.microsoft.com/office/drawing/2014/main" id="{520588CF-5BE8-4682-9BD6-5B878B485DC5}"/>
              </a:ext>
            </a:extLst>
          </p:cNvPr>
          <p:cNvSpPr>
            <a:spLocks xmlns:a="http://schemas.openxmlformats.org/drawingml/2006/main" noGrp="1"/>
          </p:cNvSpPr>
          <p:nvPr/>
        </p:nvSpPr>
        <p:spPr>
          <a:xfrm xmlns:a="http://schemas.openxmlformats.org/drawingml/2006/main">
            <a:off x="10534650" y="4981575"/>
            <a:ext cx="1028700" cy="561975"/>
          </a:xfrm>
          <a:prstGeom xmlns:a="http://schemas.openxmlformats.org/drawingml/2006/main" prst="rect">
            <a:avLst/>
          </a:prstGeom>
          <a:noFill xmlns:a="http://schemas.openxmlformats.org/drawingml/2006/main"/>
          <a:ln xmlns:a="http://schemas.openxmlformats.org/drawingml/2006/main">
            <a:noFill/>
          </a:ln>
        </p:spPr>
        <p:txBody>
          <ns0:bodyPr xmlns:ns0="http://schemas.openxmlformats.org/drawingml/2006/main" wrap="none" lIns="0" rIns="0" tIns="0" bIns="0" anchor="ctr">
            <ns0:noAutofit/>
          </ns0:bodyPr>
          <ns1:lstStyle xmlns:ns1="http://schemas.openxmlformats.org/drawingml/2006/main"/>
          <ns2:p xmlns:ns2="http://schemas.openxmlformats.org/drawingml/2006/main">
            <ns2:pPr algn="ctr">
              <ns2:buNone/>
            </ns2:pPr>
            <ns2:r>
              <ns2:rPr sz="2400">
                <ns2:solidFill>
                  <ns2:srgbClr val="BF3000"/>
                </ns2:solidFill>
                <ns2:latin typeface="Archivo Black"/>
                <ns2:ea typeface="Archivo Black"/>
                <ns2:cs typeface="Archivo Black"/>
              </ns2:rPr>
              <ns2:t>35 h</ns2:t>
            </ns2:r>
          </ns2:p>
        </p:txBody>
      </p:sp>
      <p:pic>
        <p:nvPicPr>
          <p:cNvPr id="41" name="Google Shape;26;p3"/>
          <p:cNvPicPr>
            <a:picLocks xmlns:a="http://schemas.openxmlformats.org/drawingml/2006/main" noChangeAspect="1"/>
          </p:cNvPicPr>
          <p:nvPr/>
        </p:nvPicPr>
        <p:blipFill>
          <a:blip xmlns:r="http://schemas.openxmlformats.org/officeDocument/2006/relationships" xmlns:a="http://schemas.openxmlformats.org/drawingml/2006/main" r:embed="R0e1b795fb6114da7">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28" name="course-text">
            <a:extLst xmlns:a="http://schemas.openxmlformats.org/drawingml/2006/main">
              <a:ext uri="{FF2B5EF4-FFF2-40B4-BE49-F238E27FC236}">
                <a16:creationId xmlns:a16="http://schemas.microsoft.com/office/drawing/2014/main" id="{819640A3-ED5E-4BCD-B3DC-DC718095CE3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 / 135</a:t>
            </a:r>
          </a:p>
        </p:txBody>
      </p:sp>
      <p:sp>
        <p:nvSpPr>
          <p:cNvPr id="29" name="course-text">
            <a:extLst xmlns:a="http://schemas.openxmlformats.org/drawingml/2006/main">
              <a:ext uri="{FF2B5EF4-FFF2-40B4-BE49-F238E27FC236}">
                <a16:creationId xmlns:a16="http://schemas.microsoft.com/office/drawing/2014/main" id="{192B8280-1C91-487C-B797-8FE5C77A453B}"/>
              </a:ext>
            </a:extLst>
          </p:cNvPr>
          <p:cNvSpPr>
            <a:spLocks xmlns:a="http://schemas.openxmlformats.org/drawingml/2006/main" noGrp="1"/>
          </p:cNvSpPr>
          <p:nvPr/>
        </p:nvSpPr>
        <p:spPr>
          <a:xfrm xmlns:a="http://schemas.openxmlformats.org/drawingml/2006/main">
            <a:off x="933450" y="39814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Chrys NIONGOLO</a:t>
            </a:r>
          </a:p>
        </p:txBody>
      </p:sp>
      <p:sp>
        <p:nvSpPr>
          <p:cNvPr id="30" name="course-text">
            <a:extLst xmlns:a="http://schemas.openxmlformats.org/drawingml/2006/main">
              <a:ext uri="{FF2B5EF4-FFF2-40B4-BE49-F238E27FC236}">
                <a16:creationId xmlns:a16="http://schemas.microsoft.com/office/drawing/2014/main" id="{0EAC0C38-2A9F-4623-AA74-319A8CC2A598}"/>
              </a:ext>
            </a:extLst>
          </p:cNvPr>
          <p:cNvSpPr>
            <a:spLocks xmlns:a="http://schemas.openxmlformats.org/drawingml/2006/main" noGrp="1"/>
          </p:cNvSpPr>
          <p:nvPr/>
        </p:nvSpPr>
        <p:spPr>
          <a:xfrm xmlns:a="http://schemas.openxmlformats.org/drawingml/2006/main">
            <a:off x="933450" y="4476750"/>
            <a:ext cx="885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FFFFFF"/>
                </a:solidFill>
                <a:latin typeface="DM Sans"/>
                <a:ea typeface="DM Sans"/>
                <a:cs typeface="DM Sans"/>
              </a:defRPr>
            </a:pPr>
            <a:r>
              <a:rPr sz="1800" b="0">
                <a:solidFill>
                  <a:srgbClr val="FFFFFF"/>
                </a:solidFill>
                <a:latin typeface="DM Sans"/>
                <a:ea typeface="DM Sans"/>
                <a:cs typeface="DM Sans"/>
              </a:rPr>
              <a:t>Introduction technique · Master 2 Intelligence artificielle</a:t>
            </a:r>
          </a:p>
        </p:txBody>
      </p:sp>
    </p:spTree>
    <p:extLst>
      <p:ext uri="{BB962C8B-B14F-4D97-AF65-F5344CB8AC3E}">
        <p14:creationId xmlns:p14="http://schemas.microsoft.com/office/powerpoint/2010/main" val="223010090"/>
      </p:ext>
    </p:extLst>
  </p:cSld>
</p:sld>
</file>

<file path=ppt/slides/slide2.xml><?xml version="1.0" encoding="utf-8"?>
<p:sld xmlns:p="http://schemas.openxmlformats.org/presentationml/2006/main">
  <p:cSld>
    <p:bg>
      <p:bgPr>
        <a:solidFill xmlns:a="http://schemas.openxmlformats.org/drawingml/2006/main">
          <a:srgbClr val="0A0F47">
            <a:alpha val="88050"/>
          </a:srgbClr>
        </a:solidFill>
      </p:bgPr>
    </p:bg>
    <p:spTree>
      <p:nvGrpSpPr>
        <p:cNvPr id="1" name=""/>
        <p:cNvGrpSpPr/>
        <p:nvPr/>
      </p:nvGrpSpPr>
      <p:grpSpPr>
        <a:xfrm xmlns:a="http://schemas.openxmlformats.org/drawingml/2006/main"/>
      </p:grpSpPr>
      <p:sp>
        <p:nvSpPr>
          <p:cNvPr id="74" name="Google Shape;74;p5">
            <a:extLst xmlns:a="http://schemas.openxmlformats.org/drawingml/2006/main">
              <a:ext uri="{FF2B5EF4-FFF2-40B4-BE49-F238E27FC236}">
                <a16:creationId xmlns:a16="http://schemas.microsoft.com/office/drawing/2014/main" id="{283292D2-9A0D-4FD7-B9E8-AF1065976182}"/>
              </a:ext>
            </a:extLst>
          </p:cNvPr>
          <p:cNvSpPr>
            <a:spLocks xmlns:a="http://schemas.openxmlformats.org/drawingml/2006/main" noGrp="1"/>
          </p:cNvSpPr>
          <p:nvPr/>
        </p:nvSpPr>
        <p:spPr>
          <a:xfrm xmlns:a="http://schemas.openxmlformats.org/drawingml/2006/main">
            <a:off x="914400" y="1362075"/>
            <a:ext cx="4764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01</a:t>
            </a:r>
            <a:endParaRPr sz="2100" b="0" i="0" u="none" cap="none">
              <a:solidFill>
                <a:schemeClr val="dk1"/>
              </a:solidFill>
              <a:latin typeface="Calibri"/>
              <a:ea typeface="Calibri"/>
              <a:cs typeface="Calibri"/>
            </a:endParaRPr>
          </a:p>
        </p:txBody>
      </p:sp>
      <p:sp>
        <p:nvSpPr>
          <p:cNvPr id="75" name="Google Shape;75;p5">
            <a:extLst xmlns:a="http://schemas.openxmlformats.org/drawingml/2006/main">
              <a:ext uri="{FF2B5EF4-FFF2-40B4-BE49-F238E27FC236}">
                <a16:creationId xmlns:a16="http://schemas.microsoft.com/office/drawing/2014/main" id="{FF03434E-A38C-44DD-9DE6-F8CABFA26903}"/>
              </a:ext>
            </a:extLst>
          </p:cNvPr>
          <p:cNvSpPr>
            <a:spLocks xmlns:a="http://schemas.openxmlformats.org/drawingml/2006/main" noGrp="1"/>
          </p:cNvSpPr>
          <p:nvPr/>
        </p:nvSpPr>
        <p:spPr>
          <a:xfrm xmlns:a="http://schemas.openxmlformats.org/drawingml/2006/main">
            <a:off x="1638605" y="1362075"/>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Réseaux profonds &amp; rétropropagation</a:t>
            </a:r>
            <a:endParaRPr sz="1800" b="0" i="0" u="none" cap="none">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62DDA754-A158-4FAA-8190-06977ABD0BB9}"/>
              </a:ext>
            </a:extLst>
          </p:cNvPr>
          <p:cNvSpPr>
            <a:spLocks xmlns:a="http://schemas.openxmlformats.org/drawingml/2006/main" noGrp="1"/>
          </p:cNvSpPr>
          <p:nvPr/>
        </p:nvSpPr>
        <p:spPr>
          <a:xfrm xmlns:a="http://schemas.openxmlformats.org/drawingml/2006/main">
            <a:off x="914400" y="1847850"/>
            <a:ext cx="6099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2</a:t>
            </a:r>
            <a:endParaRPr sz="2100" b="0" i="0" u="none" cap="none">
              <a:solidFill>
                <a:schemeClr val="dk1"/>
              </a:solidFill>
              <a:latin typeface="Calibri"/>
              <a:ea typeface="Calibri"/>
              <a:cs typeface="Calibri"/>
            </a:endParaRPr>
          </a:p>
        </p:txBody>
      </p:sp>
      <p:sp>
        <p:nvSpPr>
          <p:cNvPr id="77" name="Google Shape;77;p5">
            <a:extLst xmlns:a="http://schemas.openxmlformats.org/drawingml/2006/main">
              <a:ext uri="{FF2B5EF4-FFF2-40B4-BE49-F238E27FC236}">
                <a16:creationId xmlns:a16="http://schemas.microsoft.com/office/drawing/2014/main" id="{C5361E57-7658-4F00-B583-96F2F80F95A5}"/>
              </a:ext>
            </a:extLst>
          </p:cNvPr>
          <p:cNvSpPr>
            <a:spLocks xmlns:a="http://schemas.openxmlformats.org/drawingml/2006/main" noGrp="1"/>
          </p:cNvSpPr>
          <p:nvPr/>
        </p:nvSpPr>
        <p:spPr>
          <a:xfrm xmlns:a="http://schemas.openxmlformats.org/drawingml/2006/main">
            <a:off x="1638605" y="1847850"/>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Optimisation &amp; convolutions</a:t>
            </a:r>
            <a:r>
              <a:rPr sz="1800" b="1" i="0" u="none" cap="none">
                <a:solidFill>
                  <a:srgbClr val="FFFFFF"/>
                </a:solidFill>
                <a:latin typeface="DM Sans"/>
                <a:ea typeface="DM Sans"/>
                <a:cs typeface="DM Sans"/>
              </a:rPr>
              <a:t/>
            </a:r>
            <a:endParaRPr sz="1800" b="0" i="0" u="none" cap="none">
              <a:solidFill>
                <a:schemeClr val="dk1"/>
              </a:solidFill>
              <a:latin typeface="Calibri"/>
              <a:ea typeface="Calibri"/>
              <a:cs typeface="Calibri"/>
            </a:endParaRPr>
          </a:p>
        </p:txBody>
      </p:sp>
      <p:sp>
        <p:nvSpPr>
          <p:cNvPr id="78" name="Google Shape;78;p5">
            <a:extLst xmlns:a="http://schemas.openxmlformats.org/drawingml/2006/main">
              <a:ext uri="{FF2B5EF4-FFF2-40B4-BE49-F238E27FC236}">
                <a16:creationId xmlns:a16="http://schemas.microsoft.com/office/drawing/2014/main" id="{B512ECC2-A25D-4B29-B4EC-79B0EFFDFF24}"/>
              </a:ext>
            </a:extLst>
          </p:cNvPr>
          <p:cNvSpPr>
            <a:spLocks xmlns:a="http://schemas.openxmlformats.org/drawingml/2006/main" noGrp="1"/>
          </p:cNvSpPr>
          <p:nvPr/>
        </p:nvSpPr>
        <p:spPr>
          <a:xfrm xmlns:a="http://schemas.openxmlformats.org/drawingml/2006/main">
            <a:off x="914400" y="2333625"/>
            <a:ext cx="5433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3</a:t>
            </a:r>
            <a:endParaRPr sz="2100" b="0" i="0" u="none" cap="none">
              <a:solidFill>
                <a:schemeClr val="dk1"/>
              </a:solidFill>
              <a:latin typeface="Calibri"/>
              <a:ea typeface="Calibri"/>
              <a:cs typeface="Calibri"/>
            </a:endParaRPr>
          </a:p>
        </p:txBody>
      </p:sp>
      <p:sp>
        <p:nvSpPr>
          <p:cNvPr id="79" name="Google Shape;79;p5">
            <a:extLst xmlns:a="http://schemas.openxmlformats.org/drawingml/2006/main">
              <a:ext uri="{FF2B5EF4-FFF2-40B4-BE49-F238E27FC236}">
                <a16:creationId xmlns:a16="http://schemas.microsoft.com/office/drawing/2014/main" id="{EAF39106-2121-4EC7-BC74-A8CB00EBDA23}"/>
              </a:ext>
            </a:extLst>
          </p:cNvPr>
          <p:cNvSpPr>
            <a:spLocks xmlns:a="http://schemas.openxmlformats.org/drawingml/2006/main" noGrp="1"/>
          </p:cNvSpPr>
          <p:nvPr/>
        </p:nvSpPr>
        <p:spPr>
          <a:xfrm xmlns:a="http://schemas.openxmlformats.org/drawingml/2006/main">
            <a:off x="1638605" y="2333625"/>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CNN &amp; transfert d’apprentissage</a:t>
            </a:r>
            <a:endParaRPr sz="1800" b="0" i="0" u="none" cap="none">
              <a:solidFill>
                <a:schemeClr val="dk1"/>
              </a:solidFill>
              <a:latin typeface="Calibri"/>
              <a:ea typeface="Calibri"/>
              <a:cs typeface="Calibri"/>
            </a:endParaRPr>
          </a:p>
        </p:txBody>
      </p:sp>
      <p:sp>
        <p:nvSpPr>
          <p:cNvPr id="80" name="Google Shape;80;p5">
            <a:extLst xmlns:a="http://schemas.openxmlformats.org/drawingml/2006/main">
              <a:ext uri="{FF2B5EF4-FFF2-40B4-BE49-F238E27FC236}">
                <a16:creationId xmlns:a16="http://schemas.microsoft.com/office/drawing/2014/main" id="{1CB3D246-B3BB-40E6-80CB-D4BCB8EBD443}"/>
              </a:ext>
            </a:extLst>
          </p:cNvPr>
          <p:cNvSpPr>
            <a:spLocks xmlns:a="http://schemas.openxmlformats.org/drawingml/2006/main" noGrp="1"/>
          </p:cNvSpPr>
          <p:nvPr/>
        </p:nvSpPr>
        <p:spPr>
          <a:xfrm xmlns:a="http://schemas.openxmlformats.org/drawingml/2006/main">
            <a:off x="914400" y="2819400"/>
            <a:ext cx="5532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4</a:t>
            </a:r>
            <a:endParaRPr sz="2100" b="0" i="0" u="none" cap="none">
              <a:solidFill>
                <a:schemeClr val="dk1"/>
              </a:solidFill>
              <a:latin typeface="Calibri"/>
              <a:ea typeface="Calibri"/>
              <a:cs typeface="Calibri"/>
            </a:endParaRPr>
          </a:p>
        </p:txBody>
      </p:sp>
      <p:sp>
        <p:nvSpPr>
          <p:cNvPr id="81" name="Google Shape;81;p5">
            <a:extLst xmlns:a="http://schemas.openxmlformats.org/drawingml/2006/main">
              <a:ext uri="{FF2B5EF4-FFF2-40B4-BE49-F238E27FC236}">
                <a16:creationId xmlns:a16="http://schemas.microsoft.com/office/drawing/2014/main" id="{E56ED66C-5C3E-4302-A3F1-1BBF77504046}"/>
              </a:ext>
            </a:extLst>
          </p:cNvPr>
          <p:cNvSpPr>
            <a:spLocks xmlns:a="http://schemas.openxmlformats.org/drawingml/2006/main" noGrp="1"/>
          </p:cNvSpPr>
          <p:nvPr/>
        </p:nvSpPr>
        <p:spPr>
          <a:xfrm xmlns:a="http://schemas.openxmlformats.org/drawingml/2006/main">
            <a:off x="1638605" y="2819400"/>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Attention &amp; Transformers</a:t>
            </a:r>
            <a:endParaRPr sz="1800" b="0" i="0" u="none" cap="none">
              <a:solidFill>
                <a:schemeClr val="dk1"/>
              </a:solidFill>
              <a:latin typeface="Calibri"/>
              <a:ea typeface="Calibri"/>
              <a:cs typeface="Calibri"/>
            </a:endParaRPr>
          </a:p>
        </p:txBody>
      </p:sp>
      <p:sp>
        <p:nvSpPr>
          <p:cNvPr id="82" name="Google Shape;82;p5">
            <a:extLst xmlns:a="http://schemas.openxmlformats.org/drawingml/2006/main">
              <a:ext uri="{FF2B5EF4-FFF2-40B4-BE49-F238E27FC236}">
                <a16:creationId xmlns:a16="http://schemas.microsoft.com/office/drawing/2014/main" id="{46093CF3-EA8F-4140-BBCB-1C1DC1744EC5}"/>
              </a:ext>
            </a:extLst>
          </p:cNvPr>
          <p:cNvSpPr>
            <a:spLocks xmlns:a="http://schemas.openxmlformats.org/drawingml/2006/main" noGrp="1"/>
          </p:cNvSpPr>
          <p:nvPr/>
        </p:nvSpPr>
        <p:spPr>
          <a:xfrm xmlns:a="http://schemas.openxmlformats.org/drawingml/2006/main">
            <a:off x="914400" y="3305175"/>
            <a:ext cx="5532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5</a:t>
            </a:r>
            <a:endParaRPr sz="2100" b="0" i="0" u="none" cap="none">
              <a:solidFill>
                <a:schemeClr val="dk1"/>
              </a:solidFill>
              <a:latin typeface="Calibri"/>
              <a:ea typeface="Calibri"/>
              <a:cs typeface="Calibri"/>
            </a:endParaRPr>
          </a:p>
        </p:txBody>
      </p:sp>
      <p:sp>
        <p:nvSpPr>
          <p:cNvPr id="83" name="Google Shape;83;p5">
            <a:extLst xmlns:a="http://schemas.openxmlformats.org/drawingml/2006/main">
              <a:ext uri="{FF2B5EF4-FFF2-40B4-BE49-F238E27FC236}">
                <a16:creationId xmlns:a16="http://schemas.microsoft.com/office/drawing/2014/main" id="{7F9CF2D3-32C2-4913-A90F-E4AD6049294F}"/>
              </a:ext>
            </a:extLst>
          </p:cNvPr>
          <p:cNvSpPr>
            <a:spLocks xmlns:a="http://schemas.openxmlformats.org/drawingml/2006/main" noGrp="1"/>
          </p:cNvSpPr>
          <p:nvPr/>
        </p:nvSpPr>
        <p:spPr>
          <a:xfrm xmlns:a="http://schemas.openxmlformats.org/drawingml/2006/main">
            <a:off x="1638605" y="3305175"/>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Modèles causaux &amp; mise en pratique</a:t>
            </a:r>
            <a:endParaRPr sz="1800" b="0" i="0" u="none" cap="none">
              <a:solidFill>
                <a:schemeClr val="dk1"/>
              </a:solidFill>
              <a:latin typeface="Calibri"/>
              <a:ea typeface="Calibri"/>
              <a:cs typeface="Calibri"/>
            </a:endParaRPr>
          </a:p>
        </p:txBody>
      </p:sp>
      <p:sp>
        <p:nvSpPr>
          <p:cNvPr id="84" name="Google Shape;84;p5">
            <a:extLst xmlns:a="http://schemas.openxmlformats.org/drawingml/2006/main">
              <a:ext uri="{FF2B5EF4-FFF2-40B4-BE49-F238E27FC236}">
                <a16:creationId xmlns:a16="http://schemas.microsoft.com/office/drawing/2014/main" id="{1636FFC7-3BD7-4FE1-86E6-F41210E0A8EC}"/>
              </a:ext>
            </a:extLst>
          </p:cNvPr>
          <p:cNvSpPr>
            <a:spLocks xmlns:a="http://schemas.openxmlformats.org/drawingml/2006/main" noGrp="1"/>
          </p:cNvSpPr>
          <p:nvPr/>
        </p:nvSpPr>
        <p:spPr>
          <a:xfrm xmlns:a="http://schemas.openxmlformats.org/drawingml/2006/main">
            <a:off x="914400" y="4224528"/>
            <a:ext cx="7696505" cy="12390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9000"/>
              <a:buFont typeface="Archivo Black"/>
              <a:buNone/>
            </a:pPr>
            <a:r>
              <a:rPr sz="9000" b="0" i="0" u="none" cap="none">
                <a:solidFill>
                  <a:srgbClr val="FFFFFF"/>
                </a:solidFill>
                <a:latin typeface="Archivo Black"/>
                <a:ea typeface="Archivo Black"/>
                <a:cs typeface="Archivo Black"/>
              </a:rPr>
              <a:t>SOMMAIRE</a:t>
            </a:r>
            <a:endParaRPr sz="9000" b="0" i="0" u="none" cap="none">
              <a:solidFill>
                <a:schemeClr val="dk1"/>
              </a:solidFill>
              <a:latin typeface="Calibri"/>
              <a:ea typeface="Calibri"/>
              <a:cs typeface="Calibri"/>
            </a:endParaRPr>
          </a:p>
        </p:txBody>
      </p:sp>
      <p:sp>
        <p:nvSpPr>
          <p:cNvPr id="85" name="Google Shape;85;p5">
            <a:extLst xmlns:a="http://schemas.openxmlformats.org/drawingml/2006/main">
              <a:ext uri="{FF2B5EF4-FFF2-40B4-BE49-F238E27FC236}">
                <a16:creationId xmlns:a16="http://schemas.microsoft.com/office/drawing/2014/main" id="{743284BE-FED8-4E30-8C1D-32BE1C0E1157}"/>
              </a:ext>
            </a:extLst>
          </p:cNvPr>
          <p:cNvSpPr>
            <a:spLocks xmlns:a="http://schemas.openxmlformats.org/drawingml/2006/main" noGrp="1"/>
          </p:cNvSpPr>
          <p:nvPr/>
        </p:nvSpPr>
        <p:spPr>
          <a:xfrm xmlns:a="http://schemas.openxmlformats.org/drawingml/2006/main">
            <a:off x="914400" y="5705856"/>
            <a:ext cx="10362895" cy="9144"/>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6" name="Google Shape;86;p5">
            <a:extLst xmlns:a="http://schemas.openxmlformats.org/drawingml/2006/main">
              <a:ext uri="{FF2B5EF4-FFF2-40B4-BE49-F238E27FC236}">
                <a16:creationId xmlns:a16="http://schemas.microsoft.com/office/drawing/2014/main" id="{F2C33264-513E-49E8-890A-F93F3E6E9E00}"/>
              </a:ext>
            </a:extLst>
          </p:cNvPr>
          <p:cNvSpPr>
            <a:spLocks xmlns:a="http://schemas.openxmlformats.org/drawingml/2006/main" noGrp="1"/>
          </p:cNvSpPr>
          <p:nvPr/>
        </p:nvSpPr>
        <p:spPr>
          <a:xfrm xmlns:a="http://schemas.openxmlformats.org/drawingml/2006/main">
            <a:off x="8191500" y="1000348"/>
            <a:ext cx="38400" cy="2670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lt1"/>
              </a:solidFill>
            </a:endParaRPr>
          </a:p>
        </p:txBody>
      </p:sp>
      <p:sp>
        <p:nvSpPr>
          <p:cNvPr id="87" name="Google Shape;87;p5">
            <a:extLst xmlns:a="http://schemas.openxmlformats.org/drawingml/2006/main">
              <a:ext uri="{FF2B5EF4-FFF2-40B4-BE49-F238E27FC236}">
                <a16:creationId xmlns:a16="http://schemas.microsoft.com/office/drawing/2014/main" id="{E9FCC174-28A3-48C7-90D0-F1EC3F21AB52}"/>
              </a:ext>
            </a:extLst>
          </p:cNvPr>
          <p:cNvSpPr>
            <a:spLocks xmlns:a="http://schemas.openxmlformats.org/drawingml/2006/main" noGrp="1"/>
          </p:cNvSpPr>
          <p:nvPr/>
        </p:nvSpPr>
        <p:spPr>
          <a:xfrm xmlns:a="http://schemas.openxmlformats.org/drawingml/2006/main">
            <a:off x="8381695" y="1028694"/>
            <a:ext cx="2210100" cy="21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500"/>
              <a:buFont typeface="Archivo Black"/>
              <a:buNone/>
            </a:pPr>
            <a:r>
              <a:rPr sz="1500" b="0" i="0" u="none" cap="none">
                <a:solidFill>
                  <a:schemeClr val="lt1"/>
                </a:solidFill>
                <a:latin typeface="Archivo Black"/>
                <a:ea typeface="Archivo Black"/>
                <a:cs typeface="Archivo Black"/>
              </a:rPr>
              <a:t>APERÇU DU COURS</a:t>
            </a:r>
            <a:endParaRPr sz="1500" b="0" i="0" u="none" cap="none">
              <a:solidFill>
                <a:schemeClr val="lt1"/>
              </a:solidFill>
              <a:latin typeface="Calibri"/>
              <a:ea typeface="Calibri"/>
              <a:cs typeface="Calibri"/>
            </a:endParaRPr>
          </a:p>
        </p:txBody>
      </p:sp>
      <p:sp>
        <p:nvSpPr>
          <p:cNvPr id="88" name="Google Shape;88;p5">
            <a:extLst xmlns:a="http://schemas.openxmlformats.org/drawingml/2006/main">
              <a:ext uri="{FF2B5EF4-FFF2-40B4-BE49-F238E27FC236}">
                <a16:creationId xmlns:a16="http://schemas.microsoft.com/office/drawing/2014/main" id="{DD696751-5183-4E59-8DC9-764F306D8642}"/>
              </a:ext>
            </a:extLst>
          </p:cNvPr>
          <p:cNvSpPr>
            <a:spLocks xmlns:a="http://schemas.openxmlformats.org/drawingml/2006/main" noGrp="1"/>
          </p:cNvSpPr>
          <p:nvPr/>
        </p:nvSpPr>
        <p:spPr>
          <a:xfrm xmlns:a="http://schemas.openxmlformats.org/drawingml/2006/main">
            <a:off x="8191500" y="1392691"/>
            <a:ext cx="3396000" cy="16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F2937"/>
              </a:buClr>
              <a:buSzPts val="1300"/>
              <a:buFont typeface="DM Sans"/>
              <a:buNone/>
            </a:pPr>
            <a:r>
              <a:rPr sz="1300" b="0" i="0" u="none" cap="none">
                <a:solidFill>
                  <a:schemeClr val="lt1"/>
                </a:solidFill>
                <a:latin typeface="DM Sans"/>
                <a:ea typeface="DM Sans"/>
                <a:cs typeface="DM Sans"/>
              </a:rPr>
              <a:t>Un calcul, une implémentation et une expérience pour comprendre chaque architecture.</a:t>
            </a:r>
            <a:endParaRPr sz="1300" b="0" i="0" u="none" cap="none">
              <a:solidFill>
                <a:schemeClr val="lt1"/>
              </a:solidFill>
              <a:latin typeface="Calibri"/>
              <a:ea typeface="Calibri"/>
              <a:cs typeface="Calibri"/>
            </a:endParaRPr>
          </a:p>
          <a:p xmlns:a="http://schemas.openxmlformats.org/drawingml/2006/main">
            <a:pPr marL="0" marR="0" lvl="0" indent="0" algn="l">
              <a:spcBef>
                <a:spcPts val="0"/>
              </a:spcBef>
              <a:spcAft>
                <a:spcPts val="0"/>
              </a:spcAft>
              <a:buClr>
                <a:srgbClr val="1F2937"/>
              </a:buClr>
              <a:buSzPts val="1300"/>
              <a:buFont typeface="DM Sans"/>
              <a:buNone/>
            </a:pPr>
            <a:r>
              <a:rPr sz="1300" b="0" i="0" u="none" cap="none">
                <a:solidFill>
                  <a:schemeClr val="lt1"/>
                </a:solidFill>
                <a:latin typeface="DM Sans"/>
                <a:ea typeface="DM Sans"/>
                <a:cs typeface="DM Sans"/>
              </a:rPr>
              <a:t/>
            </a:r>
            <a:endParaRPr sz="1300" b="0" i="0" u="none" cap="none">
              <a:solidFill>
                <a:schemeClr val="lt1"/>
              </a:solidFill>
              <a:latin typeface="Calibri"/>
              <a:ea typeface="Calibri"/>
              <a:cs typeface="Calibri"/>
            </a:endParaRPr>
          </a:p>
          <a:p xmlns:a="http://schemas.openxmlformats.org/drawingml/2006/main">
            <a:pPr marL="0" marR="0" lvl="0" indent="0" algn="l">
              <a:spcBef>
                <a:spcPts val="0"/>
              </a:spcBef>
              <a:spcAft>
                <a:spcPts val="0"/>
              </a:spcAft>
              <a:buClr>
                <a:srgbClr val="1F2937"/>
              </a:buClr>
              <a:buSzPts val="1300"/>
              <a:buFont typeface="DM Sans"/>
              <a:buNone/>
            </a:pPr>
            <a:r>
              <a:rPr sz="1300" b="0" i="0" u="none" cap="none">
                <a:solidFill>
                  <a:schemeClr val="lt1"/>
                </a:solidFill>
                <a:latin typeface="DM Sans"/>
                <a:ea typeface="DM Sans"/>
                <a:cs typeface="DM Sans"/>
              </a:rPr>
              <a:t>Cours, exercices et cinq TP progressifs sur CPU.</a:t>
            </a:r>
            <a:endParaRPr sz="1300" b="0" i="0" u="none" cap="none">
              <a:solidFill>
                <a:schemeClr val="lt1"/>
              </a:solidFill>
              <a:latin typeface="Calibri"/>
              <a:ea typeface="Calibri"/>
              <a:cs typeface="Calibri"/>
            </a:endParaRPr>
          </a:p>
        </p:txBody>
      </p:sp>
      <p:sp>
        <p:nvSpPr>
          <p:cNvPr id="89" name="Google Shape;89;p5">
            <a:extLst xmlns:a="http://schemas.openxmlformats.org/drawingml/2006/main">
              <a:ext uri="{FF2B5EF4-FFF2-40B4-BE49-F238E27FC236}">
                <a16:creationId xmlns:a16="http://schemas.microsoft.com/office/drawing/2014/main" id="{0552351A-42FF-4A2C-83F8-7C8B6B31A338}"/>
              </a:ext>
            </a:extLst>
          </p:cNvPr>
          <p:cNvSpPr>
            <a:spLocks xmlns:a="http://schemas.openxmlformats.org/drawingml/2006/main" noGrp="1"/>
          </p:cNvSpPr>
          <p:nvPr/>
        </p:nvSpPr>
        <p:spPr>
          <a:xfrm xmlns:a="http://schemas.openxmlformats.org/drawingml/2006/main">
            <a:off x="8191500" y="3053684"/>
            <a:ext cx="381300" cy="381300"/>
          </a:xfrm>
          <a:prstGeom xmlns:a="http://schemas.openxmlformats.org/drawingml/2006/main" prst="roundRect">
            <a:avLst>
              <a:gd name="adj" fmla="val 239808"/>
            </a:avLst>
          </a:prstGeom>
          <a:noFill xmlns:a="http://schemas.openxmlformats.org/drawingml/2006/main"/>
          <a:ln xmlns:a="http://schemas.openxmlformats.org/drawingml/2006/main" w="25400" cmpd="sng">
            <a:solidFill>
              <a:schemeClr val="lt1"/>
            </a:solidFill>
            <a:prstDash val="solid"/>
            <a:headEnd type="none" w="sm" len="sm"/>
            <a:tailEnd type="none" w="sm" len="sm"/>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29" name="Google Shape;90;p5"/>
          <p:cNvPicPr>
            <a:picLocks xmlns:a="http://schemas.openxmlformats.org/drawingml/2006/main" noChangeAspect="1"/>
          </p:cNvPicPr>
          <p:nvPr/>
        </p:nvPicPr>
        <p:blipFill rotWithShape="1">
          <a:blip xmlns:r="http://schemas.openxmlformats.org/officeDocument/2006/relationships" xmlns:a="http://schemas.openxmlformats.org/drawingml/2006/main" r:embed="Rc52306bc64ef4ff6">
            <a:alphaModFix/>
          </a:blip>
          <a:srcRect xmlns:a="http://schemas.openxmlformats.org/drawingml/2006/main" l="0" t="0" r="0" b="0"/>
          <a:stretch xmlns:a="http://schemas.openxmlformats.org/drawingml/2006/main"/>
        </p:blipFill>
        <p:spPr>
          <a:xfrm xmlns:a="http://schemas.openxmlformats.org/drawingml/2006/main">
            <a:off x="8305800" y="3167984"/>
            <a:ext cx="152705" cy="152705"/>
          </a:xfrm>
          <a:prstGeom xmlns:a="http://schemas.openxmlformats.org/drawingml/2006/main" prst="rect">
            <a:avLst/>
          </a:prstGeom>
          <a:ln xmlns:a="http://schemas.openxmlformats.org/drawingml/2006/main">
            <a:noFill/>
          </a:ln>
        </p:spPr>
      </p:pic>
      <p:sp>
        <p:nvSpPr>
          <p:cNvPr id="91" name="Google Shape;91;p5">
            <a:extLst xmlns:a="http://schemas.openxmlformats.org/drawingml/2006/main">
              <a:ext uri="{FF2B5EF4-FFF2-40B4-BE49-F238E27FC236}">
                <a16:creationId xmlns:a16="http://schemas.microsoft.com/office/drawing/2014/main" id="{3ADE6E25-9758-469D-8874-C7B330C930A7}"/>
              </a:ext>
            </a:extLst>
          </p:cNvPr>
          <p:cNvSpPr>
            <a:spLocks xmlns:a="http://schemas.openxmlformats.org/drawingml/2006/main" noGrp="1"/>
          </p:cNvSpPr>
          <p:nvPr/>
        </p:nvSpPr>
        <p:spPr>
          <a:xfrm xmlns:a="http://schemas.openxmlformats.org/drawingml/2006/main">
            <a:off x="8724595" y="3139637"/>
            <a:ext cx="1858200" cy="2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200"/>
              <a:buFont typeface="DM Sans"/>
              <a:buNone/>
            </a:pPr>
            <a:r>
              <a:rPr sz="1200" b="1">
                <a:solidFill>
                  <a:schemeClr val="lt1"/>
                </a:solidFill>
                <a:latin typeface="DM Sans"/>
                <a:ea typeface="DM Sans"/>
                <a:cs typeface="DM Sans"/>
              </a:rPr>
              <a:t>5 journées de 7 heures</a:t>
            </a:r>
            <a:endParaRPr sz="1200" b="0" i="0" u="none" cap="none">
              <a:solidFill>
                <a:schemeClr val="lt1"/>
              </a:solidFill>
              <a:latin typeface="Calibri"/>
              <a:ea typeface="Calibri"/>
              <a:cs typeface="Calibri"/>
            </a:endParaRPr>
          </a:p>
        </p:txBody>
      </p:sp>
      <p:sp>
        <p:nvSpPr>
          <p:cNvPr id="92" name="Google Shape;92;p5">
            <a:extLst xmlns:a="http://schemas.openxmlformats.org/drawingml/2006/main">
              <a:ext uri="{FF2B5EF4-FFF2-40B4-BE49-F238E27FC236}">
                <a16:creationId xmlns:a16="http://schemas.microsoft.com/office/drawing/2014/main" id="{F7E69BD5-54CF-4319-B41B-464A81772DC5}"/>
              </a:ext>
            </a:extLst>
          </p:cNvPr>
          <p:cNvSpPr>
            <a:spLocks xmlns:a="http://schemas.openxmlformats.org/drawingml/2006/main" noGrp="1"/>
          </p:cNvSpPr>
          <p:nvPr/>
        </p:nvSpPr>
        <p:spPr>
          <a:xfrm xmlns:a="http://schemas.openxmlformats.org/drawingml/2006/main">
            <a:off x="8191500" y="3587693"/>
            <a:ext cx="381300" cy="381300"/>
          </a:xfrm>
          <a:prstGeom xmlns:a="http://schemas.openxmlformats.org/drawingml/2006/main" prst="roundRect">
            <a:avLst>
              <a:gd name="adj" fmla="val 239808"/>
            </a:avLst>
          </a:prstGeom>
          <a:noFill xmlns:a="http://schemas.openxmlformats.org/drawingml/2006/main"/>
          <a:ln xmlns:a="http://schemas.openxmlformats.org/drawingml/2006/main" w="25400" cmpd="sng">
            <a:solidFill>
              <a:schemeClr val="lt1"/>
            </a:solidFill>
            <a:prstDash val="solid"/>
            <a:headEnd type="none" w="sm" len="sm"/>
            <a:tailEnd type="none" w="sm" len="sm"/>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32" name="Google Shape;93;p5"/>
          <p:cNvPicPr>
            <a:picLocks xmlns:a="http://schemas.openxmlformats.org/drawingml/2006/main" noChangeAspect="1"/>
          </p:cNvPicPr>
          <p:nvPr/>
        </p:nvPicPr>
        <p:blipFill rotWithShape="1">
          <a:blip xmlns:r="http://schemas.openxmlformats.org/officeDocument/2006/relationships" xmlns:a="http://schemas.openxmlformats.org/drawingml/2006/main" r:embed="R2c636b8758a64d1c">
            <a:alphaModFix/>
          </a:blip>
          <a:srcRect xmlns:a="http://schemas.openxmlformats.org/drawingml/2006/main" l="-30" t="0" r="-40" b="0"/>
          <a:stretch xmlns:a="http://schemas.openxmlformats.org/drawingml/2006/main"/>
        </p:blipFill>
        <p:spPr>
          <a:xfrm xmlns:a="http://schemas.openxmlformats.org/drawingml/2006/main">
            <a:off x="8296656" y="3701993"/>
            <a:ext cx="171907" cy="152705"/>
          </a:xfrm>
          <a:prstGeom xmlns:a="http://schemas.openxmlformats.org/drawingml/2006/main" prst="rect">
            <a:avLst/>
          </a:prstGeom>
          <a:ln xmlns:a="http://schemas.openxmlformats.org/drawingml/2006/main">
            <a:noFill/>
          </a:ln>
        </p:spPr>
      </p:pic>
      <p:sp>
        <p:nvSpPr>
          <p:cNvPr id="94" name="Google Shape;94;p5">
            <a:extLst xmlns:a="http://schemas.openxmlformats.org/drawingml/2006/main">
              <a:ext uri="{FF2B5EF4-FFF2-40B4-BE49-F238E27FC236}">
                <a16:creationId xmlns:a16="http://schemas.microsoft.com/office/drawing/2014/main" id="{B2761E6B-4D47-489C-A88C-3B75C942AE02}"/>
              </a:ext>
            </a:extLst>
          </p:cNvPr>
          <p:cNvSpPr>
            <a:spLocks xmlns:a="http://schemas.openxmlformats.org/drawingml/2006/main" noGrp="1"/>
          </p:cNvSpPr>
          <p:nvPr/>
        </p:nvSpPr>
        <p:spPr>
          <a:xfrm xmlns:a="http://schemas.openxmlformats.org/drawingml/2006/main">
            <a:off x="8724595" y="3672733"/>
            <a:ext cx="1324200" cy="2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200"/>
              <a:buFont typeface="DM Sans"/>
              <a:buNone/>
            </a:pPr>
            <a:r>
              <a:rPr sz="1200" b="1" i="0" u="none" cap="none">
                <a:solidFill>
                  <a:schemeClr val="lt1"/>
                </a:solidFill>
                <a:latin typeface="DM Sans"/>
                <a:ea typeface="DM Sans"/>
                <a:cs typeface="DM Sans"/>
              </a:rPr>
              <a:t>5 TP progressifs</a:t>
            </a:r>
            <a:endParaRPr sz="1200" b="0" i="0" u="none" cap="none">
              <a:solidFill>
                <a:schemeClr val="lt1"/>
              </a:solidFill>
              <a:latin typeface="Calibri"/>
              <a:ea typeface="Calibri"/>
              <a:cs typeface="Calibri"/>
            </a:endParaRPr>
          </a:p>
        </p:txBody>
      </p:sp>
      <p:sp>
        <p:nvSpPr>
          <p:cNvPr id="95" name="Google Shape;95;p5">
            <a:extLst xmlns:a="http://schemas.openxmlformats.org/drawingml/2006/main">
              <a:ext uri="{FF2B5EF4-FFF2-40B4-BE49-F238E27FC236}">
                <a16:creationId xmlns:a16="http://schemas.microsoft.com/office/drawing/2014/main" id="{5E824667-3F2C-42A8-B711-D3C7C3E015A6}"/>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35" name="Google Shape;96;p5"/>
          <p:cNvPicPr>
            <a:picLocks xmlns:a="http://schemas.openxmlformats.org/drawingml/2006/main" noChangeAspect="1"/>
          </p:cNvPicPr>
          <p:nvPr/>
        </p:nvPicPr>
        <p:blipFill>
          <a:blip xmlns:r="http://schemas.openxmlformats.org/officeDocument/2006/relationships" xmlns:a="http://schemas.openxmlformats.org/drawingml/2006/main" r:embed="R152ba8970e4b43c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97" name="Google Shape;97;p5">
            <a:extLst xmlns:a="http://schemas.openxmlformats.org/drawingml/2006/main">
              <a:ext uri="{FF2B5EF4-FFF2-40B4-BE49-F238E27FC236}">
                <a16:creationId xmlns:a16="http://schemas.microsoft.com/office/drawing/2014/main" id="{2A3F1467-49E6-4501-91EE-4080BA188A39}"/>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98" name="Google Shape;98;p5">
            <a:extLst xmlns:a="http://schemas.openxmlformats.org/drawingml/2006/main">
              <a:ext uri="{FF2B5EF4-FFF2-40B4-BE49-F238E27FC236}">
                <a16:creationId xmlns:a16="http://schemas.microsoft.com/office/drawing/2014/main" id="{D3C88F63-A6B4-4259-910A-77C25642FA4A}"/>
              </a:ext>
            </a:extLst>
          </p:cNvPr>
          <p:cNvSpPr>
            <a:spLocks xmlns:a="http://schemas.openxmlformats.org/drawingml/2006/main" noGrp="1"/>
          </p:cNvSpPr>
          <p:nvPr/>
        </p:nvSpPr>
        <p:spPr>
          <a:xfrm xmlns:a="http://schemas.openxmlformats.org/drawingml/2006/main">
            <a:off x="10458907" y="4496105"/>
            <a:ext cx="1162200" cy="1410000"/>
          </a:xfrm>
          <a:prstGeom xmlns:a="http://schemas.openxmlformats.org/drawingml/2006/main" prst="roundRect">
            <a:avLst>
              <a:gd name="adj" fmla="val 5159"/>
            </a:avLst>
          </a:prstGeom>
          <a:solidFill xmlns:a="http://schemas.openxmlformats.org/drawingml/2006/main">
            <a:srgbClr val="FFFFFF"/>
          </a:solidFill>
          <a:ln xmlns:a="http://schemas.openxmlformats.org/drawingml/2006/main" w="12700" cmpd="sng">
            <a:solidFill>
              <a:srgbClr val="E5E7EB"/>
            </a:solidFill>
            <a:prstDash val="solid"/>
            <a:headEnd type="none" w="sm" len="sm"/>
            <a:tailEnd type="none" w="sm" len="sm"/>
          </a:ln>
          <a:effectLst xmlns:a="http://schemas.openxmlformats.org/drawingml/2006/main">
            <a:outerShdw blurRad="63500" dist="38100" dir="5400000" algn="bl" rotWithShape="0">
              <a:srgbClr val="000000">
                <a:alpha val="471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 name="Google Shape;99;p5">
            <a:extLst xmlns:a="http://schemas.openxmlformats.org/drawingml/2006/main">
              <a:ext uri="{FF2B5EF4-FFF2-40B4-BE49-F238E27FC236}">
                <a16:creationId xmlns:a16="http://schemas.microsoft.com/office/drawing/2014/main" id="{098C24CB-A5EF-4980-B1D2-9DB1CBC2313C}"/>
              </a:ext>
            </a:extLst>
          </p:cNvPr>
          <p:cNvSpPr>
            <a:spLocks xmlns:a="http://schemas.openxmlformats.org/drawingml/2006/main" noGrp="1"/>
          </p:cNvSpPr>
          <p:nvPr/>
        </p:nvSpPr>
        <p:spPr>
          <a:xfrm xmlns:a="http://schemas.openxmlformats.org/drawingml/2006/main">
            <a:off x="10553700" y="5638800"/>
            <a:ext cx="99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pPr>
            <a:r>
              <a:rPr sz="1125" b="0" i="0" u="none" cap="none">
                <a:solidFill>
                  <a:srgbClr val="000000"/>
                </a:solidFill>
                <a:latin typeface="Archivo Black"/>
                <a:ea typeface="Archivo Black"/>
                <a:cs typeface="Archivo Black"/>
              </a:rPr>
              <a:t>5 JOURS</a:t>
            </a:r>
            <a:endParaRPr sz="1125" b="0" i="0" u="none" cap="none">
              <a:solidFill>
                <a:srgbClr val="000000"/>
              </a:solidFill>
              <a:latin typeface="Calibri"/>
              <a:ea typeface="Calibri"/>
              <a:cs typeface="Calibri"/>
            </a:endParaRPr>
          </a:p>
        </p:txBody>
      </p:sp>
      <p:sp>
        <p:nvSpPr>
          <p:cNvPr id="100" name="Google Shape;100;p5">
            <a:extLst xmlns:a="http://schemas.openxmlformats.org/drawingml/2006/main">
              <a:ext uri="{FF2B5EF4-FFF2-40B4-BE49-F238E27FC236}">
                <a16:creationId xmlns:a16="http://schemas.microsoft.com/office/drawing/2014/main" id="{2E9E84FF-47D0-4CD7-92E4-51242D2DCD84}"/>
              </a:ext>
            </a:extLst>
          </p:cNvPr>
          <p:cNvSpPr>
            <a:spLocks xmlns:a="http://schemas.openxmlformats.org/drawingml/2006/main" noGrp="1"/>
          </p:cNvSpPr>
          <p:nvPr/>
        </p:nvSpPr>
        <p:spPr>
          <a:xfrm xmlns:a="http://schemas.openxmlformats.org/drawingml/2006/main">
            <a:off x="10534650" y="4572000"/>
            <a:ext cx="10191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pPr>
            <a:r>
              <a:rPr sz="1125">
                <a:solidFill>
                  <a:srgbClr val="000000"/>
                </a:solidFill>
                <a:latin typeface="Archivo Black"/>
                <a:ea typeface="Archivo Black"/>
                <a:cs typeface="Archivo Black"/>
              </a:rPr>
              <a:t>MASTER 2</a:t>
            </a:r>
            <a:endParaRPr sz="1125" b="0" i="0" u="none" cap="none">
              <a:solidFill>
                <a:srgbClr val="000000"/>
              </a:solidFill>
              <a:latin typeface="Calibri"/>
              <a:ea typeface="Calibri"/>
              <a:cs typeface="Calibri"/>
            </a:endParaRPr>
          </a:p>
        </p:txBody>
      </p:sp>
      <p:sp>
        <p:nvSpPr>
          <p:cNvPr id="101" name="Google Shape;101;p5">
            <a:extLst xmlns:a="http://schemas.openxmlformats.org/drawingml/2006/main">
              <a:ext uri="{FF2B5EF4-FFF2-40B4-BE49-F238E27FC236}">
                <a16:creationId xmlns:a16="http://schemas.microsoft.com/office/drawing/2014/main" id="{A77524B8-EB6D-45ED-BBA4-66F42AFA8601}"/>
              </a:ext>
            </a:extLst>
          </p:cNvPr>
          <p:cNvSpPr>
            <a:spLocks xmlns:a="http://schemas.openxmlformats.org/drawingml/2006/main" noGrp="1"/>
          </p:cNvSpPr>
          <p:nvPr/>
        </p:nvSpPr>
        <p:spPr>
          <a:xfrm xmlns:a="http://schemas.openxmlformats.org/drawingml/2006/main">
            <a:off x="914400" y="5705856"/>
            <a:ext cx="10362900" cy="9000"/>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2" name="Google Shape;102;p5">
            <a:extLst xmlns:a="http://schemas.openxmlformats.org/drawingml/2006/main">
              <a:ext uri="{FF2B5EF4-FFF2-40B4-BE49-F238E27FC236}">
                <a16:creationId xmlns:a16="http://schemas.microsoft.com/office/drawing/2014/main" id="{E7B8412F-87A3-4049-91BE-4ADEE0DB269A}"/>
              </a:ext>
            </a:extLst>
          </p:cNvPr>
          <p:cNvSpPr>
            <a:spLocks xmlns:a="http://schemas.openxmlformats.org/drawingml/2006/main" noGrp="1"/>
          </p:cNvSpPr>
          <p:nvPr/>
        </p:nvSpPr>
        <p:spPr>
          <a:xfrm xmlns:a="http://schemas.openxmlformats.org/drawingml/2006/main">
            <a:off x="10534650" y="4981575"/>
            <a:ext cx="1028700" cy="561975"/>
          </a:xfrm>
          <a:prstGeom xmlns:a="http://schemas.openxmlformats.org/drawingml/2006/main" prst="rect">
            <a:avLst/>
          </a:prstGeom>
          <a:noFill xmlns:a="http://schemas.openxmlformats.org/drawingml/2006/main"/>
          <a:ln xmlns:a="http://schemas.openxmlformats.org/drawingml/2006/main">
            <a:noFill/>
          </a:ln>
        </p:spPr>
        <p:txBody>
          <ns0:bodyPr xmlns:ns0="http://schemas.openxmlformats.org/drawingml/2006/main" wrap="none" lIns="0" rIns="0" tIns="0" bIns="0" anchor="ctr">
            <ns0:noAutofit/>
          </ns0:bodyPr>
          <ns1:lstStyle xmlns:ns1="http://schemas.openxmlformats.org/drawingml/2006/main"/>
          <ns2:p xmlns:ns2="http://schemas.openxmlformats.org/drawingml/2006/main">
            <ns2:pPr algn="ctr">
              <ns2:buNone/>
            </ns2:pPr>
            <ns2:r>
              <ns2:rPr sz="2400">
                <ns2:solidFill>
                  <ns2:srgbClr val="BF3000"/>
                </ns2:solidFill>
                <ns2:latin typeface="Archivo Black"/>
                <ns2:ea typeface="Archivo Black"/>
                <ns2:cs typeface="Archivo Black"/>
              </ns2:rPr>
              <ns2:t>35 h</ns2:t>
            </ns2:r>
          </ns2:p>
        </p:txBody>
      </p:sp>
      <p:pic>
        <p:nvPicPr>
          <p:cNvPr id="142" name="Google Shape;103;p5"/>
          <p:cNvPicPr>
            <a:picLocks xmlns:a="http://schemas.openxmlformats.org/drawingml/2006/main" noChangeAspect="1"/>
          </p:cNvPicPr>
          <p:nvPr/>
        </p:nvPicPr>
        <p:blipFill>
          <a:blip xmlns:r="http://schemas.openxmlformats.org/officeDocument/2006/relationships" xmlns:a="http://schemas.openxmlformats.org/drawingml/2006/main" r:embed="R14df214fb6cc413e">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pic>
        <p:nvPicPr>
          <p:cNvPr id="143" name="Google Shape;104;p5"/>
          <p:cNvPicPr>
            <a:picLocks xmlns:a="http://schemas.openxmlformats.org/drawingml/2006/main" noChangeAspect="1"/>
          </p:cNvPicPr>
          <p:nvPr/>
        </p:nvPicPr>
        <p:blipFill>
          <a:blip xmlns:r="http://schemas.openxmlformats.org/officeDocument/2006/relationships" xmlns:a="http://schemas.openxmlformats.org/drawingml/2006/main" r:embed="R5bdb387870c44f85">
            <a:alphaModFix/>
          </a:blip>
          <a:stretch xmlns:a="http://schemas.openxmlformats.org/drawingml/2006/main">
            <a:fillRect l="0" t="0" r="0" b="0"/>
          </a:stretch>
        </p:blipFill>
        <p:spPr>
          <a:xfrm xmlns:a="http://schemas.openxmlformats.org/drawingml/2006/main">
            <a:off x="979165" y="6171138"/>
            <a:ext cx="333379" cy="345450"/>
          </a:xfrm>
          <a:prstGeom xmlns:a="http://schemas.openxmlformats.org/drawingml/2006/main" prst="rect">
            <a:avLst/>
          </a:prstGeom>
          <a:ln xmlns:a="http://schemas.openxmlformats.org/drawingml/2006/main">
            <a:noFill/>
          </a:ln>
        </p:spPr>
      </p:pic>
      <p:sp>
        <p:nvSpPr>
          <p:cNvPr id="105" name="Google Shape;105;p5">
            <a:extLst xmlns:a="http://schemas.openxmlformats.org/drawingml/2006/main">
              <a:ext uri="{FF2B5EF4-FFF2-40B4-BE49-F238E27FC236}">
                <a16:creationId xmlns:a16="http://schemas.microsoft.com/office/drawing/2014/main" id="{964710BA-3D52-409F-85D0-81707E5C381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06" name="Google Shape;106;p5">
            <a:extLst xmlns:a="http://schemas.openxmlformats.org/drawingml/2006/main">
              <a:ext uri="{FF2B5EF4-FFF2-40B4-BE49-F238E27FC236}">
                <a16:creationId xmlns:a16="http://schemas.microsoft.com/office/drawing/2014/main" id="{5AC24B24-C971-4614-9FD3-2FD96A729C44}"/>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12" name="course-text">
            <a:extLst xmlns:a="http://schemas.openxmlformats.org/drawingml/2006/main">
              <a:ext uri="{FF2B5EF4-FFF2-40B4-BE49-F238E27FC236}">
                <a16:creationId xmlns:a16="http://schemas.microsoft.com/office/drawing/2014/main" id="{D6806E90-194E-40B5-A6C2-52C95B0F521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2 / 135</a:t>
            </a:r>
          </a:p>
        </p:txBody>
      </p:sp>
      <p:sp>
        <p:nvSpPr>
          <p:cNvPr id="144" name="Google Shape;74;p5">
            <a:extLst xmlns:a="http://schemas.openxmlformats.org/drawingml/2006/main">
              <a:ext uri="{FF2B5EF4-FFF2-40B4-BE49-F238E27FC236}">
                <a16:creationId xmlns:a16="http://schemas.microsoft.com/office/drawing/2014/main" id="{283292D2-9A0D-4FD7-B9E8-AF1065976182}"/>
              </a:ext>
            </a:extLst>
          </p:cNvPr>
          <p:cNvSpPr>
            <a:spLocks xmlns:a="http://schemas.openxmlformats.org/drawingml/2006/main" noGrp="1"/>
          </p:cNvSpPr>
          <p:nvPr/>
        </p:nvSpPr>
        <p:spPr>
          <a:xfrm xmlns:a="http://schemas.openxmlformats.org/drawingml/2006/main">
            <a:off x="914400" y="876300"/>
            <a:ext cx="4764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00</a:t>
            </a:r>
            <a:endParaRPr sz="2100" b="0" i="0" u="none" cap="none">
              <a:solidFill>
                <a:schemeClr val="dk1"/>
              </a:solidFill>
              <a:latin typeface="Calibri"/>
              <a:ea typeface="Calibri"/>
              <a:cs typeface="Calibri"/>
            </a:endParaRPr>
          </a:p>
        </p:txBody>
      </p:sp>
      <p:sp>
        <p:nvSpPr>
          <p:cNvPr id="145" name="Google Shape;75;p5">
            <a:extLst xmlns:a="http://schemas.openxmlformats.org/drawingml/2006/main">
              <a:ext uri="{FF2B5EF4-FFF2-40B4-BE49-F238E27FC236}">
                <a16:creationId xmlns:a16="http://schemas.microsoft.com/office/drawing/2014/main" id="{FF03434E-A38C-44DD-9DE6-F8CABFA26903}"/>
              </a:ext>
            </a:extLst>
          </p:cNvPr>
          <p:cNvSpPr>
            <a:spLocks xmlns:a="http://schemas.openxmlformats.org/drawingml/2006/main" noGrp="1"/>
          </p:cNvSpPr>
          <p:nvPr/>
        </p:nvSpPr>
        <p:spPr>
          <a:xfrm xmlns:a="http://schemas.openxmlformats.org/drawingml/2006/main">
            <a:off x="1638605" y="876300"/>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Histoire et comparaison ML / DL</a:t>
            </a:r>
            <a:endParaRPr sz="18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515694894"/>
      </p:ext>
    </p:extLst>
  </p:cSld>
</p:sld>
</file>

<file path=ppt/slides/slide3.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F2BD4F13-E452-49CA-B7CA-5108757A219F}"/>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AC8E956D-64F2-45FA-93FB-8BFD47BC20F7}"/>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00</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C6447199-A7DA-4118-AFEC-81C53D49C27F}"/>
              </a:ext>
            </a:extLst>
          </p:cNvPr>
          <p:cNvSpPr>
            <a:spLocks xmlns:a="http://schemas.openxmlformats.org/drawingml/2006/main" noGrp="1"/>
          </p:cNvSpPr>
          <p:nvPr/>
        </p:nvSpPr>
        <p:spPr>
          <a:xfrm xmlns:a="http://schemas.openxmlformats.org/drawingml/2006/main">
            <a:off x="2143125"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D3E48C96-3578-4BE9-B6B9-F8CF7C2D3071}"/>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4875">
                <a:solidFill>
                  <a:srgbClr val="FFFFFF"/>
                </a:solidFill>
                <a:latin typeface="Archivo Black"/>
                <a:ea typeface="Archivo Black"/>
                <a:cs typeface="Archivo Black"/>
              </a:defRPr>
            </a:pPr>
            <a:r>
              <a:rPr sz="4875">
                <a:solidFill>
                  <a:srgbClr val="FFFFFF"/>
                </a:solidFill>
                <a:latin typeface="Archivo Black"/>
                <a:ea typeface="Archivo Black"/>
                <a:cs typeface="Archivo Black"/>
              </a:rPr>
              <a:t>REPÈRES ET</a:t>
            </a:r>
            <a:endParaRPr sz="7500">
              <a:solidFill>
                <a:schemeClr val="lt1"/>
              </a:solidFill>
              <a:latin typeface="Archivo Black"/>
              <a:ea typeface="Archivo Black"/>
              <a:cs typeface="Archivo Black"/>
            </a:endParaRPr>
          </a:p>
          <a:p xmlns:a="http://schemas.openxmlformats.org/drawingml/2006/main">
            <a:pPr marL="0" marR="0" lvl="0" indent="0" algn="l">
              <a:lnSpc>
                <a:spcPct val="65000"/>
              </a:lnSpc>
              <a:spcBef>
                <a:spcPts val="0"/>
              </a:spcBef>
              <a:spcAft>
                <a:spcPts val="0"/>
              </a:spcAft>
              <a:buClr>
                <a:srgbClr val="000000"/>
              </a:buClr>
              <a:buSzPts val="7500"/>
              <a:buFont typeface="Archivo Black"/>
              <a:buNone/>
              <a:defRPr sz="4875">
                <a:solidFill>
                  <a:srgbClr val="FFFFFF"/>
                </a:solidFill>
                <a:latin typeface="Archivo Black"/>
                <a:ea typeface="Archivo Black"/>
                <a:cs typeface="Archivo Black"/>
              </a:defRPr>
            </a:pPr>
            <a:r>
              <a:rPr sz="4875">
                <a:solidFill>
                  <a:srgbClr val="FFFFFF"/>
                </a:solidFill>
                <a:latin typeface="Archivo Black"/>
                <a:ea typeface="Archivo Black"/>
                <a:cs typeface="Archivo Black"/>
              </a:rPr>
              <a:t>PRINCIPES</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CF5FB93-7ACF-4941-88B6-4958008C8152}"/>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5713946-29F0-48F4-808E-66EDEF307B30}"/>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3ab3bb89a16240d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b095e476e00d4e9e">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7EF1EBA5-0079-443A-A22A-005E66131039}"/>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BED4BE26-946E-4E33-97CE-6900BD2AE44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intro-text">
            <a:extLst xmlns:a="http://schemas.openxmlformats.org/drawingml/2006/main">
              <a:ext uri="{FF2B5EF4-FFF2-40B4-BE49-F238E27FC236}">
                <a16:creationId xmlns:a16="http://schemas.microsoft.com/office/drawing/2014/main" id="{52CFFC61-D29C-4106-A96A-9E61C054189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3 / 135</a:t>
            </a:r>
          </a:p>
        </p:txBody>
      </p:sp>
      <p:sp>
        <p:nvSpPr>
          <p:cNvPr id="144" name="intro-text">
            <a:extLst xmlns:a="http://schemas.openxmlformats.org/drawingml/2006/main">
              <a:ext uri="{FF2B5EF4-FFF2-40B4-BE49-F238E27FC236}">
                <a16:creationId xmlns:a16="http://schemas.microsoft.com/office/drawing/2014/main" id="{8CB6A4DA-4A42-4E95-B024-3A209992B926}"/>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Histoire du deep learning et comparaison des approches</a:t>
            </a:r>
          </a:p>
        </p:txBody>
      </p:sp>
    </p:spTree>
    <p:extLst>
      <p:ext uri="{BB962C8B-B14F-4D97-AF65-F5344CB8AC3E}">
        <p14:creationId xmlns:p14="http://schemas.microsoft.com/office/powerpoint/2010/main" val="213923211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2f60b538883495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4b396d26c7d454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88B7FA5A-12A7-4906-867B-67AEFC19CA3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 / 135</a:t>
            </a:r>
          </a:p>
        </p:txBody>
      </p:sp>
      <p:sp>
        <p:nvSpPr>
          <p:cNvPr id="159" name="intro-text">
            <a:extLst xmlns:a="http://schemas.openxmlformats.org/drawingml/2006/main">
              <a:ext uri="{FF2B5EF4-FFF2-40B4-BE49-F238E27FC236}">
                <a16:creationId xmlns:a16="http://schemas.microsoft.com/office/drawing/2014/main" id="{9F560808-3DC9-4421-BE04-D1CEC4D3E70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DEEP LEARNING DANS LE MACHINE LEARNING</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998c7617f9e484e">
            <a:extLst>
              <a:ext uri="{96DAC541-7B7A-43D3-8B79-37D633B846F1}">
                <asvg:svgBlip xmlns:asvg="http://schemas.microsoft.com/office/drawing/2016/SVG/main" r:embed="R7177f9e284024625"/>
              </a:ext>
            </a:extLst>
          </a:blip>
          <a:stretch xmlns:a="http://schemas.openxmlformats.org/drawingml/2006/main"/>
        </p:blipFill>
        <p:spPr>
          <a:xfrm xmlns:a="http://schemas.openxmlformats.org/drawingml/2006/main">
            <a:off x="933450" y="1952625"/>
            <a:ext cx="6086319" cy="335806"/>
          </a:xfrm>
          <a:prstGeom xmlns:a="http://schemas.openxmlformats.org/drawingml/2006/main" prst="rect">
            <a:avLst/>
          </a:prstGeom>
        </p:spPr>
      </p:pic>
      <p:sp>
        <p:nvSpPr>
          <p:cNvPr id="161" name="intro-text">
            <a:extLst xmlns:a="http://schemas.openxmlformats.org/drawingml/2006/main">
              <a:ext uri="{FF2B5EF4-FFF2-40B4-BE49-F238E27FC236}">
                <a16:creationId xmlns:a16="http://schemas.microsoft.com/office/drawing/2014/main" id="{8A49E887-4770-4448-8784-62E8CBFDB363}"/>
              </a:ext>
            </a:extLst>
          </p:cNvPr>
          <p:cNvSpPr>
            <a:spLocks xmlns:a="http://schemas.openxmlformats.org/drawingml/2006/main" noGrp="1"/>
          </p:cNvSpPr>
          <p:nvPr/>
        </p:nvSpPr>
        <p:spPr>
          <a:xfrm xmlns:a="http://schemas.openxmlformats.org/drawingml/2006/main">
            <a:off x="933450" y="32385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74151"/>
                </a:solidFill>
                <a:latin typeface="DM Sans"/>
                <a:ea typeface="DM Sans"/>
                <a:cs typeface="DM Sans"/>
              </a:defRPr>
            </a:pPr>
            <a:r>
              <a:rPr sz="1875" b="0">
                <a:solidFill>
                  <a:srgbClr val="374151"/>
                </a:solidFill>
                <a:latin typeface="DM Sans"/>
                <a:ea typeface="DM Sans"/>
                <a:cs typeface="DM Sans"/>
              </a:rPr>
              <a:t>Le machine learning ajuste un modèle à partir de données.</a:t>
            </a:r>
          </a:p>
        </p:txBody>
      </p:sp>
      <p:sp>
        <p:nvSpPr>
          <p:cNvPr id="162" name="intro-text">
            <a:extLst xmlns:a="http://schemas.openxmlformats.org/drawingml/2006/main">
              <a:ext uri="{FF2B5EF4-FFF2-40B4-BE49-F238E27FC236}">
                <a16:creationId xmlns:a16="http://schemas.microsoft.com/office/drawing/2014/main" id="{7C6A3621-FD1E-4839-B377-05BB779422CC}"/>
              </a:ext>
            </a:extLst>
          </p:cNvPr>
          <p:cNvSpPr>
            <a:spLocks xmlns:a="http://schemas.openxmlformats.org/drawingml/2006/main" noGrp="1"/>
          </p:cNvSpPr>
          <p:nvPr/>
        </p:nvSpPr>
        <p:spPr>
          <a:xfrm xmlns:a="http://schemas.openxmlformats.org/drawingml/2006/main">
            <a:off x="933450" y="3933825"/>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74151"/>
                </a:solidFill>
                <a:latin typeface="DM Sans"/>
                <a:ea typeface="DM Sans"/>
                <a:cs typeface="DM Sans"/>
              </a:defRPr>
            </a:pPr>
            <a:r>
              <a:rPr sz="1875" b="0">
                <a:solidFill>
                  <a:srgbClr val="374151"/>
                </a:solidFill>
                <a:latin typeface="DM Sans"/>
                <a:ea typeface="DM Sans"/>
                <a:cs typeface="DM Sans"/>
              </a:rPr>
              <a:t>Les réseaux profonds composent plusieurs niveaux de représentation.</a:t>
            </a:r>
          </a:p>
        </p:txBody>
      </p:sp>
      <p:sp>
        <p:nvSpPr>
          <p:cNvPr id="163" name="intro-text">
            <a:extLst xmlns:a="http://schemas.openxmlformats.org/drawingml/2006/main">
              <a:ext uri="{FF2B5EF4-FFF2-40B4-BE49-F238E27FC236}">
                <a16:creationId xmlns:a16="http://schemas.microsoft.com/office/drawing/2014/main" id="{4F2E8A91-B924-4DF9-ACC1-BDFB03CE37BE}"/>
              </a:ext>
            </a:extLst>
          </p:cNvPr>
          <p:cNvSpPr>
            <a:spLocks xmlns:a="http://schemas.openxmlformats.org/drawingml/2006/main" noGrp="1"/>
          </p:cNvSpPr>
          <p:nvPr/>
        </p:nvSpPr>
        <p:spPr>
          <a:xfrm xmlns:a="http://schemas.openxmlformats.org/drawingml/2006/main">
            <a:off x="933450" y="462915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74151"/>
                </a:solidFill>
                <a:latin typeface="DM Sans"/>
                <a:ea typeface="DM Sans"/>
                <a:cs typeface="DM Sans"/>
              </a:defRPr>
            </a:pPr>
            <a:r>
              <a:rPr sz="1875" b="0">
                <a:solidFill>
                  <a:srgbClr val="374151"/>
                </a:solidFill>
                <a:latin typeface="DM Sans"/>
                <a:ea typeface="DM Sans"/>
                <a:cs typeface="DM Sans"/>
              </a:rPr>
              <a:t>La profondeur décrit cette composition, avec des paramètres appris.</a:t>
            </a:r>
          </a:p>
        </p:txBody>
      </p:sp>
    </p:spTree>
    <p:extLst>
      <p:ext uri="{BB962C8B-B14F-4D97-AF65-F5344CB8AC3E}">
        <p14:creationId xmlns:p14="http://schemas.microsoft.com/office/powerpoint/2010/main" val="63927166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84718e5fd0324d9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bf8be59eb4eb440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488B0884-3345-4B53-916F-2182C1F1F13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 / 135</a:t>
            </a:r>
          </a:p>
        </p:txBody>
      </p:sp>
      <p:sp>
        <p:nvSpPr>
          <p:cNvPr id="159" name="intro-text">
            <a:extLst xmlns:a="http://schemas.openxmlformats.org/drawingml/2006/main">
              <a:ext uri="{FF2B5EF4-FFF2-40B4-BE49-F238E27FC236}">
                <a16:creationId xmlns:a16="http://schemas.microsoft.com/office/drawing/2014/main" id="{27425C26-4FA1-4B7D-ACE7-FDDBE3ED614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REPÈRES HISTORIQUES : LES FONDEMENTS</a:t>
            </a:r>
          </a:p>
        </p:txBody>
      </p:sp>
      <p:graphicFrame>
        <p:nvGraphicFramePr>
          <p:cNvPr id="174" name=""/>
          <p:cNvGraphicFramePr/>
          <p:nvPr/>
        </p:nvGraphicFramePr>
        <p:xfrm>
          <a:off xmlns:a="http://schemas.openxmlformats.org/drawingml/2006/main" x="876300" y="1762125"/>
          <a:ext xmlns:a="http://schemas.openxmlformats.org/drawingml/2006/main" cx="10458450" cy="3429000"/>
        </p:xfrm>
        <a:graphic xmlns:a="http://schemas.openxmlformats.org/drawingml/2006/main">
          <a:graphicData uri="http://schemas.openxmlformats.org/drawingml/2006/table">
            <a:tbl>
              <a:tblPr/>
              <a:tblGrid>
                <a:gridCol w="1255014"/>
                <a:gridCol w="3032950"/>
                <a:gridCol w="6170485"/>
              </a:tblGrid>
              <a:tr h="685800">
                <a:tc>
                  <a:txBody>
                    <a:bodyPr lIns="114300" tIns="76200" rIns="95250" bIns="57150">
                      <a:noAutofit/>
                    </a:bodyPr>
                    <a:lstStyle/>
                    <a:p>
                      <a:r>
                        <a:rPr sz="1650" b="1">
                          <a:solidFill>
                            <a:srgbClr val="FFFFFF"/>
                          </a:solidFill>
                          <a:latin typeface="DM Sans"/>
                          <a:ea typeface="DM Sans"/>
                          <a:cs typeface="DM Sans"/>
                        </a:rPr>
                        <a:t>Date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Repère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Idée utile pour ce cours</a:t>
                      </a:r>
                    </a:p>
                  </a:txBody>
                  <a:tcPr marL="91440" marR="91440" marT="45720" marB="45720" anchor="ctr">
                    <a:solidFill>
                      <a:srgbClr val="0A1047"/>
                    </a:solidFill>
                  </a:tcPr>
                </a:tc>
              </a:tr>
              <a:tr h="685800">
                <a:tc>
                  <a:txBody>
                    <a:bodyPr lIns="114300" tIns="76200" rIns="95250" bIns="57150">
                      <a:noAutofit/>
                    </a:bodyPr>
                    <a:lstStyle/>
                    <a:p>
                      <a:r>
                        <a:rPr sz="1575" b="0">
                          <a:solidFill>
                            <a:srgbClr val="374151"/>
                          </a:solidFill>
                          <a:latin typeface="DM Sans"/>
                          <a:ea typeface="DM Sans"/>
                          <a:cs typeface="DM Sans"/>
                        </a:rPr>
                        <a:t>1958</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Perceptron, Rosenblatt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Ajuster une règle de décision à partir d’exemples</a:t>
                      </a:r>
                    </a:p>
                  </a:txBody>
                  <a:tcPr marL="91440" marR="91440" marT="45720" marB="45720" anchor="ctr">
                    <a:solidFill>
                      <a:srgbClr val="F6F7F9"/>
                    </a:solidFill>
                  </a:tcPr>
                </a:tc>
              </a:tr>
              <a:tr h="685800">
                <a:tc>
                  <a:txBody>
                    <a:bodyPr lIns="114300" tIns="76200" rIns="95250" bIns="57150">
                      <a:noAutofit/>
                    </a:bodyPr>
                    <a:lstStyle/>
                    <a:p>
                      <a:r>
                        <a:rPr sz="1575" b="0">
                          <a:solidFill>
                            <a:srgbClr val="374151"/>
                          </a:solidFill>
                          <a:latin typeface="DM Sans"/>
                          <a:ea typeface="DM Sans"/>
                          <a:cs typeface="DM Sans"/>
                        </a:rPr>
                        <a:t>1986</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Rétropropagation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Popularisation de l’apprentissage des couches cachées</a:t>
                      </a:r>
                    </a:p>
                  </a:txBody>
                  <a:tcPr marL="91440" marR="91440" marT="45720" marB="45720" anchor="ctr">
                    <a:solidFill>
                      <a:srgbClr val="FFFFFF"/>
                    </a:solidFill>
                  </a:tcPr>
                </a:tc>
              </a:tr>
              <a:tr h="685800">
                <a:tc>
                  <a:txBody>
                    <a:bodyPr lIns="114300" tIns="76200" rIns="95250" bIns="57150">
                      <a:noAutofit/>
                    </a:bodyPr>
                    <a:lstStyle/>
                    <a:p>
                      <a:r>
                        <a:rPr sz="1575" b="0">
                          <a:solidFill>
                            <a:srgbClr val="374151"/>
                          </a:solidFill>
                          <a:latin typeface="DM Sans"/>
                          <a:ea typeface="DM Sans"/>
                          <a:cs typeface="DM Sans"/>
                        </a:rPr>
                        <a:t>1998</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LeNet-5</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Convolutions et paramètres partagés pour les chiffres</a:t>
                      </a:r>
                    </a:p>
                  </a:txBody>
                  <a:tcPr marL="91440" marR="91440" marT="45720" marB="45720" anchor="ctr">
                    <a:solidFill>
                      <a:srgbClr val="F6F7F9"/>
                    </a:solidFill>
                  </a:tcPr>
                </a:tc>
              </a:tr>
              <a:tr h="685800">
                <a:tc>
                  <a:txBody>
                    <a:bodyPr lIns="114300" tIns="76200" rIns="95250" bIns="57150">
                      <a:noAutofit/>
                    </a:bodyPr>
                    <a:lstStyle/>
                    <a:p>
                      <a:r>
                        <a:rPr sz="1575" b="0">
                          <a:solidFill>
                            <a:srgbClr val="374151"/>
                          </a:solidFill>
                          <a:latin typeface="DM Sans"/>
                          <a:ea typeface="DM Sans"/>
                          <a:cs typeface="DM Sans"/>
                        </a:rPr>
                        <a:t>2006</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Deep belief networks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Préentraînement couche par couche des réseaux profonds</a:t>
                      </a:r>
                    </a:p>
                  </a:txBody>
                  <a:tcPr marL="91440" marR="91440" marT="45720" marB="45720" anchor="ctr">
                    <a:solidFill>
                      <a:srgbClr val="FFFFFF"/>
                    </a:solidFill>
                  </a:tcPr>
                </a:tc>
              </a:tr>
            </a:tbl>
          </a:graphicData>
        </a:graphic>
      </p:graphicFrame>
      <p:sp>
        <p:nvSpPr>
          <p:cNvPr id="161" name="intro-text">
            <a:extLst xmlns:a="http://schemas.openxmlformats.org/drawingml/2006/main">
              <a:ext uri="{FF2B5EF4-FFF2-40B4-BE49-F238E27FC236}">
                <a16:creationId xmlns:a16="http://schemas.microsoft.com/office/drawing/2014/main" id="{978C3538-B6B5-4998-AE6A-76FE1B97C664}"/>
              </a:ext>
            </a:extLst>
          </p:cNvPr>
          <p:cNvSpPr>
            <a:spLocks xmlns:a="http://schemas.openxmlformats.org/drawingml/2006/main" noGrp="1"/>
          </p:cNvSpPr>
          <p:nvPr/>
        </p:nvSpPr>
        <p:spPr>
          <a:xfrm xmlns:a="http://schemas.openxmlformats.org/drawingml/2006/main">
            <a:off x="933450" y="54102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Repères sélectifs. La rétropropagation possède des antécédents à l’article de 1986.</a:t>
            </a:r>
          </a:p>
        </p:txBody>
      </p:sp>
    </p:spTree>
    <p:extLst>
      <p:ext uri="{BB962C8B-B14F-4D97-AF65-F5344CB8AC3E}">
        <p14:creationId xmlns:p14="http://schemas.microsoft.com/office/powerpoint/2010/main" val="63927166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8705ee626f904bb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12619cc84b974e1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D60D0F3A-2DE8-4414-9D70-55D5A4D9238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 / 135</a:t>
            </a:r>
          </a:p>
        </p:txBody>
      </p:sp>
      <p:sp>
        <p:nvSpPr>
          <p:cNvPr id="159" name="intro-text">
            <a:extLst xmlns:a="http://schemas.openxmlformats.org/drawingml/2006/main">
              <a:ext uri="{FF2B5EF4-FFF2-40B4-BE49-F238E27FC236}">
                <a16:creationId xmlns:a16="http://schemas.microsoft.com/office/drawing/2014/main" id="{3232C6AE-4932-40FB-BE14-D14D9814598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REPÈRES HISTORIQUES : LE PASSAGE À L’ÉCHELLE</a:t>
            </a:r>
          </a:p>
        </p:txBody>
      </p:sp>
      <p:graphicFrame>
        <p:nvGraphicFramePr>
          <p:cNvPr id="174" name=""/>
          <p:cNvGraphicFramePr/>
          <p:nvPr/>
        </p:nvGraphicFramePr>
        <p:xfrm>
          <a:off xmlns:a="http://schemas.openxmlformats.org/drawingml/2006/main" x="876300" y="1762125"/>
          <a:ext xmlns:a="http://schemas.openxmlformats.org/drawingml/2006/main" cx="10458450" cy="3162300"/>
        </p:xfrm>
        <a:graphic xmlns:a="http://schemas.openxmlformats.org/drawingml/2006/main">
          <a:graphicData uri="http://schemas.openxmlformats.org/drawingml/2006/table">
            <a:tbl>
              <a:tblPr/>
              <a:tblGrid>
                <a:gridCol w="1777937"/>
                <a:gridCol w="2614613"/>
                <a:gridCol w="6065901"/>
              </a:tblGrid>
              <a:tr h="790575">
                <a:tc>
                  <a:txBody>
                    <a:bodyPr lIns="114300" tIns="76200" rIns="95250" bIns="57150">
                      <a:noAutofit/>
                    </a:bodyPr>
                    <a:lstStyle/>
                    <a:p>
                      <a:r>
                        <a:rPr sz="1650" b="1">
                          <a:solidFill>
                            <a:srgbClr val="FFFFFF"/>
                          </a:solidFill>
                          <a:latin typeface="DM Sans"/>
                          <a:ea typeface="DM Sans"/>
                          <a:cs typeface="DM Sans"/>
                        </a:rPr>
                        <a:t>Publication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Architecture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Apport étudié</a:t>
                      </a:r>
                    </a:p>
                  </a:txBody>
                  <a:tcPr marL="91440" marR="91440" marT="45720" marB="45720" anchor="ctr">
                    <a:solidFill>
                      <a:srgbClr val="0A1047"/>
                    </a:solidFill>
                  </a:tcPr>
                </a:tc>
              </a:tr>
              <a:tr h="790575">
                <a:tc>
                  <a:txBody>
                    <a:bodyPr lIns="114300" tIns="76200" rIns="95250" bIns="57150">
                      <a:noAutofit/>
                    </a:bodyPr>
                    <a:lstStyle/>
                    <a:p>
                      <a:r>
                        <a:rPr sz="1575" b="0">
                          <a:solidFill>
                            <a:srgbClr val="374151"/>
                          </a:solidFill>
                          <a:latin typeface="DM Sans"/>
                          <a:ea typeface="DM Sans"/>
                          <a:cs typeface="DM Sans"/>
                        </a:rPr>
                        <a:t>2012</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AlexNet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CNN, données ImageNet et entraînement sur GPU</a:t>
                      </a:r>
                    </a:p>
                  </a:txBody>
                  <a:tcPr marL="91440" marR="91440" marT="45720" marB="45720" anchor="ctr">
                    <a:solidFill>
                      <a:srgbClr val="F6F7F9"/>
                    </a:solidFill>
                  </a:tcPr>
                </a:tc>
              </a:tr>
              <a:tr h="790575">
                <a:tc>
                  <a:txBody>
                    <a:bodyPr lIns="114300" tIns="76200" rIns="95250" bIns="57150">
                      <a:noAutofit/>
                    </a:bodyPr>
                    <a:lstStyle/>
                    <a:p>
                      <a:r>
                        <a:rPr sz="1575" b="0">
                          <a:solidFill>
                            <a:srgbClr val="374151"/>
                          </a:solidFill>
                          <a:latin typeface="DM Sans"/>
                          <a:ea typeface="DM Sans"/>
                          <a:cs typeface="DM Sans"/>
                        </a:rPr>
                        <a:t>2017</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Transformer</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Attention pour relier les positions d’une séquence</a:t>
                      </a:r>
                    </a:p>
                  </a:txBody>
                  <a:tcPr marL="91440" marR="91440" marT="45720" marB="45720" anchor="ctr">
                    <a:solidFill>
                      <a:srgbClr val="FFFFFF"/>
                    </a:solidFill>
                  </a:tcPr>
                </a:tc>
              </a:tr>
              <a:tr h="790575">
                <a:tc>
                  <a:txBody>
                    <a:bodyPr lIns="114300" tIns="76200" rIns="95250" bIns="57150">
                      <a:noAutofit/>
                    </a:bodyPr>
                    <a:lstStyle/>
                    <a:p>
                      <a:r>
                        <a:rPr sz="1575" b="0">
                          <a:solidFill>
                            <a:srgbClr val="374151"/>
                          </a:solidFill>
                          <a:latin typeface="DM Sans"/>
                          <a:ea typeface="DM Sans"/>
                          <a:cs typeface="DM Sans"/>
                        </a:rPr>
                        <a:t>2020 / 2021</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Vision Transformer</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Images découpées en patches et préentraînement</a:t>
                      </a:r>
                    </a:p>
                  </a:txBody>
                  <a:tcPr marL="91440" marR="91440" marT="45720" marB="45720" anchor="ctr">
                    <a:solidFill>
                      <a:srgbClr val="F6F7F9"/>
                    </a:solidFill>
                  </a:tcPr>
                </a:tc>
              </a:tr>
            </a:tbl>
          </a:graphicData>
        </a:graphic>
      </p:graphicFrame>
      <p:sp>
        <p:nvSpPr>
          <p:cNvPr id="161" name="intro-text">
            <a:extLst xmlns:a="http://schemas.openxmlformats.org/drawingml/2006/main">
              <a:ext uri="{FF2B5EF4-FFF2-40B4-BE49-F238E27FC236}">
                <a16:creationId xmlns:a16="http://schemas.microsoft.com/office/drawing/2014/main" id="{0392A0EF-632C-4B29-9BE0-11A14F8EF100}"/>
              </a:ext>
            </a:extLst>
          </p:cNvPr>
          <p:cNvSpPr>
            <a:spLocks xmlns:a="http://schemas.openxmlformats.org/drawingml/2006/main" noGrp="1"/>
          </p:cNvSpPr>
          <p:nvPr/>
        </p:nvSpPr>
        <p:spPr>
          <a:xfrm xmlns:a="http://schemas.openxmlformats.org/drawingml/2006/main">
            <a:off x="933450" y="54102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ViT : prépublication en 2020, publication à ICLR en 2021.</a:t>
            </a:r>
          </a:p>
        </p:txBody>
      </p:sp>
    </p:spTree>
    <p:extLst>
      <p:ext uri="{BB962C8B-B14F-4D97-AF65-F5344CB8AC3E}">
        <p14:creationId xmlns:p14="http://schemas.microsoft.com/office/powerpoint/2010/main" val="63927166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b5a8adb004c4433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57a3a09b1cb448b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1EEA436F-A901-4ABD-ACB2-739BA9EEDDE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 / 135</a:t>
            </a:r>
          </a:p>
        </p:txBody>
      </p:sp>
      <p:sp>
        <p:nvSpPr>
          <p:cNvPr id="159" name="intro-text">
            <a:extLst xmlns:a="http://schemas.openxmlformats.org/drawingml/2006/main">
              <a:ext uri="{FF2B5EF4-FFF2-40B4-BE49-F238E27FC236}">
                <a16:creationId xmlns:a16="http://schemas.microsoft.com/office/drawing/2014/main" id="{713FA13E-071D-4182-A161-05A987527BA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LA BOUCLE D’APPRENTISSAGE</a:t>
            </a:r>
          </a:p>
        </p:txBody>
      </p:sp>
      <p:pic>
        <p:nvPicPr>
          <p:cNvPr id="175" name=""/>
          <p:cNvPicPr>
            <a:picLocks xmlns:a="http://schemas.openxmlformats.org/drawingml/2006/main" noChangeAspect="1"/>
          </p:cNvPicPr>
          <p:nvPr/>
        </p:nvPicPr>
        <p:blipFill>
          <a:blip xmlns:r="http://schemas.openxmlformats.org/officeDocument/2006/relationships" xmlns:a="http://schemas.openxmlformats.org/drawingml/2006/main" r:embed="Rdc689932a9cd414b"/>
          <a:stretch xmlns:a="http://schemas.openxmlformats.org/drawingml/2006/main"/>
        </p:blipFill>
        <p:spPr>
          <a:xfrm xmlns:a="http://schemas.openxmlformats.org/drawingml/2006/main">
            <a:off x="876300" y="1676400"/>
            <a:ext cx="10458450" cy="2866510"/>
          </a:xfrm>
          <a:prstGeom xmlns:a="http://schemas.openxmlformats.org/drawingml/2006/main" prst="rect">
            <a:avLst/>
          </a:prstGeom>
        </p:spPr>
      </p:pic>
      <p:sp>
        <p:nvSpPr>
          <p:cNvPr id="161" name="intro-text">
            <a:extLst xmlns:a="http://schemas.openxmlformats.org/drawingml/2006/main">
              <a:ext uri="{FF2B5EF4-FFF2-40B4-BE49-F238E27FC236}">
                <a16:creationId xmlns:a16="http://schemas.microsoft.com/office/drawing/2014/main" id="{AE91295A-2CD7-4122-B04E-B5E10A00AFF2}"/>
              </a:ext>
            </a:extLst>
          </p:cNvPr>
          <p:cNvSpPr>
            <a:spLocks xmlns:a="http://schemas.openxmlformats.org/drawingml/2006/main" noGrp="1"/>
          </p:cNvSpPr>
          <p:nvPr/>
        </p:nvSpPr>
        <p:spPr>
          <a:xfrm xmlns:a="http://schemas.openxmlformats.org/drawingml/2006/main">
            <a:off x="933450" y="48387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A1047"/>
                </a:solidFill>
                <a:latin typeface="DM Sans"/>
                <a:ea typeface="DM Sans"/>
                <a:cs typeface="DM Sans"/>
              </a:defRPr>
            </a:pPr>
            <a:r>
              <a:rPr sz="1800" b="0">
                <a:solidFill>
                  <a:srgbClr val="0A1047"/>
                </a:solidFill>
                <a:latin typeface="DM Sans"/>
                <a:ea typeface="DM Sans"/>
                <a:cs typeface="DM Sans"/>
              </a:rPr>
              <a:t>Le modèle produit un résultat, un critère l’évalue et une règle ajuste les paramètres.</a:t>
            </a:r>
          </a:p>
        </p:txBody>
      </p:sp>
      <p:sp>
        <p:nvSpPr>
          <p:cNvPr id="162" name="intro-text">
            <a:extLst xmlns:a="http://schemas.openxmlformats.org/drawingml/2006/main">
              <a:ext uri="{FF2B5EF4-FFF2-40B4-BE49-F238E27FC236}">
                <a16:creationId xmlns:a16="http://schemas.microsoft.com/office/drawing/2014/main" id="{A036735B-159B-4FB8-A0F6-762CFCC558D7}"/>
              </a:ext>
            </a:extLst>
          </p:cNvPr>
          <p:cNvSpPr>
            <a:spLocks xmlns:a="http://schemas.openxmlformats.org/drawingml/2006/main" noGrp="1"/>
          </p:cNvSpPr>
          <p:nvPr/>
        </p:nvSpPr>
        <p:spPr>
          <a:xfrm xmlns:a="http://schemas.openxmlformats.org/drawingml/2006/main">
            <a:off x="933450" y="553402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B7280"/>
                </a:solidFill>
                <a:latin typeface="DM Sans"/>
                <a:ea typeface="DM Sans"/>
                <a:cs typeface="DM Sans"/>
              </a:defRPr>
            </a:pPr>
            <a:r>
              <a:rPr sz="1275" b="0">
                <a:solidFill>
                  <a:srgbClr val="6B7280"/>
                </a:solidFill>
                <a:latin typeface="DM Sans"/>
                <a:ea typeface="DM Sans"/>
                <a:cs typeface="DM Sans"/>
              </a:rPr>
              <a:t>Howard &amp; Gugger, O’Reilly (2020), chapitre 1, figure 1-6. Extrait fourni par le formateur.</a:t>
            </a:r>
          </a:p>
        </p:txBody>
      </p:sp>
    </p:spTree>
    <p:extLst>
      <p:ext uri="{BB962C8B-B14F-4D97-AF65-F5344CB8AC3E}">
        <p14:creationId xmlns:p14="http://schemas.microsoft.com/office/powerpoint/2010/main" val="63927166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753756a70e7b4c1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1e00aa55b5904f3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92A3477B-0EDA-445D-BF67-EC557BB553B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 / 135</a:t>
            </a:r>
          </a:p>
        </p:txBody>
      </p:sp>
      <p:sp>
        <p:nvSpPr>
          <p:cNvPr id="159" name="intro-text">
            <a:extLst xmlns:a="http://schemas.openxmlformats.org/drawingml/2006/main">
              <a:ext uri="{FF2B5EF4-FFF2-40B4-BE49-F238E27FC236}">
                <a16:creationId xmlns:a16="http://schemas.microsoft.com/office/drawing/2014/main" id="{0CD238A4-A1AD-448B-BE5B-01F7C18ABE9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LA PERTE ET LA MISE À JOUR DES PARAMÈTRES</a:t>
            </a:r>
          </a:p>
        </p:txBody>
      </p:sp>
      <p:pic>
        <p:nvPicPr>
          <p:cNvPr id="175" name=""/>
          <p:cNvPicPr>
            <a:picLocks xmlns:a="http://schemas.openxmlformats.org/drawingml/2006/main" noChangeAspect="1"/>
          </p:cNvPicPr>
          <p:nvPr/>
        </p:nvPicPr>
        <p:blipFill>
          <a:blip xmlns:r="http://schemas.openxmlformats.org/officeDocument/2006/relationships" xmlns:a="http://schemas.openxmlformats.org/drawingml/2006/main" r:embed="R6147c88621aa4439"/>
          <a:stretch xmlns:a="http://schemas.openxmlformats.org/drawingml/2006/main"/>
        </p:blipFill>
        <p:spPr>
          <a:xfrm xmlns:a="http://schemas.openxmlformats.org/drawingml/2006/main">
            <a:off x="876300" y="1676400"/>
            <a:ext cx="10458450" cy="3136049"/>
          </a:xfrm>
          <a:prstGeom xmlns:a="http://schemas.openxmlformats.org/drawingml/2006/main" prst="rect">
            <a:avLst/>
          </a:prstGeom>
        </p:spPr>
      </p:pic>
      <p:sp>
        <p:nvSpPr>
          <p:cNvPr id="161" name="intro-text">
            <a:extLst xmlns:a="http://schemas.openxmlformats.org/drawingml/2006/main">
              <a:ext uri="{FF2B5EF4-FFF2-40B4-BE49-F238E27FC236}">
                <a16:creationId xmlns:a16="http://schemas.microsoft.com/office/drawing/2014/main" id="{B14924E5-6609-4FD0-B258-D514BF334B60}"/>
              </a:ext>
            </a:extLst>
          </p:cNvPr>
          <p:cNvSpPr>
            <a:spLocks xmlns:a="http://schemas.openxmlformats.org/drawingml/2006/main" noGrp="1"/>
          </p:cNvSpPr>
          <p:nvPr/>
        </p:nvSpPr>
        <p:spPr>
          <a:xfrm xmlns:a="http://schemas.openxmlformats.org/drawingml/2006/main">
            <a:off x="933450" y="4945799"/>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A1047"/>
                </a:solidFill>
                <a:latin typeface="DM Sans"/>
                <a:ea typeface="DM Sans"/>
                <a:cs typeface="DM Sans"/>
              </a:defRPr>
            </a:pPr>
            <a:r>
              <a:rPr sz="1800" b="0">
                <a:solidFill>
                  <a:srgbClr val="0A1047"/>
                </a:solidFill>
                <a:latin typeface="DM Sans"/>
                <a:ea typeface="DM Sans"/>
                <a:cs typeface="DM Sans"/>
              </a:rPr>
              <a:t>La perte compare prédictions et cibles. L’optimiseur utilise ce signal pour ajuster les paramètres.</a:t>
            </a:r>
          </a:p>
        </p:txBody>
      </p:sp>
      <p:sp>
        <p:nvSpPr>
          <p:cNvPr id="162" name="intro-text">
            <a:extLst xmlns:a="http://schemas.openxmlformats.org/drawingml/2006/main">
              <a:ext uri="{FF2B5EF4-FFF2-40B4-BE49-F238E27FC236}">
                <a16:creationId xmlns:a16="http://schemas.microsoft.com/office/drawing/2014/main" id="{83470369-6138-4858-8E0B-C1EE1DDC8F65}"/>
              </a:ext>
            </a:extLst>
          </p:cNvPr>
          <p:cNvSpPr>
            <a:spLocks xmlns:a="http://schemas.openxmlformats.org/drawingml/2006/main" noGrp="1"/>
          </p:cNvSpPr>
          <p:nvPr/>
        </p:nvSpPr>
        <p:spPr>
          <a:xfrm xmlns:a="http://schemas.openxmlformats.org/drawingml/2006/main">
            <a:off x="933450" y="553402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B7280"/>
                </a:solidFill>
                <a:latin typeface="DM Sans"/>
                <a:ea typeface="DM Sans"/>
                <a:cs typeface="DM Sans"/>
              </a:defRPr>
            </a:pPr>
            <a:r>
              <a:rPr sz="1275" b="0">
                <a:solidFill>
                  <a:srgbClr val="6B7280"/>
                </a:solidFill>
                <a:latin typeface="DM Sans"/>
                <a:ea typeface="DM Sans"/>
                <a:cs typeface="DM Sans"/>
              </a:rPr>
              <a:t>Howard &amp; Gugger, O’Reilly (2020), chapitre 1, figure 1-8. Extrait fourni par le formateur.</a:t>
            </a:r>
          </a:p>
        </p:txBody>
      </p:sp>
    </p:spTree>
    <p:extLst>
      <p:ext uri="{BB962C8B-B14F-4D97-AF65-F5344CB8AC3E}">
        <p14:creationId xmlns:p14="http://schemas.microsoft.com/office/powerpoint/2010/main" val="63927166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f8dd52a207c4bf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292422912fd456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FC4D083E-3B6A-4480-BD07-ACAE62177E1E}"/>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 / 135</a:t>
            </a:r>
          </a:p>
        </p:txBody>
      </p:sp>
      <p:sp>
        <p:nvSpPr>
          <p:cNvPr id="159" name="intro-text">
            <a:extLst xmlns:a="http://schemas.openxmlformats.org/drawingml/2006/main">
              <a:ext uri="{FF2B5EF4-FFF2-40B4-BE49-F238E27FC236}">
                <a16:creationId xmlns:a16="http://schemas.microsoft.com/office/drawing/2014/main" id="{B024D5E8-585E-43E2-98C7-44907D448AD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RÔLE DES REPRÉSENTATIONS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ddb9df119b74b08">
            <a:extLst>
              <a:ext uri="{96DAC541-7B7A-43D3-8B79-37D633B846F1}">
                <asvg:svgBlip xmlns:asvg="http://schemas.microsoft.com/office/drawing/2016/SVG/main" r:embed="R7bccb62e4ac74937"/>
              </a:ext>
            </a:extLst>
          </a:blip>
          <a:stretch xmlns:a="http://schemas.openxmlformats.org/drawingml/2006/main"/>
        </p:blipFill>
        <p:spPr>
          <a:xfrm xmlns:a="http://schemas.openxmlformats.org/drawingml/2006/main">
            <a:off x="933450" y="1952625"/>
            <a:ext cx="4983077" cy="1666875"/>
          </a:xfrm>
          <a:prstGeom xmlns:a="http://schemas.openxmlformats.org/drawingml/2006/main" prst="rect">
            <a:avLst/>
          </a:prstGeom>
        </p:spPr>
      </p:pic>
      <p:sp>
        <p:nvSpPr>
          <p:cNvPr id="161" name="intro-text">
            <a:extLst xmlns:a="http://schemas.openxmlformats.org/drawingml/2006/main">
              <a:ext uri="{FF2B5EF4-FFF2-40B4-BE49-F238E27FC236}">
                <a16:creationId xmlns:a16="http://schemas.microsoft.com/office/drawing/2014/main" id="{F3FC4012-3D2B-4FFD-B208-5BEADA8942B0}"/>
              </a:ext>
            </a:extLst>
          </p:cNvPr>
          <p:cNvSpPr>
            <a:spLocks xmlns:a="http://schemas.openxmlformats.org/drawingml/2006/main" noGrp="1"/>
          </p:cNvSpPr>
          <p:nvPr/>
        </p:nvSpPr>
        <p:spPr>
          <a:xfrm xmlns:a="http://schemas.openxmlformats.org/drawingml/2006/main">
            <a:off x="933450" y="394335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74151"/>
                </a:solidFill>
                <a:latin typeface="DM Sans"/>
                <a:ea typeface="DM Sans"/>
                <a:cs typeface="DM Sans"/>
              </a:defRPr>
            </a:pPr>
            <a:r>
              <a:rPr sz="1875" b="0">
                <a:solidFill>
                  <a:srgbClr val="374151"/>
                </a:solidFill>
                <a:latin typeface="DM Sans"/>
                <a:ea typeface="DM Sans"/>
                <a:cs typeface="DM Sans"/>
              </a:rPr>
              <a:t>Descripteur fixe : on ajuste le prédicteur sur des caractéristiques choisies.</a:t>
            </a:r>
          </a:p>
        </p:txBody>
      </p:sp>
      <p:sp>
        <p:nvSpPr>
          <p:cNvPr id="162" name="intro-text">
            <a:extLst xmlns:a="http://schemas.openxmlformats.org/drawingml/2006/main">
              <a:ext uri="{FF2B5EF4-FFF2-40B4-BE49-F238E27FC236}">
                <a16:creationId xmlns:a16="http://schemas.microsoft.com/office/drawing/2014/main" id="{D786D55E-BA97-4CD4-BB8D-0979CB55ADD1}"/>
              </a:ext>
            </a:extLst>
          </p:cNvPr>
          <p:cNvSpPr>
            <a:spLocks xmlns:a="http://schemas.openxmlformats.org/drawingml/2006/main" noGrp="1"/>
          </p:cNvSpPr>
          <p:nvPr/>
        </p:nvSpPr>
        <p:spPr>
          <a:xfrm xmlns:a="http://schemas.openxmlformats.org/drawingml/2006/main">
            <a:off x="933450" y="4638675"/>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74151"/>
                </a:solidFill>
                <a:latin typeface="DM Sans"/>
                <a:ea typeface="DM Sans"/>
                <a:cs typeface="DM Sans"/>
              </a:defRPr>
            </a:pPr>
            <a:r>
              <a:rPr sz="1875" b="0">
                <a:solidFill>
                  <a:srgbClr val="374151"/>
                </a:solidFill>
                <a:latin typeface="DM Sans"/>
                <a:ea typeface="DM Sans"/>
                <a:cs typeface="DM Sans"/>
              </a:rPr>
              <a:t>Représentation apprise : la perte peut ajuster aussi l’extracteur.</a:t>
            </a:r>
          </a:p>
        </p:txBody>
      </p:sp>
      <p:sp>
        <p:nvSpPr>
          <p:cNvPr id="163" name="intro-text">
            <a:extLst xmlns:a="http://schemas.openxmlformats.org/drawingml/2006/main">
              <a:ext uri="{FF2B5EF4-FFF2-40B4-BE49-F238E27FC236}">
                <a16:creationId xmlns:a16="http://schemas.microsoft.com/office/drawing/2014/main" id="{BD0EB2DD-4D05-4A14-AADD-4AB5C1ED9670}"/>
              </a:ext>
            </a:extLst>
          </p:cNvPr>
          <p:cNvSpPr>
            <a:spLocks xmlns:a="http://schemas.openxmlformats.org/drawingml/2006/main" noGrp="1"/>
          </p:cNvSpPr>
          <p:nvPr/>
        </p:nvSpPr>
        <p:spPr>
          <a:xfrm xmlns:a="http://schemas.openxmlformats.org/drawingml/2006/main">
            <a:off x="933450" y="53340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74151"/>
                </a:solidFill>
                <a:latin typeface="DM Sans"/>
                <a:ea typeface="DM Sans"/>
                <a:cs typeface="DM Sans"/>
              </a:defRPr>
            </a:pPr>
            <a:r>
              <a:rPr sz="1875" b="0">
                <a:solidFill>
                  <a:srgbClr val="374151"/>
                </a:solidFill>
                <a:latin typeface="DM Sans"/>
                <a:ea typeface="DM Sans"/>
                <a:cs typeface="DM Sans"/>
              </a:rPr>
              <a:t>Le transfert peut figer l’extracteur et n’entraîner que la tête.</a:t>
            </a:r>
          </a:p>
        </p:txBody>
      </p:sp>
    </p:spTree>
    <p:extLst>
      <p:ext uri="{BB962C8B-B14F-4D97-AF65-F5344CB8AC3E}">
        <p14:creationId xmlns:p14="http://schemas.microsoft.com/office/powerpoint/2010/main" val="63927166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fce210303a764f1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7bd304d1fbe4438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D13C8484-7BD4-499E-A817-B7D5378D580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 / 135</a:t>
            </a:r>
          </a:p>
        </p:txBody>
      </p:sp>
      <p:sp>
        <p:nvSpPr>
          <p:cNvPr id="159" name="intro-text">
            <a:extLst xmlns:a="http://schemas.openxmlformats.org/drawingml/2006/main">
              <a:ext uri="{FF2B5EF4-FFF2-40B4-BE49-F238E27FC236}">
                <a16:creationId xmlns:a16="http://schemas.microsoft.com/office/drawing/2014/main" id="{0C7AA16D-33D6-4CFC-B76F-B0E63F69432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DEUX PIPELINES POUR CLASSER UNE IMAGE</a:t>
            </a:r>
          </a:p>
        </p:txBody>
      </p:sp>
      <p:graphicFrame>
        <p:nvGraphicFramePr>
          <p:cNvPr id="174" name=""/>
          <p:cNvGraphicFramePr/>
          <p:nvPr/>
        </p:nvGraphicFramePr>
        <p:xfrm>
          <a:off xmlns:a="http://schemas.openxmlformats.org/drawingml/2006/main" x="876300" y="1762125"/>
          <a:ext xmlns:a="http://schemas.openxmlformats.org/drawingml/2006/main" cx="10458450" cy="3333750"/>
        </p:xfrm>
        <a:graphic xmlns:a="http://schemas.openxmlformats.org/drawingml/2006/main">
          <a:graphicData uri="http://schemas.openxmlformats.org/drawingml/2006/table">
            <a:tbl>
              <a:tblPr/>
              <a:tblGrid>
                <a:gridCol w="2091690"/>
                <a:gridCol w="4183380"/>
                <a:gridCol w="4183380"/>
              </a:tblGrid>
              <a:tr h="666750">
                <a:tc>
                  <a:txBody>
                    <a:bodyPr lIns="114300" tIns="76200" rIns="95250" bIns="57150">
                      <a:noAutofit/>
                    </a:bodyPr>
                    <a:lstStyle/>
                    <a:p>
                      <a:r>
                        <a:rPr sz="1650" b="1">
                          <a:solidFill>
                            <a:srgbClr val="FFFFFF"/>
                          </a:solidFill>
                          <a:latin typeface="DM Sans"/>
                          <a:ea typeface="DM Sans"/>
                          <a:cs typeface="DM Sans"/>
                        </a:rPr>
                        <a:t>Étape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Descripteur fixe + classifieur</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CNN entraîné de bout en bout</a:t>
                      </a:r>
                    </a:p>
                  </a:txBody>
                  <a:tcPr marL="91440" marR="91440" marT="45720" marB="45720" anchor="ctr">
                    <a:solidFill>
                      <a:srgbClr val="0A1047"/>
                    </a:solidFill>
                  </a:tcPr>
                </a:tc>
              </a:tr>
              <a:tr h="666750">
                <a:tc>
                  <a:txBody>
                    <a:bodyPr lIns="114300" tIns="76200" rIns="95250" bIns="57150">
                      <a:noAutofit/>
                    </a:bodyPr>
                    <a:lstStyle/>
                    <a:p>
                      <a:r>
                        <a:rPr sz="1575" b="0">
                          <a:solidFill>
                            <a:srgbClr val="374151"/>
                          </a:solidFill>
                          <a:latin typeface="DM Sans"/>
                          <a:ea typeface="DM Sans"/>
                          <a:cs typeface="DM Sans"/>
                        </a:rPr>
                        <a:t>Entrée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Pixels, taille et normalisation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Pixels, taille et normalisation</a:t>
                      </a:r>
                    </a:p>
                  </a:txBody>
                  <a:tcPr marL="91440" marR="91440" marT="45720" marB="45720" anchor="ctr">
                    <a:solidFill>
                      <a:srgbClr val="F6F7F9"/>
                    </a:solidFill>
                  </a:tcPr>
                </a:tc>
              </a:tr>
              <a:tr h="666750">
                <a:tc>
                  <a:txBody>
                    <a:bodyPr lIns="114300" tIns="76200" rIns="95250" bIns="57150">
                      <a:noAutofit/>
                    </a:bodyPr>
                    <a:lstStyle/>
                    <a:p>
                      <a:r>
                        <a:rPr sz="1575" b="0">
                          <a:solidFill>
                            <a:srgbClr val="374151"/>
                          </a:solidFill>
                          <a:latin typeface="DM Sans"/>
                          <a:ea typeface="DM Sans"/>
                          <a:cs typeface="DM Sans"/>
                        </a:rPr>
                        <a:t>Représentation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HOG : gradients et histogrammes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Cartes calculées par des filtres appris</a:t>
                      </a:r>
                    </a:p>
                  </a:txBody>
                  <a:tcPr marL="91440" marR="91440" marT="45720" marB="45720" anchor="ctr">
                    <a:solidFill>
                      <a:srgbClr val="FFFFFF"/>
                    </a:solidFill>
                  </a:tcPr>
                </a:tc>
              </a:tr>
              <a:tr h="666750">
                <a:tc>
                  <a:txBody>
                    <a:bodyPr lIns="114300" tIns="76200" rIns="95250" bIns="57150">
                      <a:noAutofit/>
                    </a:bodyPr>
                    <a:lstStyle/>
                    <a:p>
                      <a:r>
                        <a:rPr sz="1575" b="0">
                          <a:solidFill>
                            <a:srgbClr val="374151"/>
                          </a:solidFill>
                          <a:latin typeface="DM Sans"/>
                          <a:ea typeface="DM Sans"/>
                          <a:cs typeface="DM Sans"/>
                        </a:rPr>
                        <a:t>Paramètres ajustés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Poids du classifieur</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Filtres et tête de classification</a:t>
                      </a:r>
                    </a:p>
                  </a:txBody>
                  <a:tcPr marL="91440" marR="91440" marT="45720" marB="45720" anchor="ctr">
                    <a:solidFill>
                      <a:srgbClr val="F6F7F9"/>
                    </a:solidFill>
                  </a:tcPr>
                </a:tc>
              </a:tr>
              <a:tr h="666750">
                <a:tc>
                  <a:txBody>
                    <a:bodyPr lIns="114300" tIns="76200" rIns="95250" bIns="57150">
                      <a:noAutofit/>
                    </a:bodyPr>
                    <a:lstStyle/>
                    <a:p>
                      <a:r>
                        <a:rPr sz="1575" b="0">
                          <a:solidFill>
                            <a:srgbClr val="374151"/>
                          </a:solidFill>
                          <a:latin typeface="DM Sans"/>
                          <a:ea typeface="DM Sans"/>
                          <a:cs typeface="DM Sans"/>
                        </a:rPr>
                        <a:t>Choix humains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Descripteur et modèle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Architecture, perte et données</a:t>
                      </a:r>
                    </a:p>
                  </a:txBody>
                  <a:tcPr marL="91440" marR="91440" marT="45720" marB="45720" anchor="ctr">
                    <a:solidFill>
                      <a:srgbClr val="FFFFFF"/>
                    </a:solidFill>
                  </a:tcPr>
                </a:tc>
              </a:tr>
            </a:tbl>
          </a:graphicData>
        </a:graphic>
      </p:graphicFrame>
      <p:sp>
        <p:nvSpPr>
          <p:cNvPr id="161" name="intro-text">
            <a:extLst xmlns:a="http://schemas.openxmlformats.org/drawingml/2006/main">
              <a:ext uri="{FF2B5EF4-FFF2-40B4-BE49-F238E27FC236}">
                <a16:creationId xmlns:a16="http://schemas.microsoft.com/office/drawing/2014/main" id="{D8C2349C-6378-4D69-B6F8-1DC95823025B}"/>
              </a:ext>
            </a:extLst>
          </p:cNvPr>
          <p:cNvSpPr>
            <a:spLocks xmlns:a="http://schemas.openxmlformats.org/drawingml/2006/main" noGrp="1"/>
          </p:cNvSpPr>
          <p:nvPr/>
        </p:nvSpPr>
        <p:spPr>
          <a:xfrm xmlns:a="http://schemas.openxmlformats.org/drawingml/2006/main">
            <a:off x="933450" y="54102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HOG : histogrammes de gradients orientés. Les deux pipelines exigent une validation séparée.</a:t>
            </a:r>
          </a:p>
        </p:txBody>
      </p:sp>
    </p:spTree>
    <p:extLst>
      <p:ext uri="{BB962C8B-B14F-4D97-AF65-F5344CB8AC3E}">
        <p14:creationId xmlns:p14="http://schemas.microsoft.com/office/powerpoint/2010/main" val="6392716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b788f1b8b309486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b905a096a9b04d3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50C478C4-6F2C-4E57-87B5-89CFB2B22DCE}"/>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 / 135</a:t>
            </a:r>
          </a:p>
        </p:txBody>
      </p:sp>
      <p:sp>
        <p:nvSpPr>
          <p:cNvPr id="159" name="intro-text">
            <a:extLst xmlns:a="http://schemas.openxmlformats.org/drawingml/2006/main">
              <a:ext uri="{FF2B5EF4-FFF2-40B4-BE49-F238E27FC236}">
                <a16:creationId xmlns:a16="http://schemas.microsoft.com/office/drawing/2014/main" id="{340751EA-377E-48D8-A48A-3CFF3AAF65A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CHOIX D’UNE APPROCHE</a:t>
            </a:r>
          </a:p>
        </p:txBody>
      </p:sp>
      <p:graphicFrame>
        <p:nvGraphicFramePr>
          <p:cNvPr id="174" name=""/>
          <p:cNvGraphicFramePr/>
          <p:nvPr/>
        </p:nvGraphicFramePr>
        <p:xfrm>
          <a:off xmlns:a="http://schemas.openxmlformats.org/drawingml/2006/main" x="876300" y="1762125"/>
          <a:ext xmlns:a="http://schemas.openxmlformats.org/drawingml/2006/main" cx="10458450" cy="3352800"/>
        </p:xfrm>
        <a:graphic xmlns:a="http://schemas.openxmlformats.org/drawingml/2006/main">
          <a:graphicData uri="http://schemas.openxmlformats.org/drawingml/2006/table">
            <a:tbl>
              <a:tblPr/>
              <a:tblGrid>
                <a:gridCol w="2928366"/>
                <a:gridCol w="3974211"/>
                <a:gridCol w="3555873"/>
              </a:tblGrid>
              <a:tr h="838200">
                <a:tc>
                  <a:txBody>
                    <a:bodyPr lIns="114300" tIns="76200" rIns="95250" bIns="57150">
                      <a:noAutofit/>
                    </a:bodyPr>
                    <a:lstStyle/>
                    <a:p>
                      <a:r>
                        <a:rPr sz="1650" b="1">
                          <a:solidFill>
                            <a:srgbClr val="FFFFFF"/>
                          </a:solidFill>
                          <a:latin typeface="DM Sans"/>
                          <a:ea typeface="DM Sans"/>
                          <a:cs typeface="DM Sans"/>
                        </a:rPr>
                        <a:t>Situation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Point de départ à comparer</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Critère décisif</a:t>
                      </a:r>
                    </a:p>
                  </a:txBody>
                  <a:tcPr marL="91440" marR="91440" marT="45720" marB="45720" anchor="ctr">
                    <a:solidFill>
                      <a:srgbClr val="0A1047"/>
                    </a:solidFill>
                  </a:tcPr>
                </a:tc>
              </a:tr>
              <a:tr h="838200">
                <a:tc>
                  <a:txBody>
                    <a:bodyPr lIns="114300" tIns="76200" rIns="95250" bIns="57150">
                      <a:noAutofit/>
                    </a:bodyPr>
                    <a:lstStyle/>
                    <a:p>
                      <a:r>
                        <a:rPr sz="1575" b="0">
                          <a:solidFill>
                            <a:srgbClr val="374151"/>
                          </a:solidFill>
                          <a:latin typeface="DM Sans"/>
                          <a:ea typeface="DM Sans"/>
                          <a:cs typeface="DM Sans"/>
                        </a:rPr>
                        <a:t>Données tabulaires</a:t>
                      </a:r>
                    </a:p>
                    <a:p>
                      <a:r>
                        <a:rPr sz="1575" b="0">
                          <a:solidFill>
                            <a:srgbClr val="374151"/>
                          </a:solidFill>
                          <a:latin typeface="DM Sans"/>
                          <a:ea typeface="DM Sans"/>
                          <a:cs typeface="DM Sans"/>
                        </a:rPr>
                        <a:t>peu nombreuses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Modèle linéaire ou arbres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Validation, stabilité et coût</a:t>
                      </a:r>
                    </a:p>
                  </a:txBody>
                  <a:tcPr marL="91440" marR="91440" marT="45720" marB="45720" anchor="ctr">
                    <a:solidFill>
                      <a:srgbClr val="F6F7F9"/>
                    </a:solidFill>
                  </a:tcPr>
                </a:tc>
              </a:tr>
              <a:tr h="838200">
                <a:tc>
                  <a:txBody>
                    <a:bodyPr lIns="114300" tIns="76200" rIns="95250" bIns="57150">
                      <a:noAutofit/>
                    </a:bodyPr>
                    <a:lstStyle/>
                    <a:p>
                      <a:r>
                        <a:rPr sz="1575" b="0">
                          <a:solidFill>
                            <a:srgbClr val="374151"/>
                          </a:solidFill>
                          <a:latin typeface="DM Sans"/>
                          <a:ea typeface="DM Sans"/>
                          <a:cs typeface="DM Sans"/>
                        </a:rPr>
                        <a:t>Images ou texte</a:t>
                      </a:r>
                    </a:p>
                    <a:p>
                      <a:r>
                        <a:rPr sz="1575" b="0">
                          <a:solidFill>
                            <a:srgbClr val="374151"/>
                          </a:solidFill>
                          <a:latin typeface="DM Sans"/>
                          <a:ea typeface="DM Sans"/>
                          <a:cs typeface="DM Sans"/>
                        </a:rPr>
                        <a:t>avec modèle adapté</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Réseau préentraîné, puis adaptation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Gain observé et compatibilité du domaine</a:t>
                      </a:r>
                    </a:p>
                  </a:txBody>
                  <a:tcPr marL="91440" marR="91440" marT="45720" marB="45720" anchor="ctr">
                    <a:solidFill>
                      <a:srgbClr val="FFFFFF"/>
                    </a:solidFill>
                  </a:tcPr>
                </a:tc>
              </a:tr>
              <a:tr h="838200">
                <a:tc>
                  <a:txBody>
                    <a:bodyPr lIns="114300" tIns="76200" rIns="95250" bIns="57150">
                      <a:noAutofit/>
                    </a:bodyPr>
                    <a:lstStyle/>
                    <a:p>
                      <a:r>
                        <a:rPr sz="1575" b="0">
                          <a:solidFill>
                            <a:srgbClr val="374151"/>
                          </a:solidFill>
                          <a:latin typeface="DM Sans"/>
                          <a:ea typeface="DM Sans"/>
                          <a:cs typeface="DM Sans"/>
                        </a:rPr>
                        <a:t>Peu d’étiquettes</a:t>
                      </a:r>
                    </a:p>
                    <a:p>
                      <a:r>
                        <a:rPr sz="1575" b="0">
                          <a:solidFill>
                            <a:srgbClr val="374151"/>
                          </a:solidFill>
                          <a:latin typeface="DM Sans"/>
                          <a:ea typeface="DM Sans"/>
                          <a:cs typeface="DM Sans"/>
                        </a:rPr>
                        <a:t>pour la tâche cible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Extracteur préentraîné gelé</a:t>
                      </a:r>
                    </a:p>
                    <a:p>
                      <a:r>
                        <a:rPr sz="1575" b="0">
                          <a:solidFill>
                            <a:srgbClr val="374151"/>
                          </a:solidFill>
                          <a:latin typeface="DM Sans"/>
                          <a:ea typeface="DM Sans"/>
                          <a:cs typeface="DM Sans"/>
                        </a:rPr>
                        <a:t>et tête simple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Qualité des représentations transférées</a:t>
                      </a:r>
                    </a:p>
                  </a:txBody>
                  <a:tcPr marL="91440" marR="91440" marT="45720" marB="45720" anchor="ctr">
                    <a:solidFill>
                      <a:srgbClr val="F6F7F9"/>
                    </a:solidFill>
                  </a:tcPr>
                </a:tc>
              </a:tr>
            </a:tbl>
          </a:graphicData>
        </a:graphic>
      </p:graphicFrame>
      <p:sp>
        <p:nvSpPr>
          <p:cNvPr id="161" name="intro-text">
            <a:extLst xmlns:a="http://schemas.openxmlformats.org/drawingml/2006/main">
              <a:ext uri="{FF2B5EF4-FFF2-40B4-BE49-F238E27FC236}">
                <a16:creationId xmlns:a16="http://schemas.microsoft.com/office/drawing/2014/main" id="{A2DA49D3-5D04-4F0A-B08D-15F65AB46405}"/>
              </a:ext>
            </a:extLst>
          </p:cNvPr>
          <p:cNvSpPr>
            <a:spLocks xmlns:a="http://schemas.openxmlformats.org/drawingml/2006/main" noGrp="1"/>
          </p:cNvSpPr>
          <p:nvPr/>
        </p:nvSpPr>
        <p:spPr>
          <a:xfrm xmlns:a="http://schemas.openxmlformats.org/drawingml/2006/main">
            <a:off x="933450" y="54102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Points de départ expérimentaux. Aucune famille ne garantit le meilleur résultat.</a:t>
            </a:r>
          </a:p>
        </p:txBody>
      </p:sp>
    </p:spTree>
    <p:extLst>
      <p:ext uri="{BB962C8B-B14F-4D97-AF65-F5344CB8AC3E}">
        <p14:creationId xmlns:p14="http://schemas.microsoft.com/office/powerpoint/2010/main" val="63927166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b16105c502a452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ee4a8775bf74a3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1A22A7DA-CDD0-44E9-9C6C-8C8C33190EA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 / 135</a:t>
            </a:r>
          </a:p>
        </p:txBody>
      </p:sp>
      <p:sp>
        <p:nvSpPr>
          <p:cNvPr id="159" name="intro-text">
            <a:extLst xmlns:a="http://schemas.openxmlformats.org/drawingml/2006/main">
              <a:ext uri="{FF2B5EF4-FFF2-40B4-BE49-F238E27FC236}">
                <a16:creationId xmlns:a16="http://schemas.microsoft.com/office/drawing/2014/main" id="{0DA96823-4DB8-49F9-B220-DD10DBBE0C0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UN PROTOCOLE EXPÉRIMENTAL COMMUN</a:t>
            </a:r>
          </a:p>
        </p:txBody>
      </p:sp>
      <p:sp>
        <p:nvSpPr>
          <p:cNvPr id="160" name="intro-text">
            <a:extLst xmlns:a="http://schemas.openxmlformats.org/drawingml/2006/main">
              <a:ext uri="{FF2B5EF4-FFF2-40B4-BE49-F238E27FC236}">
                <a16:creationId xmlns:a16="http://schemas.microsoft.com/office/drawing/2014/main" id="{DDF06D9D-BF70-4BE6-9A6B-02093DF144E2}"/>
              </a:ext>
            </a:extLst>
          </p:cNvPr>
          <p:cNvSpPr>
            <a:spLocks xmlns:a="http://schemas.openxmlformats.org/drawingml/2006/main" noGrp="1"/>
          </p:cNvSpPr>
          <p:nvPr/>
        </p:nvSpPr>
        <p:spPr>
          <a:xfrm xmlns:a="http://schemas.openxmlformats.org/drawingml/2006/main">
            <a:off x="933450" y="1905000"/>
            <a:ext cx="1038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Définir la tâche et séparer entraînement, validation et test.</a:t>
            </a:r>
          </a:p>
        </p:txBody>
      </p:sp>
      <p:sp>
        <p:nvSpPr>
          <p:cNvPr id="161" name="intro-text">
            <a:extLst xmlns:a="http://schemas.openxmlformats.org/drawingml/2006/main">
              <a:ext uri="{FF2B5EF4-FFF2-40B4-BE49-F238E27FC236}">
                <a16:creationId xmlns:a16="http://schemas.microsoft.com/office/drawing/2014/main" id="{FAD8CF70-DD9D-4F1F-ADB4-A4607E6B80EE}"/>
              </a:ext>
            </a:extLst>
          </p:cNvPr>
          <p:cNvSpPr>
            <a:spLocks xmlns:a="http://schemas.openxmlformats.org/drawingml/2006/main" noGrp="1"/>
          </p:cNvSpPr>
          <p:nvPr/>
        </p:nvSpPr>
        <p:spPr>
          <a:xfrm xmlns:a="http://schemas.openxmlformats.org/drawingml/2006/main">
            <a:off x="933450" y="2771775"/>
            <a:ext cx="1038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Ajuster sur le train les transformations apprises et les paramètres.</a:t>
            </a:r>
          </a:p>
        </p:txBody>
      </p:sp>
      <p:sp>
        <p:nvSpPr>
          <p:cNvPr id="162" name="intro-text">
            <a:extLst xmlns:a="http://schemas.openxmlformats.org/drawingml/2006/main">
              <a:ext uri="{FF2B5EF4-FFF2-40B4-BE49-F238E27FC236}">
                <a16:creationId xmlns:a16="http://schemas.microsoft.com/office/drawing/2014/main" id="{9099951C-3B67-47D5-9F57-B52682CA0F7A}"/>
              </a:ext>
            </a:extLst>
          </p:cNvPr>
          <p:cNvSpPr>
            <a:spLocks xmlns:a="http://schemas.openxmlformats.org/drawingml/2006/main" noGrp="1"/>
          </p:cNvSpPr>
          <p:nvPr/>
        </p:nvSpPr>
        <p:spPr>
          <a:xfrm xmlns:a="http://schemas.openxmlformats.org/drawingml/2006/main">
            <a:off x="933450" y="3638550"/>
            <a:ext cx="1038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Choisir les configurations sur la validation, avec le coût mesuré.</a:t>
            </a:r>
          </a:p>
        </p:txBody>
      </p:sp>
      <p:sp>
        <p:nvSpPr>
          <p:cNvPr id="163" name="intro-text">
            <a:extLst xmlns:a="http://schemas.openxmlformats.org/drawingml/2006/main">
              <a:ext uri="{FF2B5EF4-FFF2-40B4-BE49-F238E27FC236}">
                <a16:creationId xmlns:a16="http://schemas.microsoft.com/office/drawing/2014/main" id="{EAFCDC0E-2A28-4DDF-A7B2-668FD8C1F561}"/>
              </a:ext>
            </a:extLst>
          </p:cNvPr>
          <p:cNvSpPr>
            <a:spLocks xmlns:a="http://schemas.openxmlformats.org/drawingml/2006/main" noGrp="1"/>
          </p:cNvSpPr>
          <p:nvPr/>
        </p:nvSpPr>
        <p:spPr>
          <a:xfrm xmlns:a="http://schemas.openxmlformats.org/drawingml/2006/main">
            <a:off x="933450" y="4505325"/>
            <a:ext cx="1038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Évaluer le choix final sur le test, puis surveiller les données réelles.</a:t>
            </a:r>
          </a:p>
        </p:txBody>
      </p:sp>
    </p:spTree>
    <p:extLst>
      <p:ext uri="{BB962C8B-B14F-4D97-AF65-F5344CB8AC3E}">
        <p14:creationId xmlns:p14="http://schemas.microsoft.com/office/powerpoint/2010/main" val="63927166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96b24b5ab74c4b4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01c7f924c7654c5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MASTER 2 IA</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761AC52-B4F6-4AAE-B7D7-ED5C6E50004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13 / 135</a:t>
            </a:r>
          </a:p>
        </p:txBody>
      </p:sp>
      <p:sp>
        <p:nvSpPr>
          <p:cNvPr id="159" name="course-text">
            <a:extLst xmlns:a="http://schemas.openxmlformats.org/drawingml/2006/main">
              <a:ext uri="{FF2B5EF4-FFF2-40B4-BE49-F238E27FC236}">
                <a16:creationId xmlns:a16="http://schemas.microsoft.com/office/drawing/2014/main" id="{69D6076D-930F-47D9-A53A-5D8DB5CE03F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OBJECTIFS ET PREUVES DE MAÎTRISE</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928366"/>
                <a:gridCol w="7530084"/>
              </a:tblGrid>
              <a:tr h="504825">
                <a:tc>
                  <a:txBody>
                    <a:bodyPr lIns="114300" tIns="76200" rIns="95250" bIns="57150">
                      <a:noAutofit/>
                    </a:bodyPr>
                    <a:lstStyle/>
                    <a:p>
                      <a:r>
                        <a:rPr sz="1650" b="1">
                          <a:solidFill>
                            <a:srgbClr val="FFFFFF"/>
                          </a:solidFill>
                          <a:latin typeface="DM Sans"/>
                          <a:ea typeface="DM Sans"/>
                          <a:cs typeface="DM Sans"/>
                        </a:rPr>
                        <a:t>Objectif</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Preuve attendue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Rétropropagation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Dérivation, dimensions et contrôle numérique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CNN pour la vision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Architecture, entraînement et analyse des erreurs</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Transfert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Comparaison source / cible et stratégies de gel</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Transformer</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Attention, masque causal et boucle autoregressive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Démarche expérimentale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Validation séparée, ablations et limites explicites</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67fb47c730b4c6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677bf9a3c4041e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MASTER 2 IA</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CCFA631-7B7A-4F98-A194-2986E4792DD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14 / 135</a:t>
            </a:r>
          </a:p>
        </p:txBody>
      </p:sp>
      <p:sp>
        <p:nvSpPr>
          <p:cNvPr id="159" name="course-text">
            <a:extLst xmlns:a="http://schemas.openxmlformats.org/drawingml/2006/main">
              <a:ext uri="{FF2B5EF4-FFF2-40B4-BE49-F238E27FC236}">
                <a16:creationId xmlns:a16="http://schemas.microsoft.com/office/drawing/2014/main" id="{E1CC1FE8-6862-48DA-9886-622B403CD90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PRÉREQUIS ET OUTILS</a:t>
            </a:r>
          </a:p>
        </p:txBody>
      </p:sp>
      <p:sp>
        <p:nvSpPr>
          <p:cNvPr id="160" name="course-text">
            <a:extLst xmlns:a="http://schemas.openxmlformats.org/drawingml/2006/main">
              <a:ext uri="{FF2B5EF4-FFF2-40B4-BE49-F238E27FC236}">
                <a16:creationId xmlns:a16="http://schemas.microsoft.com/office/drawing/2014/main" id="{4F4BEE3D-0AA0-4C49-ACBD-5C4806B7B82A}"/>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Algèbre linéaire : produit matriciel, transposée, normes.</a:t>
            </a:r>
          </a:p>
        </p:txBody>
      </p:sp>
      <p:sp>
        <p:nvSpPr>
          <p:cNvPr id="161" name="course-text">
            <a:extLst xmlns:a="http://schemas.openxmlformats.org/drawingml/2006/main">
              <a:ext uri="{FF2B5EF4-FFF2-40B4-BE49-F238E27FC236}">
                <a16:creationId xmlns:a16="http://schemas.microsoft.com/office/drawing/2014/main" id="{364AB5B3-2205-4A88-9F9F-32149D3425F8}"/>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Analyse : dérivées partielles et règle de la chaîne.</a:t>
            </a:r>
          </a:p>
        </p:txBody>
      </p:sp>
      <p:sp>
        <p:nvSpPr>
          <p:cNvPr id="162" name="course-text">
            <a:extLst xmlns:a="http://schemas.openxmlformats.org/drawingml/2006/main">
              <a:ext uri="{FF2B5EF4-FFF2-40B4-BE49-F238E27FC236}">
                <a16:creationId xmlns:a16="http://schemas.microsoft.com/office/drawing/2014/main" id="{A99D55AC-1450-45CD-876B-E93266ACE66D}"/>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Probabilités : vraisemblance, logarithme, espérance.</a:t>
            </a:r>
          </a:p>
        </p:txBody>
      </p:sp>
      <p:sp>
        <p:nvSpPr>
          <p:cNvPr id="163" name="course-text">
            <a:extLst xmlns:a="http://schemas.openxmlformats.org/drawingml/2006/main">
              <a:ext uri="{FF2B5EF4-FFF2-40B4-BE49-F238E27FC236}">
                <a16:creationId xmlns:a16="http://schemas.microsoft.com/office/drawing/2014/main" id="{661D87E2-71A2-427B-9A6B-9189261A9CF1}"/>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Python, NumPy et bases de l’évaluation supervisée.</a:t>
            </a:r>
          </a:p>
        </p:txBody>
      </p:sp>
    </p:spTree>
    <p:extLst>
      <p:ext uri="{BB962C8B-B14F-4D97-AF65-F5344CB8AC3E}">
        <p14:creationId xmlns:p14="http://schemas.microsoft.com/office/powerpoint/2010/main" val="30442115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ca5766c69fbf4dd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22e91c8dabfa456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MASTER 2 IA</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4EE7A99F-2B72-4F2F-A708-7370E822F04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15 / 135</a:t>
            </a:r>
          </a:p>
        </p:txBody>
      </p:sp>
      <p:sp>
        <p:nvSpPr>
          <p:cNvPr id="159" name="course-text">
            <a:extLst xmlns:a="http://schemas.openxmlformats.org/drawingml/2006/main">
              <a:ext uri="{FF2B5EF4-FFF2-40B4-BE49-F238E27FC236}">
                <a16:creationId xmlns:a16="http://schemas.microsoft.com/office/drawing/2014/main" id="{874DB9DA-F670-4706-9E92-843CE8FFA97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CONVENTIONS DE NOTATION</a:t>
            </a:r>
          </a:p>
        </p:txBody>
      </p:sp>
      <p:pic>
        <p:nvPicPr>
          <p:cNvPr id="175" name=""/>
          <p:cNvPicPr>
            <a:picLocks xmlns:a="http://schemas.openxmlformats.org/drawingml/2006/main" noChangeAspect="1"/>
          </p:cNvPicPr>
          <p:nvPr/>
        </p:nvPicPr>
        <p:blipFill>
          <a:blip xmlns:r="http://schemas.openxmlformats.org/officeDocument/2006/relationships" xmlns:a="http://schemas.openxmlformats.org/drawingml/2006/main" r:embed="R60dd5cfc75e84d6b">
            <a:extLst>
              <a:ext uri="{96DAC541-7B7A-43D3-8B79-37D633B846F1}">
                <asvg:svgBlip xmlns:asvg="http://schemas.microsoft.com/office/drawing/2016/SVG/main" r:embed="Re973d689a8814833"/>
              </a:ext>
            </a:extLst>
          </a:blip>
          <a:stretch xmlns:a="http://schemas.openxmlformats.org/drawingml/2006/main"/>
        </p:blipFill>
        <p:spPr>
          <a:xfrm xmlns:a="http://schemas.openxmlformats.org/drawingml/2006/main">
            <a:off x="933450" y="1809750"/>
            <a:ext cx="4870160" cy="85895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8E6E633-97F9-4B88-82A1-F4B8090420ED}"/>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B : batch · n : longueur · d : dimension · K : classes</a:t>
            </a:r>
          </a:p>
        </p:txBody>
      </p:sp>
      <p:sp>
        <p:nvSpPr>
          <p:cNvPr id="162" name="course-text">
            <a:extLst xmlns:a="http://schemas.openxmlformats.org/drawingml/2006/main">
              <a:ext uri="{FF2B5EF4-FFF2-40B4-BE49-F238E27FC236}">
                <a16:creationId xmlns:a16="http://schemas.microsoft.com/office/drawing/2014/main" id="{3E4338C2-51F2-4DD4-A4B8-212240173348}"/>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produit matriciel doit toujours être vérifié par ses dimensions.</a:t>
            </a:r>
          </a:p>
        </p:txBody>
      </p:sp>
    </p:spTree>
    <p:extLst>
      <p:ext uri="{BB962C8B-B14F-4D97-AF65-F5344CB8AC3E}">
        <p14:creationId xmlns:p14="http://schemas.microsoft.com/office/powerpoint/2010/main" val="304421154"/>
      </p:ext>
    </p:extLst>
  </p:cSld>
</p:sld>
</file>

<file path=ppt/slides/slide16.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01</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RÉSEAUX
PROFONDS</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a0789cafa04b43e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29033371a519443f">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1CD943ED-BF87-4B75-ABEE-E59CED5E369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16 / 135</a:t>
            </a:r>
          </a:p>
        </p:txBody>
      </p:sp>
      <p:sp>
        <p:nvSpPr>
          <p:cNvPr id="144" name="course-text">
            <a:extLst xmlns:a="http://schemas.openxmlformats.org/drawingml/2006/main">
              <a:ext uri="{FF2B5EF4-FFF2-40B4-BE49-F238E27FC236}">
                <a16:creationId xmlns:a16="http://schemas.microsoft.com/office/drawing/2014/main" id="{5B906E4A-8E6F-4E28-909A-AD47E8F8C8A5}"/>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Calcul direct, pertes et rétropropagation</a:t>
            </a:r>
          </a:p>
        </p:txBody>
      </p:sp>
    </p:spTree>
    <p:extLst>
      <p:ext uri="{BB962C8B-B14F-4D97-AF65-F5344CB8AC3E}">
        <p14:creationId xmlns:p14="http://schemas.microsoft.com/office/powerpoint/2010/main" val="37564357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70b74cac684a4a3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3c6da5fb4e78495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84A2A5E-FADD-4BFF-868B-A75461FFC37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17 / 135</a:t>
            </a:r>
          </a:p>
        </p:txBody>
      </p:sp>
      <p:sp>
        <p:nvSpPr>
          <p:cNvPr id="159" name="course-text">
            <a:extLst xmlns:a="http://schemas.openxmlformats.org/drawingml/2006/main">
              <a:ext uri="{FF2B5EF4-FFF2-40B4-BE49-F238E27FC236}">
                <a16:creationId xmlns:a16="http://schemas.microsoft.com/office/drawing/2014/main" id="{5BED618B-9DFA-40A7-9237-5FB1471CB96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1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Introduction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Histoire, comparaison ML / DL et prérequis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Modélisation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MLP, activations et fonctions de perte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80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Dérivations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Règle de la chaîne et gradients vectorisés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75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01</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MLP NumPy, gradient numérique et généralisation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150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Restitution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Autograd, exercices et synthèse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50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9FE60028-C2D4-4E35-B345-447A4B7B942B}"/>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9514982bff842d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edda27880ae408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9CFCE89-6929-437F-A144-055EB2460F1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18 / 135</a:t>
            </a:r>
          </a:p>
        </p:txBody>
      </p:sp>
      <p:sp>
        <p:nvSpPr>
          <p:cNvPr id="159" name="course-text">
            <a:extLst xmlns:a="http://schemas.openxmlformats.org/drawingml/2006/main">
              <a:ext uri="{FF2B5EF4-FFF2-40B4-BE49-F238E27FC236}">
                <a16:creationId xmlns:a16="http://schemas.microsoft.com/office/drawing/2014/main" id="{CFD23530-F1B6-4D13-9B8C-43CC68C1EF6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APPRENDRE DES REPRÉSENTATIONS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9c63adbefc84f0d">
            <a:extLst>
              <a:ext uri="{96DAC541-7B7A-43D3-8B79-37D633B846F1}">
                <asvg:svgBlip xmlns:asvg="http://schemas.microsoft.com/office/drawing/2016/SVG/main" r:embed="Rd63abf6753514b3b"/>
              </a:ext>
            </a:extLst>
          </a:blip>
          <a:stretch xmlns:a="http://schemas.openxmlformats.org/drawingml/2006/main"/>
        </p:blipFill>
        <p:spPr>
          <a:xfrm xmlns:a="http://schemas.openxmlformats.org/drawingml/2006/main">
            <a:off x="933450" y="1809750"/>
            <a:ext cx="3253561" cy="30251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3344A969-C552-4328-8CCE-4A9B717D93B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réseau compose des transformations paramétrées.</a:t>
            </a:r>
          </a:p>
        </p:txBody>
      </p:sp>
      <p:sp>
        <p:nvSpPr>
          <p:cNvPr id="162" name="course-text">
            <a:extLst xmlns:a="http://schemas.openxmlformats.org/drawingml/2006/main">
              <a:ext uri="{FF2B5EF4-FFF2-40B4-BE49-F238E27FC236}">
                <a16:creationId xmlns:a16="http://schemas.microsoft.com/office/drawing/2014/main" id="{E7C8101B-1544-4672-9F47-AAD072174F7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couches internes construisent des représentations utiles à la tâche.</a:t>
            </a:r>
          </a:p>
        </p:txBody>
      </p:sp>
      <p:sp>
        <p:nvSpPr>
          <p:cNvPr id="163" name="course-text">
            <a:extLst xmlns:a="http://schemas.openxmlformats.org/drawingml/2006/main">
              <a:ext uri="{FF2B5EF4-FFF2-40B4-BE49-F238E27FC236}">
                <a16:creationId xmlns:a16="http://schemas.microsoft.com/office/drawing/2014/main" id="{B195F53E-95FE-4453-BBA8-E0773FA41D1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profondeur apporte une structure de composition ; elle ne garantit pas la performance.</a:t>
            </a:r>
          </a:p>
        </p:txBody>
      </p:sp>
    </p:spTree>
    <p:extLst>
      <p:ext uri="{BB962C8B-B14F-4D97-AF65-F5344CB8AC3E}">
        <p14:creationId xmlns:p14="http://schemas.microsoft.com/office/powerpoint/2010/main" val="30442115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46426253f4343d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fcdc6dc77fc42d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0182A56-9300-4CB3-87B6-205C2C73142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19 / 135</a:t>
            </a:r>
          </a:p>
        </p:txBody>
      </p:sp>
      <p:sp>
        <p:nvSpPr>
          <p:cNvPr id="159" name="course-text">
            <a:extLst xmlns:a="http://schemas.openxmlformats.org/drawingml/2006/main">
              <a:ext uri="{FF2B5EF4-FFF2-40B4-BE49-F238E27FC236}">
                <a16:creationId xmlns:a16="http://schemas.microsoft.com/office/drawing/2014/main" id="{4D783008-1907-4AAF-9842-8733BADE4357}"/>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NEURONE DIFFÉRENTIABLE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e6d7841a1f247e1">
            <a:extLst>
              <a:ext uri="{96DAC541-7B7A-43D3-8B79-37D633B846F1}">
                <asvg:svgBlip xmlns:asvg="http://schemas.microsoft.com/office/drawing/2016/SVG/main" r:embed="R52f5276fdaa441bd"/>
              </a:ext>
            </a:extLst>
          </a:blip>
          <a:stretch xmlns:a="http://schemas.openxmlformats.org/drawingml/2006/main"/>
        </p:blipFill>
        <p:spPr>
          <a:xfrm xmlns:a="http://schemas.openxmlformats.org/drawingml/2006/main">
            <a:off x="933450" y="1809750"/>
            <a:ext cx="3704144" cy="38365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0A27126-F385-4109-80DA-2DE0DD63C5A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Combinaison affine : poids w et biais b.</a:t>
            </a:r>
          </a:p>
        </p:txBody>
      </p:sp>
      <p:sp>
        <p:nvSpPr>
          <p:cNvPr id="162" name="course-text">
            <a:extLst xmlns:a="http://schemas.openxmlformats.org/drawingml/2006/main">
              <a:ext uri="{FF2B5EF4-FFF2-40B4-BE49-F238E27FC236}">
                <a16:creationId xmlns:a16="http://schemas.microsoft.com/office/drawing/2014/main" id="{BFAD0129-EC43-428B-932C-D4EDDA64ECC4}"/>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Activation : une transformation non linéaire choisie.</a:t>
            </a:r>
          </a:p>
        </p:txBody>
      </p:sp>
      <p:sp>
        <p:nvSpPr>
          <p:cNvPr id="163" name="course-text">
            <a:extLst xmlns:a="http://schemas.openxmlformats.org/drawingml/2006/main">
              <a:ext uri="{FF2B5EF4-FFF2-40B4-BE49-F238E27FC236}">
                <a16:creationId xmlns:a16="http://schemas.microsoft.com/office/drawing/2014/main" id="{C1F7A953-AB1E-4F80-83C8-E12DD6FDE52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paramètres sont appris ; l’architecture est un choix de modélisation.</a:t>
            </a:r>
          </a:p>
        </p:txBody>
      </p:sp>
    </p:spTree>
    <p:extLst>
      <p:ext uri="{BB962C8B-B14F-4D97-AF65-F5344CB8AC3E}">
        <p14:creationId xmlns:p14="http://schemas.microsoft.com/office/powerpoint/2010/main" val="30442115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527ab156da5432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cdd9c7596e84b0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B684B47-5F1A-44C5-A99D-79F9E97FD73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20 / 135</a:t>
            </a:r>
          </a:p>
        </p:txBody>
      </p:sp>
      <p:sp>
        <p:nvSpPr>
          <p:cNvPr id="159" name="course-text">
            <a:extLst xmlns:a="http://schemas.openxmlformats.org/drawingml/2006/main">
              <a:ext uri="{FF2B5EF4-FFF2-40B4-BE49-F238E27FC236}">
                <a16:creationId xmlns:a16="http://schemas.microsoft.com/office/drawing/2014/main" id="{3359AF91-4340-4A8E-B0D8-3C7C945C56DE}"/>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POURQUOI LA NON-LINÉARITÉ ?</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77af29d26b34abb">
            <a:extLst>
              <a:ext uri="{96DAC541-7B7A-43D3-8B79-37D633B846F1}">
                <asvg:svgBlip xmlns:asvg="http://schemas.microsoft.com/office/drawing/2016/SVG/main" r:embed="Rab4fa0b6252942a5"/>
              </a:ext>
            </a:extLst>
          </a:blip>
          <a:stretch xmlns:a="http://schemas.openxmlformats.org/drawingml/2006/main"/>
        </p:blipFill>
        <p:spPr>
          <a:xfrm xmlns:a="http://schemas.openxmlformats.org/drawingml/2006/main">
            <a:off x="933450" y="1809750"/>
            <a:ext cx="6203953"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0194C440-8940-4410-ACD9-7192B4027175}"/>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Empiler des couches affines reste une transformation affine.</a:t>
            </a:r>
          </a:p>
        </p:txBody>
      </p:sp>
      <p:sp>
        <p:nvSpPr>
          <p:cNvPr id="162" name="course-text">
            <a:extLst xmlns:a="http://schemas.openxmlformats.org/drawingml/2006/main">
              <a:ext uri="{FF2B5EF4-FFF2-40B4-BE49-F238E27FC236}">
                <a16:creationId xmlns:a16="http://schemas.microsoft.com/office/drawing/2014/main" id="{7F612AF2-BC27-4E7F-946A-21F4055DAAC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activations rendent possibles des frontières de décision non linéaires.</a:t>
            </a:r>
          </a:p>
        </p:txBody>
      </p:sp>
      <p:sp>
        <p:nvSpPr>
          <p:cNvPr id="163" name="course-text">
            <a:extLst xmlns:a="http://schemas.openxmlformats.org/drawingml/2006/main">
              <a:ext uri="{FF2B5EF4-FFF2-40B4-BE49-F238E27FC236}">
                <a16:creationId xmlns:a16="http://schemas.microsoft.com/office/drawing/2014/main" id="{CDAA5A6D-4A14-4E28-AC59-AC5F0A614823}"/>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profondeur seule ne suffit pas si toutes les activations sont l’identité.</a:t>
            </a:r>
          </a:p>
        </p:txBody>
      </p:sp>
    </p:spTree>
    <p:extLst>
      <p:ext uri="{BB962C8B-B14F-4D97-AF65-F5344CB8AC3E}">
        <p14:creationId xmlns:p14="http://schemas.microsoft.com/office/powerpoint/2010/main" val="30442115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8a3f001314e0440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4391d972eeeb4ca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F65AF66-5053-4420-83D6-3E3B39A8B1E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21 / 135</a:t>
            </a:r>
          </a:p>
        </p:txBody>
      </p:sp>
      <p:sp>
        <p:nvSpPr>
          <p:cNvPr id="159" name="course-text">
            <a:extLst xmlns:a="http://schemas.openxmlformats.org/drawingml/2006/main">
              <a:ext uri="{FF2B5EF4-FFF2-40B4-BE49-F238E27FC236}">
                <a16:creationId xmlns:a16="http://schemas.microsoft.com/office/drawing/2014/main" id="{552049DA-D2FC-4011-B315-835B6CB4A4D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ACTIVATIONS : VALEURS ET SATURATION</a:t>
            </a:r>
          </a:p>
        </p:txBody>
      </p:sp>
      <p:graphicFrame>
        <p:nvGraphicFramePr>
          <p:cNvPr id="177" name="Chart"/>
          <p:cNvGraphicFramePr/>
          <p:nvPr/>
        </p:nvGraphicFramePr>
        <p:xfrm>
          <a:off xmlns:a="http://schemas.openxmlformats.org/drawingml/2006/main" x="5191125" y="1885950"/>
          <a:ext xmlns:a="http://schemas.openxmlformats.org/drawingml/2006/main" cx="6143625" cy="3238500"/>
        </p:xfrm>
        <a:graphic xmlns:a="http://schemas.openxmlformats.org/drawingml/2006/main">
          <a:graphicData uri="http://schemas.openxmlformats.org/drawingml/2006/chart">
            <c:chart xmlns:r="http://schemas.openxmlformats.org/officeDocument/2006/relationships" xmlns:c="http://schemas.openxmlformats.org/drawingml/2006/chart" r:id="R9cee17fe7be648bb"/>
          </a:graphicData>
        </a:graphic>
      </p:graphicFrame>
      <p:sp>
        <p:nvSpPr>
          <p:cNvPr id="161" name="course-text">
            <a:extLst xmlns:a="http://schemas.openxmlformats.org/drawingml/2006/main">
              <a:ext uri="{FF2B5EF4-FFF2-40B4-BE49-F238E27FC236}">
                <a16:creationId xmlns:a16="http://schemas.microsoft.com/office/drawing/2014/main" id="{186B3F67-BC39-4E28-B306-C5DC4DA2A17C}"/>
              </a:ext>
            </a:extLst>
          </p:cNvPr>
          <p:cNvSpPr>
            <a:spLocks xmlns:a="http://schemas.openxmlformats.org/drawingml/2006/main" noGrp="1"/>
          </p:cNvSpPr>
          <p:nvPr/>
        </p:nvSpPr>
        <p:spPr>
          <a:xfrm xmlns:a="http://schemas.openxmlformats.org/drawingml/2006/main">
            <a:off x="914400" y="198120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sigmoïde borne la sortie entre 0 et 1.</a:t>
            </a:r>
          </a:p>
        </p:txBody>
      </p:sp>
      <p:sp>
        <p:nvSpPr>
          <p:cNvPr id="162" name="course-text">
            <a:extLst xmlns:a="http://schemas.openxmlformats.org/drawingml/2006/main">
              <a:ext uri="{FF2B5EF4-FFF2-40B4-BE49-F238E27FC236}">
                <a16:creationId xmlns:a16="http://schemas.microsoft.com/office/drawing/2014/main" id="{B46998A2-C8FC-4D77-9FBA-FF1DFD32FCF8}"/>
              </a:ext>
            </a:extLst>
          </p:cNvPr>
          <p:cNvSpPr>
            <a:spLocks xmlns:a="http://schemas.openxmlformats.org/drawingml/2006/main" noGrp="1"/>
          </p:cNvSpPr>
          <p:nvPr/>
        </p:nvSpPr>
        <p:spPr>
          <a:xfrm xmlns:a="http://schemas.openxmlformats.org/drawingml/2006/main">
            <a:off x="914400" y="3019425"/>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ReLU conserve les valeurs positives et annule les négatives.</a:t>
            </a:r>
          </a:p>
        </p:txBody>
      </p:sp>
      <p:sp>
        <p:nvSpPr>
          <p:cNvPr id="163" name="course-text">
            <a:extLst xmlns:a="http://schemas.openxmlformats.org/drawingml/2006/main">
              <a:ext uri="{FF2B5EF4-FFF2-40B4-BE49-F238E27FC236}">
                <a16:creationId xmlns:a16="http://schemas.microsoft.com/office/drawing/2014/main" id="{2D2153D1-E64D-4AD0-B44F-02CBA2BC2051}"/>
              </a:ext>
            </a:extLst>
          </p:cNvPr>
          <p:cNvSpPr>
            <a:spLocks xmlns:a="http://schemas.openxmlformats.org/drawingml/2006/main" noGrp="1"/>
          </p:cNvSpPr>
          <p:nvPr/>
        </p:nvSpPr>
        <p:spPr>
          <a:xfrm xmlns:a="http://schemas.openxmlformats.org/drawingml/2006/main">
            <a:off x="914400" y="405765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choix influence le signal transmis et ses gradients.</a:t>
            </a:r>
          </a:p>
        </p:txBody>
      </p:sp>
      <p:sp>
        <p:nvSpPr>
          <p:cNvPr id="164" name="course-text">
            <a:extLst xmlns:a="http://schemas.openxmlformats.org/drawingml/2006/main">
              <a:ext uri="{FF2B5EF4-FFF2-40B4-BE49-F238E27FC236}">
                <a16:creationId xmlns:a16="http://schemas.microsoft.com/office/drawing/2014/main" id="{AF245769-4F1A-44B2-BE99-167722BC3C9C}"/>
              </a:ext>
            </a:extLst>
          </p:cNvPr>
          <p:cNvSpPr>
            <a:spLocks xmlns:a="http://schemas.openxmlformats.org/drawingml/2006/main" noGrp="1"/>
          </p:cNvSpPr>
          <p:nvPr/>
        </p:nvSpPr>
        <p:spPr>
          <a:xfrm xmlns:a="http://schemas.openxmlformats.org/drawingml/2006/main">
            <a:off x="933450" y="53340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Courbes calculées à partir des définitions.</a:t>
            </a:r>
          </a:p>
        </p:txBody>
      </p:sp>
    </p:spTree>
    <p:extLst>
      <p:ext uri="{BB962C8B-B14F-4D97-AF65-F5344CB8AC3E}">
        <p14:creationId xmlns:p14="http://schemas.microsoft.com/office/powerpoint/2010/main" val="30442115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b2e691ad46a4f1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30327c4a2a7426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AC47F40-9007-4686-8D82-78CAC201FE8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22 / 135</a:t>
            </a:r>
          </a:p>
        </p:txBody>
      </p:sp>
      <p:sp>
        <p:nvSpPr>
          <p:cNvPr id="159" name="course-text">
            <a:extLst xmlns:a="http://schemas.openxmlformats.org/drawingml/2006/main">
              <a:ext uri="{FF2B5EF4-FFF2-40B4-BE49-F238E27FC236}">
                <a16:creationId xmlns:a16="http://schemas.microsoft.com/office/drawing/2014/main" id="{D8B50C9F-303F-4349-856E-BC84BC180DD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DÉRIVÉES DES ACTIVATIONS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093d951729c04cf1">
            <a:extLst>
              <a:ext uri="{96DAC541-7B7A-43D3-8B79-37D633B846F1}">
                <asvg:svgBlip xmlns:asvg="http://schemas.microsoft.com/office/drawing/2016/SVG/main" r:embed="R65bce1f6b4ce41b5"/>
              </a:ext>
            </a:extLst>
          </a:blip>
          <a:stretch xmlns:a="http://schemas.openxmlformats.org/drawingml/2006/main"/>
        </p:blipFill>
        <p:spPr>
          <a:xfrm xmlns:a="http://schemas.openxmlformats.org/drawingml/2006/main">
            <a:off x="933450" y="1809750"/>
            <a:ext cx="5735462" cy="795993"/>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B4FDF68E-09FB-49E1-A7D3-39180C4C032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règle de la chaîne multiplie ces dérivées locales.</a:t>
            </a:r>
          </a:p>
        </p:txBody>
      </p:sp>
      <p:sp>
        <p:nvSpPr>
          <p:cNvPr id="162" name="course-text">
            <a:extLst xmlns:a="http://schemas.openxmlformats.org/drawingml/2006/main">
              <a:ext uri="{FF2B5EF4-FFF2-40B4-BE49-F238E27FC236}">
                <a16:creationId xmlns:a16="http://schemas.microsoft.com/office/drawing/2014/main" id="{E5D6A0C9-86BD-4186-A60B-3D397FDCB6BC}"/>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Pour ReLU en zéro, les logiciels adoptent une convention.</a:t>
            </a:r>
          </a:p>
        </p:txBody>
      </p:sp>
      <p:sp>
        <p:nvSpPr>
          <p:cNvPr id="163" name="course-text">
            <a:extLst xmlns:a="http://schemas.openxmlformats.org/drawingml/2006/main">
              <a:ext uri="{FF2B5EF4-FFF2-40B4-BE49-F238E27FC236}">
                <a16:creationId xmlns:a16="http://schemas.microsoft.com/office/drawing/2014/main" id="{965FFACA-004D-4A68-986E-5D83954E6192}"/>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GELU constitue une activation lisse courante dans les Transformers.</a:t>
            </a:r>
          </a:p>
        </p:txBody>
      </p:sp>
    </p:spTree>
    <p:extLst>
      <p:ext uri="{BB962C8B-B14F-4D97-AF65-F5344CB8AC3E}">
        <p14:creationId xmlns:p14="http://schemas.microsoft.com/office/powerpoint/2010/main" val="30442115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1874a8a2ed24d3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ccbb309a38c40f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92D64A25-764B-4BF2-9E3C-3DB05EC3DBE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23 / 135</a:t>
            </a:r>
          </a:p>
        </p:txBody>
      </p:sp>
      <p:sp>
        <p:nvSpPr>
          <p:cNvPr id="159" name="course-text">
            <a:extLst xmlns:a="http://schemas.openxmlformats.org/drawingml/2006/main">
              <a:ext uri="{FF2B5EF4-FFF2-40B4-BE49-F238E27FC236}">
                <a16:creationId xmlns:a16="http://schemas.microsoft.com/office/drawing/2014/main" id="{8A14AD88-1BDB-43AA-9E00-DBA7263C38A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UNE COUCHE DENSE : FORMES ET CALCUL</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855cbf673c34ff1">
            <a:extLst>
              <a:ext uri="{96DAC541-7B7A-43D3-8B79-37D633B846F1}">
                <asvg:svgBlip xmlns:asvg="http://schemas.microsoft.com/office/drawing/2016/SVG/main" r:embed="R1d7f86a75d2c4edc"/>
              </a:ext>
            </a:extLst>
          </a:blip>
          <a:stretch xmlns:a="http://schemas.openxmlformats.org/drawingml/2006/main"/>
        </p:blipFill>
        <p:spPr>
          <a:xfrm xmlns:a="http://schemas.openxmlformats.org/drawingml/2006/main">
            <a:off x="933450" y="1809750"/>
            <a:ext cx="5962788"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CCE187E-8594-4F62-808A-01B7D8782FB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neurone lit toutes les composantes de la couche précédente.</a:t>
            </a:r>
          </a:p>
        </p:txBody>
      </p:sp>
      <p:sp>
        <p:nvSpPr>
          <p:cNvPr id="162" name="course-text">
            <a:extLst xmlns:a="http://schemas.openxmlformats.org/drawingml/2006/main">
              <a:ext uri="{FF2B5EF4-FFF2-40B4-BE49-F238E27FC236}">
                <a16:creationId xmlns:a16="http://schemas.microsoft.com/office/drawing/2014/main" id="{D03E13AE-F2FA-43B1-AC1D-9E13C3F451D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biais est partagé entre les exemples, pas entre les neurones.</a:t>
            </a:r>
          </a:p>
        </p:txBody>
      </p:sp>
      <p:sp>
        <p:nvSpPr>
          <p:cNvPr id="163" name="course-text">
            <a:extLst xmlns:a="http://schemas.openxmlformats.org/drawingml/2006/main">
              <a:ext uri="{FF2B5EF4-FFF2-40B4-BE49-F238E27FC236}">
                <a16:creationId xmlns:a16="http://schemas.microsoft.com/office/drawing/2014/main" id="{6673E39A-1D73-43E7-801A-3CB97F8315ED}"/>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calcul batch utilise des opérations matricielles.</a:t>
            </a:r>
          </a:p>
        </p:txBody>
      </p:sp>
    </p:spTree>
    <p:extLst>
      <p:ext uri="{BB962C8B-B14F-4D97-AF65-F5344CB8AC3E}">
        <p14:creationId xmlns:p14="http://schemas.microsoft.com/office/powerpoint/2010/main" val="30442115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5cc047a7199f4a1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f42d9b4e620343d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89C6109-3AE7-49FB-A49E-624C21BB134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24 / 135</a:t>
            </a:r>
          </a:p>
        </p:txBody>
      </p:sp>
      <p:sp>
        <p:nvSpPr>
          <p:cNvPr id="159" name="course-text">
            <a:extLst xmlns:a="http://schemas.openxmlformats.org/drawingml/2006/main">
              <a:ext uri="{FF2B5EF4-FFF2-40B4-BE49-F238E27FC236}">
                <a16:creationId xmlns:a16="http://schemas.microsoft.com/office/drawing/2014/main" id="{D962F196-761D-4A96-AA0A-07941432882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MLP : ARCHITECTURE ET PARAMÈTRES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3660457"/>
                <a:gridCol w="4183380"/>
                <a:gridCol w="2614613"/>
              </a:tblGrid>
              <a:tr h="504825">
                <a:tc>
                  <a:txBody>
                    <a:bodyPr lIns="114300" tIns="76200" rIns="95250" bIns="57150">
                      <a:noAutofit/>
                    </a:bodyPr>
                    <a:lstStyle/>
                    <a:p>
                      <a:r>
                        <a:rPr sz="1650" b="1">
                          <a:solidFill>
                            <a:srgbClr val="FFFFFF"/>
                          </a:solidFill>
                          <a:latin typeface="DM Sans"/>
                          <a:ea typeface="DM Sans"/>
                          <a:cs typeface="DM Sans"/>
                        </a:rPr>
                        <a:t>Opération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Forme pour un batch B</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Paramètres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Entrée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2</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Dense + ReLU</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16</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2×16 + 16 = 48</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Dense : logits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2</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16×2 + 2 = 34</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Softmax pour lecture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2</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Total</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2 classes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82</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0da11415325428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bf0dbd716b84df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E1B4F89-F1EE-4399-9A0D-23D6E73EF0C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25 / 135</a:t>
            </a:r>
          </a:p>
        </p:txBody>
      </p:sp>
      <p:sp>
        <p:nvSpPr>
          <p:cNvPr id="159" name="course-text">
            <a:extLst xmlns:a="http://schemas.openxmlformats.org/drawingml/2006/main">
              <a:ext uri="{FF2B5EF4-FFF2-40B4-BE49-F238E27FC236}">
                <a16:creationId xmlns:a16="http://schemas.microsoft.com/office/drawing/2014/main" id="{C7326DCB-95C4-4442-A4BF-21D504A9E94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PERTE DE RÉGRESSION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c6e353ce98840b5">
            <a:extLst>
              <a:ext uri="{96DAC541-7B7A-43D3-8B79-37D633B846F1}">
                <asvg:svgBlip xmlns:asvg="http://schemas.microsoft.com/office/drawing/2016/SVG/main" r:embed="R2e0801a2fd114ad2"/>
              </a:ext>
            </a:extLst>
          </a:blip>
          <a:stretch xmlns:a="http://schemas.openxmlformats.org/drawingml/2006/main"/>
        </p:blipFill>
        <p:spPr>
          <a:xfrm xmlns:a="http://schemas.openxmlformats.org/drawingml/2006/main">
            <a:off x="933450" y="1809750"/>
            <a:ext cx="5169836" cy="67288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1423723B-BA11-4E17-B1CC-5008B9C7183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perte compare une prédiction à sa cible.</a:t>
            </a:r>
          </a:p>
        </p:txBody>
      </p:sp>
      <p:sp>
        <p:nvSpPr>
          <p:cNvPr id="162" name="course-text">
            <a:extLst xmlns:a="http://schemas.openxmlformats.org/drawingml/2006/main">
              <a:ext uri="{FF2B5EF4-FFF2-40B4-BE49-F238E27FC236}">
                <a16:creationId xmlns:a16="http://schemas.microsoft.com/office/drawing/2014/main" id="{F5E104D8-A671-42C4-8F05-947DA1B7A3BB}"/>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facteur 1/2 simplifie la dérivée, sans changer le minimiseur.</a:t>
            </a:r>
          </a:p>
        </p:txBody>
      </p:sp>
      <p:sp>
        <p:nvSpPr>
          <p:cNvPr id="163" name="course-text">
            <a:extLst xmlns:a="http://schemas.openxmlformats.org/drawingml/2006/main">
              <a:ext uri="{FF2B5EF4-FFF2-40B4-BE49-F238E27FC236}">
                <a16:creationId xmlns:a16="http://schemas.microsoft.com/office/drawing/2014/main" id="{DF060514-14E6-4CC9-B192-5965AA195A59}"/>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erreur quadratique pénalise fortement les grands résidus.</a:t>
            </a:r>
          </a:p>
        </p:txBody>
      </p:sp>
    </p:spTree>
    <p:extLst>
      <p:ext uri="{BB962C8B-B14F-4D97-AF65-F5344CB8AC3E}">
        <p14:creationId xmlns:p14="http://schemas.microsoft.com/office/powerpoint/2010/main" val="30442115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c6a48ac972b4c4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705e0f12aed4a3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9A77A0B-4186-4248-A686-C2C23494075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26 / 135</a:t>
            </a:r>
          </a:p>
        </p:txBody>
      </p:sp>
      <p:sp>
        <p:nvSpPr>
          <p:cNvPr id="159" name="course-text">
            <a:extLst xmlns:a="http://schemas.openxmlformats.org/drawingml/2006/main">
              <a:ext uri="{FF2B5EF4-FFF2-40B4-BE49-F238E27FC236}">
                <a16:creationId xmlns:a16="http://schemas.microsoft.com/office/drawing/2014/main" id="{053942B1-D9C7-4578-B155-1A76E86A38C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CLASSIFICATION : SOFTMAX ET ENTROPIE CROISÉE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cc0ef67c5f7b45be">
            <a:extLst>
              <a:ext uri="{96DAC541-7B7A-43D3-8B79-37D633B846F1}">
                <asvg:svgBlip xmlns:asvg="http://schemas.microsoft.com/office/drawing/2016/SVG/main" r:embed="Re8194297afe64ece"/>
              </a:ext>
            </a:extLst>
          </a:blip>
          <a:stretch xmlns:a="http://schemas.openxmlformats.org/drawingml/2006/main"/>
        </p:blipFill>
        <p:spPr>
          <a:xfrm xmlns:a="http://schemas.openxmlformats.org/drawingml/2006/main">
            <a:off x="933450" y="1809750"/>
            <a:ext cx="5598117" cy="95683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717477C9-F24B-4DB2-88A2-F63A5CB3EB9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logits sont des scores réels non normalisés.</a:t>
            </a:r>
          </a:p>
        </p:txBody>
      </p:sp>
      <p:sp>
        <p:nvSpPr>
          <p:cNvPr id="162" name="course-text">
            <a:extLst xmlns:a="http://schemas.openxmlformats.org/drawingml/2006/main">
              <a:ext uri="{FF2B5EF4-FFF2-40B4-BE49-F238E27FC236}">
                <a16:creationId xmlns:a16="http://schemas.microsoft.com/office/drawing/2014/main" id="{CDFEF03C-D9A3-407D-AF1E-2F4C2AD355C3}"/>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Softmax produit une distribution sur K classes.</a:t>
            </a:r>
          </a:p>
        </p:txBody>
      </p:sp>
      <p:sp>
        <p:nvSpPr>
          <p:cNvPr id="163" name="course-text">
            <a:extLst xmlns:a="http://schemas.openxmlformats.org/drawingml/2006/main">
              <a:ext uri="{FF2B5EF4-FFF2-40B4-BE49-F238E27FC236}">
                <a16:creationId xmlns:a16="http://schemas.microsoft.com/office/drawing/2014/main" id="{C8D9735B-E3D2-4211-97C1-903F51098475}"/>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perte favorise la probabilité de la classe correcte.</a:t>
            </a:r>
          </a:p>
        </p:txBody>
      </p:sp>
    </p:spTree>
    <p:extLst>
      <p:ext uri="{BB962C8B-B14F-4D97-AF65-F5344CB8AC3E}">
        <p14:creationId xmlns:p14="http://schemas.microsoft.com/office/powerpoint/2010/main" val="30442115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c23a84c24ec4c4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b038e1d2a99426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3EDE064-7D0B-4453-974B-C1515938DE2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27 / 135</a:t>
            </a:r>
          </a:p>
        </p:txBody>
      </p:sp>
      <p:sp>
        <p:nvSpPr>
          <p:cNvPr id="159" name="course-text">
            <a:extLst xmlns:a="http://schemas.openxmlformats.org/drawingml/2006/main">
              <a:ext uri="{FF2B5EF4-FFF2-40B4-BE49-F238E27FC236}">
                <a16:creationId xmlns:a16="http://schemas.microsoft.com/office/drawing/2014/main" id="{2CDDBEB6-297D-4450-8E8C-6131E9D4E7E7}"/>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STABILITÉ NUMÉRIQUE DES LOGITS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1c7b0d18d5f4fe9">
            <a:extLst>
              <a:ext uri="{96DAC541-7B7A-43D3-8B79-37D633B846F1}">
                <asvg:svgBlip xmlns:asvg="http://schemas.microsoft.com/office/drawing/2016/SVG/main" r:embed="R6a569a36cfab4a0a"/>
              </a:ext>
            </a:extLst>
          </a:blip>
          <a:stretch xmlns:a="http://schemas.openxmlformats.org/drawingml/2006/main"/>
        </p:blipFill>
        <p:spPr>
          <a:xfrm xmlns:a="http://schemas.openxmlformats.org/drawingml/2006/main">
            <a:off x="933450" y="1809750"/>
            <a:ext cx="6913319" cy="76927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197C219-868A-4859-95EA-77FCFA30C5E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Soustraire le maximum ne change pas softmax.</a:t>
            </a:r>
          </a:p>
        </p:txBody>
      </p:sp>
      <p:sp>
        <p:nvSpPr>
          <p:cNvPr id="162" name="course-text">
            <a:extLst xmlns:a="http://schemas.openxmlformats.org/drawingml/2006/main">
              <a:ext uri="{FF2B5EF4-FFF2-40B4-BE49-F238E27FC236}">
                <a16:creationId xmlns:a16="http://schemas.microsoft.com/office/drawing/2014/main" id="{CBDD20FD-59AA-490F-BCCC-4E4A73E4C5E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forme log-sum-exp évite de calculer de grandes exponentielles.</a:t>
            </a:r>
          </a:p>
        </p:txBody>
      </p:sp>
      <p:sp>
        <p:nvSpPr>
          <p:cNvPr id="163" name="course-text">
            <a:extLst xmlns:a="http://schemas.openxmlformats.org/drawingml/2006/main">
              <a:ext uri="{FF2B5EF4-FFF2-40B4-BE49-F238E27FC236}">
                <a16:creationId xmlns:a16="http://schemas.microsoft.com/office/drawing/2014/main" id="{8F7E6085-B5EF-4205-A419-65DF6E603D7E}"/>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CrossEntropyLoss reçoit directement les logits.</a:t>
            </a:r>
          </a:p>
        </p:txBody>
      </p:sp>
    </p:spTree>
    <p:extLst>
      <p:ext uri="{BB962C8B-B14F-4D97-AF65-F5344CB8AC3E}">
        <p14:creationId xmlns:p14="http://schemas.microsoft.com/office/powerpoint/2010/main" val="30442115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d6fa98d96554fe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249a9867ee54c6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128B766-B83F-4144-972D-C1770BFDE52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28 / 135</a:t>
            </a:r>
          </a:p>
        </p:txBody>
      </p:sp>
      <p:sp>
        <p:nvSpPr>
          <p:cNvPr id="159" name="course-text">
            <a:extLst xmlns:a="http://schemas.openxmlformats.org/drawingml/2006/main">
              <a:ext uri="{FF2B5EF4-FFF2-40B4-BE49-F238E27FC236}">
                <a16:creationId xmlns:a16="http://schemas.microsoft.com/office/drawing/2014/main" id="{DAFECE3E-073F-4FC9-9C02-0C7042D4E8D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RISQUE EMPIRIQUE ET GÉNÉRALISATION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f9453131f2643ec">
            <a:extLst>
              <a:ext uri="{96DAC541-7B7A-43D3-8B79-37D633B846F1}">
                <asvg:svgBlip xmlns:asvg="http://schemas.microsoft.com/office/drawing/2016/SVG/main" r:embed="R529a690494be4b77"/>
              </a:ext>
            </a:extLst>
          </a:blip>
          <a:stretch xmlns:a="http://schemas.openxmlformats.org/drawingml/2006/main"/>
        </p:blipFill>
        <p:spPr>
          <a:xfrm xmlns:a="http://schemas.openxmlformats.org/drawingml/2006/main">
            <a:off x="933450" y="1809750"/>
            <a:ext cx="6624880" cy="94778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B596FEAE-EF67-4038-A0E7-B07FC3135FB2}"/>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L’objectif d’entraînement agrège les pertes sur les exemples observés.</a:t>
            </a:r>
          </a:p>
        </p:txBody>
      </p:sp>
      <p:sp>
        <p:nvSpPr>
          <p:cNvPr id="162" name="course-text">
            <a:extLst xmlns:a="http://schemas.openxmlformats.org/drawingml/2006/main">
              <a:ext uri="{FF2B5EF4-FFF2-40B4-BE49-F238E27FC236}">
                <a16:creationId xmlns:a16="http://schemas.microsoft.com/office/drawing/2014/main" id="{834C49C5-1E63-4CAE-90C4-C552459021F3}"/>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validation sert au choix des modèles et hyperparamètres.</a:t>
            </a:r>
          </a:p>
        </p:txBody>
      </p:sp>
      <p:sp>
        <p:nvSpPr>
          <p:cNvPr id="163" name="course-text">
            <a:extLst xmlns:a="http://schemas.openxmlformats.org/drawingml/2006/main">
              <a:ext uri="{FF2B5EF4-FFF2-40B4-BE49-F238E27FC236}">
                <a16:creationId xmlns:a16="http://schemas.microsoft.com/office/drawing/2014/main" id="{7A53CC6D-B743-45BF-88D4-E70515D4DF53}"/>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test mesure le modèle choisi, sans piloter ses réglages.</a:t>
            </a:r>
          </a:p>
        </p:txBody>
      </p:sp>
    </p:spTree>
    <p:extLst>
      <p:ext uri="{BB962C8B-B14F-4D97-AF65-F5344CB8AC3E}">
        <p14:creationId xmlns:p14="http://schemas.microsoft.com/office/powerpoint/2010/main" val="30442115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d8ce19a2ff1472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98b14a954ea4a0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DCAC9A9-D78A-44E7-87A4-92B345EE830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29 / 135</a:t>
            </a:r>
          </a:p>
        </p:txBody>
      </p:sp>
      <p:sp>
        <p:nvSpPr>
          <p:cNvPr id="159" name="course-text">
            <a:extLst xmlns:a="http://schemas.openxmlformats.org/drawingml/2006/main">
              <a:ext uri="{FF2B5EF4-FFF2-40B4-BE49-F238E27FC236}">
                <a16:creationId xmlns:a16="http://schemas.microsoft.com/office/drawing/2014/main" id="{4EB8D099-2F4D-44AF-8466-05E94CD7A8B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DESCENTE DE GRADIENT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2f8b90eba7a43fa">
            <a:extLst>
              <a:ext uri="{96DAC541-7B7A-43D3-8B79-37D633B846F1}">
                <asvg:svgBlip xmlns:asvg="http://schemas.microsoft.com/office/drawing/2016/SVG/main" r:embed="R5e2ace9e75554241"/>
              </a:ext>
            </a:extLst>
          </a:blip>
          <a:stretch xmlns:a="http://schemas.openxmlformats.org/drawingml/2006/main"/>
        </p:blipFill>
        <p:spPr>
          <a:xfrm xmlns:a="http://schemas.openxmlformats.org/drawingml/2006/main">
            <a:off x="933450" y="1809750"/>
            <a:ext cx="2977691" cy="40111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C9E8E3D0-DA36-461A-B272-4D3B68ED76B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indique la variation locale la plus forte.</a:t>
            </a:r>
          </a:p>
        </p:txBody>
      </p:sp>
      <p:sp>
        <p:nvSpPr>
          <p:cNvPr id="162" name="course-text">
            <a:extLst xmlns:a="http://schemas.openxmlformats.org/drawingml/2006/main">
              <a:ext uri="{FF2B5EF4-FFF2-40B4-BE49-F238E27FC236}">
                <a16:creationId xmlns:a16="http://schemas.microsoft.com/office/drawing/2014/main" id="{38D1F775-51C7-40F2-B191-B8EDF96F425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taux η règle la longueur du pas.</a:t>
            </a:r>
          </a:p>
        </p:txBody>
      </p:sp>
      <p:sp>
        <p:nvSpPr>
          <p:cNvPr id="163" name="course-text">
            <a:extLst xmlns:a="http://schemas.openxmlformats.org/drawingml/2006/main">
              <a:ext uri="{FF2B5EF4-FFF2-40B4-BE49-F238E27FC236}">
                <a16:creationId xmlns:a16="http://schemas.microsoft.com/office/drawing/2014/main" id="{17BA3DCD-02EF-4035-B953-3DE259F9A35D}"/>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Rétropropagation et optimisation sont deux opérations distinctes.</a:t>
            </a:r>
          </a:p>
        </p:txBody>
      </p:sp>
    </p:spTree>
    <p:extLst>
      <p:ext uri="{BB962C8B-B14F-4D97-AF65-F5344CB8AC3E}">
        <p14:creationId xmlns:p14="http://schemas.microsoft.com/office/powerpoint/2010/main" val="30442115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3034905977249b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0c3f6759832415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E1AD69D-B813-4BCE-B332-99E19EBC681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30 / 135</a:t>
            </a:r>
          </a:p>
        </p:txBody>
      </p:sp>
      <p:sp>
        <p:nvSpPr>
          <p:cNvPr id="159" name="course-text">
            <a:extLst xmlns:a="http://schemas.openxmlformats.org/drawingml/2006/main">
              <a:ext uri="{FF2B5EF4-FFF2-40B4-BE49-F238E27FC236}">
                <a16:creationId xmlns:a16="http://schemas.microsoft.com/office/drawing/2014/main" id="{62A8E8AD-7592-4765-854C-60F03D14DC9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RÈGLE DE LA CHAÎNE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c1ad5df4717f4f41">
            <a:extLst>
              <a:ext uri="{96DAC541-7B7A-43D3-8B79-37D633B846F1}">
                <asvg:svgBlip xmlns:asvg="http://schemas.microsoft.com/office/drawing/2016/SVG/main" r:embed="R30cbbe4cf8214ae3"/>
              </a:ext>
            </a:extLst>
          </a:blip>
          <a:stretch xmlns:a="http://schemas.openxmlformats.org/drawingml/2006/main"/>
        </p:blipFill>
        <p:spPr>
          <a:xfrm xmlns:a="http://schemas.openxmlformats.org/drawingml/2006/main">
            <a:off x="933450" y="1809750"/>
            <a:ext cx="5359287" cy="68959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C196FFA-A2B0-4C6B-8C16-91517D89B69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calcul composé se dérive opération par opération.</a:t>
            </a:r>
          </a:p>
        </p:txBody>
      </p:sp>
      <p:sp>
        <p:nvSpPr>
          <p:cNvPr id="162" name="course-text">
            <a:extLst xmlns:a="http://schemas.openxmlformats.org/drawingml/2006/main">
              <a:ext uri="{FF2B5EF4-FFF2-40B4-BE49-F238E27FC236}">
                <a16:creationId xmlns:a16="http://schemas.microsoft.com/office/drawing/2014/main" id="{3B1C07E8-8FBB-46C3-B713-C1384195C0B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passage arrière réutilise les valeurs du passage avant.</a:t>
            </a:r>
          </a:p>
        </p:txBody>
      </p:sp>
      <p:sp>
        <p:nvSpPr>
          <p:cNvPr id="163" name="course-text">
            <a:extLst xmlns:a="http://schemas.openxmlformats.org/drawingml/2006/main">
              <a:ext uri="{FF2B5EF4-FFF2-40B4-BE49-F238E27FC236}">
                <a16:creationId xmlns:a16="http://schemas.microsoft.com/office/drawing/2014/main" id="{EDC64475-EF08-495E-9009-8EDB92D0E16D}"/>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contributions issues de plusieurs chemins s’additionnent.</a:t>
            </a:r>
          </a:p>
        </p:txBody>
      </p:sp>
    </p:spTree>
    <p:extLst>
      <p:ext uri="{BB962C8B-B14F-4D97-AF65-F5344CB8AC3E}">
        <p14:creationId xmlns:p14="http://schemas.microsoft.com/office/powerpoint/2010/main" val="30442115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33c619b9d1b48c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84f7cef24b941a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4365DE2D-703C-40D4-8345-E8521E01F76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31 / 135</a:t>
            </a:r>
          </a:p>
        </p:txBody>
      </p:sp>
      <p:sp>
        <p:nvSpPr>
          <p:cNvPr id="159" name="course-text">
            <a:extLst xmlns:a="http://schemas.openxmlformats.org/drawingml/2006/main">
              <a:ext uri="{FF2B5EF4-FFF2-40B4-BE49-F238E27FC236}">
                <a16:creationId xmlns:a16="http://schemas.microsoft.com/office/drawing/2014/main" id="{15DB14AB-EEFA-4FEC-8219-0FA232A72C5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EXEMPLE SCALAIRE : UN PAS COMPLET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e907b157c224cd7">
            <a:extLst>
              <a:ext uri="{96DAC541-7B7A-43D3-8B79-37D633B846F1}">
                <asvg:svgBlip xmlns:asvg="http://schemas.microsoft.com/office/drawing/2016/SVG/main" r:embed="R7d622ed2c0f3486c"/>
              </a:ext>
            </a:extLst>
          </a:blip>
          <a:stretch xmlns:a="http://schemas.openxmlformats.org/drawingml/2006/main"/>
        </p:blipFill>
        <p:spPr>
          <a:xfrm xmlns:a="http://schemas.openxmlformats.org/drawingml/2006/main">
            <a:off x="933450" y="1809750"/>
            <a:ext cx="4770463" cy="115328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3DED18A-1484-4060-BD56-B66E5F59670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Entrée x=2, cible y=1, poids w=0,5 et biais b=0.</a:t>
            </a:r>
          </a:p>
        </p:txBody>
      </p:sp>
      <p:sp>
        <p:nvSpPr>
          <p:cNvPr id="162" name="course-text">
            <a:extLst xmlns:a="http://schemas.openxmlformats.org/drawingml/2006/main">
              <a:ext uri="{FF2B5EF4-FFF2-40B4-BE49-F238E27FC236}">
                <a16:creationId xmlns:a16="http://schemas.microsoft.com/office/drawing/2014/main" id="{42E12683-C6E8-4642-B1DF-8B6AB68E940E}"/>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Sortie sigmoïde a≈0,7311 ; perte quadratique ≈0,0362.</a:t>
            </a:r>
          </a:p>
        </p:txBody>
      </p:sp>
      <p:sp>
        <p:nvSpPr>
          <p:cNvPr id="163" name="course-text">
            <a:extLst xmlns:a="http://schemas.openxmlformats.org/drawingml/2006/main">
              <a:ext uri="{FF2B5EF4-FFF2-40B4-BE49-F238E27FC236}">
                <a16:creationId xmlns:a16="http://schemas.microsoft.com/office/drawing/2014/main" id="{92E73572-6D78-4A61-9011-9F6A3D01C81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η=0,1, le poids devient ≈0,5106.</a:t>
            </a:r>
          </a:p>
        </p:txBody>
      </p:sp>
    </p:spTree>
    <p:extLst>
      <p:ext uri="{BB962C8B-B14F-4D97-AF65-F5344CB8AC3E}">
        <p14:creationId xmlns:p14="http://schemas.microsoft.com/office/powerpoint/2010/main" val="304421154"/>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626138e2822479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adf38882e22402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960540A-B7F0-4C56-8BAA-E3CE8D00677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32 / 135</a:t>
            </a:r>
          </a:p>
        </p:txBody>
      </p:sp>
      <p:sp>
        <p:nvSpPr>
          <p:cNvPr id="159" name="course-text">
            <a:extLst xmlns:a="http://schemas.openxmlformats.org/drawingml/2006/main">
              <a:ext uri="{FF2B5EF4-FFF2-40B4-BE49-F238E27FC236}">
                <a16:creationId xmlns:a16="http://schemas.microsoft.com/office/drawing/2014/main" id="{F6EEA50E-6AAD-44CA-97B1-F8B4A4078A0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GRADIENT DE SOFTMAX + ENTROPIE CROISÉE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694b8190188a4043">
            <a:extLst>
              <a:ext uri="{96DAC541-7B7A-43D3-8B79-37D633B846F1}">
                <asvg:svgBlip xmlns:asvg="http://schemas.microsoft.com/office/drawing/2016/SVG/main" r:embed="Rb09d688340454b85"/>
              </a:ext>
            </a:extLst>
          </a:blip>
          <a:stretch xmlns:a="http://schemas.openxmlformats.org/drawingml/2006/main"/>
        </p:blipFill>
        <p:spPr>
          <a:xfrm xmlns:a="http://schemas.openxmlformats.org/drawingml/2006/main">
            <a:off x="933450" y="1809750"/>
            <a:ext cx="4742242" cy="78515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395C20BE-5BDD-4BD5-BAF6-028FB0F12772}"/>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dérivée de softmax couple toutes les classes.</a:t>
            </a:r>
          </a:p>
        </p:txBody>
      </p:sp>
      <p:sp>
        <p:nvSpPr>
          <p:cNvPr id="162" name="course-text">
            <a:extLst xmlns:a="http://schemas.openxmlformats.org/drawingml/2006/main">
              <a:ext uri="{FF2B5EF4-FFF2-40B4-BE49-F238E27FC236}">
                <a16:creationId xmlns:a16="http://schemas.microsoft.com/office/drawing/2014/main" id="{9070595A-8499-44A7-A5C9-42F512832499}"/>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combinaison avec l’entropie croisée se simplifie.</a:t>
            </a:r>
          </a:p>
        </p:txBody>
      </p:sp>
      <p:sp>
        <p:nvSpPr>
          <p:cNvPr id="163" name="course-text">
            <a:extLst xmlns:a="http://schemas.openxmlformats.org/drawingml/2006/main">
              <a:ext uri="{FF2B5EF4-FFF2-40B4-BE49-F238E27FC236}">
                <a16:creationId xmlns:a16="http://schemas.microsoft.com/office/drawing/2014/main" id="{23478C7D-6C87-48F7-9E93-AE0DDBDABE24}"/>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résultat porte sur les logits, pas sur les probabilités.</a:t>
            </a:r>
          </a:p>
        </p:txBody>
      </p:sp>
    </p:spTree>
    <p:extLst>
      <p:ext uri="{BB962C8B-B14F-4D97-AF65-F5344CB8AC3E}">
        <p14:creationId xmlns:p14="http://schemas.microsoft.com/office/powerpoint/2010/main" val="30442115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d6c2267d92340b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47cdb7081ae4d6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448BA499-EC96-401A-86BB-FC365F8FAE8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33 / 135</a:t>
            </a:r>
          </a:p>
        </p:txBody>
      </p:sp>
      <p:sp>
        <p:nvSpPr>
          <p:cNvPr id="159" name="course-text">
            <a:extLst xmlns:a="http://schemas.openxmlformats.org/drawingml/2006/main">
              <a:ext uri="{FF2B5EF4-FFF2-40B4-BE49-F238E27FC236}">
                <a16:creationId xmlns:a16="http://schemas.microsoft.com/office/drawing/2014/main" id="{5B1D59B5-F2D9-43A4-A06E-C7823F4E609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RÉTROPROPAGATION D’UNE COUCHE DENSE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06139c3928144934">
            <a:extLst>
              <a:ext uri="{96DAC541-7B7A-43D3-8B79-37D633B846F1}">
                <asvg:svgBlip xmlns:asvg="http://schemas.microsoft.com/office/drawing/2016/SVG/main" r:embed="Rfc5adcc50994497f"/>
              </a:ext>
            </a:extLst>
          </a:blip>
          <a:stretch xmlns:a="http://schemas.openxmlformats.org/drawingml/2006/main"/>
        </p:blipFill>
        <p:spPr>
          <a:xfrm xmlns:a="http://schemas.openxmlformats.org/drawingml/2006/main">
            <a:off x="933450" y="1809750"/>
            <a:ext cx="3722431" cy="1553063"/>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869111D1-E7C5-47F5-AECE-6BFD65E74B7A}"/>
              </a:ext>
            </a:extLst>
          </p:cNvPr>
          <p:cNvSpPr>
            <a:spLocks xmlns:a="http://schemas.openxmlformats.org/drawingml/2006/main" noGrp="1"/>
          </p:cNvSpPr>
          <p:nvPr/>
        </p:nvSpPr>
        <p:spPr>
          <a:xfrm xmlns:a="http://schemas.openxmlformats.org/drawingml/2006/main">
            <a:off x="933450" y="3639038"/>
            <a:ext cx="10382250" cy="5967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δ désigne le gradient de la perte par rapport à la préactivation.</a:t>
            </a:r>
          </a:p>
        </p:txBody>
      </p:sp>
      <p:sp>
        <p:nvSpPr>
          <p:cNvPr id="162" name="course-text">
            <a:extLst xmlns:a="http://schemas.openxmlformats.org/drawingml/2006/main">
              <a:ext uri="{FF2B5EF4-FFF2-40B4-BE49-F238E27FC236}">
                <a16:creationId xmlns:a16="http://schemas.microsoft.com/office/drawing/2014/main" id="{90E41CD1-5948-40D2-BFDA-12421D7DD8F5}"/>
              </a:ext>
            </a:extLst>
          </p:cNvPr>
          <p:cNvSpPr>
            <a:spLocks xmlns:a="http://schemas.openxmlformats.org/drawingml/2006/main" noGrp="1"/>
          </p:cNvSpPr>
          <p:nvPr/>
        </p:nvSpPr>
        <p:spPr>
          <a:xfrm xmlns:a="http://schemas.openxmlformats.org/drawingml/2006/main">
            <a:off x="933450" y="4311976"/>
            <a:ext cx="10382250" cy="5967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de W est un produit extérieur.</a:t>
            </a:r>
          </a:p>
        </p:txBody>
      </p:sp>
      <p:sp>
        <p:nvSpPr>
          <p:cNvPr id="163" name="course-text">
            <a:extLst xmlns:a="http://schemas.openxmlformats.org/drawingml/2006/main">
              <a:ext uri="{FF2B5EF4-FFF2-40B4-BE49-F238E27FC236}">
                <a16:creationId xmlns:a16="http://schemas.microsoft.com/office/drawing/2014/main" id="{72BDCA56-5D3C-4B8D-BD91-067CB4F6C171}"/>
              </a:ext>
            </a:extLst>
          </p:cNvPr>
          <p:cNvSpPr>
            <a:spLocks xmlns:a="http://schemas.openxmlformats.org/drawingml/2006/main" noGrp="1"/>
          </p:cNvSpPr>
          <p:nvPr/>
        </p:nvSpPr>
        <p:spPr>
          <a:xfrm xmlns:a="http://schemas.openxmlformats.org/drawingml/2006/main">
            <a:off x="933450" y="4984913"/>
            <a:ext cx="10382250" cy="5967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transmis à l’entrée utilise la transposée de W.</a:t>
            </a:r>
          </a:p>
        </p:txBody>
      </p:sp>
    </p:spTree>
    <p:extLst>
      <p:ext uri="{BB962C8B-B14F-4D97-AF65-F5344CB8AC3E}">
        <p14:creationId xmlns:p14="http://schemas.microsoft.com/office/powerpoint/2010/main" val="304421154"/>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9ab41cc35f446f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0470da6a21c4b3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3CC5EDE-FE80-464C-8977-85FE4499EE3D}"/>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34 / 135</a:t>
            </a:r>
          </a:p>
        </p:txBody>
      </p:sp>
      <p:sp>
        <p:nvSpPr>
          <p:cNvPr id="159" name="course-text">
            <a:extLst xmlns:a="http://schemas.openxmlformats.org/drawingml/2006/main">
              <a:ext uri="{FF2B5EF4-FFF2-40B4-BE49-F238E27FC236}">
                <a16:creationId xmlns:a16="http://schemas.microsoft.com/office/drawing/2014/main" id="{F8A1663D-2C48-4877-AF9A-288558B6715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PROPAGER LE SIGNAL DANS LES COUCHES CACHÉES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57458eebd192410b">
            <a:extLst>
              <a:ext uri="{96DAC541-7B7A-43D3-8B79-37D633B846F1}">
                <asvg:svgBlip xmlns:asvg="http://schemas.microsoft.com/office/drawing/2016/SVG/main" r:embed="R0fc5da7b2d7b4e5d"/>
              </a:ext>
            </a:extLst>
          </a:blip>
          <a:stretch xmlns:a="http://schemas.openxmlformats.org/drawingml/2006/main"/>
        </p:blipFill>
        <p:spPr>
          <a:xfrm xmlns:a="http://schemas.openxmlformats.org/drawingml/2006/main">
            <a:off x="933450" y="1809750"/>
            <a:ext cx="3469401" cy="58212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8619BC26-B1DD-4FB9-BF00-FDD10019C565}"/>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Revenir depuis la couche suivante par Wᵀ.</a:t>
            </a:r>
          </a:p>
        </p:txBody>
      </p:sp>
      <p:sp>
        <p:nvSpPr>
          <p:cNvPr id="162" name="course-text">
            <a:extLst xmlns:a="http://schemas.openxmlformats.org/drawingml/2006/main">
              <a:ext uri="{FF2B5EF4-FFF2-40B4-BE49-F238E27FC236}">
                <a16:creationId xmlns:a16="http://schemas.microsoft.com/office/drawing/2014/main" id="{156F082F-ACC8-42B4-966F-F8A913685786}"/>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Appliquer ensuite la dérivée de l’activation locale.</a:t>
            </a:r>
          </a:p>
        </p:txBody>
      </p:sp>
      <p:sp>
        <p:nvSpPr>
          <p:cNvPr id="163" name="course-text">
            <a:extLst xmlns:a="http://schemas.openxmlformats.org/drawingml/2006/main">
              <a:ext uri="{FF2B5EF4-FFF2-40B4-BE49-F238E27FC236}">
                <a16:creationId xmlns:a16="http://schemas.microsoft.com/office/drawing/2014/main" id="{1D73374C-A509-4883-B0A2-515FFC3A675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Conserver les préactivations ou les informations permettant de retrouver leur dérivée.</a:t>
            </a:r>
          </a:p>
        </p:txBody>
      </p:sp>
    </p:spTree>
    <p:extLst>
      <p:ext uri="{BB962C8B-B14F-4D97-AF65-F5344CB8AC3E}">
        <p14:creationId xmlns:p14="http://schemas.microsoft.com/office/powerpoint/2010/main" val="30442115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562f2930c3e411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689c8c049824ad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16E8AA8-D226-450B-922B-15EB4E03F48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35 / 135</a:t>
            </a:r>
          </a:p>
        </p:txBody>
      </p:sp>
      <p:sp>
        <p:nvSpPr>
          <p:cNvPr id="159" name="course-text">
            <a:extLst xmlns:a="http://schemas.openxmlformats.org/drawingml/2006/main">
              <a:ext uri="{FF2B5EF4-FFF2-40B4-BE49-F238E27FC236}">
                <a16:creationId xmlns:a16="http://schemas.microsoft.com/office/drawing/2014/main" id="{DE7A55BF-8B07-41D0-B47E-521B720E7B5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GRADIENTS VECTORISÉS SUR UN BATCH</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26daccdf95b344fe">
            <a:extLst>
              <a:ext uri="{96DAC541-7B7A-43D3-8B79-37D633B846F1}">
                <asvg:svgBlip xmlns:asvg="http://schemas.microsoft.com/office/drawing/2016/SVG/main" r:embed="Rf9fed77c170140bc"/>
              </a:ext>
            </a:extLst>
          </a:blip>
          <a:stretch xmlns:a="http://schemas.openxmlformats.org/drawingml/2006/main"/>
        </p:blipFill>
        <p:spPr>
          <a:xfrm xmlns:a="http://schemas.openxmlformats.org/drawingml/2006/main">
            <a:off x="933450" y="1809750"/>
            <a:ext cx="6682601" cy="172361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5BD95EF-3E35-4056-9958-5FD8620A027C}"/>
              </a:ext>
            </a:extLst>
          </p:cNvPr>
          <p:cNvSpPr>
            <a:spLocks xmlns:a="http://schemas.openxmlformats.org/drawingml/2006/main" noGrp="1"/>
          </p:cNvSpPr>
          <p:nvPr/>
        </p:nvSpPr>
        <p:spPr>
          <a:xfrm xmlns:a="http://schemas.openxmlformats.org/drawingml/2006/main">
            <a:off x="933450" y="3809594"/>
            <a:ext cx="10382250" cy="539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exemples sont des lignes et les poids restent sortie × entrée.</a:t>
            </a:r>
          </a:p>
        </p:txBody>
      </p:sp>
      <p:sp>
        <p:nvSpPr>
          <p:cNvPr id="162" name="course-text">
            <a:extLst xmlns:a="http://schemas.openxmlformats.org/drawingml/2006/main">
              <a:ext uri="{FF2B5EF4-FFF2-40B4-BE49-F238E27FC236}">
                <a16:creationId xmlns:a16="http://schemas.microsoft.com/office/drawing/2014/main" id="{DFA700D7-915F-48B2-8D97-E70BDF2E74A8}"/>
              </a:ext>
            </a:extLst>
          </p:cNvPr>
          <p:cNvSpPr>
            <a:spLocks xmlns:a="http://schemas.openxmlformats.org/drawingml/2006/main" noGrp="1"/>
          </p:cNvSpPr>
          <p:nvPr/>
        </p:nvSpPr>
        <p:spPr>
          <a:xfrm xmlns:a="http://schemas.openxmlformats.org/drawingml/2006/main">
            <a:off x="933450" y="4425679"/>
            <a:ext cx="10382250" cy="539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biais est agrégé sur l’axe batch.</a:t>
            </a:r>
          </a:p>
        </p:txBody>
      </p:sp>
      <p:sp>
        <p:nvSpPr>
          <p:cNvPr id="163" name="course-text">
            <a:extLst xmlns:a="http://schemas.openxmlformats.org/drawingml/2006/main">
              <a:ext uri="{FF2B5EF4-FFF2-40B4-BE49-F238E27FC236}">
                <a16:creationId xmlns:a16="http://schemas.microsoft.com/office/drawing/2014/main" id="{8F5DB06E-B775-404B-9FA5-4848816E3442}"/>
              </a:ext>
            </a:extLst>
          </p:cNvPr>
          <p:cNvSpPr>
            <a:spLocks xmlns:a="http://schemas.openxmlformats.org/drawingml/2006/main" noGrp="1"/>
          </p:cNvSpPr>
          <p:nvPr/>
        </p:nvSpPr>
        <p:spPr>
          <a:xfrm xmlns:a="http://schemas.openxmlformats.org/drawingml/2006/main">
            <a:off x="933450" y="5041765"/>
            <a:ext cx="10382250" cy="539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convention de moyenne doit être cohérente dans tout le code.</a:t>
            </a:r>
          </a:p>
        </p:txBody>
      </p:sp>
    </p:spTree>
    <p:extLst>
      <p:ext uri="{BB962C8B-B14F-4D97-AF65-F5344CB8AC3E}">
        <p14:creationId xmlns:p14="http://schemas.microsoft.com/office/powerpoint/2010/main" val="30442115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8684a39bb3543b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aca8c64e555485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7370A85-C843-4E48-B605-B4D2C74812B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36 / 135</a:t>
            </a:r>
          </a:p>
        </p:txBody>
      </p:sp>
      <p:sp>
        <p:nvSpPr>
          <p:cNvPr id="159" name="course-text">
            <a:extLst xmlns:a="http://schemas.openxmlformats.org/drawingml/2006/main">
              <a:ext uri="{FF2B5EF4-FFF2-40B4-BE49-F238E27FC236}">
                <a16:creationId xmlns:a16="http://schemas.microsoft.com/office/drawing/2014/main" id="{074268E8-3F24-4C3D-813F-90A0F2D0104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VÉRIFIER UN GRADIENT NUMÉRIQUEMENT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6082c7569264e36">
            <a:extLst>
              <a:ext uri="{96DAC541-7B7A-43D3-8B79-37D633B846F1}">
                <asvg:svgBlip xmlns:asvg="http://schemas.microsoft.com/office/drawing/2016/SVG/main" r:embed="R141e3eceb45f41ec"/>
              </a:ext>
            </a:extLst>
          </a:blip>
          <a:stretch xmlns:a="http://schemas.openxmlformats.org/drawingml/2006/main"/>
        </p:blipFill>
        <p:spPr>
          <a:xfrm xmlns:a="http://schemas.openxmlformats.org/drawingml/2006/main">
            <a:off x="933450" y="1809750"/>
            <a:ext cx="4342577" cy="155384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8FFA9DB-C9B2-4950-B083-B20E7CF236D9}"/>
              </a:ext>
            </a:extLst>
          </p:cNvPr>
          <p:cNvSpPr>
            <a:spLocks xmlns:a="http://schemas.openxmlformats.org/drawingml/2006/main" noGrp="1"/>
          </p:cNvSpPr>
          <p:nvPr/>
        </p:nvSpPr>
        <p:spPr>
          <a:xfrm xmlns:a="http://schemas.openxmlformats.org/drawingml/2006/main">
            <a:off x="933450" y="3639822"/>
            <a:ext cx="10382250" cy="5964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Comparer la dérivée analytique à une différence finie centrée.</a:t>
            </a:r>
          </a:p>
        </p:txBody>
      </p:sp>
      <p:sp>
        <p:nvSpPr>
          <p:cNvPr id="162" name="course-text">
            <a:extLst xmlns:a="http://schemas.openxmlformats.org/drawingml/2006/main">
              <a:ext uri="{FF2B5EF4-FFF2-40B4-BE49-F238E27FC236}">
                <a16:creationId xmlns:a16="http://schemas.microsoft.com/office/drawing/2014/main" id="{43B7298C-40DD-495B-BDE7-52BFC017B4A6}"/>
              </a:ext>
            </a:extLst>
          </p:cNvPr>
          <p:cNvSpPr>
            <a:spLocks xmlns:a="http://schemas.openxmlformats.org/drawingml/2006/main" noGrp="1"/>
          </p:cNvSpPr>
          <p:nvPr/>
        </p:nvSpPr>
        <p:spPr>
          <a:xfrm xmlns:a="http://schemas.openxmlformats.org/drawingml/2006/main">
            <a:off x="933450" y="4312498"/>
            <a:ext cx="10382250" cy="5964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Travailler en float64 et sur un très petit problème.</a:t>
            </a:r>
          </a:p>
        </p:txBody>
      </p:sp>
      <p:sp>
        <p:nvSpPr>
          <p:cNvPr id="163" name="course-text">
            <a:extLst xmlns:a="http://schemas.openxmlformats.org/drawingml/2006/main">
              <a:ext uri="{FF2B5EF4-FFF2-40B4-BE49-F238E27FC236}">
                <a16:creationId xmlns:a16="http://schemas.microsoft.com/office/drawing/2014/main" id="{7E3506D3-D709-45FA-BD01-69A2E67211C4}"/>
              </a:ext>
            </a:extLst>
          </p:cNvPr>
          <p:cNvSpPr>
            <a:spLocks xmlns:a="http://schemas.openxmlformats.org/drawingml/2006/main" noGrp="1"/>
          </p:cNvSpPr>
          <p:nvPr/>
        </p:nvSpPr>
        <p:spPr>
          <a:xfrm xmlns:a="http://schemas.openxmlformats.org/drawingml/2006/main">
            <a:off x="933450" y="4985174"/>
            <a:ext cx="10382250" cy="5964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Éviter les points où une activation n’est pas différentiable.</a:t>
            </a:r>
          </a:p>
        </p:txBody>
      </p:sp>
    </p:spTree>
    <p:extLst>
      <p:ext uri="{BB962C8B-B14F-4D97-AF65-F5344CB8AC3E}">
        <p14:creationId xmlns:p14="http://schemas.microsoft.com/office/powerpoint/2010/main" val="30442115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ca4f0a19685449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8c91e454411403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A4C6FFC-ECF3-4996-9E01-F3164E95057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37 / 135</a:t>
            </a:r>
          </a:p>
        </p:txBody>
      </p:sp>
      <p:sp>
        <p:nvSpPr>
          <p:cNvPr id="159" name="course-text">
            <a:extLst xmlns:a="http://schemas.openxmlformats.org/drawingml/2006/main">
              <a:ext uri="{FF2B5EF4-FFF2-40B4-BE49-F238E27FC236}">
                <a16:creationId xmlns:a16="http://schemas.microsoft.com/office/drawing/2014/main" id="{8EDBC90A-C3CD-4CC2-A1E8-CF3481CD509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AUTOGRAD : CE QUI EST AUTOMATISÉ</a:t>
            </a:r>
          </a:p>
        </p:txBody>
      </p:sp>
      <p:sp>
        <p:nvSpPr>
          <p:cNvPr id="160" name="course-text">
            <a:extLst xmlns:a="http://schemas.openxmlformats.org/drawingml/2006/main">
              <a:ext uri="{FF2B5EF4-FFF2-40B4-BE49-F238E27FC236}">
                <a16:creationId xmlns:a16="http://schemas.microsoft.com/office/drawing/2014/main" id="{45AA6593-0ACA-47EC-9511-B306673ADB85}"/>
              </a:ext>
            </a:extLst>
          </p:cNvPr>
          <p:cNvSpPr>
            <a:spLocks xmlns:a="http://schemas.openxmlformats.org/drawingml/2006/main" noGrp="1"/>
          </p:cNvSpPr>
          <p:nvPr/>
        </p:nvSpPr>
        <p:spPr>
          <a:xfrm xmlns:a="http://schemas.openxmlformats.org/drawingml/2006/main">
            <a:off x="933450" y="1771650"/>
            <a:ext cx="10382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optimizer.zero_grad(set_to_none=True)</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logits = model(x)</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loss = criterion(logits, y)</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loss.backward()</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optimizer.step()</a:t>
            </a:r>
          </a:p>
        </p:txBody>
      </p:sp>
      <p:sp>
        <p:nvSpPr>
          <p:cNvPr id="161" name="course-text">
            <a:extLst xmlns:a="http://schemas.openxmlformats.org/drawingml/2006/main">
              <a:ext uri="{FF2B5EF4-FFF2-40B4-BE49-F238E27FC236}">
                <a16:creationId xmlns:a16="http://schemas.microsoft.com/office/drawing/2014/main" id="{F514BE29-FEF5-42D1-A628-72962B6DDB03}"/>
              </a:ext>
            </a:extLst>
          </p:cNvPr>
          <p:cNvSpPr>
            <a:spLocks xmlns:a="http://schemas.openxmlformats.org/drawingml/2006/main" noGrp="1"/>
          </p:cNvSpPr>
          <p:nvPr/>
        </p:nvSpPr>
        <p:spPr>
          <a:xfrm xmlns:a="http://schemas.openxmlformats.org/drawingml/2006/main">
            <a:off x="933450" y="44386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Le graphe enregistre les opérations sur les tenseurs.</a:t>
            </a:r>
          </a:p>
        </p:txBody>
      </p:sp>
      <p:sp>
        <p:nvSpPr>
          <p:cNvPr id="162" name="course-text">
            <a:extLst xmlns:a="http://schemas.openxmlformats.org/drawingml/2006/main">
              <a:ext uri="{FF2B5EF4-FFF2-40B4-BE49-F238E27FC236}">
                <a16:creationId xmlns:a16="http://schemas.microsoft.com/office/drawing/2014/main" id="{89E96826-7B6A-48C7-8B26-95CA6DF8DD85}"/>
              </a:ext>
            </a:extLst>
          </p:cNvPr>
          <p:cNvSpPr>
            <a:spLocks xmlns:a="http://schemas.openxmlformats.org/drawingml/2006/main" noGrp="1"/>
          </p:cNvSpPr>
          <p:nvPr/>
        </p:nvSpPr>
        <p:spPr>
          <a:xfrm xmlns:a="http://schemas.openxmlformats.org/drawingml/2006/main">
            <a:off x="933450" y="48482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backward() accumule les gradients des paramètres feuilles.</a:t>
            </a:r>
          </a:p>
        </p:txBody>
      </p:sp>
      <p:sp>
        <p:nvSpPr>
          <p:cNvPr id="163" name="course-text">
            <a:extLst xmlns:a="http://schemas.openxmlformats.org/drawingml/2006/main">
              <a:ext uri="{FF2B5EF4-FFF2-40B4-BE49-F238E27FC236}">
                <a16:creationId xmlns:a16="http://schemas.microsoft.com/office/drawing/2014/main" id="{79ECF143-F6B5-45C5-975D-B92BE2AF7A66}"/>
              </a:ext>
            </a:extLst>
          </p:cNvPr>
          <p:cNvSpPr>
            <a:spLocks xmlns:a="http://schemas.openxmlformats.org/drawingml/2006/main" noGrp="1"/>
          </p:cNvSpPr>
          <p:nvPr/>
        </p:nvSpPr>
        <p:spPr>
          <a:xfrm xmlns:a="http://schemas.openxmlformats.org/drawingml/2006/main">
            <a:off x="933450" y="52578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L’optimiseur met à jour les paramètres après le calcul du gradient.</a:t>
            </a:r>
          </a:p>
        </p:txBody>
      </p:sp>
    </p:spTree>
    <p:extLst>
      <p:ext uri="{BB962C8B-B14F-4D97-AF65-F5344CB8AC3E}">
        <p14:creationId xmlns:p14="http://schemas.microsoft.com/office/powerpoint/2010/main" val="30442115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293fb941e99347a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f075c6747a024f4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07803C4-07ED-47AF-A642-21FF9C36FE3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38 / 135</a:t>
            </a:r>
          </a:p>
        </p:txBody>
      </p:sp>
      <p:sp>
        <p:nvSpPr>
          <p:cNvPr id="159" name="course-text">
            <a:extLst xmlns:a="http://schemas.openxmlformats.org/drawingml/2006/main">
              <a:ext uri="{FF2B5EF4-FFF2-40B4-BE49-F238E27FC236}">
                <a16:creationId xmlns:a16="http://schemas.microsoft.com/office/drawing/2014/main" id="{5A7D7EE0-14FC-4F9C-84A9-80E266B02B5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BOUCLE D’ENTRAÎNEMENT : INVARIANTS</a:t>
            </a:r>
          </a:p>
        </p:txBody>
      </p:sp>
      <p:sp>
        <p:nvSpPr>
          <p:cNvPr id="160" name="course-text">
            <a:extLst xmlns:a="http://schemas.openxmlformats.org/drawingml/2006/main">
              <a:ext uri="{FF2B5EF4-FFF2-40B4-BE49-F238E27FC236}">
                <a16:creationId xmlns:a16="http://schemas.microsoft.com/office/drawing/2014/main" id="{2EA261F7-A4F3-4F07-9148-EFEEBA76144D}"/>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époque parcourt le jeu d’entraînement.</a:t>
            </a:r>
          </a:p>
        </p:txBody>
      </p:sp>
      <p:sp>
        <p:nvSpPr>
          <p:cNvPr id="161" name="course-text">
            <a:extLst xmlns:a="http://schemas.openxmlformats.org/drawingml/2006/main">
              <a:ext uri="{FF2B5EF4-FFF2-40B4-BE49-F238E27FC236}">
                <a16:creationId xmlns:a16="http://schemas.microsoft.com/office/drawing/2014/main" id="{F6BB5F91-372C-465C-9192-08DC5F0DD3EF}"/>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Chaque batch déclenche un passage avant, arrière, puis une mise à jour.</a:t>
            </a:r>
          </a:p>
        </p:txBody>
      </p:sp>
      <p:sp>
        <p:nvSpPr>
          <p:cNvPr id="162" name="course-text">
            <a:extLst xmlns:a="http://schemas.openxmlformats.org/drawingml/2006/main">
              <a:ext uri="{FF2B5EF4-FFF2-40B4-BE49-F238E27FC236}">
                <a16:creationId xmlns:a16="http://schemas.microsoft.com/office/drawing/2014/main" id="{8CC6E6F5-9B82-435B-9176-0DE3B249DE1F}"/>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validation s’exécute sans mise à jour des paramètres.</a:t>
            </a:r>
          </a:p>
        </p:txBody>
      </p:sp>
    </p:spTree>
    <p:extLst>
      <p:ext uri="{BB962C8B-B14F-4D97-AF65-F5344CB8AC3E}">
        <p14:creationId xmlns:p14="http://schemas.microsoft.com/office/powerpoint/2010/main" val="304421154"/>
      </p:ext>
    </p:extLst>
  </p:cSld>
</p:sld>
</file>

<file path=ppt/slides/slide39.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01 · UN MLP EN NUMPY</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91d3719b07f94c4e">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01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Deux lunes en 2D. Architecture 2 → 16 → 2.</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054f1ab67ca84034">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Relier forward, backward et différences finies. Varier largeur et taux d’apprentissage.</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6f0a00221a2f49dd">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Courbes train/validation, gradients vérifiés et compte rendu des trois expériences.</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5251b458c5ef46c8">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150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84b6c37d4d6b4350">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b4569024293f4899">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066102fede0c4604">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1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dec6182dd71b4b5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9f06776c22884f26">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3308C636-7FE5-4009-B865-BB9FF3169AE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39 / 135</a:t>
            </a:r>
          </a:p>
        </p:txBody>
      </p:sp>
    </p:spTree>
    <p:extLst>
      <p:ext uri="{BB962C8B-B14F-4D97-AF65-F5344CB8AC3E}">
        <p14:creationId xmlns:p14="http://schemas.microsoft.com/office/powerpoint/2010/main" val="1432818840"/>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25f4ef1b9410460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a5139ec3747a494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7ABC687-87FC-4D0F-9BC7-C9D4170D8A4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40 / 135</a:t>
            </a:r>
          </a:p>
        </p:txBody>
      </p:sp>
      <p:sp>
        <p:nvSpPr>
          <p:cNvPr id="159" name="course-text">
            <a:extLst xmlns:a="http://schemas.openxmlformats.org/drawingml/2006/main">
              <a:ext uri="{FF2B5EF4-FFF2-40B4-BE49-F238E27FC236}">
                <a16:creationId xmlns:a16="http://schemas.microsoft.com/office/drawing/2014/main" id="{A6CF957F-A246-410B-83A6-298F17C02A9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DIAGNOSTIQUER AVANT D’AJOUTER DES COUCHES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3765042"/>
                <a:gridCol w="6693408"/>
              </a:tblGrid>
              <a:tr h="504825">
                <a:tc>
                  <a:txBody>
                    <a:bodyPr lIns="114300" tIns="76200" rIns="95250" bIns="57150">
                      <a:noAutofit/>
                    </a:bodyPr>
                    <a:lstStyle/>
                    <a:p>
                      <a:r>
                        <a:rPr sz="1650" b="1">
                          <a:solidFill>
                            <a:srgbClr val="FFFFFF"/>
                          </a:solidFill>
                          <a:latin typeface="DM Sans"/>
                          <a:ea typeface="DM Sans"/>
                          <a:cs typeface="DM Sans"/>
                        </a:rPr>
                        <a:t>Symptôme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Vérification prioritaire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Perte constante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Gradients, taux d’apprentissage, paramètres entraînables</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NaN ou inf</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Logits, normalisation, division et pas trop grand</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Train bon, validation faible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Split, surapprentissage, décalage de distribution</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Score presque parfait dès le début</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Fuite de cible ou duplication train/test</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Gradients NumPy ≠ numériques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Axes, transpose, facteur de moyenne et ReLU</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998adcf7f2fa48d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c4e5efea85ab446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2F34869-3263-468A-9ADA-B4CC6B629C9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41 / 135</a:t>
            </a:r>
          </a:p>
        </p:txBody>
      </p:sp>
      <p:sp>
        <p:nvSpPr>
          <p:cNvPr id="159" name="course-text">
            <a:extLst xmlns:a="http://schemas.openxmlformats.org/drawingml/2006/main">
              <a:ext uri="{FF2B5EF4-FFF2-40B4-BE49-F238E27FC236}">
                <a16:creationId xmlns:a16="http://schemas.microsoft.com/office/drawing/2014/main" id="{8BA3A965-E7AE-456A-A1FD-BDEDD3C7AE8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EXERCICE · RECONSTRUIRE LE GRADIENT</a:t>
            </a:r>
          </a:p>
        </p:txBody>
      </p:sp>
      <p:sp>
        <p:nvSpPr>
          <p:cNvPr id="160" name="course-text">
            <a:extLst xmlns:a="http://schemas.openxmlformats.org/drawingml/2006/main">
              <a:ext uri="{FF2B5EF4-FFF2-40B4-BE49-F238E27FC236}">
                <a16:creationId xmlns:a16="http://schemas.microsoft.com/office/drawing/2014/main" id="{DC3DF830-0D61-4E12-ABD6-141838F6D415}"/>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Réseau : 3 → 4 → 2, avec ReLU et perte cross-entropy.</a:t>
            </a:r>
          </a:p>
        </p:txBody>
      </p:sp>
      <p:sp>
        <p:nvSpPr>
          <p:cNvPr id="161" name="course-text">
            <a:extLst xmlns:a="http://schemas.openxmlformats.org/drawingml/2006/main">
              <a:ext uri="{FF2B5EF4-FFF2-40B4-BE49-F238E27FC236}">
                <a16:creationId xmlns:a16="http://schemas.microsoft.com/office/drawing/2014/main" id="{182E9813-E584-429D-A9F8-FB667851E216}"/>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Donner la forme de chaque poids, activation et gradient.</a:t>
            </a:r>
          </a:p>
        </p:txBody>
      </p:sp>
      <p:sp>
        <p:nvSpPr>
          <p:cNvPr id="162" name="course-text">
            <a:extLst xmlns:a="http://schemas.openxmlformats.org/drawingml/2006/main">
              <a:ext uri="{FF2B5EF4-FFF2-40B4-BE49-F238E27FC236}">
                <a16:creationId xmlns:a16="http://schemas.microsoft.com/office/drawing/2014/main" id="{30033263-9052-4F92-91A6-7F6FE4A92D97}"/>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Calculer le nombre de paramètres et justifier chaque transposée.</a:t>
            </a:r>
          </a:p>
        </p:txBody>
      </p:sp>
    </p:spTree>
    <p:extLst>
      <p:ext uri="{BB962C8B-B14F-4D97-AF65-F5344CB8AC3E}">
        <p14:creationId xmlns:p14="http://schemas.microsoft.com/office/powerpoint/2010/main" val="30442115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80ef07f94ad41b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12ade71cc1b4e7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6B406E2-C681-43AA-B680-B23CF6D1474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42 / 135</a:t>
            </a:r>
          </a:p>
        </p:txBody>
      </p:sp>
      <p:sp>
        <p:nvSpPr>
          <p:cNvPr id="159" name="course-text">
            <a:extLst xmlns:a="http://schemas.openxmlformats.org/drawingml/2006/main">
              <a:ext uri="{FF2B5EF4-FFF2-40B4-BE49-F238E27FC236}">
                <a16:creationId xmlns:a16="http://schemas.microsoft.com/office/drawing/2014/main" id="{DE551BCA-6A83-4012-8E7B-F74C803CAD9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1 · À RETENIR</a:t>
            </a:r>
          </a:p>
        </p:txBody>
      </p:sp>
      <p:sp>
        <p:nvSpPr>
          <p:cNvPr id="160" name="course-text">
            <a:extLst xmlns:a="http://schemas.openxmlformats.org/drawingml/2006/main">
              <a:ext uri="{FF2B5EF4-FFF2-40B4-BE49-F238E27FC236}">
                <a16:creationId xmlns:a16="http://schemas.microsoft.com/office/drawing/2014/main" id="{EE461612-54A5-4B06-815A-6D4CDED25080}"/>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architecture, une perte et un optimiseur jouent des rôles distincts.</a:t>
            </a:r>
          </a:p>
        </p:txBody>
      </p:sp>
      <p:sp>
        <p:nvSpPr>
          <p:cNvPr id="161" name="course-text">
            <a:extLst xmlns:a="http://schemas.openxmlformats.org/drawingml/2006/main">
              <a:ext uri="{FF2B5EF4-FFF2-40B4-BE49-F238E27FC236}">
                <a16:creationId xmlns:a16="http://schemas.microsoft.com/office/drawing/2014/main" id="{F6AB1F80-EAEB-4FE8-9418-835DD0E09A50}"/>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rétropropagation réutilise les dérivées locales et additionne les chemins.</a:t>
            </a:r>
          </a:p>
        </p:txBody>
      </p:sp>
      <p:sp>
        <p:nvSpPr>
          <p:cNvPr id="162" name="course-text">
            <a:extLst xmlns:a="http://schemas.openxmlformats.org/drawingml/2006/main">
              <a:ext uri="{FF2B5EF4-FFF2-40B4-BE49-F238E27FC236}">
                <a16:creationId xmlns:a16="http://schemas.microsoft.com/office/drawing/2014/main" id="{B7CB0D93-44AC-4473-886D-85E7C69C95A7}"/>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Les dimensions et le contrôle numérique rendent les gradients vérifiables.</a:t>
            </a:r>
          </a:p>
        </p:txBody>
      </p:sp>
      <p:sp>
        <p:nvSpPr>
          <p:cNvPr id="163" name="course-text">
            <a:extLst xmlns:a="http://schemas.openxmlformats.org/drawingml/2006/main">
              <a:ext uri="{FF2B5EF4-FFF2-40B4-BE49-F238E27FC236}">
                <a16:creationId xmlns:a16="http://schemas.microsoft.com/office/drawing/2014/main" id="{8FEEFCF6-DB4F-4182-BF91-C068CDE3E314}"/>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perte d’entraînement faible ne démontre pas la généralisation.</a:t>
            </a:r>
          </a:p>
        </p:txBody>
      </p:sp>
    </p:spTree>
    <p:extLst>
      <p:ext uri="{BB962C8B-B14F-4D97-AF65-F5344CB8AC3E}">
        <p14:creationId xmlns:p14="http://schemas.microsoft.com/office/powerpoint/2010/main" val="304421154"/>
      </p:ext>
    </p:extLst>
  </p:cSld>
</p:sld>
</file>

<file path=ppt/slides/slide43.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02</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OPTIMISATION
ET CONVOLUTIONS</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946ae24e8a4d4c4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600ee2ccf85a438c">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C60EFE55-9DA4-4C0C-8A41-D3B52BB7A81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43 / 135</a:t>
            </a:r>
          </a:p>
        </p:txBody>
      </p:sp>
      <p:sp>
        <p:nvSpPr>
          <p:cNvPr id="144" name="course-text">
            <a:extLst xmlns:a="http://schemas.openxmlformats.org/drawingml/2006/main">
              <a:ext uri="{FF2B5EF4-FFF2-40B4-BE49-F238E27FC236}">
                <a16:creationId xmlns:a16="http://schemas.microsoft.com/office/drawing/2014/main" id="{1E7CD3CB-4B08-4446-B4AC-BD658D68B0B4}"/>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Stabiliser l’apprentissage et exploiter la structure spatiale</a:t>
            </a:r>
          </a:p>
        </p:txBody>
      </p:sp>
    </p:spTree>
    <p:extLst>
      <p:ext uri="{BB962C8B-B14F-4D97-AF65-F5344CB8AC3E}">
        <p14:creationId xmlns:p14="http://schemas.microsoft.com/office/powerpoint/2010/main" val="375643571"/>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7e81071950747a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27358036942c4ae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AB51070-4A8C-43B2-BF0F-6A4B0E27CF3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44 / 135</a:t>
            </a:r>
          </a:p>
        </p:txBody>
      </p:sp>
      <p:sp>
        <p:nvSpPr>
          <p:cNvPr id="159" name="course-text">
            <a:extLst xmlns:a="http://schemas.openxmlformats.org/drawingml/2006/main">
              <a:ext uri="{FF2B5EF4-FFF2-40B4-BE49-F238E27FC236}">
                <a16:creationId xmlns:a16="http://schemas.microsoft.com/office/drawing/2014/main" id="{F81A6FF0-D7EE-40D6-80BF-B220644AD4A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2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Optimisation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Mini-batches, Adam, initialisation et régularisation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90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CNN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Convolution, formes, paramètres et pooling</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105</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Exercices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Calcul à la main et champ réceptif</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45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02</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Petit CNN sur digits et expériences contrôlées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150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Synthèse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Diagnostic et restitution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30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C99B11F7-C935-4FF1-8265-C89C1B662462}"/>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557692f813a40d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72288cf5b7d4eb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9A79F6F-DA67-4FED-8B7C-D759A8636D3E}"/>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45 / 135</a:t>
            </a:r>
          </a:p>
        </p:txBody>
      </p:sp>
      <p:sp>
        <p:nvSpPr>
          <p:cNvPr id="159" name="course-text">
            <a:extLst xmlns:a="http://schemas.openxmlformats.org/drawingml/2006/main">
              <a:ext uri="{FF2B5EF4-FFF2-40B4-BE49-F238E27FC236}">
                <a16:creationId xmlns:a16="http://schemas.microsoft.com/office/drawing/2014/main" id="{C56C7FFB-E13E-42BD-B3EB-FDE495CDF5D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SGD ET MINI-BATCHES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eef4d28bc9949c8">
            <a:extLst>
              <a:ext uri="{96DAC541-7B7A-43D3-8B79-37D633B846F1}">
                <asvg:svgBlip xmlns:asvg="http://schemas.microsoft.com/office/drawing/2016/SVG/main" r:embed="Rb9675bd8059545ba"/>
              </a:ext>
            </a:extLst>
          </a:blip>
          <a:stretch xmlns:a="http://schemas.openxmlformats.org/drawingml/2006/main"/>
        </p:blipFill>
        <p:spPr>
          <a:xfrm xmlns:a="http://schemas.openxmlformats.org/drawingml/2006/main">
            <a:off x="933450" y="1809750"/>
            <a:ext cx="5500305" cy="86576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BA322A37-AEA8-478B-A69B-ABDCB0E653F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du batch approche celui du jeu complet.</a:t>
            </a:r>
          </a:p>
        </p:txBody>
      </p:sp>
      <p:sp>
        <p:nvSpPr>
          <p:cNvPr id="162" name="course-text">
            <a:extLst xmlns:a="http://schemas.openxmlformats.org/drawingml/2006/main">
              <a:ext uri="{FF2B5EF4-FFF2-40B4-BE49-F238E27FC236}">
                <a16:creationId xmlns:a16="http://schemas.microsoft.com/office/drawing/2014/main" id="{EBDC8EC3-6A14-4F50-B25F-CBD12BE97894}"/>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B change le bruit, le coût par étape et la mémoire.</a:t>
            </a:r>
          </a:p>
        </p:txBody>
      </p:sp>
      <p:sp>
        <p:nvSpPr>
          <p:cNvPr id="163" name="course-text">
            <a:extLst xmlns:a="http://schemas.openxmlformats.org/drawingml/2006/main">
              <a:ext uri="{FF2B5EF4-FFF2-40B4-BE49-F238E27FC236}">
                <a16:creationId xmlns:a16="http://schemas.microsoft.com/office/drawing/2014/main" id="{12AD5DB9-270E-4F67-8B91-3ACDA131BEBB}"/>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Comparer des expériences à budget explicite : étapes, époques et temps.</a:t>
            </a:r>
          </a:p>
        </p:txBody>
      </p:sp>
    </p:spTree>
    <p:extLst>
      <p:ext uri="{BB962C8B-B14F-4D97-AF65-F5344CB8AC3E}">
        <p14:creationId xmlns:p14="http://schemas.microsoft.com/office/powerpoint/2010/main" val="304421154"/>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29a3b7818734cb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61cdb68464d460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513F6E4-51B9-4EE9-8144-C915AA2B81C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46 / 135</a:t>
            </a:r>
          </a:p>
        </p:txBody>
      </p:sp>
      <p:sp>
        <p:nvSpPr>
          <p:cNvPr id="159" name="course-text">
            <a:extLst xmlns:a="http://schemas.openxmlformats.org/drawingml/2006/main">
              <a:ext uri="{FF2B5EF4-FFF2-40B4-BE49-F238E27FC236}">
                <a16:creationId xmlns:a16="http://schemas.microsoft.com/office/drawing/2014/main" id="{95CED202-5802-4F0E-8739-E6D4ABE4E37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MOMENTUM : MÉMORISER UNE DIRECTION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356786aa4e8142d9">
            <a:extLst>
              <a:ext uri="{96DAC541-7B7A-43D3-8B79-37D633B846F1}">
                <asvg:svgBlip xmlns:asvg="http://schemas.microsoft.com/office/drawing/2016/SVG/main" r:embed="R7540a0c06d4c4bd4"/>
              </a:ext>
            </a:extLst>
          </a:blip>
          <a:stretch xmlns:a="http://schemas.openxmlformats.org/drawingml/2006/main"/>
        </p:blipFill>
        <p:spPr>
          <a:xfrm xmlns:a="http://schemas.openxmlformats.org/drawingml/2006/main">
            <a:off x="933450" y="1809750"/>
            <a:ext cx="4824461" cy="30251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627E170-1490-4CE5-8795-7F862520E46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moyenne temporelle amortit les changements rapides de gradient.</a:t>
            </a:r>
          </a:p>
        </p:txBody>
      </p:sp>
      <p:sp>
        <p:nvSpPr>
          <p:cNvPr id="162" name="course-text">
            <a:extLst xmlns:a="http://schemas.openxmlformats.org/drawingml/2006/main">
              <a:ext uri="{FF2B5EF4-FFF2-40B4-BE49-F238E27FC236}">
                <a16:creationId xmlns:a16="http://schemas.microsoft.com/office/drawing/2014/main" id="{0B1E8485-D932-4005-A6F3-409840332C5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coefficient β contrôle la mémoire des gradients passés.</a:t>
            </a:r>
          </a:p>
        </p:txBody>
      </p:sp>
      <p:sp>
        <p:nvSpPr>
          <p:cNvPr id="163" name="course-text">
            <a:extLst xmlns:a="http://schemas.openxmlformats.org/drawingml/2006/main">
              <a:ext uri="{FF2B5EF4-FFF2-40B4-BE49-F238E27FC236}">
                <a16:creationId xmlns:a16="http://schemas.microsoft.com/office/drawing/2014/main" id="{0DD3BA7F-6576-46DF-8CEF-929C6EF6BF9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conventions de normalisation diffèrent selon les formulations.</a:t>
            </a:r>
          </a:p>
        </p:txBody>
      </p:sp>
    </p:spTree>
    <p:extLst>
      <p:ext uri="{BB962C8B-B14F-4D97-AF65-F5344CB8AC3E}">
        <p14:creationId xmlns:p14="http://schemas.microsoft.com/office/powerpoint/2010/main" val="304421154"/>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6cd947c9a0c45d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a68ce8342cf473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7691CE0-97A6-44EC-8F98-558E957070E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47 / 135</a:t>
            </a:r>
          </a:p>
        </p:txBody>
      </p:sp>
      <p:sp>
        <p:nvSpPr>
          <p:cNvPr id="159" name="course-text">
            <a:extLst xmlns:a="http://schemas.openxmlformats.org/drawingml/2006/main">
              <a:ext uri="{FF2B5EF4-FFF2-40B4-BE49-F238E27FC236}">
                <a16:creationId xmlns:a16="http://schemas.microsoft.com/office/drawing/2014/main" id="{2F65EEB3-A158-4FB4-8D4D-5BCA2A074AB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ADAM : PREMIER ET SECOND MOMENTS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95b482852d64a04">
            <a:extLst>
              <a:ext uri="{96DAC541-7B7A-43D3-8B79-37D633B846F1}">
                <asvg:svgBlip xmlns:asvg="http://schemas.microsoft.com/office/drawing/2016/SVG/main" r:embed="R4321edeb86034bf7"/>
              </a:ext>
            </a:extLst>
          </a:blip>
          <a:stretch xmlns:a="http://schemas.openxmlformats.org/drawingml/2006/main"/>
        </p:blipFill>
        <p:spPr>
          <a:xfrm xmlns:a="http://schemas.openxmlformats.org/drawingml/2006/main">
            <a:off x="933450" y="1809750"/>
            <a:ext cx="4165067" cy="174417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72CBE804-05DF-4044-8ECA-00C3406181C1}"/>
              </a:ext>
            </a:extLst>
          </p:cNvPr>
          <p:cNvSpPr>
            <a:spLocks xmlns:a="http://schemas.openxmlformats.org/drawingml/2006/main" noGrp="1"/>
          </p:cNvSpPr>
          <p:nvPr/>
        </p:nvSpPr>
        <p:spPr>
          <a:xfrm xmlns:a="http://schemas.openxmlformats.org/drawingml/2006/main">
            <a:off x="933450" y="3830154"/>
            <a:ext cx="10382250" cy="53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Adam suit une moyenne du gradient et de son carré.</a:t>
            </a:r>
          </a:p>
        </p:txBody>
      </p:sp>
      <p:sp>
        <p:nvSpPr>
          <p:cNvPr id="162" name="course-text">
            <a:extLst xmlns:a="http://schemas.openxmlformats.org/drawingml/2006/main">
              <a:ext uri="{FF2B5EF4-FFF2-40B4-BE49-F238E27FC236}">
                <a16:creationId xmlns:a16="http://schemas.microsoft.com/office/drawing/2014/main" id="{BB51D053-D1EB-44BA-8F8B-8D5ABF921DF6}"/>
              </a:ext>
            </a:extLst>
          </p:cNvPr>
          <p:cNvSpPr>
            <a:spLocks xmlns:a="http://schemas.openxmlformats.org/drawingml/2006/main" noGrp="1"/>
          </p:cNvSpPr>
          <p:nvPr/>
        </p:nvSpPr>
        <p:spPr>
          <a:xfrm xmlns:a="http://schemas.openxmlformats.org/drawingml/2006/main">
            <a:off x="933450" y="4439386"/>
            <a:ext cx="10382250" cy="53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corrections de biais compensent l’initialisation à zéro.</a:t>
            </a:r>
          </a:p>
        </p:txBody>
      </p:sp>
      <p:sp>
        <p:nvSpPr>
          <p:cNvPr id="163" name="course-text">
            <a:extLst xmlns:a="http://schemas.openxmlformats.org/drawingml/2006/main">
              <a:ext uri="{FF2B5EF4-FFF2-40B4-BE49-F238E27FC236}">
                <a16:creationId xmlns:a16="http://schemas.microsoft.com/office/drawing/2014/main" id="{DDA985E8-1F89-489B-8F1C-2AFB8DE09350}"/>
              </a:ext>
            </a:extLst>
          </p:cNvPr>
          <p:cNvSpPr>
            <a:spLocks xmlns:a="http://schemas.openxmlformats.org/drawingml/2006/main" noGrp="1"/>
          </p:cNvSpPr>
          <p:nvPr/>
        </p:nvSpPr>
        <p:spPr>
          <a:xfrm xmlns:a="http://schemas.openxmlformats.org/drawingml/2006/main">
            <a:off x="933450" y="5048618"/>
            <a:ext cx="10382250" cy="53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division est élément par élément.</a:t>
            </a:r>
          </a:p>
        </p:txBody>
      </p:sp>
    </p:spTree>
    <p:extLst>
      <p:ext uri="{BB962C8B-B14F-4D97-AF65-F5344CB8AC3E}">
        <p14:creationId xmlns:p14="http://schemas.microsoft.com/office/powerpoint/2010/main" val="304421154"/>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b686fb3a96f41f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8a29fe4b7f24d7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45FFB82-FD5F-452E-A66B-F47C8C3EBB3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48 / 135</a:t>
            </a:r>
          </a:p>
        </p:txBody>
      </p:sp>
      <p:sp>
        <p:nvSpPr>
          <p:cNvPr id="159" name="course-text">
            <a:extLst xmlns:a="http://schemas.openxmlformats.org/drawingml/2006/main">
              <a:ext uri="{FF2B5EF4-FFF2-40B4-BE49-F238E27FC236}">
                <a16:creationId xmlns:a16="http://schemas.microsoft.com/office/drawing/2014/main" id="{0FEEF8DC-D79F-4D4B-8E5F-FB589C4115E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INITIALISATION ET PROPAGATION DES VARIANCES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af4474d913342ef">
            <a:extLst>
              <a:ext uri="{96DAC541-7B7A-43D3-8B79-37D633B846F1}">
                <asvg:svgBlip xmlns:asvg="http://schemas.microsoft.com/office/drawing/2016/SVG/main" r:embed="R86a7d419bf0f480c"/>
              </a:ext>
            </a:extLst>
          </a:blip>
          <a:stretch xmlns:a="http://schemas.openxmlformats.org/drawingml/2006/main"/>
        </p:blipFill>
        <p:spPr>
          <a:xfrm xmlns:a="http://schemas.openxmlformats.org/drawingml/2006/main">
            <a:off x="933450" y="1809750"/>
            <a:ext cx="8940947" cy="776166"/>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C29EA4F7-3646-4FB2-B085-E19E735BE0E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Des poids tous identiques préservent des symétries indésirables.</a:t>
            </a:r>
          </a:p>
        </p:txBody>
      </p:sp>
      <p:sp>
        <p:nvSpPr>
          <p:cNvPr id="162" name="course-text">
            <a:extLst xmlns:a="http://schemas.openxmlformats.org/drawingml/2006/main">
              <a:ext uri="{FF2B5EF4-FFF2-40B4-BE49-F238E27FC236}">
                <a16:creationId xmlns:a16="http://schemas.microsoft.com/office/drawing/2014/main" id="{8CD3109A-20CB-4429-97A3-DE526FE254AA}"/>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L’échelle doit tenir compte du nombre d’entrées.</a:t>
            </a:r>
          </a:p>
        </p:txBody>
      </p:sp>
      <p:sp>
        <p:nvSpPr>
          <p:cNvPr id="163" name="course-text">
            <a:extLst xmlns:a="http://schemas.openxmlformats.org/drawingml/2006/main">
              <a:ext uri="{FF2B5EF4-FFF2-40B4-BE49-F238E27FC236}">
                <a16:creationId xmlns:a16="http://schemas.microsoft.com/office/drawing/2014/main" id="{5F424A69-AF10-46CB-82F2-B9D6A603A2A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Pour ReLU, l’initialisation de He vise une variance adaptée.</a:t>
            </a:r>
          </a:p>
        </p:txBody>
      </p:sp>
    </p:spTree>
    <p:extLst>
      <p:ext uri="{BB962C8B-B14F-4D97-AF65-F5344CB8AC3E}">
        <p14:creationId xmlns:p14="http://schemas.microsoft.com/office/powerpoint/2010/main" val="304421154"/>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c1529f5ef0646e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d2a124f6cf740d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88E92E6-8D8E-4E6B-91D2-8E14F719077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49 / 135</a:t>
            </a:r>
          </a:p>
        </p:txBody>
      </p:sp>
      <p:sp>
        <p:nvSpPr>
          <p:cNvPr id="159" name="course-text">
            <a:extLst xmlns:a="http://schemas.openxmlformats.org/drawingml/2006/main">
              <a:ext uri="{FF2B5EF4-FFF2-40B4-BE49-F238E27FC236}">
                <a16:creationId xmlns:a16="http://schemas.microsoft.com/office/drawing/2014/main" id="{76D5FDAD-D3E9-4B69-A9B2-627DAD489AC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GRADIENTS QUI DISPARAISSENT OU EXPLOSENT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229978514a04fa7">
            <a:extLst>
              <a:ext uri="{96DAC541-7B7A-43D3-8B79-37D633B846F1}">
                <asvg:svgBlip xmlns:asvg="http://schemas.microsoft.com/office/drawing/2016/SVG/main" r:embed="R7ddac5c8faa14b2b"/>
              </a:ext>
            </a:extLst>
          </a:blip>
          <a:stretch xmlns:a="http://schemas.openxmlformats.org/drawingml/2006/main"/>
        </p:blipFill>
        <p:spPr>
          <a:xfrm xmlns:a="http://schemas.openxmlformats.org/drawingml/2006/main">
            <a:off x="933450" y="1809750"/>
            <a:ext cx="3166874" cy="73988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A4FC776E-4D91-4098-A5F5-DE82CA8BC9F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profond contient un produit de Jacobiennes.</a:t>
            </a:r>
          </a:p>
        </p:txBody>
      </p:sp>
      <p:sp>
        <p:nvSpPr>
          <p:cNvPr id="162" name="course-text">
            <a:extLst xmlns:a="http://schemas.openxmlformats.org/drawingml/2006/main">
              <a:ext uri="{FF2B5EF4-FFF2-40B4-BE49-F238E27FC236}">
                <a16:creationId xmlns:a16="http://schemas.microsoft.com/office/drawing/2014/main" id="{8C2BC232-E960-4927-BE15-C72F78F98C81}"/>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L’échelle des poids et les dérivées d’activation agissent ensemble.</a:t>
            </a:r>
          </a:p>
        </p:txBody>
      </p:sp>
      <p:sp>
        <p:nvSpPr>
          <p:cNvPr id="163" name="course-text">
            <a:extLst xmlns:a="http://schemas.openxmlformats.org/drawingml/2006/main">
              <a:ext uri="{FF2B5EF4-FFF2-40B4-BE49-F238E27FC236}">
                <a16:creationId xmlns:a16="http://schemas.microsoft.com/office/drawing/2014/main" id="{7060BC9E-3939-4E53-91B4-B11B6735C563}"/>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Initialisation, résidus, normalisation et clipping répondent à des mécanismes différents.</a:t>
            </a:r>
          </a:p>
        </p:txBody>
      </p:sp>
    </p:spTree>
    <p:extLst>
      <p:ext uri="{BB962C8B-B14F-4D97-AF65-F5344CB8AC3E}">
        <p14:creationId xmlns:p14="http://schemas.microsoft.com/office/powerpoint/2010/main" val="304421154"/>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f5eb642085744e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aee1d65c17240d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CB8510F-9052-4A02-AE81-834123EE268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50 / 135</a:t>
            </a:r>
          </a:p>
        </p:txBody>
      </p:sp>
      <p:sp>
        <p:nvSpPr>
          <p:cNvPr id="159" name="course-text">
            <a:extLst xmlns:a="http://schemas.openxmlformats.org/drawingml/2006/main">
              <a:ext uri="{FF2B5EF4-FFF2-40B4-BE49-F238E27FC236}">
                <a16:creationId xmlns:a16="http://schemas.microsoft.com/office/drawing/2014/main" id="{4EC3FDA1-2924-4B98-85A3-0826E80FD55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PÉNALISATION L2 ET WEIGHT DECAY</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33567fa3f0364f7d">
            <a:extLst>
              <a:ext uri="{96DAC541-7B7A-43D3-8B79-37D633B846F1}">
                <asvg:svgBlip xmlns:asvg="http://schemas.microsoft.com/office/drawing/2016/SVG/main" r:embed="Rdbc4fd32bd1e4198"/>
              </a:ext>
            </a:extLst>
          </a:blip>
          <a:stretch xmlns:a="http://schemas.openxmlformats.org/drawingml/2006/main"/>
        </p:blipFill>
        <p:spPr>
          <a:xfrm xmlns:a="http://schemas.openxmlformats.org/drawingml/2006/main">
            <a:off x="933450" y="1809750"/>
            <a:ext cx="5657218" cy="68959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16E38BE-8012-49D4-A5FC-542BF5B70AE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L2 ajoute une pénalité à la fonction objectif.</a:t>
            </a:r>
          </a:p>
        </p:txBody>
      </p:sp>
      <p:sp>
        <p:nvSpPr>
          <p:cNvPr id="162" name="course-text">
            <a:extLst xmlns:a="http://schemas.openxmlformats.org/drawingml/2006/main">
              <a:ext uri="{FF2B5EF4-FFF2-40B4-BE49-F238E27FC236}">
                <a16:creationId xmlns:a16="http://schemas.microsoft.com/office/drawing/2014/main" id="{4790A4CA-8D5B-4EF6-B47D-450FB4372B9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SGD simple, une convention cohérente donne une décroissance des poids.</a:t>
            </a:r>
          </a:p>
        </p:txBody>
      </p:sp>
      <p:sp>
        <p:nvSpPr>
          <p:cNvPr id="163" name="course-text">
            <a:extLst xmlns:a="http://schemas.openxmlformats.org/drawingml/2006/main">
              <a:ext uri="{FF2B5EF4-FFF2-40B4-BE49-F238E27FC236}">
                <a16:creationId xmlns:a16="http://schemas.microsoft.com/office/drawing/2014/main" id="{F20470C3-1C07-40BB-B076-846F99754B9F}"/>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un optimiseur adaptatif, AdamW découple cette décroissance.</a:t>
            </a:r>
          </a:p>
        </p:txBody>
      </p:sp>
    </p:spTree>
    <p:extLst>
      <p:ext uri="{BB962C8B-B14F-4D97-AF65-F5344CB8AC3E}">
        <p14:creationId xmlns:p14="http://schemas.microsoft.com/office/powerpoint/2010/main" val="30442115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76231a28d2049d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60622480ea642e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6B6EBCC-FE75-4007-94CF-9B8ED85E49A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51 / 135</a:t>
            </a:r>
          </a:p>
        </p:txBody>
      </p:sp>
      <p:sp>
        <p:nvSpPr>
          <p:cNvPr id="159" name="course-text">
            <a:extLst xmlns:a="http://schemas.openxmlformats.org/drawingml/2006/main">
              <a:ext uri="{FF2B5EF4-FFF2-40B4-BE49-F238E27FC236}">
                <a16:creationId xmlns:a16="http://schemas.microsoft.com/office/drawing/2014/main" id="{1D9E83F1-5855-4CD8-983C-34F01A35A67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DROPOUT : TRAIN ET ÉVALUATION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045ea92359aa4ac4">
            <a:extLst>
              <a:ext uri="{96DAC541-7B7A-43D3-8B79-37D633B846F1}">
                <asvg:svgBlip xmlns:asvg="http://schemas.microsoft.com/office/drawing/2016/SVG/main" r:embed="Rb53a9c97079e453d"/>
              </a:ext>
            </a:extLst>
          </a:blip>
          <a:stretch xmlns:a="http://schemas.openxmlformats.org/drawingml/2006/main"/>
        </p:blipFill>
        <p:spPr>
          <a:xfrm xmlns:a="http://schemas.openxmlformats.org/drawingml/2006/main">
            <a:off x="933450" y="1809750"/>
            <a:ext cx="7697871" cy="66631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F02058D8-AB5F-4458-A84C-B9853639480B}"/>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Au train, un masque aléatoire retire des activations.</a:t>
            </a:r>
          </a:p>
        </p:txBody>
      </p:sp>
      <p:sp>
        <p:nvSpPr>
          <p:cNvPr id="162" name="course-text">
            <a:extLst xmlns:a="http://schemas.openxmlformats.org/drawingml/2006/main">
              <a:ext uri="{FF2B5EF4-FFF2-40B4-BE49-F238E27FC236}">
                <a16:creationId xmlns:a16="http://schemas.microsoft.com/office/drawing/2014/main" id="{34B0F947-FB67-450B-9BBD-7507F80FD1E8}"/>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version inversée conserve leur espérance en les redimensionnant.</a:t>
            </a:r>
          </a:p>
        </p:txBody>
      </p:sp>
      <p:sp>
        <p:nvSpPr>
          <p:cNvPr id="163" name="course-text">
            <a:extLst xmlns:a="http://schemas.openxmlformats.org/drawingml/2006/main">
              <a:ext uri="{FF2B5EF4-FFF2-40B4-BE49-F238E27FC236}">
                <a16:creationId xmlns:a16="http://schemas.microsoft.com/office/drawing/2014/main" id="{78ED212C-75C3-4C2C-9104-9F977B1C0DF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À l’évaluation, le masque est désactivé.</a:t>
            </a:r>
          </a:p>
        </p:txBody>
      </p:sp>
    </p:spTree>
    <p:extLst>
      <p:ext uri="{BB962C8B-B14F-4D97-AF65-F5344CB8AC3E}">
        <p14:creationId xmlns:p14="http://schemas.microsoft.com/office/powerpoint/2010/main" val="304421154"/>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4bffa25c678489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6e61ec953684a4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4F7F594-A233-41C1-A21D-68536CA4FDA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52 / 135</a:t>
            </a:r>
          </a:p>
        </p:txBody>
      </p:sp>
      <p:sp>
        <p:nvSpPr>
          <p:cNvPr id="159" name="course-text">
            <a:extLst xmlns:a="http://schemas.openxmlformats.org/drawingml/2006/main">
              <a:ext uri="{FF2B5EF4-FFF2-40B4-BE49-F238E27FC236}">
                <a16:creationId xmlns:a16="http://schemas.microsoft.com/office/drawing/2014/main" id="{206F2795-24EA-4A02-B4D7-23B78F81AAB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NORMALISER LES ACTIVATIONS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c7d5e65986ff45ee">
            <a:extLst>
              <a:ext uri="{96DAC541-7B7A-43D3-8B79-37D633B846F1}">
                <asvg:svgBlip xmlns:asvg="http://schemas.microsoft.com/office/drawing/2016/SVG/main" r:embed="R7b1af4c788b343ed"/>
              </a:ext>
            </a:extLst>
          </a:blip>
          <a:stretch xmlns:a="http://schemas.openxmlformats.org/drawingml/2006/main"/>
        </p:blipFill>
        <p:spPr>
          <a:xfrm xmlns:a="http://schemas.openxmlformats.org/drawingml/2006/main">
            <a:off x="933450" y="1809750"/>
            <a:ext cx="4112989" cy="73249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1241356-3DFE-4D2E-A727-EBD065D63E40}"/>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Normaliser ne signifie pas retirer toute l’information d’échelle.</a:t>
            </a:r>
          </a:p>
        </p:txBody>
      </p:sp>
      <p:sp>
        <p:nvSpPr>
          <p:cNvPr id="162" name="course-text">
            <a:extLst xmlns:a="http://schemas.openxmlformats.org/drawingml/2006/main">
              <a:ext uri="{FF2B5EF4-FFF2-40B4-BE49-F238E27FC236}">
                <a16:creationId xmlns:a16="http://schemas.microsoft.com/office/drawing/2014/main" id="{0691372D-3EA8-476A-96A0-51D518B8AC1D}"/>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Des paramètres γ et β réintroduisent une transformation affine apprise.</a:t>
            </a:r>
          </a:p>
        </p:txBody>
      </p:sp>
      <p:sp>
        <p:nvSpPr>
          <p:cNvPr id="163" name="course-text">
            <a:extLst xmlns:a="http://schemas.openxmlformats.org/drawingml/2006/main">
              <a:ext uri="{FF2B5EF4-FFF2-40B4-BE49-F238E27FC236}">
                <a16:creationId xmlns:a16="http://schemas.microsoft.com/office/drawing/2014/main" id="{C9B97EB5-1F37-4228-9F3D-519EC680E07E}"/>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axes de calcul des statistiques dépendent du type de normalisation.</a:t>
            </a:r>
          </a:p>
        </p:txBody>
      </p:sp>
    </p:spTree>
    <p:extLst>
      <p:ext uri="{BB962C8B-B14F-4D97-AF65-F5344CB8AC3E}">
        <p14:creationId xmlns:p14="http://schemas.microsoft.com/office/powerpoint/2010/main" val="304421154"/>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3ce33d651ea64b4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17fdb4c9b58846a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1FEF2E6-4EBE-4136-8549-BFC61216FAF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53 / 135</a:t>
            </a:r>
          </a:p>
        </p:txBody>
      </p:sp>
      <p:sp>
        <p:nvSpPr>
          <p:cNvPr id="159" name="course-text">
            <a:extLst xmlns:a="http://schemas.openxmlformats.org/drawingml/2006/main">
              <a:ext uri="{FF2B5EF4-FFF2-40B4-BE49-F238E27FC236}">
                <a16:creationId xmlns:a16="http://schemas.microsoft.com/office/drawing/2014/main" id="{2B5BCEC9-BC09-4A61-B250-167531183AE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EARLY STOPPING ET COURBES D’APPRENTISSAGE</a:t>
            </a:r>
          </a:p>
        </p:txBody>
      </p:sp>
      <p:graphicFrame>
        <p:nvGraphicFramePr>
          <p:cNvPr id="177" name="Chart"/>
          <p:cNvGraphicFramePr/>
          <p:nvPr/>
        </p:nvGraphicFramePr>
        <p:xfrm>
          <a:off xmlns:a="http://schemas.openxmlformats.org/drawingml/2006/main" x="5191125" y="1885950"/>
          <a:ext xmlns:a="http://schemas.openxmlformats.org/drawingml/2006/main" cx="6143625" cy="3238500"/>
        </p:xfrm>
        <a:graphic xmlns:a="http://schemas.openxmlformats.org/drawingml/2006/main">
          <a:graphicData uri="http://schemas.openxmlformats.org/drawingml/2006/chart">
            <c:chart xmlns:r="http://schemas.openxmlformats.org/officeDocument/2006/relationships" xmlns:c="http://schemas.openxmlformats.org/drawingml/2006/chart" r:id="R83b9b69327a0449f"/>
          </a:graphicData>
        </a:graphic>
      </p:graphicFrame>
      <p:sp>
        <p:nvSpPr>
          <p:cNvPr id="161" name="course-text">
            <a:extLst xmlns:a="http://schemas.openxmlformats.org/drawingml/2006/main">
              <a:ext uri="{FF2B5EF4-FFF2-40B4-BE49-F238E27FC236}">
                <a16:creationId xmlns:a16="http://schemas.microsoft.com/office/drawing/2014/main" id="{02D22435-EC4B-43B7-9E58-C7AB2A45B107}"/>
              </a:ext>
            </a:extLst>
          </p:cNvPr>
          <p:cNvSpPr>
            <a:spLocks xmlns:a="http://schemas.openxmlformats.org/drawingml/2006/main" noGrp="1"/>
          </p:cNvSpPr>
          <p:nvPr/>
        </p:nvSpPr>
        <p:spPr>
          <a:xfrm xmlns:a="http://schemas.openxmlformats.org/drawingml/2006/main">
            <a:off x="914400" y="198120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validation choisit un checkpoint selon un critère annoncé.</a:t>
            </a:r>
          </a:p>
        </p:txBody>
      </p:sp>
      <p:sp>
        <p:nvSpPr>
          <p:cNvPr id="162" name="course-text">
            <a:extLst xmlns:a="http://schemas.openxmlformats.org/drawingml/2006/main">
              <a:ext uri="{FF2B5EF4-FFF2-40B4-BE49-F238E27FC236}">
                <a16:creationId xmlns:a16="http://schemas.microsoft.com/office/drawing/2014/main" id="{CBBBFCD7-5D01-49E8-8D0C-851208DA9247}"/>
              </a:ext>
            </a:extLst>
          </p:cNvPr>
          <p:cNvSpPr>
            <a:spLocks xmlns:a="http://schemas.openxmlformats.org/drawingml/2006/main" noGrp="1"/>
          </p:cNvSpPr>
          <p:nvPr/>
        </p:nvSpPr>
        <p:spPr>
          <a:xfrm xmlns:a="http://schemas.openxmlformats.org/drawingml/2006/main">
            <a:off x="914400" y="3019425"/>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patience tolère des fluctuations temporaires.</a:t>
            </a:r>
          </a:p>
        </p:txBody>
      </p:sp>
      <p:sp>
        <p:nvSpPr>
          <p:cNvPr id="163" name="course-text">
            <a:extLst xmlns:a="http://schemas.openxmlformats.org/drawingml/2006/main">
              <a:ext uri="{FF2B5EF4-FFF2-40B4-BE49-F238E27FC236}">
                <a16:creationId xmlns:a16="http://schemas.microsoft.com/office/drawing/2014/main" id="{F378E6DB-656F-44DF-9CCF-A3C65AD66E0D}"/>
              </a:ext>
            </a:extLst>
          </p:cNvPr>
          <p:cNvSpPr>
            <a:spLocks xmlns:a="http://schemas.openxmlformats.org/drawingml/2006/main" noGrp="1"/>
          </p:cNvSpPr>
          <p:nvPr/>
        </p:nvSpPr>
        <p:spPr>
          <a:xfrm xmlns:a="http://schemas.openxmlformats.org/drawingml/2006/main">
            <a:off x="914400" y="405765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test est réservé à l’évaluation du checkpoint retenu.</a:t>
            </a:r>
          </a:p>
        </p:txBody>
      </p:sp>
      <p:sp>
        <p:nvSpPr>
          <p:cNvPr id="164" name="course-text">
            <a:extLst xmlns:a="http://schemas.openxmlformats.org/drawingml/2006/main">
              <a:ext uri="{FF2B5EF4-FFF2-40B4-BE49-F238E27FC236}">
                <a16:creationId xmlns:a16="http://schemas.microsoft.com/office/drawing/2014/main" id="{ED8FDE5A-B9BF-42DE-B3A8-BE5712C52A81}"/>
              </a:ext>
            </a:extLst>
          </p:cNvPr>
          <p:cNvSpPr>
            <a:spLocks xmlns:a="http://schemas.openxmlformats.org/drawingml/2006/main" noGrp="1"/>
          </p:cNvSpPr>
          <p:nvPr/>
        </p:nvSpPr>
        <p:spPr>
          <a:xfrm xmlns:a="http://schemas.openxmlformats.org/drawingml/2006/main">
            <a:off x="933450" y="53340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Courbes illustratives ; elles ne représentent pas un entraînement mesuré.</a:t>
            </a:r>
          </a:p>
        </p:txBody>
      </p:sp>
    </p:spTree>
    <p:extLst>
      <p:ext uri="{BB962C8B-B14F-4D97-AF65-F5344CB8AC3E}">
        <p14:creationId xmlns:p14="http://schemas.microsoft.com/office/powerpoint/2010/main" val="304421154"/>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f984ac8744b4450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c292ef25f4e241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0FAC24C-D6A6-4C5D-A048-21B33601522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54 / 135</a:t>
            </a:r>
          </a:p>
        </p:txBody>
      </p:sp>
      <p:sp>
        <p:nvSpPr>
          <p:cNvPr id="159" name="course-text">
            <a:extLst xmlns:a="http://schemas.openxmlformats.org/drawingml/2006/main">
              <a:ext uri="{FF2B5EF4-FFF2-40B4-BE49-F238E27FC236}">
                <a16:creationId xmlns:a16="http://schemas.microsoft.com/office/drawing/2014/main" id="{0D5A13B6-839B-4A75-84CC-5C005B57B26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POURQUOI UN CNN POUR UNE IMAGE ?</a:t>
            </a:r>
          </a:p>
        </p:txBody>
      </p:sp>
      <p:sp>
        <p:nvSpPr>
          <p:cNvPr id="160" name="course-text">
            <a:extLst xmlns:a="http://schemas.openxmlformats.org/drawingml/2006/main">
              <a:ext uri="{FF2B5EF4-FFF2-40B4-BE49-F238E27FC236}">
                <a16:creationId xmlns:a16="http://schemas.microsoft.com/office/drawing/2014/main" id="{96209A4C-D7F1-4DCA-9B9C-E8BB3520E1F3}"/>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Les voisinages locaux ont une structure spatiale.</a:t>
            </a:r>
          </a:p>
        </p:txBody>
      </p:sp>
      <p:sp>
        <p:nvSpPr>
          <p:cNvPr id="161" name="course-text">
            <a:extLst xmlns:a="http://schemas.openxmlformats.org/drawingml/2006/main">
              <a:ext uri="{FF2B5EF4-FFF2-40B4-BE49-F238E27FC236}">
                <a16:creationId xmlns:a16="http://schemas.microsoft.com/office/drawing/2014/main" id="{8109885B-9E0F-4BB8-87AD-1C83F0107D36}"/>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 même détecteur peut être utile en plusieurs positions.</a:t>
            </a:r>
          </a:p>
        </p:txBody>
      </p:sp>
      <p:sp>
        <p:nvSpPr>
          <p:cNvPr id="162" name="course-text">
            <a:extLst xmlns:a="http://schemas.openxmlformats.org/drawingml/2006/main">
              <a:ext uri="{FF2B5EF4-FFF2-40B4-BE49-F238E27FC236}">
                <a16:creationId xmlns:a16="http://schemas.microsoft.com/office/drawing/2014/main" id="{EEFF2E04-295F-4558-B39C-F877605D82CB}"/>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convolution impose localité et partage des paramètres.</a:t>
            </a:r>
          </a:p>
        </p:txBody>
      </p:sp>
    </p:spTree>
    <p:extLst>
      <p:ext uri="{BB962C8B-B14F-4D97-AF65-F5344CB8AC3E}">
        <p14:creationId xmlns:p14="http://schemas.microsoft.com/office/powerpoint/2010/main" val="304421154"/>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1e38ddee78546b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4e1c17613554d6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BFBD9C4-C9B3-4D6C-94C5-CBEC30D5953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55 / 135</a:t>
            </a:r>
          </a:p>
        </p:txBody>
      </p:sp>
      <p:sp>
        <p:nvSpPr>
          <p:cNvPr id="159" name="course-text">
            <a:extLst xmlns:a="http://schemas.openxmlformats.org/drawingml/2006/main">
              <a:ext uri="{FF2B5EF4-FFF2-40B4-BE49-F238E27FC236}">
                <a16:creationId xmlns:a16="http://schemas.microsoft.com/office/drawing/2014/main" id="{D3858D6B-E819-4EEA-B865-70E8F126338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CONVOLUTION 2D : L’OPÉRATION LOCALE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e13159676504817">
            <a:extLst>
              <a:ext uri="{96DAC541-7B7A-43D3-8B79-37D633B846F1}">
                <asvg:svgBlip xmlns:asvg="http://schemas.microsoft.com/office/drawing/2016/SVG/main" r:embed="R64647916061148c7"/>
              </a:ext>
            </a:extLst>
          </a:blip>
          <a:stretch xmlns:a="http://schemas.openxmlformats.org/drawingml/2006/main"/>
        </p:blipFill>
        <p:spPr>
          <a:xfrm xmlns:a="http://schemas.openxmlformats.org/drawingml/2006/main">
            <a:off x="933450" y="1809750"/>
            <a:ext cx="5646941" cy="95399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C36133F-0AB1-4053-B998-92482AA5A249}"/>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sortie combine un voisinage spatial et tous les canaux d’entrée.</a:t>
            </a:r>
          </a:p>
        </p:txBody>
      </p:sp>
      <p:sp>
        <p:nvSpPr>
          <p:cNvPr id="162" name="course-text">
            <a:extLst xmlns:a="http://schemas.openxmlformats.org/drawingml/2006/main">
              <a:ext uri="{FF2B5EF4-FFF2-40B4-BE49-F238E27FC236}">
                <a16:creationId xmlns:a16="http://schemas.microsoft.com/office/drawing/2014/main" id="{4528DEDE-7968-4211-AA6E-2BB44B2DFDDD}"/>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noyau est partagé entre les positions.</a:t>
            </a:r>
          </a:p>
        </p:txBody>
      </p:sp>
      <p:sp>
        <p:nvSpPr>
          <p:cNvPr id="163" name="course-text">
            <a:extLst xmlns:a="http://schemas.openxmlformats.org/drawingml/2006/main">
              <a:ext uri="{FF2B5EF4-FFF2-40B4-BE49-F238E27FC236}">
                <a16:creationId xmlns:a16="http://schemas.microsoft.com/office/drawing/2014/main" id="{54B9C312-2FB3-4E01-BAEA-8380DB51C284}"/>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bibliothèques emploient généralement une corrélation croisée.</a:t>
            </a:r>
          </a:p>
        </p:txBody>
      </p:sp>
    </p:spTree>
    <p:extLst>
      <p:ext uri="{BB962C8B-B14F-4D97-AF65-F5344CB8AC3E}">
        <p14:creationId xmlns:p14="http://schemas.microsoft.com/office/powerpoint/2010/main" val="304421154"/>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733443d98be4ef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6ba06aa92a84d9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33093B1-3C4D-4ABA-B488-9E0380A1C23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56 / 135</a:t>
            </a:r>
          </a:p>
        </p:txBody>
      </p:sp>
      <p:sp>
        <p:nvSpPr>
          <p:cNvPr id="159" name="course-text">
            <a:extLst xmlns:a="http://schemas.openxmlformats.org/drawingml/2006/main">
              <a:ext uri="{FF2B5EF4-FFF2-40B4-BE49-F238E27FC236}">
                <a16:creationId xmlns:a16="http://schemas.microsoft.com/office/drawing/2014/main" id="{68F73893-09A3-4CD5-ADDE-751AB00A956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CONVOLUTION : EXEMPLE À LA MAIN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9bb86aea7224716">
            <a:extLst>
              <a:ext uri="{96DAC541-7B7A-43D3-8B79-37D633B846F1}">
                <asvg:svgBlip xmlns:asvg="http://schemas.microsoft.com/office/drawing/2016/SVG/main" r:embed="R3a66e2d336ae4bd3"/>
              </a:ext>
            </a:extLst>
          </a:blip>
          <a:stretch xmlns:a="http://schemas.openxmlformats.org/drawingml/2006/main"/>
        </p:blipFill>
        <p:spPr>
          <a:xfrm xmlns:a="http://schemas.openxmlformats.org/drawingml/2006/main">
            <a:off x="933450" y="1809750"/>
            <a:ext cx="3758975" cy="180975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2FB6D1C8-CF79-4508-8C99-7E06FAAD7023}"/>
              </a:ext>
            </a:extLst>
          </p:cNvPr>
          <p:cNvSpPr>
            <a:spLocks xmlns:a="http://schemas.openxmlformats.org/drawingml/2006/main" noGrp="1"/>
          </p:cNvSpPr>
          <p:nvPr/>
        </p:nvSpPr>
        <p:spPr>
          <a:xfrm xmlns:a="http://schemas.openxmlformats.org/drawingml/2006/main">
            <a:off x="933450" y="3895725"/>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Entrée 3×3, noyau 2×2, stride 1 et aucun padding.</a:t>
            </a:r>
          </a:p>
        </p:txBody>
      </p:sp>
      <p:sp>
        <p:nvSpPr>
          <p:cNvPr id="162" name="course-text">
            <a:extLst xmlns:a="http://schemas.openxmlformats.org/drawingml/2006/main">
              <a:ext uri="{FF2B5EF4-FFF2-40B4-BE49-F238E27FC236}">
                <a16:creationId xmlns:a16="http://schemas.microsoft.com/office/drawing/2014/main" id="{82FC0E1D-D056-439A-BD72-3A3177C86E7A}"/>
              </a:ext>
            </a:extLst>
          </p:cNvPr>
          <p:cNvSpPr>
            <a:spLocks xmlns:a="http://schemas.openxmlformats.org/drawingml/2006/main" noGrp="1"/>
          </p:cNvSpPr>
          <p:nvPr/>
        </p:nvSpPr>
        <p:spPr>
          <a:xfrm xmlns:a="http://schemas.openxmlformats.org/drawingml/2006/main">
            <a:off x="933450" y="4483100"/>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noyau n’est pas retourné dans cet exemple.</a:t>
            </a:r>
          </a:p>
        </p:txBody>
      </p:sp>
      <p:sp>
        <p:nvSpPr>
          <p:cNvPr id="163" name="course-text">
            <a:extLst xmlns:a="http://schemas.openxmlformats.org/drawingml/2006/main">
              <a:ext uri="{FF2B5EF4-FFF2-40B4-BE49-F238E27FC236}">
                <a16:creationId xmlns:a16="http://schemas.microsoft.com/office/drawing/2014/main" id="{79E03F25-5A10-4E4F-992E-433B4276E3F2}"/>
              </a:ext>
            </a:extLst>
          </p:cNvPr>
          <p:cNvSpPr>
            <a:spLocks xmlns:a="http://schemas.openxmlformats.org/drawingml/2006/main" noGrp="1"/>
          </p:cNvSpPr>
          <p:nvPr/>
        </p:nvSpPr>
        <p:spPr>
          <a:xfrm xmlns:a="http://schemas.openxmlformats.org/drawingml/2006/main">
            <a:off x="933450" y="5070475"/>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sortie est 2×2.</a:t>
            </a:r>
          </a:p>
        </p:txBody>
      </p:sp>
    </p:spTree>
    <p:extLst>
      <p:ext uri="{BB962C8B-B14F-4D97-AF65-F5344CB8AC3E}">
        <p14:creationId xmlns:p14="http://schemas.microsoft.com/office/powerpoint/2010/main" val="304421154"/>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c672d1fc3b940b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63204437acf4ab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2964258-47AA-4B2A-BF62-F65F6DFBD75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57 / 135</a:t>
            </a:r>
          </a:p>
        </p:txBody>
      </p:sp>
      <p:sp>
        <p:nvSpPr>
          <p:cNvPr id="159" name="course-text">
            <a:extLst xmlns:a="http://schemas.openxmlformats.org/drawingml/2006/main">
              <a:ext uri="{FF2B5EF4-FFF2-40B4-BE49-F238E27FC236}">
                <a16:creationId xmlns:a16="http://schemas.microsoft.com/office/drawing/2014/main" id="{C808B063-FCD5-4B75-8752-EA0FAB3C23D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STRIDE, PADDING ET DILATION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d524f601eed549a3">
            <a:extLst>
              <a:ext uri="{96DAC541-7B7A-43D3-8B79-37D633B846F1}">
                <asvg:svgBlip xmlns:asvg="http://schemas.microsoft.com/office/drawing/2016/SVG/main" r:embed="R50a983c28fa74319"/>
              </a:ext>
            </a:extLst>
          </a:blip>
          <a:stretch xmlns:a="http://schemas.openxmlformats.org/drawingml/2006/main"/>
        </p:blipFill>
        <p:spPr>
          <a:xfrm xmlns:a="http://schemas.openxmlformats.org/drawingml/2006/main">
            <a:off x="933450" y="1809750"/>
            <a:ext cx="5101767" cy="78221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22384555-E0E5-4EB9-9FD7-C38060D4A744}"/>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Stride s : espacement des positions de sortie.</a:t>
            </a:r>
          </a:p>
        </p:txBody>
      </p:sp>
      <p:sp>
        <p:nvSpPr>
          <p:cNvPr id="162" name="course-text">
            <a:extLst xmlns:a="http://schemas.openxmlformats.org/drawingml/2006/main">
              <a:ext uri="{FF2B5EF4-FFF2-40B4-BE49-F238E27FC236}">
                <a16:creationId xmlns:a16="http://schemas.microsoft.com/office/drawing/2014/main" id="{CE364411-5754-4A28-8B93-D968F43FAA89}"/>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Padding p : extension du bord de l’entrée.</a:t>
            </a:r>
          </a:p>
        </p:txBody>
      </p:sp>
      <p:sp>
        <p:nvSpPr>
          <p:cNvPr id="163" name="course-text">
            <a:extLst xmlns:a="http://schemas.openxmlformats.org/drawingml/2006/main">
              <a:ext uri="{FF2B5EF4-FFF2-40B4-BE49-F238E27FC236}">
                <a16:creationId xmlns:a16="http://schemas.microsoft.com/office/drawing/2014/main" id="{34BE495D-491F-498C-A473-615F8DFB3379}"/>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Dilation d : espacement des coefficients du noyau.</a:t>
            </a:r>
          </a:p>
        </p:txBody>
      </p:sp>
    </p:spTree>
    <p:extLst>
      <p:ext uri="{BB962C8B-B14F-4D97-AF65-F5344CB8AC3E}">
        <p14:creationId xmlns:p14="http://schemas.microsoft.com/office/powerpoint/2010/main" val="304421154"/>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cf3bc706b95443a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a65798efb8aa47f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E69C0DB-BC67-44C3-89C5-0877EEE88AB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58 / 135</a:t>
            </a:r>
          </a:p>
        </p:txBody>
      </p:sp>
      <p:sp>
        <p:nvSpPr>
          <p:cNvPr id="159" name="course-text">
            <a:extLst xmlns:a="http://schemas.openxmlformats.org/drawingml/2006/main">
              <a:ext uri="{FF2B5EF4-FFF2-40B4-BE49-F238E27FC236}">
                <a16:creationId xmlns:a16="http://schemas.microsoft.com/office/drawing/2014/main" id="{8B943318-52D7-43D3-AC96-84087BA6B47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CANAUX ET TENSEURS D’UN CNN</a:t>
            </a:r>
          </a:p>
        </p:txBody>
      </p:sp>
      <p:graphicFrame>
        <p:nvGraphicFramePr>
          <p:cNvPr id="173" name=""/>
          <p:cNvGraphicFramePr/>
          <p:nvPr/>
        </p:nvGraphicFramePr>
        <p:xfrm>
          <a:off xmlns:a="http://schemas.openxmlformats.org/drawingml/2006/main" x="876300" y="1762125"/>
          <a:ext xmlns:a="http://schemas.openxmlformats.org/drawingml/2006/main" cx="10458450" cy="2524125"/>
        </p:xfrm>
        <a:graphic xmlns:a="http://schemas.openxmlformats.org/drawingml/2006/main">
          <a:graphicData uri="http://schemas.openxmlformats.org/drawingml/2006/table">
            <a:tbl>
              <a:tblPr/>
              <a:tblGrid>
                <a:gridCol w="1777937"/>
                <a:gridCol w="5020056"/>
                <a:gridCol w="3660457"/>
              </a:tblGrid>
              <a:tr h="504825">
                <a:tc>
                  <a:txBody>
                    <a:bodyPr lIns="114300" tIns="76200" rIns="95250" bIns="57150">
                      <a:noAutofit/>
                    </a:bodyPr>
                    <a:lstStyle/>
                    <a:p>
                      <a:r>
                        <a:rPr sz="1650" b="1">
                          <a:solidFill>
                            <a:srgbClr val="FFFFFF"/>
                          </a:solidFill>
                          <a:latin typeface="DM Sans"/>
                          <a:ea typeface="DM Sans"/>
                          <a:cs typeface="DM Sans"/>
                        </a:rPr>
                        <a:t>Objet</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Forme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Rôle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Entrée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C_in × H × W</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Images du batch</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Poids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C_out × C_in × k_h × k_w</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Détecteurs partagés</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Biais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C_out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Décalage par canal de sortie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Sortie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C_out × H_out × W_out</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Cartes de caractéristiques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b3413d5b33a443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abe36d0954d42d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4D12888C-51BD-4BD6-A0F2-4B1D2FF7F32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59 / 135</a:t>
            </a:r>
          </a:p>
        </p:txBody>
      </p:sp>
      <p:sp>
        <p:nvSpPr>
          <p:cNvPr id="159" name="course-text">
            <a:extLst xmlns:a="http://schemas.openxmlformats.org/drawingml/2006/main">
              <a:ext uri="{FF2B5EF4-FFF2-40B4-BE49-F238E27FC236}">
                <a16:creationId xmlns:a16="http://schemas.microsoft.com/office/drawing/2014/main" id="{1CC535FF-4995-4AE3-AB21-0DEF1EDF1AB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TAILLES ET NOMBRE DE PARAMÈTRES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bc06976e71cc4153">
            <a:extLst>
              <a:ext uri="{96DAC541-7B7A-43D3-8B79-37D633B846F1}">
                <asvg:svgBlip xmlns:asvg="http://schemas.microsoft.com/office/drawing/2016/SVG/main" r:embed="Rd384442932cf450a"/>
              </a:ext>
            </a:extLst>
          </a:blip>
          <a:stretch xmlns:a="http://schemas.openxmlformats.org/drawingml/2006/main"/>
        </p:blipFill>
        <p:spPr>
          <a:xfrm xmlns:a="http://schemas.openxmlformats.org/drawingml/2006/main">
            <a:off x="933450" y="1809750"/>
            <a:ext cx="4128909" cy="746103"/>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AFC2368D-E887-4C94-9E87-95B033E92D3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Convolution dense en canaux, sans groupes.</a:t>
            </a:r>
          </a:p>
        </p:txBody>
      </p:sp>
      <p:sp>
        <p:nvSpPr>
          <p:cNvPr id="162" name="course-text">
            <a:extLst xmlns:a="http://schemas.openxmlformats.org/drawingml/2006/main">
              <a:ext uri="{FF2B5EF4-FFF2-40B4-BE49-F238E27FC236}">
                <a16:creationId xmlns:a16="http://schemas.microsoft.com/office/drawing/2014/main" id="{DEC488DE-3A19-4389-AC35-B5FE03DE7333}"/>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nombre de positions ne multiplie pas les paramètres.</a:t>
            </a:r>
          </a:p>
        </p:txBody>
      </p:sp>
      <p:sp>
        <p:nvSpPr>
          <p:cNvPr id="163" name="course-text">
            <a:extLst xmlns:a="http://schemas.openxmlformats.org/drawingml/2006/main">
              <a:ext uri="{FF2B5EF4-FFF2-40B4-BE49-F238E27FC236}">
                <a16:creationId xmlns:a16="http://schemas.microsoft.com/office/drawing/2014/main" id="{9A487FD7-1AF8-421C-8802-54D3D44DDDA9}"/>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coût de calcul, lui, dépend de la taille spatiale.</a:t>
            </a:r>
          </a:p>
        </p:txBody>
      </p:sp>
    </p:spTree>
    <p:extLst>
      <p:ext uri="{BB962C8B-B14F-4D97-AF65-F5344CB8AC3E}">
        <p14:creationId xmlns:p14="http://schemas.microsoft.com/office/powerpoint/2010/main" val="304421154"/>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c3e02bc0a9442d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795ec01174f461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A256688-E916-42FA-8554-E871B77B008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60 / 135</a:t>
            </a:r>
          </a:p>
        </p:txBody>
      </p:sp>
      <p:sp>
        <p:nvSpPr>
          <p:cNvPr id="159" name="course-text">
            <a:extLst xmlns:a="http://schemas.openxmlformats.org/drawingml/2006/main">
              <a:ext uri="{FF2B5EF4-FFF2-40B4-BE49-F238E27FC236}">
                <a16:creationId xmlns:a16="http://schemas.microsoft.com/office/drawing/2014/main" id="{B3952477-2B2D-44A7-8300-8656CEA7243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POOLING : RÉDUIRE LA RÉSOLUTION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d5d94798a20434f">
            <a:extLst>
              <a:ext uri="{96DAC541-7B7A-43D3-8B79-37D633B846F1}">
                <asvg:svgBlip xmlns:asvg="http://schemas.microsoft.com/office/drawing/2016/SVG/main" r:embed="Ra8cb96bb936f4ff1"/>
              </a:ext>
            </a:extLst>
          </a:blip>
          <a:stretch xmlns:a="http://schemas.openxmlformats.org/drawingml/2006/main"/>
        </p:blipFill>
        <p:spPr>
          <a:xfrm xmlns:a="http://schemas.openxmlformats.org/drawingml/2006/main">
            <a:off x="933450" y="1809750"/>
            <a:ext cx="5933315" cy="776166"/>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84B22C31-E266-4C4D-9E67-916A5AF4B094}"/>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Max pooling conserve la valeur maximale d’une fenêtre.</a:t>
            </a:r>
          </a:p>
        </p:txBody>
      </p:sp>
      <p:sp>
        <p:nvSpPr>
          <p:cNvPr id="162" name="course-text">
            <a:extLst xmlns:a="http://schemas.openxmlformats.org/drawingml/2006/main">
              <a:ext uri="{FF2B5EF4-FFF2-40B4-BE49-F238E27FC236}">
                <a16:creationId xmlns:a16="http://schemas.microsoft.com/office/drawing/2014/main" id="{5C1FECA7-5879-4711-B07A-5A753AE5DA4E}"/>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Average pooling calcule sa moyenne.</a:t>
            </a:r>
          </a:p>
        </p:txBody>
      </p:sp>
      <p:sp>
        <p:nvSpPr>
          <p:cNvPr id="163" name="course-text">
            <a:extLst xmlns:a="http://schemas.openxmlformats.org/drawingml/2006/main">
              <a:ext uri="{FF2B5EF4-FFF2-40B4-BE49-F238E27FC236}">
                <a16:creationId xmlns:a16="http://schemas.microsoft.com/office/drawing/2014/main" id="{AE0E3C8D-B2E5-4E7A-9860-8394C7B8C04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pooling usuel ne possède pas de paramètres appris.</a:t>
            </a:r>
          </a:p>
        </p:txBody>
      </p:sp>
    </p:spTree>
    <p:extLst>
      <p:ext uri="{BB962C8B-B14F-4D97-AF65-F5344CB8AC3E}">
        <p14:creationId xmlns:p14="http://schemas.microsoft.com/office/powerpoint/2010/main" val="304421154"/>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65376e13c9c442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34fdffd37684ad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56FAC292-20F0-4F88-824E-472083A1184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61 / 135</a:t>
            </a:r>
          </a:p>
        </p:txBody>
      </p:sp>
      <p:sp>
        <p:nvSpPr>
          <p:cNvPr id="159" name="course-text">
            <a:extLst xmlns:a="http://schemas.openxmlformats.org/drawingml/2006/main">
              <a:ext uri="{FF2B5EF4-FFF2-40B4-BE49-F238E27FC236}">
                <a16:creationId xmlns:a16="http://schemas.microsoft.com/office/drawing/2014/main" id="{67BEDDA2-D31D-4578-8C07-D9180AC9254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CHAMP RÉCEPTIF : CALCUL RÉCURSIF</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622cdef36f7e499f">
            <a:extLst>
              <a:ext uri="{96DAC541-7B7A-43D3-8B79-37D633B846F1}">
                <asvg:svgBlip xmlns:asvg="http://schemas.microsoft.com/office/drawing/2016/SVG/main" r:embed="Rd81dddced6554b56"/>
              </a:ext>
            </a:extLst>
          </a:blip>
          <a:stretch xmlns:a="http://schemas.openxmlformats.org/drawingml/2006/main"/>
        </p:blipFill>
        <p:spPr>
          <a:xfrm xmlns:a="http://schemas.openxmlformats.org/drawingml/2006/main">
            <a:off x="933450" y="1809750"/>
            <a:ext cx="5683994" cy="76100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51FF7AA-F46B-4A97-85DB-781D02D6759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r : largeur du champ réceptif théorique.</a:t>
            </a:r>
          </a:p>
        </p:txBody>
      </p:sp>
      <p:sp>
        <p:nvSpPr>
          <p:cNvPr id="162" name="course-text">
            <a:extLst xmlns:a="http://schemas.openxmlformats.org/drawingml/2006/main">
              <a:ext uri="{FF2B5EF4-FFF2-40B4-BE49-F238E27FC236}">
                <a16:creationId xmlns:a16="http://schemas.microsoft.com/office/drawing/2014/main" id="{FCE9E49E-85E2-4327-AD93-DFAF78FA8FA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j : pas, dans l’image d’origine, entre deux sorties voisines.</a:t>
            </a:r>
          </a:p>
        </p:txBody>
      </p:sp>
      <p:sp>
        <p:nvSpPr>
          <p:cNvPr id="163" name="course-text">
            <a:extLst xmlns:a="http://schemas.openxmlformats.org/drawingml/2006/main">
              <a:ext uri="{FF2B5EF4-FFF2-40B4-BE49-F238E27FC236}">
                <a16:creationId xmlns:a16="http://schemas.microsoft.com/office/drawing/2014/main" id="{A0CB6648-B065-4E50-8FF1-07EE0DD986EE}"/>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champ théorique et l’influence effective apprise ne sont pas identiques.</a:t>
            </a:r>
          </a:p>
        </p:txBody>
      </p:sp>
    </p:spTree>
    <p:extLst>
      <p:ext uri="{BB962C8B-B14F-4D97-AF65-F5344CB8AC3E}">
        <p14:creationId xmlns:p14="http://schemas.microsoft.com/office/powerpoint/2010/main" val="304421154"/>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19f5583562c47b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2741374b1b8441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BC3F61A-9233-4870-AC20-B2B93DCB4D2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62 / 135</a:t>
            </a:r>
          </a:p>
        </p:txBody>
      </p:sp>
      <p:sp>
        <p:nvSpPr>
          <p:cNvPr id="159" name="course-text">
            <a:extLst xmlns:a="http://schemas.openxmlformats.org/drawingml/2006/main">
              <a:ext uri="{FF2B5EF4-FFF2-40B4-BE49-F238E27FC236}">
                <a16:creationId xmlns:a16="http://schemas.microsoft.com/office/drawing/2014/main" id="{F45570E3-41D8-46F8-9C0F-B6532AA6941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ÉQUIVARIANCE ET INVARIANCE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2571e52af784cf2">
            <a:extLst>
              <a:ext uri="{96DAC541-7B7A-43D3-8B79-37D633B846F1}">
                <asvg:svgBlip xmlns:asvg="http://schemas.microsoft.com/office/drawing/2016/SVG/main" r:embed="R6769075f817f4b19"/>
              </a:ext>
            </a:extLst>
          </a:blip>
          <a:stretch xmlns:a="http://schemas.openxmlformats.org/drawingml/2006/main"/>
        </p:blipFill>
        <p:spPr>
          <a:xfrm xmlns:a="http://schemas.openxmlformats.org/drawingml/2006/main">
            <a:off x="933450" y="1809750"/>
            <a:ext cx="8848051"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077F841A-7254-409D-96EA-A408A351496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Équivariance : déplacer l’entrée déplace la représentation.</a:t>
            </a:r>
          </a:p>
        </p:txBody>
      </p:sp>
      <p:sp>
        <p:nvSpPr>
          <p:cNvPr id="162" name="course-text">
            <a:extLst xmlns:a="http://schemas.openxmlformats.org/drawingml/2006/main">
              <a:ext uri="{FF2B5EF4-FFF2-40B4-BE49-F238E27FC236}">
                <a16:creationId xmlns:a16="http://schemas.microsoft.com/office/drawing/2014/main" id="{AAD422A0-1F98-43EF-8605-7342DD3B39F1}"/>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Invariance : déplacer l’entrée ne change pas la sortie.</a:t>
            </a:r>
          </a:p>
        </p:txBody>
      </p:sp>
      <p:sp>
        <p:nvSpPr>
          <p:cNvPr id="163" name="course-text">
            <a:extLst xmlns:a="http://schemas.openxmlformats.org/drawingml/2006/main">
              <a:ext uri="{FF2B5EF4-FFF2-40B4-BE49-F238E27FC236}">
                <a16:creationId xmlns:a16="http://schemas.microsoft.com/office/drawing/2014/main" id="{EB8BAE41-AB29-434B-9D98-5D7D4D94990B}"/>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Stride, bords et lecture finale limitent les propriétés exactes.</a:t>
            </a:r>
          </a:p>
        </p:txBody>
      </p:sp>
    </p:spTree>
    <p:extLst>
      <p:ext uri="{BB962C8B-B14F-4D97-AF65-F5344CB8AC3E}">
        <p14:creationId xmlns:p14="http://schemas.microsoft.com/office/powerpoint/2010/main" val="304421154"/>
      </p:ext>
    </p:extLst>
  </p:cSld>
</p:sld>
</file>

<file path=ppt/slides/slide63.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02 · CONSTRUIRE UN PETIT CNN</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afbecefe26e3479e">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02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Chiffres digits : images 8×8, dix classes. CPU.</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9cccbfb12d5942d9">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Calculer les formes et paramètres, entraîner puis modifier un seul choix à la fois.</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3689315c3ef74738">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Courbes, matrice de confusion et contrôle du nombre de paramètres.</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ec4268781cc647c9">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150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345713df8a6e4cc7">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b1f9ad4091524452">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6cb4f464c9134047">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2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dfdbebda08084d6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d70263be88124dfb">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7182772B-889B-4FD8-957D-38EA0EE3C04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63 / 135</a:t>
            </a:r>
          </a:p>
        </p:txBody>
      </p:sp>
    </p:spTree>
    <p:extLst>
      <p:ext uri="{BB962C8B-B14F-4D97-AF65-F5344CB8AC3E}">
        <p14:creationId xmlns:p14="http://schemas.microsoft.com/office/powerpoint/2010/main" val="1432818840"/>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c9385a5e39e44b5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02660ca88ebf401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1041CB1-EA15-4C6C-B524-391D10C4099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64 / 135</a:t>
            </a:r>
          </a:p>
        </p:txBody>
      </p:sp>
      <p:sp>
        <p:nvSpPr>
          <p:cNvPr id="159" name="course-text">
            <a:extLst xmlns:a="http://schemas.openxmlformats.org/drawingml/2006/main">
              <a:ext uri="{FF2B5EF4-FFF2-40B4-BE49-F238E27FC236}">
                <a16:creationId xmlns:a16="http://schemas.microsoft.com/office/drawing/2014/main" id="{C6695C9A-98EA-4BE9-99E9-6DFD9C9B903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EXERCICE · AUDITER UNE CONVOLUTION</a:t>
            </a:r>
          </a:p>
        </p:txBody>
      </p:sp>
      <p:sp>
        <p:nvSpPr>
          <p:cNvPr id="160" name="course-text">
            <a:extLst xmlns:a="http://schemas.openxmlformats.org/drawingml/2006/main">
              <a:ext uri="{FF2B5EF4-FFF2-40B4-BE49-F238E27FC236}">
                <a16:creationId xmlns:a16="http://schemas.microsoft.com/office/drawing/2014/main" id="{84FEC82E-ED05-4867-92B7-0E199A973207}"/>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Entrée : B×3×32×32 ; sortie : 16 canaux.</a:t>
            </a:r>
          </a:p>
        </p:txBody>
      </p:sp>
      <p:sp>
        <p:nvSpPr>
          <p:cNvPr id="161" name="course-text">
            <a:extLst xmlns:a="http://schemas.openxmlformats.org/drawingml/2006/main">
              <a:ext uri="{FF2B5EF4-FFF2-40B4-BE49-F238E27FC236}">
                <a16:creationId xmlns:a16="http://schemas.microsoft.com/office/drawing/2014/main" id="{81A9CDC4-34D7-4D24-92D8-0EA4BDFEEFB0}"/>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Noyau 3×3, padding 1, stride 2, dilation 1.</a:t>
            </a:r>
          </a:p>
        </p:txBody>
      </p:sp>
      <p:sp>
        <p:nvSpPr>
          <p:cNvPr id="162" name="course-text">
            <a:extLst xmlns:a="http://schemas.openxmlformats.org/drawingml/2006/main">
              <a:ext uri="{FF2B5EF4-FFF2-40B4-BE49-F238E27FC236}">
                <a16:creationId xmlns:a16="http://schemas.microsoft.com/office/drawing/2014/main" id="{A4772E00-1BD2-4BDD-A9E5-F3FF672286BE}"/>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Calculer forme, paramètres et multiplications-accumulations par image.</a:t>
            </a:r>
          </a:p>
        </p:txBody>
      </p:sp>
    </p:spTree>
    <p:extLst>
      <p:ext uri="{BB962C8B-B14F-4D97-AF65-F5344CB8AC3E}">
        <p14:creationId xmlns:p14="http://schemas.microsoft.com/office/powerpoint/2010/main" val="304421154"/>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74e3b9a1dca490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4dc99c7a67a4f3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DEB27D6-EF2F-45A7-8549-86AEAD61EB1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65 / 135</a:t>
            </a:r>
          </a:p>
        </p:txBody>
      </p:sp>
      <p:sp>
        <p:nvSpPr>
          <p:cNvPr id="159" name="course-text">
            <a:extLst xmlns:a="http://schemas.openxmlformats.org/drawingml/2006/main">
              <a:ext uri="{FF2B5EF4-FFF2-40B4-BE49-F238E27FC236}">
                <a16:creationId xmlns:a16="http://schemas.microsoft.com/office/drawing/2014/main" id="{E09E6423-DE47-452B-A2C0-0014B18CB7B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2 · À RETENIR</a:t>
            </a:r>
          </a:p>
        </p:txBody>
      </p:sp>
      <p:sp>
        <p:nvSpPr>
          <p:cNvPr id="160" name="course-text">
            <a:extLst xmlns:a="http://schemas.openxmlformats.org/drawingml/2006/main">
              <a:ext uri="{FF2B5EF4-FFF2-40B4-BE49-F238E27FC236}">
                <a16:creationId xmlns:a16="http://schemas.microsoft.com/office/drawing/2014/main" id="{6F9B1C8E-E689-4CC5-8D78-478CA221518E}"/>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 gradient correct peut être mal exploité par l’optimiseur.</a:t>
            </a:r>
          </a:p>
        </p:txBody>
      </p:sp>
      <p:sp>
        <p:nvSpPr>
          <p:cNvPr id="161" name="course-text">
            <a:extLst xmlns:a="http://schemas.openxmlformats.org/drawingml/2006/main">
              <a:ext uri="{FF2B5EF4-FFF2-40B4-BE49-F238E27FC236}">
                <a16:creationId xmlns:a16="http://schemas.microsoft.com/office/drawing/2014/main" id="{FA95A0FB-934A-448B-B42A-F6F3A9C8F830}"/>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convolution partage des paramètres locaux entre les positions.</a:t>
            </a:r>
          </a:p>
        </p:txBody>
      </p:sp>
      <p:sp>
        <p:nvSpPr>
          <p:cNvPr id="162" name="course-text">
            <a:extLst xmlns:a="http://schemas.openxmlformats.org/drawingml/2006/main">
              <a:ext uri="{FF2B5EF4-FFF2-40B4-BE49-F238E27FC236}">
                <a16:creationId xmlns:a16="http://schemas.microsoft.com/office/drawing/2014/main" id="{A00FB777-DD9B-4AE0-B596-0A94051DFC0C}"/>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Dimensions, paramètres, MACs et mémoire sont des quantités différentes.</a:t>
            </a:r>
          </a:p>
        </p:txBody>
      </p:sp>
      <p:sp>
        <p:nvSpPr>
          <p:cNvPr id="163" name="course-text">
            <a:extLst xmlns:a="http://schemas.openxmlformats.org/drawingml/2006/main">
              <a:ext uri="{FF2B5EF4-FFF2-40B4-BE49-F238E27FC236}">
                <a16:creationId xmlns:a16="http://schemas.microsoft.com/office/drawing/2014/main" id="{612E2288-A5F9-4884-8F93-E247DAE5044C}"/>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Pooling et stride réduisent la résolution et perdent de l’information.</a:t>
            </a:r>
          </a:p>
        </p:txBody>
      </p:sp>
    </p:spTree>
    <p:extLst>
      <p:ext uri="{BB962C8B-B14F-4D97-AF65-F5344CB8AC3E}">
        <p14:creationId xmlns:p14="http://schemas.microsoft.com/office/powerpoint/2010/main" val="304421154"/>
      </p:ext>
    </p:extLst>
  </p:cSld>
</p:sld>
</file>

<file path=ppt/slides/slide66.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03</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CNN ET
TRANSFERT</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189e3babdd7e4e6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5e82b6ab03004c5c">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83E128A0-E15E-4632-8BFC-5092EDCD487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66 / 135</a:t>
            </a:r>
          </a:p>
        </p:txBody>
      </p:sp>
      <p:sp>
        <p:nvSpPr>
          <p:cNvPr id="144" name="course-text">
            <a:extLst xmlns:a="http://schemas.openxmlformats.org/drawingml/2006/main">
              <a:ext uri="{FF2B5EF4-FFF2-40B4-BE49-F238E27FC236}">
                <a16:creationId xmlns:a16="http://schemas.microsoft.com/office/drawing/2014/main" id="{96A1C160-7D58-4B3F-A47D-036F1EA9CC56}"/>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Architecture, données, évaluation et adaptation</a:t>
            </a:r>
          </a:p>
        </p:txBody>
      </p:sp>
    </p:spTree>
    <p:extLst>
      <p:ext uri="{BB962C8B-B14F-4D97-AF65-F5344CB8AC3E}">
        <p14:creationId xmlns:p14="http://schemas.microsoft.com/office/powerpoint/2010/main" val="375643571"/>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e752090bb19a482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ce100862dabf4a2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1CEFE62-9C8D-4216-A23E-09FEA9A300B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67 / 135</a:t>
            </a:r>
          </a:p>
        </p:txBody>
      </p:sp>
      <p:sp>
        <p:nvSpPr>
          <p:cNvPr id="159" name="course-text">
            <a:extLst xmlns:a="http://schemas.openxmlformats.org/drawingml/2006/main">
              <a:ext uri="{FF2B5EF4-FFF2-40B4-BE49-F238E27FC236}">
                <a16:creationId xmlns:a16="http://schemas.microsoft.com/office/drawing/2014/main" id="{0D15FD0E-05B8-4C2C-8935-64105B0739A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3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Architectures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CNN complet, BatchNorm et résidus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Données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Augmentation, séparation et métriques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75</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Transfert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Gel, adaptation et expériences comparables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75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03</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Source digits 0–4 vers cible digits 5–9</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180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Restitution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Erreurs, résultats et limites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30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F3E6A729-0A67-441E-9D65-0FD14DB2FFE0}"/>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29258d4e7ccf471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ab0aabd452fc44e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A0D6DB6-95C2-4DD9-8E37-E6430873E7E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68 / 135</a:t>
            </a:r>
          </a:p>
        </p:txBody>
      </p:sp>
      <p:sp>
        <p:nvSpPr>
          <p:cNvPr id="159" name="course-text">
            <a:extLst xmlns:a="http://schemas.openxmlformats.org/drawingml/2006/main">
              <a:ext uri="{FF2B5EF4-FFF2-40B4-BE49-F238E27FC236}">
                <a16:creationId xmlns:a16="http://schemas.microsoft.com/office/drawing/2014/main" id="{849DA99D-80EA-463E-B55A-F121E9F94D4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CNN DU TP : PARCOURS D’UN BATCH</a:t>
            </a:r>
          </a:p>
        </p:txBody>
      </p:sp>
      <p:graphicFrame>
        <p:nvGraphicFramePr>
          <p:cNvPr id="173" name=""/>
          <p:cNvGraphicFramePr/>
          <p:nvPr/>
        </p:nvGraphicFramePr>
        <p:xfrm>
          <a:off xmlns:a="http://schemas.openxmlformats.org/drawingml/2006/main" x="876300" y="1762125"/>
          <a:ext xmlns:a="http://schemas.openxmlformats.org/drawingml/2006/main" cx="10458450" cy="3476625"/>
        </p:xfrm>
        <a:graphic xmlns:a="http://schemas.openxmlformats.org/drawingml/2006/main">
          <a:graphicData uri="http://schemas.openxmlformats.org/drawingml/2006/table">
            <a:tbl>
              <a:tblPr/>
              <a:tblGrid>
                <a:gridCol w="4183380"/>
                <a:gridCol w="3660457"/>
                <a:gridCol w="2614613"/>
              </a:tblGrid>
              <a:tr h="496661">
                <a:tc>
                  <a:txBody>
                    <a:bodyPr lIns="114300" tIns="76200" rIns="95250" bIns="57150">
                      <a:noAutofit/>
                    </a:bodyPr>
                    <a:lstStyle/>
                    <a:p>
                      <a:r>
                        <a:rPr sz="1650" b="1">
                          <a:solidFill>
                            <a:srgbClr val="FFFFFF"/>
                          </a:solidFill>
                          <a:latin typeface="DM Sans"/>
                          <a:ea typeface="DM Sans"/>
                          <a:cs typeface="DM Sans"/>
                        </a:rPr>
                        <a:t>Étape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Forme hors batch</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Paramètres</a:t>
                      </a:r>
                    </a:p>
                  </a:txBody>
                  <a:tcPr marL="91440" marR="91440" marT="45720" marB="45720" anchor="ctr">
                    <a:solidFill>
                      <a:srgbClr val="0A1047"/>
                    </a:solidFill>
                  </a:tcPr>
                </a:tc>
              </a:tr>
              <a:tr h="496661">
                <a:tc>
                  <a:txBody>
                    <a:bodyPr lIns="114300" tIns="76200" rIns="95250" bIns="57150">
                      <a:noAutofit/>
                    </a:bodyPr>
                    <a:lstStyle/>
                    <a:p>
                      <a:r>
                        <a:rPr sz="1575" b="0">
                          <a:solidFill>
                            <a:srgbClr val="374151"/>
                          </a:solidFill>
                          <a:latin typeface="DM Sans"/>
                          <a:ea typeface="DM Sans"/>
                          <a:cs typeface="DM Sans"/>
                        </a:rPr>
                        <a:t>Conv 3×3 + ReLU</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8 × 8 × 8</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80</a:t>
                      </a:r>
                    </a:p>
                  </a:txBody>
                  <a:tcPr marL="91440" marR="91440" marT="45720" marB="45720" anchor="ctr">
                    <a:solidFill>
                      <a:srgbClr val="F6F7F9"/>
                    </a:solidFill>
                  </a:tcPr>
                </a:tc>
              </a:tr>
              <a:tr h="496661">
                <a:tc>
                  <a:txBody>
                    <a:bodyPr lIns="114300" tIns="76200" rIns="95250" bIns="57150">
                      <a:noAutofit/>
                    </a:bodyPr>
                    <a:lstStyle/>
                    <a:p>
                      <a:r>
                        <a:rPr sz="1575" b="0">
                          <a:solidFill>
                            <a:srgbClr val="374151"/>
                          </a:solidFill>
                          <a:latin typeface="DM Sans"/>
                          <a:ea typeface="DM Sans"/>
                          <a:cs typeface="DM Sans"/>
                        </a:rPr>
                        <a:t>MaxPool 2×2</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8 × 4 × 4</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0</a:t>
                      </a:r>
                    </a:p>
                  </a:txBody>
                  <a:tcPr marL="91440" marR="91440" marT="45720" marB="45720" anchor="ctr">
                    <a:solidFill>
                      <a:srgbClr val="FFFFFF"/>
                    </a:solidFill>
                  </a:tcPr>
                </a:tc>
              </a:tr>
              <a:tr h="496661">
                <a:tc>
                  <a:txBody>
                    <a:bodyPr lIns="114300" tIns="76200" rIns="95250" bIns="57150">
                      <a:noAutofit/>
                    </a:bodyPr>
                    <a:lstStyle/>
                    <a:p>
                      <a:r>
                        <a:rPr sz="1575" b="0">
                          <a:solidFill>
                            <a:srgbClr val="374151"/>
                          </a:solidFill>
                          <a:latin typeface="DM Sans"/>
                          <a:ea typeface="DM Sans"/>
                          <a:cs typeface="DM Sans"/>
                        </a:rPr>
                        <a:t>Conv 3×3 + ReLU</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16 × 4 × 4</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1 168</a:t>
                      </a:r>
                    </a:p>
                  </a:txBody>
                  <a:tcPr marL="91440" marR="91440" marT="45720" marB="45720" anchor="ctr">
                    <a:solidFill>
                      <a:srgbClr val="F6F7F9"/>
                    </a:solidFill>
                  </a:tcPr>
                </a:tc>
              </a:tr>
              <a:tr h="496661">
                <a:tc>
                  <a:txBody>
                    <a:bodyPr lIns="114300" tIns="76200" rIns="95250" bIns="57150">
                      <a:noAutofit/>
                    </a:bodyPr>
                    <a:lstStyle/>
                    <a:p>
                      <a:r>
                        <a:rPr sz="1575" b="0">
                          <a:solidFill>
                            <a:srgbClr val="374151"/>
                          </a:solidFill>
                          <a:latin typeface="DM Sans"/>
                          <a:ea typeface="DM Sans"/>
                          <a:cs typeface="DM Sans"/>
                        </a:rPr>
                        <a:t>MaxPool + flatten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64</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0</a:t>
                      </a:r>
                    </a:p>
                  </a:txBody>
                  <a:tcPr marL="91440" marR="91440" marT="45720" marB="45720" anchor="ctr">
                    <a:solidFill>
                      <a:srgbClr val="FFFFFF"/>
                    </a:solidFill>
                  </a:tcPr>
                </a:tc>
              </a:tr>
              <a:tr h="496661">
                <a:tc>
                  <a:txBody>
                    <a:bodyPr lIns="114300" tIns="76200" rIns="95250" bIns="57150">
                      <a:noAutofit/>
                    </a:bodyPr>
                    <a:lstStyle/>
                    <a:p>
                      <a:r>
                        <a:rPr sz="1575" b="0">
                          <a:solidFill>
                            <a:srgbClr val="374151"/>
                          </a:solidFill>
                          <a:latin typeface="DM Sans"/>
                          <a:ea typeface="DM Sans"/>
                          <a:cs typeface="DM Sans"/>
                        </a:rPr>
                        <a:t>Linear 64 → 10</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10 logits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650</a:t>
                      </a:r>
                    </a:p>
                  </a:txBody>
                  <a:tcPr marL="91440" marR="91440" marT="45720" marB="45720" anchor="ctr">
                    <a:solidFill>
                      <a:srgbClr val="F6F7F9"/>
                    </a:solidFill>
                  </a:tcPr>
                </a:tc>
              </a:tr>
              <a:tr h="496661">
                <a:tc>
                  <a:txBody>
                    <a:bodyPr lIns="114300" tIns="76200" rIns="95250" bIns="57150">
                      <a:noAutofit/>
                    </a:bodyPr>
                    <a:lstStyle/>
                    <a:p>
                      <a:r>
                        <a:rPr sz="1575" b="0">
                          <a:solidFill>
                            <a:srgbClr val="374151"/>
                          </a:solidFill>
                          <a:latin typeface="DM Sans"/>
                          <a:ea typeface="DM Sans"/>
                          <a:cs typeface="DM Sans"/>
                        </a:rPr>
                        <a:t>Total</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1 898</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8f37af993c54f3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7fd0b246a6f499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B956CDC-BC69-46D7-9528-5AA0829D3C6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69 / 135</a:t>
            </a:r>
          </a:p>
        </p:txBody>
      </p:sp>
      <p:sp>
        <p:nvSpPr>
          <p:cNvPr id="159" name="course-text">
            <a:extLst xmlns:a="http://schemas.openxmlformats.org/drawingml/2006/main">
              <a:ext uri="{FF2B5EF4-FFF2-40B4-BE49-F238E27FC236}">
                <a16:creationId xmlns:a16="http://schemas.microsoft.com/office/drawing/2014/main" id="{FED8BDC8-53D4-4AE2-85D1-7B6AB79FAAD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CONVOLUTION 1×1 ET AGRÉGATION GLOBALE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2a57b4b2e084ecb">
            <a:extLst>
              <a:ext uri="{96DAC541-7B7A-43D3-8B79-37D633B846F1}">
                <asvg:svgBlip xmlns:asvg="http://schemas.microsoft.com/office/drawing/2016/SVG/main" r:embed="Rf06c2fe517874829"/>
              </a:ext>
            </a:extLst>
          </a:blip>
          <a:stretch xmlns:a="http://schemas.openxmlformats.org/drawingml/2006/main"/>
        </p:blipFill>
        <p:spPr>
          <a:xfrm xmlns:a="http://schemas.openxmlformats.org/drawingml/2006/main">
            <a:off x="933450" y="1809750"/>
            <a:ext cx="6891164" cy="86965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A3D48754-642B-4DE9-A328-F2758887950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convolution 1×1 mélange les canaux à chaque position.</a:t>
            </a:r>
          </a:p>
        </p:txBody>
      </p:sp>
      <p:sp>
        <p:nvSpPr>
          <p:cNvPr id="162" name="course-text">
            <a:extLst xmlns:a="http://schemas.openxmlformats.org/drawingml/2006/main">
              <a:ext uri="{FF2B5EF4-FFF2-40B4-BE49-F238E27FC236}">
                <a16:creationId xmlns:a16="http://schemas.microsoft.com/office/drawing/2014/main" id="{BD9AE26C-E991-4237-9134-51DD0DC360CA}"/>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Elle peut changer la largeur sans regarder les pixels voisins.</a:t>
            </a:r>
          </a:p>
        </p:txBody>
      </p:sp>
      <p:sp>
        <p:nvSpPr>
          <p:cNvPr id="163" name="course-text">
            <a:extLst xmlns:a="http://schemas.openxmlformats.org/drawingml/2006/main">
              <a:ext uri="{FF2B5EF4-FFF2-40B4-BE49-F238E27FC236}">
                <a16:creationId xmlns:a16="http://schemas.microsoft.com/office/drawing/2014/main" id="{DBA19C7D-1421-4893-AA9C-C473961EBAD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Global average pooling transforme chaque carte en une valeur.</a:t>
            </a:r>
          </a:p>
        </p:txBody>
      </p:sp>
    </p:spTree>
    <p:extLst>
      <p:ext uri="{BB962C8B-B14F-4D97-AF65-F5344CB8AC3E}">
        <p14:creationId xmlns:p14="http://schemas.microsoft.com/office/powerpoint/2010/main" val="304421154"/>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db75ac20a3342c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7803e4b8ff7444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8F4EE8F-4FDD-4239-98DD-7F47079A923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70 / 135</a:t>
            </a:r>
          </a:p>
        </p:txBody>
      </p:sp>
      <p:sp>
        <p:nvSpPr>
          <p:cNvPr id="159" name="course-text">
            <a:extLst xmlns:a="http://schemas.openxmlformats.org/drawingml/2006/main">
              <a:ext uri="{FF2B5EF4-FFF2-40B4-BE49-F238E27FC236}">
                <a16:creationId xmlns:a16="http://schemas.microsoft.com/office/drawing/2014/main" id="{69509B6B-E05D-4F2A-AE84-710601458D6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BATCHNORM DANS UN CNN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5682e3afa3df4d52">
            <a:extLst>
              <a:ext uri="{96DAC541-7B7A-43D3-8B79-37D633B846F1}">
                <asvg:svgBlip xmlns:asvg="http://schemas.microsoft.com/office/drawing/2016/SVG/main" r:embed="R95f62c50c0ff411e"/>
              </a:ext>
            </a:extLst>
          </a:blip>
          <a:stretch xmlns:a="http://schemas.openxmlformats.org/drawingml/2006/main"/>
        </p:blipFill>
        <p:spPr>
          <a:xfrm xmlns:a="http://schemas.openxmlformats.org/drawingml/2006/main">
            <a:off x="933450" y="1809750"/>
            <a:ext cx="6419642" cy="89167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19EE2EE8-0C3D-4161-869A-403A2741E3DB}"/>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Au train, les statistiques sont calculées par canal sur B×H×W.</a:t>
            </a:r>
          </a:p>
        </p:txBody>
      </p:sp>
      <p:sp>
        <p:nvSpPr>
          <p:cNvPr id="162" name="course-text">
            <a:extLst xmlns:a="http://schemas.openxmlformats.org/drawingml/2006/main">
              <a:ext uri="{FF2B5EF4-FFF2-40B4-BE49-F238E27FC236}">
                <a16:creationId xmlns:a16="http://schemas.microsoft.com/office/drawing/2014/main" id="{28311A36-454C-49BD-844E-DF3D4903A44E}"/>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Des statistiques mobiles sont utilisées à l’évaluation standard.</a:t>
            </a:r>
          </a:p>
        </p:txBody>
      </p:sp>
      <p:sp>
        <p:nvSpPr>
          <p:cNvPr id="163" name="course-text">
            <a:extLst xmlns:a="http://schemas.openxmlformats.org/drawingml/2006/main">
              <a:ext uri="{FF2B5EF4-FFF2-40B4-BE49-F238E27FC236}">
                <a16:creationId xmlns:a16="http://schemas.microsoft.com/office/drawing/2014/main" id="{F778A37F-8A99-41C3-845D-BF1C9F92771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petit batch ou un changement de domaine peut perturber ce mécanisme.</a:t>
            </a:r>
          </a:p>
        </p:txBody>
      </p:sp>
    </p:spTree>
    <p:extLst>
      <p:ext uri="{BB962C8B-B14F-4D97-AF65-F5344CB8AC3E}">
        <p14:creationId xmlns:p14="http://schemas.microsoft.com/office/powerpoint/2010/main" val="304421154"/>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7e7110931ad48a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0c3b24de15c4ab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B2EA335-3237-47BE-9A2B-0302E547D68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71 / 135</a:t>
            </a:r>
          </a:p>
        </p:txBody>
      </p:sp>
      <p:sp>
        <p:nvSpPr>
          <p:cNvPr id="159" name="course-text">
            <a:extLst xmlns:a="http://schemas.openxmlformats.org/drawingml/2006/main">
              <a:ext uri="{FF2B5EF4-FFF2-40B4-BE49-F238E27FC236}">
                <a16:creationId xmlns:a16="http://schemas.microsoft.com/office/drawing/2014/main" id="{6FC56D5E-E14A-4744-9EF9-5AFA70B295B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CONNEXIONS RÉSIDUELLES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8a4b7bcacf44ba1">
            <a:extLst>
              <a:ext uri="{96DAC541-7B7A-43D3-8B79-37D633B846F1}">
                <asvg:svgBlip xmlns:asvg="http://schemas.microsoft.com/office/drawing/2016/SVG/main" r:embed="R2944d8340caa432b"/>
              </a:ext>
            </a:extLst>
          </a:blip>
          <a:stretch xmlns:a="http://schemas.openxmlformats.org/drawingml/2006/main"/>
        </p:blipFill>
        <p:spPr>
          <a:xfrm xmlns:a="http://schemas.openxmlformats.org/drawingml/2006/main">
            <a:off x="933450" y="1809750"/>
            <a:ext cx="4485986" cy="68959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2FDA0FBA-86CE-4933-9983-239D5E03BBD4}"/>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bloc apprend une correction F(x) ajoutée à l’entrée.</a:t>
            </a:r>
          </a:p>
        </p:txBody>
      </p:sp>
      <p:sp>
        <p:nvSpPr>
          <p:cNvPr id="162" name="course-text">
            <a:extLst xmlns:a="http://schemas.openxmlformats.org/drawingml/2006/main">
              <a:ext uri="{FF2B5EF4-FFF2-40B4-BE49-F238E27FC236}">
                <a16:creationId xmlns:a16="http://schemas.microsoft.com/office/drawing/2014/main" id="{EE07EC0E-41F0-4C42-805B-3254E28E812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L’addition exige des formes compatibles.</a:t>
            </a:r>
          </a:p>
        </p:txBody>
      </p:sp>
      <p:sp>
        <p:nvSpPr>
          <p:cNvPr id="163" name="course-text">
            <a:extLst xmlns:a="http://schemas.openxmlformats.org/drawingml/2006/main">
              <a:ext uri="{FF2B5EF4-FFF2-40B4-BE49-F238E27FC236}">
                <a16:creationId xmlns:a16="http://schemas.microsoft.com/office/drawing/2014/main" id="{CE3D59DD-961E-41DC-8810-11505CFAD9B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chemin identité contribue directement à la dérivée.</a:t>
            </a:r>
          </a:p>
        </p:txBody>
      </p:sp>
    </p:spTree>
    <p:extLst>
      <p:ext uri="{BB962C8B-B14F-4D97-AF65-F5344CB8AC3E}">
        <p14:creationId xmlns:p14="http://schemas.microsoft.com/office/powerpoint/2010/main" val="304421154"/>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71c5e7c7d78431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7cb4dc9d1f7419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4C95FE3-73B9-45C8-9837-0F59142BC7C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72 / 135</a:t>
            </a:r>
          </a:p>
        </p:txBody>
      </p:sp>
      <p:sp>
        <p:nvSpPr>
          <p:cNvPr id="159" name="course-text">
            <a:extLst xmlns:a="http://schemas.openxmlformats.org/drawingml/2006/main">
              <a:ext uri="{FF2B5EF4-FFF2-40B4-BE49-F238E27FC236}">
                <a16:creationId xmlns:a16="http://schemas.microsoft.com/office/drawing/2014/main" id="{6B5F30A4-FBEB-4E9D-B39D-00024F2BD22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AUGMENTER SANS CHANGER LA CIBLE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7776d70162ff4590">
            <a:extLst>
              <a:ext uri="{96DAC541-7B7A-43D3-8B79-37D633B846F1}">
                <asvg:svgBlip xmlns:asvg="http://schemas.microsoft.com/office/drawing/2016/SVG/main" r:embed="Rfb0f8e2a1cc0462c"/>
              </a:ext>
            </a:extLst>
          </a:blip>
          <a:stretch xmlns:a="http://schemas.openxmlformats.org/drawingml/2006/main"/>
        </p:blipFill>
        <p:spPr>
          <a:xfrm xmlns:a="http://schemas.openxmlformats.org/drawingml/2006/main">
            <a:off x="933450" y="1809750"/>
            <a:ext cx="4316185" cy="36811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77BEFC7-99ED-4275-8A1D-296AB7E411E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augmentation encode une transformation supposée pertinente.</a:t>
            </a:r>
          </a:p>
        </p:txBody>
      </p:sp>
      <p:sp>
        <p:nvSpPr>
          <p:cNvPr id="162" name="course-text">
            <a:extLst xmlns:a="http://schemas.openxmlformats.org/drawingml/2006/main">
              <a:ext uri="{FF2B5EF4-FFF2-40B4-BE49-F238E27FC236}">
                <a16:creationId xmlns:a16="http://schemas.microsoft.com/office/drawing/2014/main" id="{2133AA09-EF1F-46EF-910C-FF90DA543E50}"/>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Elle s’applique au train ; l’évaluation garde un protocole défini.</a:t>
            </a:r>
          </a:p>
        </p:txBody>
      </p:sp>
      <p:sp>
        <p:nvSpPr>
          <p:cNvPr id="163" name="course-text">
            <a:extLst xmlns:a="http://schemas.openxmlformats.org/drawingml/2006/main">
              <a:ext uri="{FF2B5EF4-FFF2-40B4-BE49-F238E27FC236}">
                <a16:creationId xmlns:a16="http://schemas.microsoft.com/office/drawing/2014/main" id="{8FCFE448-7C21-48BD-AE4A-098E55F0786F}"/>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validité dépend de la tâche, pas de la popularité de la transformation.</a:t>
            </a:r>
          </a:p>
        </p:txBody>
      </p:sp>
    </p:spTree>
    <p:extLst>
      <p:ext uri="{BB962C8B-B14F-4D97-AF65-F5344CB8AC3E}">
        <p14:creationId xmlns:p14="http://schemas.microsoft.com/office/powerpoint/2010/main" val="304421154"/>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36bf20221388405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14e2d3390262423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A820968-642E-4C0B-9B8C-5E85364BA58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73 / 135</a:t>
            </a:r>
          </a:p>
        </p:txBody>
      </p:sp>
      <p:sp>
        <p:nvSpPr>
          <p:cNvPr id="159" name="course-text">
            <a:extLst xmlns:a="http://schemas.openxmlformats.org/drawingml/2006/main">
              <a:ext uri="{FF2B5EF4-FFF2-40B4-BE49-F238E27FC236}">
                <a16:creationId xmlns:a16="http://schemas.microsoft.com/office/drawing/2014/main" id="{3BDB6820-8420-49AB-A785-B1162709B0A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JEU DE DONNÉES FAIT PARTIE DU MODÈLE</a:t>
            </a:r>
          </a:p>
        </p:txBody>
      </p:sp>
      <p:sp>
        <p:nvSpPr>
          <p:cNvPr id="160" name="course-text">
            <a:extLst xmlns:a="http://schemas.openxmlformats.org/drawingml/2006/main">
              <a:ext uri="{FF2B5EF4-FFF2-40B4-BE49-F238E27FC236}">
                <a16:creationId xmlns:a16="http://schemas.microsoft.com/office/drawing/2014/main" id="{1165FD13-C1AC-4140-B50B-2E0198069795}"/>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Vérifier classes, doublons, résolution, normalisation et ambiguïtés.</a:t>
            </a:r>
          </a:p>
        </p:txBody>
      </p:sp>
      <p:sp>
        <p:nvSpPr>
          <p:cNvPr id="161" name="course-text">
            <a:extLst xmlns:a="http://schemas.openxmlformats.org/drawingml/2006/main">
              <a:ext uri="{FF2B5EF4-FFF2-40B4-BE49-F238E27FC236}">
                <a16:creationId xmlns:a16="http://schemas.microsoft.com/office/drawing/2014/main" id="{9A1E01DB-2489-4FC6-BD47-CA20F6F3A9E9}"/>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Définir l’unité indépendante : image, personne, appareil ou document.</a:t>
            </a:r>
          </a:p>
        </p:txBody>
      </p:sp>
      <p:sp>
        <p:nvSpPr>
          <p:cNvPr id="162" name="course-text">
            <a:extLst xmlns:a="http://schemas.openxmlformats.org/drawingml/2006/main">
              <a:ext uri="{FF2B5EF4-FFF2-40B4-BE49-F238E27FC236}">
                <a16:creationId xmlns:a16="http://schemas.microsoft.com/office/drawing/2014/main" id="{5919565E-19DF-4D2B-AAF0-AEE7F7AE0490}"/>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Documenter les limites du jeu de démonstration.</a:t>
            </a:r>
          </a:p>
        </p:txBody>
      </p:sp>
    </p:spTree>
    <p:extLst>
      <p:ext uri="{BB962C8B-B14F-4D97-AF65-F5344CB8AC3E}">
        <p14:creationId xmlns:p14="http://schemas.microsoft.com/office/powerpoint/2010/main" val="304421154"/>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f2455d7fce1b49f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d5fc144ec5f3496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28D304F-577C-458D-8A90-49910E14C75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74 / 135</a:t>
            </a:r>
          </a:p>
        </p:txBody>
      </p:sp>
      <p:sp>
        <p:nvSpPr>
          <p:cNvPr id="159" name="course-text">
            <a:extLst xmlns:a="http://schemas.openxmlformats.org/drawingml/2006/main">
              <a:ext uri="{FF2B5EF4-FFF2-40B4-BE49-F238E27FC236}">
                <a16:creationId xmlns:a16="http://schemas.microsoft.com/office/drawing/2014/main" id="{E096D1B8-D637-4D69-9E1E-86A7A75B35E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TRAIN, VALIDATION ET TEST : QUI DÉCIDE ?</a:t>
            </a:r>
          </a:p>
        </p:txBody>
      </p:sp>
      <p:graphicFrame>
        <p:nvGraphicFramePr>
          <p:cNvPr id="173" name=""/>
          <p:cNvGraphicFramePr/>
          <p:nvPr/>
        </p:nvGraphicFramePr>
        <p:xfrm>
          <a:off xmlns:a="http://schemas.openxmlformats.org/drawingml/2006/main" x="876300" y="1762125"/>
          <a:ext xmlns:a="http://schemas.openxmlformats.org/drawingml/2006/main" cx="10458450" cy="2524125"/>
        </p:xfrm>
        <a:graphic xmlns:a="http://schemas.openxmlformats.org/drawingml/2006/main">
          <a:graphicData uri="http://schemas.openxmlformats.org/drawingml/2006/table">
            <a:tbl>
              <a:tblPr/>
              <a:tblGrid>
                <a:gridCol w="1987106"/>
                <a:gridCol w="3869627"/>
                <a:gridCol w="4601718"/>
              </a:tblGrid>
              <a:tr h="504825">
                <a:tc>
                  <a:txBody>
                    <a:bodyPr lIns="114300" tIns="76200" rIns="95250" bIns="57150">
                      <a:noAutofit/>
                    </a:bodyPr>
                    <a:lstStyle/>
                    <a:p>
                      <a:r>
                        <a:rPr sz="1650" b="1">
                          <a:solidFill>
                            <a:srgbClr val="FFFFFF"/>
                          </a:solidFill>
                          <a:latin typeface="DM Sans"/>
                          <a:ea typeface="DM Sans"/>
                          <a:cs typeface="DM Sans"/>
                        </a:rPr>
                        <a:t>Partition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Utilisation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À éviter</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Train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Poids et statistiques apprises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Information issue du test</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Validation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Modèle, hyperparamètres et checkpoint</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Confondre sélection et estimation finale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Test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Évaluer la procédure déjà choisie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Choisir les réglages selon son score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Nouvelle distribution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Vérifier le transfert externe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La remplacer par le seul test interne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218865f7512485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1c3a3c5230d4b1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4979E4D-266E-4D12-8759-059EE6B4B4F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75 / 135</a:t>
            </a:r>
          </a:p>
        </p:txBody>
      </p:sp>
      <p:sp>
        <p:nvSpPr>
          <p:cNvPr id="159" name="course-text">
            <a:extLst xmlns:a="http://schemas.openxmlformats.org/drawingml/2006/main">
              <a:ext uri="{FF2B5EF4-FFF2-40B4-BE49-F238E27FC236}">
                <a16:creationId xmlns:a16="http://schemas.microsoft.com/office/drawing/2014/main" id="{DB8FDC55-CB40-49E2-B162-86C94079821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MÉTRIQUES ET MATRICE DE CONFUSION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7a87596670bb47ec">
            <a:extLst>
              <a:ext uri="{96DAC541-7B7A-43D3-8B79-37D633B846F1}">
                <asvg:svgBlip xmlns:asvg="http://schemas.microsoft.com/office/drawing/2016/SVG/main" r:embed="R9d629951166742d0"/>
              </a:ext>
            </a:extLst>
          </a:blip>
          <a:stretch xmlns:a="http://schemas.openxmlformats.org/drawingml/2006/main"/>
        </p:blipFill>
        <p:spPr>
          <a:xfrm xmlns:a="http://schemas.openxmlformats.org/drawingml/2006/main">
            <a:off x="933450" y="1809750"/>
            <a:ext cx="8360283" cy="70715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186BC23E-AC9C-4D70-ABC7-AAF37E2C79FB}"/>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L’accuracy agrège toutes les décisions correctes.</a:t>
            </a:r>
          </a:p>
        </p:txBody>
      </p:sp>
      <p:sp>
        <p:nvSpPr>
          <p:cNvPr id="162" name="course-text">
            <a:extLst xmlns:a="http://schemas.openxmlformats.org/drawingml/2006/main">
              <a:ext uri="{FF2B5EF4-FFF2-40B4-BE49-F238E27FC236}">
                <a16:creationId xmlns:a16="http://schemas.microsoft.com/office/drawing/2014/main" id="{20E5C0B4-7847-4010-86A1-D6627B7DE8EB}"/>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rappel et la précision se lisent classe par classe.</a:t>
            </a:r>
          </a:p>
        </p:txBody>
      </p:sp>
      <p:sp>
        <p:nvSpPr>
          <p:cNvPr id="163" name="course-text">
            <a:extLst xmlns:a="http://schemas.openxmlformats.org/drawingml/2006/main">
              <a:ext uri="{FF2B5EF4-FFF2-40B4-BE49-F238E27FC236}">
                <a16:creationId xmlns:a16="http://schemas.microsoft.com/office/drawing/2014/main" id="{47CEDB15-6A26-4C9E-BAD5-1910E3166304}"/>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Macro-F1 donne le même poids aux classes, sans effacer toutes les limites.</a:t>
            </a:r>
          </a:p>
        </p:txBody>
      </p:sp>
    </p:spTree>
    <p:extLst>
      <p:ext uri="{BB962C8B-B14F-4D97-AF65-F5344CB8AC3E}">
        <p14:creationId xmlns:p14="http://schemas.microsoft.com/office/powerpoint/2010/main" val="304421154"/>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e77a7a0b8a44e7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560abc0d84f4e4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43ECA5F-9BBF-4A32-9227-8BE01D7F619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76 / 135</a:t>
            </a:r>
          </a:p>
        </p:txBody>
      </p:sp>
      <p:sp>
        <p:nvSpPr>
          <p:cNvPr id="159" name="course-text">
            <a:extLst xmlns:a="http://schemas.openxmlformats.org/drawingml/2006/main">
              <a:ext uri="{FF2B5EF4-FFF2-40B4-BE49-F238E27FC236}">
                <a16:creationId xmlns:a16="http://schemas.microsoft.com/office/drawing/2014/main" id="{FAA13903-4ACF-407A-83E8-A8D10E255C5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TRANSFERT : RÉUTILISER UNE REPRÉSENTATION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76618f0fc1284b8d">
            <a:extLst>
              <a:ext uri="{96DAC541-7B7A-43D3-8B79-37D633B846F1}">
                <asvg:svgBlip xmlns:asvg="http://schemas.microsoft.com/office/drawing/2016/SVG/main" r:embed="R98794b2ea29541e1"/>
              </a:ext>
            </a:extLst>
          </a:blip>
          <a:stretch xmlns:a="http://schemas.openxmlformats.org/drawingml/2006/main"/>
        </p:blipFill>
        <p:spPr>
          <a:xfrm xmlns:a="http://schemas.openxmlformats.org/drawingml/2006/main">
            <a:off x="933450" y="1809750"/>
            <a:ext cx="6793717" cy="34670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77025123-C5CF-40B6-B5AC-DFAFA4317125}"/>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backbone appris sur une tâche source initialise la tâche cible.</a:t>
            </a:r>
          </a:p>
        </p:txBody>
      </p:sp>
      <p:sp>
        <p:nvSpPr>
          <p:cNvPr id="162" name="course-text">
            <a:extLst xmlns:a="http://schemas.openxmlformats.org/drawingml/2006/main">
              <a:ext uri="{FF2B5EF4-FFF2-40B4-BE49-F238E27FC236}">
                <a16:creationId xmlns:a16="http://schemas.microsoft.com/office/drawing/2014/main" id="{30D6DFCA-7D31-478A-A08B-DD3B4EB6FAA8}"/>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tête finale est adaptée au nouvel espace de sorties.</a:t>
            </a:r>
          </a:p>
        </p:txBody>
      </p:sp>
      <p:sp>
        <p:nvSpPr>
          <p:cNvPr id="163" name="course-text">
            <a:extLst xmlns:a="http://schemas.openxmlformats.org/drawingml/2006/main">
              <a:ext uri="{FF2B5EF4-FFF2-40B4-BE49-F238E27FC236}">
                <a16:creationId xmlns:a16="http://schemas.microsoft.com/office/drawing/2014/main" id="{5904AAD4-EC6B-458B-BF8A-EFD972604479}"/>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transfert positif dépend de la relation entre source et cible.</a:t>
            </a:r>
          </a:p>
        </p:txBody>
      </p:sp>
    </p:spTree>
    <p:extLst>
      <p:ext uri="{BB962C8B-B14F-4D97-AF65-F5344CB8AC3E}">
        <p14:creationId xmlns:p14="http://schemas.microsoft.com/office/powerpoint/2010/main" val="304421154"/>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4de3dbb4838543c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c78112bb241d465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95C69DE-C917-4A2A-8067-CE5611E6D2F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77 / 135</a:t>
            </a:r>
          </a:p>
        </p:txBody>
      </p:sp>
      <p:sp>
        <p:nvSpPr>
          <p:cNvPr id="159" name="course-text">
            <a:extLst xmlns:a="http://schemas.openxmlformats.org/drawingml/2006/main">
              <a:ext uri="{FF2B5EF4-FFF2-40B4-BE49-F238E27FC236}">
                <a16:creationId xmlns:a16="http://schemas.microsoft.com/office/drawing/2014/main" id="{C3D657B7-7D24-473B-9CF8-874BDE11DD4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TROIS STRATÉGIES DE TRANSFERT</a:t>
            </a:r>
          </a:p>
        </p:txBody>
      </p:sp>
      <p:graphicFrame>
        <p:nvGraphicFramePr>
          <p:cNvPr id="173" name=""/>
          <p:cNvGraphicFramePr/>
          <p:nvPr/>
        </p:nvGraphicFramePr>
        <p:xfrm>
          <a:off xmlns:a="http://schemas.openxmlformats.org/drawingml/2006/main" x="876300" y="1762125"/>
          <a:ext xmlns:a="http://schemas.openxmlformats.org/drawingml/2006/main" cx="10458450" cy="2019300"/>
        </p:xfrm>
        <a:graphic xmlns:a="http://schemas.openxmlformats.org/drawingml/2006/main">
          <a:graphicData uri="http://schemas.openxmlformats.org/drawingml/2006/table">
            <a:tbl>
              <a:tblPr/>
              <a:tblGrid>
                <a:gridCol w="2405444"/>
                <a:gridCol w="2300859"/>
                <a:gridCol w="1568768"/>
                <a:gridCol w="4183380"/>
              </a:tblGrid>
              <a:tr h="504825">
                <a:tc>
                  <a:txBody>
                    <a:bodyPr lIns="114300" tIns="76200" rIns="95250" bIns="57150">
                      <a:noAutofit/>
                    </a:bodyPr>
                    <a:lstStyle/>
                    <a:p>
                      <a:r>
                        <a:rPr sz="1650" b="1">
                          <a:solidFill>
                            <a:srgbClr val="FFFFFF"/>
                          </a:solidFill>
                          <a:latin typeface="DM Sans"/>
                          <a:ea typeface="DM Sans"/>
                          <a:cs typeface="DM Sans"/>
                        </a:rPr>
                        <a:t>Stratégie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Backbone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Tête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Usage / limite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Depuis zéro</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Aléatoire, entraîné</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Entraînée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Référence de comparaison</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Features gelées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Source, figé</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Entraînée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Peu de labels, capacité d’adaptation limitée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Fine-tuning</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Source, adapté</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Entraînée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Plus flexible, risque de surapprentissage</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80958439aad4cd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b3bc3c8ed0e41c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B62DE84-286E-4469-BDC7-E665DA30E23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78 / 135</a:t>
            </a:r>
          </a:p>
        </p:txBody>
      </p:sp>
      <p:sp>
        <p:nvSpPr>
          <p:cNvPr id="159" name="course-text">
            <a:extLst xmlns:a="http://schemas.openxmlformats.org/drawingml/2006/main">
              <a:ext uri="{FF2B5EF4-FFF2-40B4-BE49-F238E27FC236}">
                <a16:creationId xmlns:a16="http://schemas.microsoft.com/office/drawing/2014/main" id="{AD17CE9F-D543-4066-96CF-C81B344448E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FINE-TUNING : UNE PROCÉDURE EXPLICITE</a:t>
            </a:r>
          </a:p>
        </p:txBody>
      </p:sp>
      <p:sp>
        <p:nvSpPr>
          <p:cNvPr id="160" name="course-text">
            <a:extLst xmlns:a="http://schemas.openxmlformats.org/drawingml/2006/main">
              <a:ext uri="{FF2B5EF4-FFF2-40B4-BE49-F238E27FC236}">
                <a16:creationId xmlns:a16="http://schemas.microsoft.com/office/drawing/2014/main" id="{42933B35-1F4E-4307-90E9-E636C3827ABA}"/>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Initialiser le backbone source et une nouvelle tête.</a:t>
            </a:r>
          </a:p>
        </p:txBody>
      </p:sp>
      <p:sp>
        <p:nvSpPr>
          <p:cNvPr id="161" name="course-text">
            <a:extLst xmlns:a="http://schemas.openxmlformats.org/drawingml/2006/main">
              <a:ext uri="{FF2B5EF4-FFF2-40B4-BE49-F238E27FC236}">
                <a16:creationId xmlns:a16="http://schemas.microsoft.com/office/drawing/2014/main" id="{6B4227F3-DFED-4FC9-8791-0AD854AAFAEB}"/>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Entraîner la tête avec le backbone gelé.</a:t>
            </a:r>
          </a:p>
        </p:txBody>
      </p:sp>
      <p:sp>
        <p:nvSpPr>
          <p:cNvPr id="162" name="course-text">
            <a:extLst xmlns:a="http://schemas.openxmlformats.org/drawingml/2006/main">
              <a:ext uri="{FF2B5EF4-FFF2-40B4-BE49-F238E27FC236}">
                <a16:creationId xmlns:a16="http://schemas.microsoft.com/office/drawing/2014/main" id="{D735EAD2-E402-42F6-9CCE-DC0EC23F2318}"/>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Dégeler les couches choisies et réduire leur taux d’apprentissage.</a:t>
            </a:r>
          </a:p>
        </p:txBody>
      </p:sp>
      <p:sp>
        <p:nvSpPr>
          <p:cNvPr id="163" name="course-text">
            <a:extLst xmlns:a="http://schemas.openxmlformats.org/drawingml/2006/main">
              <a:ext uri="{FF2B5EF4-FFF2-40B4-BE49-F238E27FC236}">
                <a16:creationId xmlns:a16="http://schemas.microsoft.com/office/drawing/2014/main" id="{9364D7E1-630F-4451-B231-68774DFEB20E}"/>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Sélectionner le checkpoint sur la validation cible.</a:t>
            </a:r>
          </a:p>
        </p:txBody>
      </p:sp>
    </p:spTree>
    <p:extLst>
      <p:ext uri="{BB962C8B-B14F-4D97-AF65-F5344CB8AC3E}">
        <p14:creationId xmlns:p14="http://schemas.microsoft.com/office/powerpoint/2010/main" val="304421154"/>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e18e2f2d5e3479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d082849a36d430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D8C12EF-8428-4313-96B4-91B8ED7874D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79 / 135</a:t>
            </a:r>
          </a:p>
        </p:txBody>
      </p:sp>
      <p:sp>
        <p:nvSpPr>
          <p:cNvPr id="159" name="course-text">
            <a:extLst xmlns:a="http://schemas.openxmlformats.org/drawingml/2006/main">
              <a:ext uri="{FF2B5EF4-FFF2-40B4-BE49-F238E27FC236}">
                <a16:creationId xmlns:a16="http://schemas.microsoft.com/office/drawing/2014/main" id="{DC01F978-2881-4D6D-8376-80B887719FF7}"/>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GEL DES POIDS ET MODE ÉVALUATION</a:t>
            </a:r>
          </a:p>
        </p:txBody>
      </p:sp>
      <p:sp>
        <p:nvSpPr>
          <p:cNvPr id="160" name="course-text">
            <a:extLst xmlns:a="http://schemas.openxmlformats.org/drawingml/2006/main">
              <a:ext uri="{FF2B5EF4-FFF2-40B4-BE49-F238E27FC236}">
                <a16:creationId xmlns:a16="http://schemas.microsoft.com/office/drawing/2014/main" id="{69479684-9196-44DA-BED3-BB532F61A254}"/>
              </a:ext>
            </a:extLst>
          </p:cNvPr>
          <p:cNvSpPr>
            <a:spLocks xmlns:a="http://schemas.openxmlformats.org/drawingml/2006/main" noGrp="1"/>
          </p:cNvSpPr>
          <p:nvPr/>
        </p:nvSpPr>
        <p:spPr>
          <a:xfrm xmlns:a="http://schemas.openxmlformats.org/drawingml/2006/main">
            <a:off x="933450" y="1771650"/>
            <a:ext cx="10382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for p in backbone.parameters():</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    p.requires_grad_(False)</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backbone.eval()</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optimizer = torch.optim.Adam(head.parameters(), lr=1e-3)</a:t>
            </a:r>
          </a:p>
        </p:txBody>
      </p:sp>
      <p:sp>
        <p:nvSpPr>
          <p:cNvPr id="161" name="course-text">
            <a:extLst xmlns:a="http://schemas.openxmlformats.org/drawingml/2006/main">
              <a:ext uri="{FF2B5EF4-FFF2-40B4-BE49-F238E27FC236}">
                <a16:creationId xmlns:a16="http://schemas.microsoft.com/office/drawing/2014/main" id="{D5728D7B-E890-4F22-84B1-7D0342C569B0}"/>
              </a:ext>
            </a:extLst>
          </p:cNvPr>
          <p:cNvSpPr>
            <a:spLocks xmlns:a="http://schemas.openxmlformats.org/drawingml/2006/main" noGrp="1"/>
          </p:cNvSpPr>
          <p:nvPr/>
        </p:nvSpPr>
        <p:spPr>
          <a:xfrm xmlns:a="http://schemas.openxmlformats.org/drawingml/2006/main">
            <a:off x="933450" y="44386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requires_grad contrôle le calcul des gradients des paramètres.</a:t>
            </a:r>
          </a:p>
        </p:txBody>
      </p:sp>
      <p:sp>
        <p:nvSpPr>
          <p:cNvPr id="162" name="course-text">
            <a:extLst xmlns:a="http://schemas.openxmlformats.org/drawingml/2006/main">
              <a:ext uri="{FF2B5EF4-FFF2-40B4-BE49-F238E27FC236}">
                <a16:creationId xmlns:a16="http://schemas.microsoft.com/office/drawing/2014/main" id="{649E5878-7BE8-4ECE-9FBA-02DAEB3D7382}"/>
              </a:ext>
            </a:extLst>
          </p:cNvPr>
          <p:cNvSpPr>
            <a:spLocks xmlns:a="http://schemas.openxmlformats.org/drawingml/2006/main" noGrp="1"/>
          </p:cNvSpPr>
          <p:nvPr/>
        </p:nvSpPr>
        <p:spPr>
          <a:xfrm xmlns:a="http://schemas.openxmlformats.org/drawingml/2006/main">
            <a:off x="933450" y="48482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eval() contrôle Dropout et les statistiques de normalisation.</a:t>
            </a:r>
          </a:p>
        </p:txBody>
      </p:sp>
      <p:sp>
        <p:nvSpPr>
          <p:cNvPr id="163" name="course-text">
            <a:extLst xmlns:a="http://schemas.openxmlformats.org/drawingml/2006/main">
              <a:ext uri="{FF2B5EF4-FFF2-40B4-BE49-F238E27FC236}">
                <a16:creationId xmlns:a16="http://schemas.microsoft.com/office/drawing/2014/main" id="{6D273ABF-09F0-4267-9BC2-57CF0D94CFE8}"/>
              </a:ext>
            </a:extLst>
          </p:cNvPr>
          <p:cNvSpPr>
            <a:spLocks xmlns:a="http://schemas.openxmlformats.org/drawingml/2006/main" noGrp="1"/>
          </p:cNvSpPr>
          <p:nvPr/>
        </p:nvSpPr>
        <p:spPr>
          <a:xfrm xmlns:a="http://schemas.openxmlformats.org/drawingml/2006/main">
            <a:off x="933450" y="52578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Un backbone gelé peut néanmoins changer de comportement s’il reste en mode train.</a:t>
            </a:r>
          </a:p>
        </p:txBody>
      </p:sp>
    </p:spTree>
    <p:extLst>
      <p:ext uri="{BB962C8B-B14F-4D97-AF65-F5344CB8AC3E}">
        <p14:creationId xmlns:p14="http://schemas.microsoft.com/office/powerpoint/2010/main" val="304421154"/>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b480b3f8c804f0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59707f104f94eb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0EAEE0A-CF24-413E-B652-42F5CB01D12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80 / 135</a:t>
            </a:r>
          </a:p>
        </p:txBody>
      </p:sp>
      <p:sp>
        <p:nvSpPr>
          <p:cNvPr id="159" name="course-text">
            <a:extLst xmlns:a="http://schemas.openxmlformats.org/drawingml/2006/main">
              <a:ext uri="{FF2B5EF4-FFF2-40B4-BE49-F238E27FC236}">
                <a16:creationId xmlns:a16="http://schemas.microsoft.com/office/drawing/2014/main" id="{5E1E6AB1-2EAC-4CE8-A949-4AAFE49376C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UTILISER UN MODÈLE PRÉENTRAÎNÉ PUBLIC</a:t>
            </a:r>
          </a:p>
        </p:txBody>
      </p:sp>
      <p:sp>
        <p:nvSpPr>
          <p:cNvPr id="160" name="course-text">
            <a:extLst xmlns:a="http://schemas.openxmlformats.org/drawingml/2006/main">
              <a:ext uri="{FF2B5EF4-FFF2-40B4-BE49-F238E27FC236}">
                <a16:creationId xmlns:a16="http://schemas.microsoft.com/office/drawing/2014/main" id="{AD26A5D0-EA1F-4099-ABE0-F2D1EBAB8204}"/>
              </a:ext>
            </a:extLst>
          </p:cNvPr>
          <p:cNvSpPr>
            <a:spLocks xmlns:a="http://schemas.openxmlformats.org/drawingml/2006/main" noGrp="1"/>
          </p:cNvSpPr>
          <p:nvPr/>
        </p:nvSpPr>
        <p:spPr>
          <a:xfrm xmlns:a="http://schemas.openxmlformats.org/drawingml/2006/main">
            <a:off x="933450" y="1771650"/>
            <a:ext cx="10382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from torchvision.models import resnet18, ResNet18_Weights</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weights = ResNet18_Weights.IMAGENET1K_V1</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model = resnet18(weights=weights)</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preprocess = weights.transforms()</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model.fc = torch.nn.Linear(model.fc.in_features, K)</a:t>
            </a:r>
          </a:p>
        </p:txBody>
      </p:sp>
      <p:sp>
        <p:nvSpPr>
          <p:cNvPr id="161" name="course-text">
            <a:extLst xmlns:a="http://schemas.openxmlformats.org/drawingml/2006/main">
              <a:ext uri="{FF2B5EF4-FFF2-40B4-BE49-F238E27FC236}">
                <a16:creationId xmlns:a16="http://schemas.microsoft.com/office/drawing/2014/main" id="{886BC221-92BE-4265-AACD-A0D2880ACF1E}"/>
              </a:ext>
            </a:extLst>
          </p:cNvPr>
          <p:cNvSpPr>
            <a:spLocks xmlns:a="http://schemas.openxmlformats.org/drawingml/2006/main" noGrp="1"/>
          </p:cNvSpPr>
          <p:nvPr/>
        </p:nvSpPr>
        <p:spPr>
          <a:xfrm xmlns:a="http://schemas.openxmlformats.org/drawingml/2006/main">
            <a:off x="933450" y="44386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Choisir explicitement la version des poids.</a:t>
            </a:r>
          </a:p>
        </p:txBody>
      </p:sp>
      <p:sp>
        <p:nvSpPr>
          <p:cNvPr id="162" name="course-text">
            <a:extLst xmlns:a="http://schemas.openxmlformats.org/drawingml/2006/main">
              <a:ext uri="{FF2B5EF4-FFF2-40B4-BE49-F238E27FC236}">
                <a16:creationId xmlns:a16="http://schemas.microsoft.com/office/drawing/2014/main" id="{A2D57F71-3780-474B-9EBB-FF9354042646}"/>
              </a:ext>
            </a:extLst>
          </p:cNvPr>
          <p:cNvSpPr>
            <a:spLocks xmlns:a="http://schemas.openxmlformats.org/drawingml/2006/main" noGrp="1"/>
          </p:cNvSpPr>
          <p:nvPr/>
        </p:nvSpPr>
        <p:spPr>
          <a:xfrm xmlns:a="http://schemas.openxmlformats.org/drawingml/2006/main">
            <a:off x="933450" y="48482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Appliquer le prétraitement associé aux poids.</a:t>
            </a:r>
          </a:p>
        </p:txBody>
      </p:sp>
      <p:sp>
        <p:nvSpPr>
          <p:cNvPr id="163" name="course-text">
            <a:extLst xmlns:a="http://schemas.openxmlformats.org/drawingml/2006/main">
              <a:ext uri="{FF2B5EF4-FFF2-40B4-BE49-F238E27FC236}">
                <a16:creationId xmlns:a16="http://schemas.microsoft.com/office/drawing/2014/main" id="{27BE0183-C2FB-4730-A269-68396DD66E21}"/>
              </a:ext>
            </a:extLst>
          </p:cNvPr>
          <p:cNvSpPr>
            <a:spLocks xmlns:a="http://schemas.openxmlformats.org/drawingml/2006/main" noGrp="1"/>
          </p:cNvSpPr>
          <p:nvPr/>
        </p:nvSpPr>
        <p:spPr>
          <a:xfrm xmlns:a="http://schemas.openxmlformats.org/drawingml/2006/main">
            <a:off x="933450" y="52578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Adapter la tête et les classes de la tâche cible.</a:t>
            </a:r>
          </a:p>
        </p:txBody>
      </p:sp>
    </p:spTree>
    <p:extLst>
      <p:ext uri="{BB962C8B-B14F-4D97-AF65-F5344CB8AC3E}">
        <p14:creationId xmlns:p14="http://schemas.microsoft.com/office/powerpoint/2010/main" val="304421154"/>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799c1a2d834e43b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fe6f84894a744cf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E1F7D46-23AB-43FA-90CF-031455B9BCA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81 / 135</a:t>
            </a:r>
          </a:p>
        </p:txBody>
      </p:sp>
      <p:sp>
        <p:nvSpPr>
          <p:cNvPr id="159" name="course-text">
            <a:extLst xmlns:a="http://schemas.openxmlformats.org/drawingml/2006/main">
              <a:ext uri="{FF2B5EF4-FFF2-40B4-BE49-F238E27FC236}">
                <a16:creationId xmlns:a16="http://schemas.microsoft.com/office/drawing/2014/main" id="{65EFB95C-1B03-4E35-BC0A-EE3659661FA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COMPARER DES EXPÉRIENCES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4183380"/>
                <a:gridCol w="6275070"/>
              </a:tblGrid>
              <a:tr h="504825">
                <a:tc>
                  <a:txBody>
                    <a:bodyPr lIns="114300" tIns="76200" rIns="95250" bIns="57150">
                      <a:noAutofit/>
                    </a:bodyPr>
                    <a:lstStyle/>
                    <a:p>
                      <a:r>
                        <a:rPr sz="1650" b="1">
                          <a:solidFill>
                            <a:srgbClr val="FFFFFF"/>
                          </a:solidFill>
                          <a:latin typeface="DM Sans"/>
                          <a:ea typeface="DM Sans"/>
                          <a:cs typeface="DM Sans"/>
                        </a:rPr>
                        <a:t>À conserver</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Pourquoi</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Split et graine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Comparer sur les mêmes observations</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Architecture et paramètres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Identifier la capacité entraînée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Optimiseur, pas et batch</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Reproduire le budget d’apprentissage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Critère de checkpoint</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Comprendre la sélection</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Score, effectifs et temps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Interpréter performance et coût</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b03bdd7c6b0c4d8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702538da500a40e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1AEC14B-E17F-459F-B7EF-E4625DF99E1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82 / 135</a:t>
            </a:r>
          </a:p>
        </p:txBody>
      </p:sp>
      <p:sp>
        <p:nvSpPr>
          <p:cNvPr id="159" name="course-text">
            <a:extLst xmlns:a="http://schemas.openxmlformats.org/drawingml/2006/main">
              <a:ext uri="{FF2B5EF4-FFF2-40B4-BE49-F238E27FC236}">
                <a16:creationId xmlns:a16="http://schemas.microsoft.com/office/drawing/2014/main" id="{FC22D44A-2E4B-4ED7-A8BD-2502C43DCE8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ANALYSE D’ERREURS : REGARDER LES EXEMPLES</a:t>
            </a:r>
          </a:p>
        </p:txBody>
      </p:sp>
      <p:sp>
        <p:nvSpPr>
          <p:cNvPr id="160" name="course-text">
            <a:extLst xmlns:a="http://schemas.openxmlformats.org/drawingml/2006/main">
              <a:ext uri="{FF2B5EF4-FFF2-40B4-BE49-F238E27FC236}">
                <a16:creationId xmlns:a16="http://schemas.microsoft.com/office/drawing/2014/main" id="{14085B1A-483A-4B89-BB6E-8AFEC0A7EC37}"/>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Regrouper les erreurs par classe et par type de difficulté.</a:t>
            </a:r>
          </a:p>
        </p:txBody>
      </p:sp>
      <p:sp>
        <p:nvSpPr>
          <p:cNvPr id="161" name="course-text">
            <a:extLst xmlns:a="http://schemas.openxmlformats.org/drawingml/2006/main">
              <a:ext uri="{FF2B5EF4-FFF2-40B4-BE49-F238E27FC236}">
                <a16:creationId xmlns:a16="http://schemas.microsoft.com/office/drawing/2014/main" id="{C17C46DF-5787-416C-AEE3-C78AE2511D44}"/>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Examiner les cas confiants mais faux.</a:t>
            </a:r>
          </a:p>
        </p:txBody>
      </p:sp>
      <p:sp>
        <p:nvSpPr>
          <p:cNvPr id="162" name="course-text">
            <a:extLst xmlns:a="http://schemas.openxmlformats.org/drawingml/2006/main">
              <a:ext uri="{FF2B5EF4-FFF2-40B4-BE49-F238E27FC236}">
                <a16:creationId xmlns:a16="http://schemas.microsoft.com/office/drawing/2014/main" id="{6CEB8C6C-507B-43CC-9941-25CF383ED37D}"/>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Vérifier annotation, ambiguïté et décalage de distribution.</a:t>
            </a:r>
          </a:p>
        </p:txBody>
      </p:sp>
    </p:spTree>
    <p:extLst>
      <p:ext uri="{BB962C8B-B14F-4D97-AF65-F5344CB8AC3E}">
        <p14:creationId xmlns:p14="http://schemas.microsoft.com/office/powerpoint/2010/main" val="304421154"/>
      </p:ext>
    </p:extLst>
  </p:cSld>
</p:sld>
</file>

<file path=ppt/slides/slide83.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03 · MESURER LE TRANSFERT</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2ef83645ec304d85">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03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Source : digits 0–4. Cible : digits 5–9, avec peu d’exemples étiquetés.</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57a194d68d044216">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Comparer entraînement depuis zéro, features gelées et fine-tuning.</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bc55bc7aa5dd4a17">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Même split cible, budget explicite, validation séparée et bilan des limites.</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f076dc8b04f44f7b">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180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2e34e4a2c32e404b">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837cb1e46e9f46c9">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4073f85ca8ad43c4">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3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eaf06f3f960c4bb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3cc8f30f091044a7">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64533F49-260E-415E-8DB9-E6EE93D24B6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83 / 135</a:t>
            </a:r>
          </a:p>
        </p:txBody>
      </p:sp>
    </p:spTree>
    <p:extLst>
      <p:ext uri="{BB962C8B-B14F-4D97-AF65-F5344CB8AC3E}">
        <p14:creationId xmlns:p14="http://schemas.microsoft.com/office/powerpoint/2010/main" val="1432818840"/>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a102e35a5dc4e6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1bd28393c6843c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9262317-D01E-4E66-AE27-5ED84CADF8C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84 / 135</a:t>
            </a:r>
          </a:p>
        </p:txBody>
      </p:sp>
      <p:sp>
        <p:nvSpPr>
          <p:cNvPr id="159" name="course-text">
            <a:extLst xmlns:a="http://schemas.openxmlformats.org/drawingml/2006/main">
              <a:ext uri="{FF2B5EF4-FFF2-40B4-BE49-F238E27FC236}">
                <a16:creationId xmlns:a16="http://schemas.microsoft.com/office/drawing/2014/main" id="{8856E41E-4669-4641-8B29-7548F5E0498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3 · À RETENIR</a:t>
            </a:r>
          </a:p>
        </p:txBody>
      </p:sp>
      <p:sp>
        <p:nvSpPr>
          <p:cNvPr id="160" name="course-text">
            <a:extLst xmlns:a="http://schemas.openxmlformats.org/drawingml/2006/main">
              <a:ext uri="{FF2B5EF4-FFF2-40B4-BE49-F238E27FC236}">
                <a16:creationId xmlns:a16="http://schemas.microsoft.com/office/drawing/2014/main" id="{F8F378D3-20A0-4DB7-8C17-B703B04D516C}"/>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Les représentations peuvent être réutilisées, avec des limites de domaine.</a:t>
            </a:r>
          </a:p>
        </p:txBody>
      </p:sp>
      <p:sp>
        <p:nvSpPr>
          <p:cNvPr id="161" name="course-text">
            <a:extLst xmlns:a="http://schemas.openxmlformats.org/drawingml/2006/main">
              <a:ext uri="{FF2B5EF4-FFF2-40B4-BE49-F238E27FC236}">
                <a16:creationId xmlns:a16="http://schemas.microsoft.com/office/drawing/2014/main" id="{75884DA8-94CB-42CA-BA8B-99DA5759748D}"/>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Geler les poids et figer le comportement des couches sont deux décisions.</a:t>
            </a:r>
          </a:p>
        </p:txBody>
      </p:sp>
      <p:sp>
        <p:nvSpPr>
          <p:cNvPr id="162" name="course-text">
            <a:extLst xmlns:a="http://schemas.openxmlformats.org/drawingml/2006/main">
              <a:ext uri="{FF2B5EF4-FFF2-40B4-BE49-F238E27FC236}">
                <a16:creationId xmlns:a16="http://schemas.microsoft.com/office/drawing/2014/main" id="{5FFB810B-6C6C-4B8C-9136-C3FC6143D76E}"/>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comparaison exige une baseline, un budget et une règle de sélection.</a:t>
            </a:r>
          </a:p>
        </p:txBody>
      </p:sp>
      <p:sp>
        <p:nvSpPr>
          <p:cNvPr id="163" name="course-text">
            <a:extLst xmlns:a="http://schemas.openxmlformats.org/drawingml/2006/main">
              <a:ext uri="{FF2B5EF4-FFF2-40B4-BE49-F238E27FC236}">
                <a16:creationId xmlns:a16="http://schemas.microsoft.com/office/drawing/2014/main" id="{EB963E4C-E069-4367-B68A-BA949B993830}"/>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L’analyse des erreurs complète les métriques agrégées.</a:t>
            </a:r>
          </a:p>
        </p:txBody>
      </p:sp>
    </p:spTree>
    <p:extLst>
      <p:ext uri="{BB962C8B-B14F-4D97-AF65-F5344CB8AC3E}">
        <p14:creationId xmlns:p14="http://schemas.microsoft.com/office/powerpoint/2010/main" val="304421154"/>
      </p:ext>
    </p:extLst>
  </p:cSld>
</p:sld>
</file>

<file path=ppt/slides/slide85.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04</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ATTENTION ET
TRANSFORMERS</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b4e9e67b57d5456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f335e2453dad493d">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C00D5AA9-EA8A-4FFA-874C-CDC1108FC40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85 / 135</a:t>
            </a:r>
          </a:p>
        </p:txBody>
      </p:sp>
      <p:sp>
        <p:nvSpPr>
          <p:cNvPr id="144" name="course-text">
            <a:extLst xmlns:a="http://schemas.openxmlformats.org/drawingml/2006/main">
              <a:ext uri="{FF2B5EF4-FFF2-40B4-BE49-F238E27FC236}">
                <a16:creationId xmlns:a16="http://schemas.microsoft.com/office/drawing/2014/main" id="{8368DA43-4A21-49D6-95CC-995381411871}"/>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Calcul matriciel, positions, masques et architecture</a:t>
            </a:r>
          </a:p>
        </p:txBody>
      </p:sp>
    </p:spTree>
    <p:extLst>
      <p:ext uri="{BB962C8B-B14F-4D97-AF65-F5344CB8AC3E}">
        <p14:creationId xmlns:p14="http://schemas.microsoft.com/office/powerpoint/2010/main" val="375643571"/>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76f3c108ea274f8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e447415788584f1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794E21B-A999-481A-B8B5-CF597C62559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86 / 135</a:t>
            </a:r>
          </a:p>
        </p:txBody>
      </p:sp>
      <p:sp>
        <p:nvSpPr>
          <p:cNvPr id="159" name="course-text">
            <a:extLst xmlns:a="http://schemas.openxmlformats.org/drawingml/2006/main">
              <a:ext uri="{FF2B5EF4-FFF2-40B4-BE49-F238E27FC236}">
                <a16:creationId xmlns:a16="http://schemas.microsoft.com/office/drawing/2014/main" id="{49F6EE65-CE00-4C64-9204-C45E9BAAD9A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4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Séquences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Représentation, récurrence et positions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Attention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Q, K, V, softmax et masques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90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Architecture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Têtes, normalisation et blocs Transformers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90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04</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Calcul d’attention et tests de causalité</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150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Synthèse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Dimensions, coût et questions de contrôle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30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23061515-553A-485F-9A9C-072ECB7856D0}"/>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03662e4a72944f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5ceb5ee97f74b6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4852F78-2383-48DD-B62F-9DFD62D49EC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87 / 135</a:t>
            </a:r>
          </a:p>
        </p:txBody>
      </p:sp>
      <p:sp>
        <p:nvSpPr>
          <p:cNvPr id="159" name="course-text">
            <a:extLst xmlns:a="http://schemas.openxmlformats.org/drawingml/2006/main">
              <a:ext uri="{FF2B5EF4-FFF2-40B4-BE49-F238E27FC236}">
                <a16:creationId xmlns:a16="http://schemas.microsoft.com/office/drawing/2014/main" id="{B4BC7FAB-06A6-4B09-BC37-E8F8864ADF6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UNE SÉQUENCE COMME TENSEUR</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71a49e5cf98499d">
            <a:extLst>
              <a:ext uri="{96DAC541-7B7A-43D3-8B79-37D633B846F1}">
                <asvg:svgBlip xmlns:asvg="http://schemas.microsoft.com/office/drawing/2016/SVG/main" r:embed="R5b5cee7ac89c41bd"/>
              </a:ext>
            </a:extLst>
          </a:blip>
          <a:stretch xmlns:a="http://schemas.openxmlformats.org/drawingml/2006/main"/>
        </p:blipFill>
        <p:spPr>
          <a:xfrm xmlns:a="http://schemas.openxmlformats.org/drawingml/2006/main">
            <a:off x="933450" y="1809750"/>
            <a:ext cx="1743857" cy="313232"/>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1D784FBB-E7D6-4467-8844-F62575C0A254}"/>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token est une unité de représentation, pas nécessairement un mot.</a:t>
            </a:r>
          </a:p>
        </p:txBody>
      </p:sp>
      <p:sp>
        <p:nvSpPr>
          <p:cNvPr id="162" name="course-text">
            <a:extLst xmlns:a="http://schemas.openxmlformats.org/drawingml/2006/main">
              <a:ext uri="{FF2B5EF4-FFF2-40B4-BE49-F238E27FC236}">
                <a16:creationId xmlns:a16="http://schemas.microsoft.com/office/drawing/2014/main" id="{550EA82D-EC3B-4235-B592-321C9774A468}"/>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séquence possède une longueur n et une largeur de représentation d.</a:t>
            </a:r>
          </a:p>
        </p:txBody>
      </p:sp>
      <p:sp>
        <p:nvSpPr>
          <p:cNvPr id="163" name="course-text">
            <a:extLst xmlns:a="http://schemas.openxmlformats.org/drawingml/2006/main">
              <a:ext uri="{FF2B5EF4-FFF2-40B4-BE49-F238E27FC236}">
                <a16:creationId xmlns:a16="http://schemas.microsoft.com/office/drawing/2014/main" id="{08A91E61-D349-4F1A-8083-D8B4B074DA16}"/>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padding uniformise les tailles dans un batch, mais doit être masqué.</a:t>
            </a:r>
          </a:p>
        </p:txBody>
      </p:sp>
    </p:spTree>
    <p:extLst>
      <p:ext uri="{BB962C8B-B14F-4D97-AF65-F5344CB8AC3E}">
        <p14:creationId xmlns:p14="http://schemas.microsoft.com/office/powerpoint/2010/main" val="304421154"/>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68a39b655b0418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84e899789164f8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665B3A7-BB1D-4AD1-B736-5DB0B44D597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88 / 135</a:t>
            </a:r>
          </a:p>
        </p:txBody>
      </p:sp>
      <p:sp>
        <p:nvSpPr>
          <p:cNvPr id="159" name="course-text">
            <a:extLst xmlns:a="http://schemas.openxmlformats.org/drawingml/2006/main">
              <a:ext uri="{FF2B5EF4-FFF2-40B4-BE49-F238E27FC236}">
                <a16:creationId xmlns:a16="http://schemas.microsoft.com/office/drawing/2014/main" id="{58D942A0-530A-4974-9FBF-28C19FAC33D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RÉCURRENCE ET DÉPENDANCES LONGUES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2cdd0b42cf54b8b">
            <a:extLst>
              <a:ext uri="{96DAC541-7B7A-43D3-8B79-37D633B846F1}">
                <asvg:svgBlip xmlns:asvg="http://schemas.microsoft.com/office/drawing/2016/SVG/main" r:embed="Rfbf27cf20d064fa0"/>
              </a:ext>
            </a:extLst>
          </a:blip>
          <a:stretch xmlns:a="http://schemas.openxmlformats.org/drawingml/2006/main"/>
        </p:blipFill>
        <p:spPr>
          <a:xfrm xmlns:a="http://schemas.openxmlformats.org/drawingml/2006/main">
            <a:off x="933450" y="1809750"/>
            <a:ext cx="3793248"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C9638E23-5DF3-46D0-80FF-E8B2F0EF85FA}"/>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RNN met à jour un état en parcourant la séquence.</a:t>
            </a:r>
          </a:p>
        </p:txBody>
      </p:sp>
      <p:sp>
        <p:nvSpPr>
          <p:cNvPr id="162" name="course-text">
            <a:extLst xmlns:a="http://schemas.openxmlformats.org/drawingml/2006/main">
              <a:ext uri="{FF2B5EF4-FFF2-40B4-BE49-F238E27FC236}">
                <a16:creationId xmlns:a16="http://schemas.microsoft.com/office/drawing/2014/main" id="{D14C2224-8B03-4D84-B0E5-B94B84D4D45A}"/>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dépendance temporelle impose un calcul séquentiel des états.</a:t>
            </a:r>
          </a:p>
        </p:txBody>
      </p:sp>
      <p:sp>
        <p:nvSpPr>
          <p:cNvPr id="163" name="course-text">
            <a:extLst xmlns:a="http://schemas.openxmlformats.org/drawingml/2006/main">
              <a:ext uri="{FF2B5EF4-FFF2-40B4-BE49-F238E27FC236}">
                <a16:creationId xmlns:a16="http://schemas.microsoft.com/office/drawing/2014/main" id="{A47DECCC-B216-4AC9-A6C5-6B1024826C9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L’attention permet des interactions directes entre positions.</a:t>
            </a:r>
          </a:p>
        </p:txBody>
      </p:sp>
    </p:spTree>
    <p:extLst>
      <p:ext uri="{BB962C8B-B14F-4D97-AF65-F5344CB8AC3E}">
        <p14:creationId xmlns:p14="http://schemas.microsoft.com/office/powerpoint/2010/main" val="304421154"/>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f65f898fc1c4b0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4b820dc798c4b2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97AA6B8-BE65-444E-9514-5FB27E9FC12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89 / 135</a:t>
            </a:r>
          </a:p>
        </p:txBody>
      </p:sp>
      <p:sp>
        <p:nvSpPr>
          <p:cNvPr id="159" name="course-text">
            <a:extLst xmlns:a="http://schemas.openxmlformats.org/drawingml/2006/main">
              <a:ext uri="{FF2B5EF4-FFF2-40B4-BE49-F238E27FC236}">
                <a16:creationId xmlns:a16="http://schemas.microsoft.com/office/drawing/2014/main" id="{4361B554-C788-4459-9B0B-0B43F876A3A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EMBEDDINGS : DES IDENTIFIANTS AUX VECTEURS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7eb773214dc4223">
            <a:extLst>
              <a:ext uri="{96DAC541-7B7A-43D3-8B79-37D633B846F1}">
                <asvg:svgBlip xmlns:asvg="http://schemas.microsoft.com/office/drawing/2016/SVG/main" r:embed="Rcdce28b5e9514708"/>
              </a:ext>
            </a:extLst>
          </a:blip>
          <a:stretch xmlns:a="http://schemas.openxmlformats.org/drawingml/2006/main"/>
        </p:blipFill>
        <p:spPr>
          <a:xfrm xmlns:a="http://schemas.openxmlformats.org/drawingml/2006/main">
            <a:off x="933450" y="1809750"/>
            <a:ext cx="4132911" cy="38365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79184DB-E668-41DE-B30C-A150C3184BD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table d’embedding contient un vecteur appris par token du vocabulaire.</a:t>
            </a:r>
          </a:p>
        </p:txBody>
      </p:sp>
      <p:sp>
        <p:nvSpPr>
          <p:cNvPr id="162" name="course-text">
            <a:extLst xmlns:a="http://schemas.openxmlformats.org/drawingml/2006/main">
              <a:ext uri="{FF2B5EF4-FFF2-40B4-BE49-F238E27FC236}">
                <a16:creationId xmlns:a16="http://schemas.microsoft.com/office/drawing/2014/main" id="{8E2F1130-E0E7-4E64-B02E-445E68DBFB99}"/>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recherche de ligne remplace la multiplication explicite par un one-hot.</a:t>
            </a:r>
          </a:p>
        </p:txBody>
      </p:sp>
      <p:sp>
        <p:nvSpPr>
          <p:cNvPr id="163" name="course-text">
            <a:extLst xmlns:a="http://schemas.openxmlformats.org/drawingml/2006/main">
              <a:ext uri="{FF2B5EF4-FFF2-40B4-BE49-F238E27FC236}">
                <a16:creationId xmlns:a16="http://schemas.microsoft.com/office/drawing/2014/main" id="{127A2E28-26C7-4052-B6A2-0BE2AAC29D5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L’embedding est entraîné avec le reste du modèle, sauf gel explicite.</a:t>
            </a:r>
          </a:p>
        </p:txBody>
      </p:sp>
    </p:spTree>
    <p:extLst>
      <p:ext uri="{BB962C8B-B14F-4D97-AF65-F5344CB8AC3E}">
        <p14:creationId xmlns:p14="http://schemas.microsoft.com/office/powerpoint/2010/main" val="304421154"/>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029c6dd7aae42d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f5e7423008a455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A71CFA1-0E91-413B-BBF3-87B16CB0D2E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90 / 135</a:t>
            </a:r>
          </a:p>
        </p:txBody>
      </p:sp>
      <p:sp>
        <p:nvSpPr>
          <p:cNvPr id="159" name="course-text">
            <a:extLst xmlns:a="http://schemas.openxmlformats.org/drawingml/2006/main">
              <a:ext uri="{FF2B5EF4-FFF2-40B4-BE49-F238E27FC236}">
                <a16:creationId xmlns:a16="http://schemas.microsoft.com/office/drawing/2014/main" id="{258FD2DB-0013-4DFE-B46D-5956679B402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INFORMATION DE POSITION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d0f6795b211141c0">
            <a:extLst>
              <a:ext uri="{96DAC541-7B7A-43D3-8B79-37D633B846F1}">
                <asvg:svgBlip xmlns:asvg="http://schemas.microsoft.com/office/drawing/2016/SVG/main" r:embed="Rf222cd96e87540c5"/>
              </a:ext>
            </a:extLst>
          </a:blip>
          <a:stretch xmlns:a="http://schemas.openxmlformats.org/drawingml/2006/main"/>
        </p:blipFill>
        <p:spPr>
          <a:xfrm xmlns:a="http://schemas.openxmlformats.org/drawingml/2006/main">
            <a:off x="933450" y="1809750"/>
            <a:ext cx="6299199"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AF6C6C25-DBF6-48D7-9D2D-7DD348AFE24C}"/>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L’auto-attention seule ne code pas l’ordre absolu des tokens.</a:t>
            </a:r>
          </a:p>
        </p:txBody>
      </p:sp>
      <p:sp>
        <p:nvSpPr>
          <p:cNvPr id="162" name="course-text">
            <a:extLst xmlns:a="http://schemas.openxmlformats.org/drawingml/2006/main">
              <a:ext uri="{FF2B5EF4-FFF2-40B4-BE49-F238E27FC236}">
                <a16:creationId xmlns:a16="http://schemas.microsoft.com/office/drawing/2014/main" id="{3C7CB853-8F90-4B54-8FF1-486EAAAC56F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On peut ajouter des positions apprises ou déterministes.</a:t>
            </a:r>
          </a:p>
        </p:txBody>
      </p:sp>
      <p:sp>
        <p:nvSpPr>
          <p:cNvPr id="163" name="course-text">
            <a:extLst xmlns:a="http://schemas.openxmlformats.org/drawingml/2006/main">
              <a:ext uri="{FF2B5EF4-FFF2-40B4-BE49-F238E27FC236}">
                <a16:creationId xmlns:a16="http://schemas.microsoft.com/office/drawing/2014/main" id="{4D27ED14-7E2A-4CF8-84E2-829B0D3AB15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Sans position, une permutation de l’entrée permute aussi la sortie de l’auto-attention non masquée.</a:t>
            </a:r>
          </a:p>
        </p:txBody>
      </p:sp>
    </p:spTree>
    <p:extLst>
      <p:ext uri="{BB962C8B-B14F-4D97-AF65-F5344CB8AC3E}">
        <p14:creationId xmlns:p14="http://schemas.microsoft.com/office/powerpoint/2010/main" val="304421154"/>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3622d9b5e7141e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17f01f41833447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CEB1748-805E-4F03-8FCA-AA267313BCE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91 / 135</a:t>
            </a:r>
          </a:p>
        </p:txBody>
      </p:sp>
      <p:sp>
        <p:nvSpPr>
          <p:cNvPr id="159" name="course-text">
            <a:extLst xmlns:a="http://schemas.openxmlformats.org/drawingml/2006/main">
              <a:ext uri="{FF2B5EF4-FFF2-40B4-BE49-F238E27FC236}">
                <a16:creationId xmlns:a16="http://schemas.microsoft.com/office/drawing/2014/main" id="{9E37284E-4464-403E-AA73-9FCD912E1B8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ENCODAGE SINUSOÏDAL DES POSITIONS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f4fabe7eacda4649">
            <a:extLst>
              <a:ext uri="{96DAC541-7B7A-43D3-8B79-37D633B846F1}">
                <asvg:svgBlip xmlns:asvg="http://schemas.microsoft.com/office/drawing/2016/SVG/main" r:embed="R48ab391e9b1a4978"/>
              </a:ext>
            </a:extLst>
          </a:blip>
          <a:stretch xmlns:a="http://schemas.openxmlformats.org/drawingml/2006/main"/>
        </p:blipFill>
        <p:spPr>
          <a:xfrm xmlns:a="http://schemas.openxmlformats.org/drawingml/2006/main">
            <a:off x="933450" y="1809750"/>
            <a:ext cx="7809753" cy="776166"/>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25FAD348-BA39-4F9D-B1C3-4C6744F2D297}"/>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paire de dimensions utilise une fréquence.</a:t>
            </a:r>
          </a:p>
        </p:txBody>
      </p:sp>
      <p:sp>
        <p:nvSpPr>
          <p:cNvPr id="162" name="course-text">
            <a:extLst xmlns:a="http://schemas.openxmlformats.org/drawingml/2006/main">
              <a:ext uri="{FF2B5EF4-FFF2-40B4-BE49-F238E27FC236}">
                <a16:creationId xmlns:a16="http://schemas.microsoft.com/office/drawing/2014/main" id="{5FF13614-7FA1-46FB-A415-FDA796D8184B}"/>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positions ont la même largeur d que les embeddings.</a:t>
            </a:r>
          </a:p>
        </p:txBody>
      </p:sp>
      <p:sp>
        <p:nvSpPr>
          <p:cNvPr id="163" name="course-text">
            <a:extLst xmlns:a="http://schemas.openxmlformats.org/drawingml/2006/main">
              <a:ext uri="{FF2B5EF4-FFF2-40B4-BE49-F238E27FC236}">
                <a16:creationId xmlns:a16="http://schemas.microsoft.com/office/drawing/2014/main" id="{8FDB6597-1858-4ED7-98FB-B8218B3DD3A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Cette construction ne garantit pas, à elle seule, la généralisation à de longues séquences.</a:t>
            </a:r>
          </a:p>
        </p:txBody>
      </p:sp>
    </p:spTree>
    <p:extLst>
      <p:ext uri="{BB962C8B-B14F-4D97-AF65-F5344CB8AC3E}">
        <p14:creationId xmlns:p14="http://schemas.microsoft.com/office/powerpoint/2010/main" val="304421154"/>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4c016676111446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3a8101b6f13476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C011781-EA49-4075-8852-7E957DAFBF4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92 / 135</a:t>
            </a:r>
          </a:p>
        </p:txBody>
      </p:sp>
      <p:sp>
        <p:nvSpPr>
          <p:cNvPr id="159" name="course-text">
            <a:extLst xmlns:a="http://schemas.openxmlformats.org/drawingml/2006/main">
              <a:ext uri="{FF2B5EF4-FFF2-40B4-BE49-F238E27FC236}">
                <a16:creationId xmlns:a16="http://schemas.microsoft.com/office/drawing/2014/main" id="{613F31E6-8852-4342-BFE5-93C94EFDB20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L’ATTENTION COMME SOMME PONDÉRÉE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b55a2bd6aafd42af">
            <a:extLst>
              <a:ext uri="{96DAC541-7B7A-43D3-8B79-37D633B846F1}">
                <asvg:svgBlip xmlns:asvg="http://schemas.microsoft.com/office/drawing/2016/SVG/main" r:embed="Rf6534bfffbb14ee5"/>
              </a:ext>
            </a:extLst>
          </a:blip>
          <a:stretch xmlns:a="http://schemas.openxmlformats.org/drawingml/2006/main"/>
        </p:blipFill>
        <p:spPr>
          <a:xfrm xmlns:a="http://schemas.openxmlformats.org/drawingml/2006/main">
            <a:off x="933450" y="1809750"/>
            <a:ext cx="5589760" cy="94038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7863E82-4056-4F9C-A882-D80EC8E4C17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requête attribue un score à chaque clé.</a:t>
            </a:r>
          </a:p>
        </p:txBody>
      </p:sp>
      <p:sp>
        <p:nvSpPr>
          <p:cNvPr id="162" name="course-text">
            <a:extLst xmlns:a="http://schemas.openxmlformats.org/drawingml/2006/main">
              <a:ext uri="{FF2B5EF4-FFF2-40B4-BE49-F238E27FC236}">
                <a16:creationId xmlns:a16="http://schemas.microsoft.com/office/drawing/2014/main" id="{16176D58-2941-497C-A1BE-8917FBA016B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Softmax normalise les scores sur les positions consultées.</a:t>
            </a:r>
          </a:p>
        </p:txBody>
      </p:sp>
      <p:sp>
        <p:nvSpPr>
          <p:cNvPr id="163" name="course-text">
            <a:extLst xmlns:a="http://schemas.openxmlformats.org/drawingml/2006/main">
              <a:ext uri="{FF2B5EF4-FFF2-40B4-BE49-F238E27FC236}">
                <a16:creationId xmlns:a16="http://schemas.microsoft.com/office/drawing/2014/main" id="{CCAC728C-CEED-46ED-8D32-A0890D234826}"/>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sortie est une combinaison des valeurs.</a:t>
            </a:r>
          </a:p>
        </p:txBody>
      </p:sp>
    </p:spTree>
    <p:extLst>
      <p:ext uri="{BB962C8B-B14F-4D97-AF65-F5344CB8AC3E}">
        <p14:creationId xmlns:p14="http://schemas.microsoft.com/office/powerpoint/2010/main" val="304421154"/>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7821a6dd4804c1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e32dc40e01847c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2AEE922-1624-4203-A007-C5A2397FDAE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93 / 135</a:t>
            </a:r>
          </a:p>
        </p:txBody>
      </p:sp>
      <p:sp>
        <p:nvSpPr>
          <p:cNvPr id="159" name="course-text">
            <a:extLst xmlns:a="http://schemas.openxmlformats.org/drawingml/2006/main">
              <a:ext uri="{FF2B5EF4-FFF2-40B4-BE49-F238E27FC236}">
                <a16:creationId xmlns:a16="http://schemas.microsoft.com/office/drawing/2014/main" id="{73352763-1D19-4B8A-BCD0-1DB5A4C5B00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Q, K, V : PROJECTIONS APPRISES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5feb38825fd489d">
            <a:extLst>
              <a:ext uri="{96DAC541-7B7A-43D3-8B79-37D633B846F1}">
                <asvg:svgBlip xmlns:asvg="http://schemas.microsoft.com/office/drawing/2016/SVG/main" r:embed="R2f109654cb03474a"/>
              </a:ext>
            </a:extLst>
          </a:blip>
          <a:stretch xmlns:a="http://schemas.openxmlformats.org/drawingml/2006/main"/>
        </p:blipFill>
        <p:spPr>
          <a:xfrm xmlns:a="http://schemas.openxmlformats.org/drawingml/2006/main">
            <a:off x="933450" y="1809750"/>
            <a:ext cx="6049063" cy="79995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FCA86429-3A53-49E3-B245-19CCC5C03E6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Q et K définissent l’espace de comparaison.</a:t>
            </a:r>
          </a:p>
        </p:txBody>
      </p:sp>
      <p:sp>
        <p:nvSpPr>
          <p:cNvPr id="162" name="course-text">
            <a:extLst xmlns:a="http://schemas.openxmlformats.org/drawingml/2006/main">
              <a:ext uri="{FF2B5EF4-FFF2-40B4-BE49-F238E27FC236}">
                <a16:creationId xmlns:a16="http://schemas.microsoft.com/office/drawing/2014/main" id="{22D3C879-8F56-4E11-B94D-AFA6FD6A736A}"/>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V définit le contenu qui sera agrégé.</a:t>
            </a:r>
          </a:p>
        </p:txBody>
      </p:sp>
      <p:sp>
        <p:nvSpPr>
          <p:cNvPr id="163" name="course-text">
            <a:extLst xmlns:a="http://schemas.openxmlformats.org/drawingml/2006/main">
              <a:ext uri="{FF2B5EF4-FFF2-40B4-BE49-F238E27FC236}">
                <a16:creationId xmlns:a16="http://schemas.microsoft.com/office/drawing/2014/main" id="{E62B8444-B46A-416D-BAB8-A6906E458E55}"/>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En auto-attention, les trois projections partent de la même séquence.</a:t>
            </a:r>
          </a:p>
        </p:txBody>
      </p:sp>
    </p:spTree>
    <p:extLst>
      <p:ext uri="{BB962C8B-B14F-4D97-AF65-F5344CB8AC3E}">
        <p14:creationId xmlns:p14="http://schemas.microsoft.com/office/powerpoint/2010/main" val="304421154"/>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36ca7ac706744d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3a388e93668479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5CBA452-FE59-4E0F-B98D-58FF90D575F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94 / 135</a:t>
            </a:r>
          </a:p>
        </p:txBody>
      </p:sp>
      <p:sp>
        <p:nvSpPr>
          <p:cNvPr id="159" name="course-text">
            <a:extLst xmlns:a="http://schemas.openxmlformats.org/drawingml/2006/main">
              <a:ext uri="{FF2B5EF4-FFF2-40B4-BE49-F238E27FC236}">
                <a16:creationId xmlns:a16="http://schemas.microsoft.com/office/drawing/2014/main" id="{05D482ED-4ADA-4B6C-8A2A-0D6BDB9BC9A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SCORES D’ATTENTION : TOUTES LES PAIRES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3c55748483c442d">
            <a:extLst>
              <a:ext uri="{96DAC541-7B7A-43D3-8B79-37D633B846F1}">
                <asvg:svgBlip xmlns:asvg="http://schemas.microsoft.com/office/drawing/2016/SVG/main" r:embed="R11973307d240465b"/>
              </a:ext>
            </a:extLst>
          </a:blip>
          <a:stretch xmlns:a="http://schemas.openxmlformats.org/drawingml/2006/main"/>
        </p:blipFill>
        <p:spPr>
          <a:xfrm xmlns:a="http://schemas.openxmlformats.org/drawingml/2006/main">
            <a:off x="933450" y="1809750"/>
            <a:ext cx="3662502" cy="820293"/>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A106AD9-A539-4EB8-9F18-69906173729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ligne correspond à une requête.</a:t>
            </a:r>
          </a:p>
        </p:txBody>
      </p:sp>
      <p:sp>
        <p:nvSpPr>
          <p:cNvPr id="162" name="course-text">
            <a:extLst xmlns:a="http://schemas.openxmlformats.org/drawingml/2006/main">
              <a:ext uri="{FF2B5EF4-FFF2-40B4-BE49-F238E27FC236}">
                <a16:creationId xmlns:a16="http://schemas.microsoft.com/office/drawing/2014/main" id="{5570D6EE-A960-4C49-9EDE-18A24534FB99}"/>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colonne correspond à une clé.</a:t>
            </a:r>
          </a:p>
        </p:txBody>
      </p:sp>
      <p:sp>
        <p:nvSpPr>
          <p:cNvPr id="163" name="course-text">
            <a:extLst xmlns:a="http://schemas.openxmlformats.org/drawingml/2006/main">
              <a:ext uri="{FF2B5EF4-FFF2-40B4-BE49-F238E27FC236}">
                <a16:creationId xmlns:a16="http://schemas.microsoft.com/office/drawing/2014/main" id="{ED720CA2-B0A8-4D10-B70E-DAD5265EE8C2}"/>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produit QKᵀ produit une matrice n_q × n_k.</a:t>
            </a:r>
          </a:p>
        </p:txBody>
      </p:sp>
    </p:spTree>
    <p:extLst>
      <p:ext uri="{BB962C8B-B14F-4D97-AF65-F5344CB8AC3E}">
        <p14:creationId xmlns:p14="http://schemas.microsoft.com/office/powerpoint/2010/main" val="304421154"/>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e4eccf07b67465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624d6e8aa344ab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35A5D37-7A70-4D0A-B00D-5232C00CECC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95 / 135</a:t>
            </a:r>
          </a:p>
        </p:txBody>
      </p:sp>
      <p:sp>
        <p:nvSpPr>
          <p:cNvPr id="159" name="course-text">
            <a:extLst xmlns:a="http://schemas.openxmlformats.org/drawingml/2006/main">
              <a:ext uri="{FF2B5EF4-FFF2-40B4-BE49-F238E27FC236}">
                <a16:creationId xmlns:a16="http://schemas.microsoft.com/office/drawing/2014/main" id="{72611779-B463-4825-B891-FE17E4A8403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POURQUOI DIVISER PAR √dₖ ?</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0041698c5614c96">
            <a:extLst>
              <a:ext uri="{96DAC541-7B7A-43D3-8B79-37D633B846F1}">
                <asvg:svgBlip xmlns:asvg="http://schemas.microsoft.com/office/drawing/2016/SVG/main" r:embed="R6534993e7479440c"/>
              </a:ext>
            </a:extLst>
          </a:blip>
          <a:stretch xmlns:a="http://schemas.openxmlformats.org/drawingml/2006/main"/>
        </p:blipFill>
        <p:spPr>
          <a:xfrm xmlns:a="http://schemas.openxmlformats.org/drawingml/2006/main">
            <a:off x="933450" y="1809750"/>
            <a:ext cx="6395113" cy="116424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3389A40-423C-4EBE-A3BD-417586E2075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Sous des hypothèses simplifiées, la variance d’un produit scalaire croît avec dₖ.</a:t>
            </a:r>
          </a:p>
        </p:txBody>
      </p:sp>
      <p:sp>
        <p:nvSpPr>
          <p:cNvPr id="162" name="course-text">
            <a:extLst xmlns:a="http://schemas.openxmlformats.org/drawingml/2006/main">
              <a:ext uri="{FF2B5EF4-FFF2-40B4-BE49-F238E27FC236}">
                <a16:creationId xmlns:a16="http://schemas.microsoft.com/office/drawing/2014/main" id="{EC41F3A5-BCA5-43E1-B6CC-173158BBF6D3}"/>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Des scores trop dispersés peuvent saturer softmax.</a:t>
            </a:r>
          </a:p>
        </p:txBody>
      </p:sp>
      <p:sp>
        <p:nvSpPr>
          <p:cNvPr id="163" name="course-text">
            <a:extLst xmlns:a="http://schemas.openxmlformats.org/drawingml/2006/main">
              <a:ext uri="{FF2B5EF4-FFF2-40B4-BE49-F238E27FC236}">
                <a16:creationId xmlns:a16="http://schemas.microsoft.com/office/drawing/2014/main" id="{67568D0F-CE84-45E7-A0A4-B0A33592A64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normalisation stabilise l’échelle, sans prouver à elle seule la stabilité du réseau.</a:t>
            </a:r>
          </a:p>
        </p:txBody>
      </p:sp>
    </p:spTree>
    <p:extLst>
      <p:ext uri="{BB962C8B-B14F-4D97-AF65-F5344CB8AC3E}">
        <p14:creationId xmlns:p14="http://schemas.microsoft.com/office/powerpoint/2010/main" val="304421154"/>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58f4622a59946b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1c238c6fa2b455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BACB61F-06D7-4D20-A62F-CC2F27224CA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96 / 135</a:t>
            </a:r>
          </a:p>
        </p:txBody>
      </p:sp>
      <p:sp>
        <p:nvSpPr>
          <p:cNvPr id="159" name="course-text">
            <a:extLst xmlns:a="http://schemas.openxmlformats.org/drawingml/2006/main">
              <a:ext uri="{FF2B5EF4-FFF2-40B4-BE49-F238E27FC236}">
                <a16:creationId xmlns:a16="http://schemas.microsoft.com/office/drawing/2014/main" id="{A82AE0E3-86EA-4E24-9C6E-84CEE9902AF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SOFTMAX PUIS AGRÉGATION DES VALEURS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96fd328c236410f">
            <a:extLst>
              <a:ext uri="{96DAC541-7B7A-43D3-8B79-37D633B846F1}">
                <asvg:svgBlip xmlns:asvg="http://schemas.microsoft.com/office/drawing/2016/SVG/main" r:embed="R5dc52a5ddfd54e4b"/>
              </a:ext>
            </a:extLst>
          </a:blip>
          <a:stretch xmlns:a="http://schemas.openxmlformats.org/drawingml/2006/main"/>
        </p:blipFill>
        <p:spPr>
          <a:xfrm xmlns:a="http://schemas.openxmlformats.org/drawingml/2006/main">
            <a:off x="933450" y="1809750"/>
            <a:ext cx="5924233" cy="39570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0975EDA0-4870-4378-B75E-7B1BE91FF02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Softmax est appliqué indépendamment à chaque ligne des scores.</a:t>
            </a:r>
          </a:p>
        </p:txBody>
      </p:sp>
      <p:sp>
        <p:nvSpPr>
          <p:cNvPr id="162" name="course-text">
            <a:extLst xmlns:a="http://schemas.openxmlformats.org/drawingml/2006/main">
              <a:ext uri="{FF2B5EF4-FFF2-40B4-BE49-F238E27FC236}">
                <a16:creationId xmlns:a16="http://schemas.microsoft.com/office/drawing/2014/main" id="{E7EDA70C-D525-4260-B14B-0627A1723DCD}"/>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poids A ont la même forme que S.</a:t>
            </a:r>
          </a:p>
        </p:txBody>
      </p:sp>
      <p:sp>
        <p:nvSpPr>
          <p:cNvPr id="163" name="course-text">
            <a:extLst xmlns:a="http://schemas.openxmlformats.org/drawingml/2006/main">
              <a:ext uri="{FF2B5EF4-FFF2-40B4-BE49-F238E27FC236}">
                <a16:creationId xmlns:a16="http://schemas.microsoft.com/office/drawing/2014/main" id="{F5A38982-1611-4995-91EF-33DCBE21CCF2}"/>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sortie retrouve n_q positions, avec d_v caractéristiques.</a:t>
            </a:r>
          </a:p>
        </p:txBody>
      </p:sp>
    </p:spTree>
    <p:extLst>
      <p:ext uri="{BB962C8B-B14F-4D97-AF65-F5344CB8AC3E}">
        <p14:creationId xmlns:p14="http://schemas.microsoft.com/office/powerpoint/2010/main" val="304421154"/>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d5a6f868126442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4e9962ebb4643e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C49DEBC-706E-416F-BD26-A8A742E6F65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97 / 135</a:t>
            </a:r>
          </a:p>
        </p:txBody>
      </p:sp>
      <p:sp>
        <p:nvSpPr>
          <p:cNvPr id="159" name="course-text">
            <a:extLst xmlns:a="http://schemas.openxmlformats.org/drawingml/2006/main">
              <a:ext uri="{FF2B5EF4-FFF2-40B4-BE49-F238E27FC236}">
                <a16:creationId xmlns:a16="http://schemas.microsoft.com/office/drawing/2014/main" id="{A4CDC5A7-1D99-4DEC-BC54-3B3DD02E937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ATTENTION : EXEMPLE NUMÉRIQUE COMPLET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87052244aa4461f">
            <a:extLst>
              <a:ext uri="{96DAC541-7B7A-43D3-8B79-37D633B846F1}">
                <asvg:svgBlip xmlns:asvg="http://schemas.microsoft.com/office/drawing/2016/SVG/main" r:embed="R8aa37e041aed4ed6"/>
              </a:ext>
            </a:extLst>
          </a:blip>
          <a:stretch xmlns:a="http://schemas.openxmlformats.org/drawingml/2006/main"/>
        </p:blipFill>
        <p:spPr>
          <a:xfrm xmlns:a="http://schemas.openxmlformats.org/drawingml/2006/main">
            <a:off x="933450" y="1809750"/>
            <a:ext cx="6302625" cy="163856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03E3451-FD09-44C4-8A51-C21E8C804B9C}"/>
              </a:ext>
            </a:extLst>
          </p:cNvPr>
          <p:cNvSpPr>
            <a:spLocks xmlns:a="http://schemas.openxmlformats.org/drawingml/2006/main" noGrp="1"/>
          </p:cNvSpPr>
          <p:nvPr/>
        </p:nvSpPr>
        <p:spPr>
          <a:xfrm xmlns:a="http://schemas.openxmlformats.org/drawingml/2006/main">
            <a:off x="933450" y="3724539"/>
            <a:ext cx="10382250" cy="568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Deux requêtes, deux clés, dₖ=2 et deux composantes par valeur.</a:t>
            </a:r>
          </a:p>
        </p:txBody>
      </p:sp>
      <p:sp>
        <p:nvSpPr>
          <p:cNvPr id="162" name="course-text">
            <a:extLst xmlns:a="http://schemas.openxmlformats.org/drawingml/2006/main">
              <a:ext uri="{FF2B5EF4-FFF2-40B4-BE49-F238E27FC236}">
                <a16:creationId xmlns:a16="http://schemas.microsoft.com/office/drawing/2014/main" id="{924C8A46-3AA6-4A75-9AF7-E6A71E07E7CC}"/>
              </a:ext>
            </a:extLst>
          </p:cNvPr>
          <p:cNvSpPr>
            <a:spLocks xmlns:a="http://schemas.openxmlformats.org/drawingml/2006/main" noGrp="1"/>
          </p:cNvSpPr>
          <p:nvPr/>
        </p:nvSpPr>
        <p:spPr>
          <a:xfrm xmlns:a="http://schemas.openxmlformats.org/drawingml/2006/main">
            <a:off x="933450" y="4368976"/>
            <a:ext cx="10382250" cy="568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poids sont arrondis à quatre décimales.</a:t>
            </a:r>
          </a:p>
        </p:txBody>
      </p:sp>
      <p:sp>
        <p:nvSpPr>
          <p:cNvPr id="163" name="course-text">
            <a:extLst xmlns:a="http://schemas.openxmlformats.org/drawingml/2006/main">
              <a:ext uri="{FF2B5EF4-FFF2-40B4-BE49-F238E27FC236}">
                <a16:creationId xmlns:a16="http://schemas.microsoft.com/office/drawing/2014/main" id="{F1240E2A-1604-4491-A350-A1E4C4A0D84F}"/>
              </a:ext>
            </a:extLst>
          </p:cNvPr>
          <p:cNvSpPr>
            <a:spLocks xmlns:a="http://schemas.openxmlformats.org/drawingml/2006/main" noGrp="1"/>
          </p:cNvSpPr>
          <p:nvPr/>
        </p:nvSpPr>
        <p:spPr>
          <a:xfrm xmlns:a="http://schemas.openxmlformats.org/drawingml/2006/main">
            <a:off x="933450" y="5013413"/>
            <a:ext cx="10382250" cy="568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somme de chaque ligne vaut 1.</a:t>
            </a:r>
          </a:p>
        </p:txBody>
      </p:sp>
    </p:spTree>
    <p:extLst>
      <p:ext uri="{BB962C8B-B14F-4D97-AF65-F5344CB8AC3E}">
        <p14:creationId xmlns:p14="http://schemas.microsoft.com/office/powerpoint/2010/main" val="304421154"/>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c407f4e295b437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4a5494fbe97415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8997BEE-B803-433B-B852-8B319C5635A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98 / 135</a:t>
            </a:r>
          </a:p>
        </p:txBody>
      </p:sp>
      <p:sp>
        <p:nvSpPr>
          <p:cNvPr id="159" name="course-text">
            <a:extLst xmlns:a="http://schemas.openxmlformats.org/drawingml/2006/main">
              <a:ext uri="{FF2B5EF4-FFF2-40B4-BE49-F238E27FC236}">
                <a16:creationId xmlns:a16="http://schemas.microsoft.com/office/drawing/2014/main" id="{213F4EB2-0717-4A50-8E2F-9D7DAAD65B5E}"/>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MASQUE CAUSAL ET MASQUE DE PADDING</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2825a0456b6b4e93">
            <a:extLst>
              <a:ext uri="{96DAC541-7B7A-43D3-8B79-37D633B846F1}">
                <asvg:svgBlip xmlns:asvg="http://schemas.microsoft.com/office/drawing/2016/SVG/main" r:embed="R1f83f497aab64962"/>
              </a:ext>
            </a:extLst>
          </a:blip>
          <a:stretch xmlns:a="http://schemas.openxmlformats.org/drawingml/2006/main"/>
        </p:blipFill>
        <p:spPr>
          <a:xfrm xmlns:a="http://schemas.openxmlformats.org/drawingml/2006/main">
            <a:off x="933450" y="1809750"/>
            <a:ext cx="6584925" cy="97020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086B73F-903E-4628-ACDD-DB223FC21D6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masque causal interdit de consulter les positions futures.</a:t>
            </a:r>
          </a:p>
        </p:txBody>
      </p:sp>
      <p:sp>
        <p:nvSpPr>
          <p:cNvPr id="162" name="course-text">
            <a:extLst xmlns:a="http://schemas.openxmlformats.org/drawingml/2006/main">
              <a:ext uri="{FF2B5EF4-FFF2-40B4-BE49-F238E27FC236}">
                <a16:creationId xmlns:a16="http://schemas.microsoft.com/office/drawing/2014/main" id="{23C106E5-216D-4105-A407-DEDC8E687F0E}"/>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masque de padding exclut les clés ajoutées artificiellement.</a:t>
            </a:r>
          </a:p>
        </p:txBody>
      </p:sp>
      <p:sp>
        <p:nvSpPr>
          <p:cNvPr id="163" name="course-text">
            <a:extLst xmlns:a="http://schemas.openxmlformats.org/drawingml/2006/main">
              <a:ext uri="{FF2B5EF4-FFF2-40B4-BE49-F238E27FC236}">
                <a16:creationId xmlns:a16="http://schemas.microsoft.com/office/drawing/2014/main" id="{E0F375D9-85B1-4F6E-A175-F070C821F85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scores interdits reçoivent −∞ avant softmax.</a:t>
            </a:r>
          </a:p>
        </p:txBody>
      </p:sp>
    </p:spTree>
    <p:extLst>
      <p:ext uri="{BB962C8B-B14F-4D97-AF65-F5344CB8AC3E}">
        <p14:creationId xmlns:p14="http://schemas.microsoft.com/office/powerpoint/2010/main" val="304421154"/>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ebbc1bf725d4b3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eea72ef60d8451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2115D1A-FC71-4B1E-B88E-2605A1A46F2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99 / 135</a:t>
            </a:r>
          </a:p>
        </p:txBody>
      </p:sp>
      <p:sp>
        <p:nvSpPr>
          <p:cNvPr id="159" name="course-text">
            <a:extLst xmlns:a="http://schemas.openxmlformats.org/drawingml/2006/main">
              <a:ext uri="{FF2B5EF4-FFF2-40B4-BE49-F238E27FC236}">
                <a16:creationId xmlns:a16="http://schemas.microsoft.com/office/drawing/2014/main" id="{AB20113B-1E30-4637-8D7F-5047568A941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MULTI-HEAD ATTENTION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6ce8b78ca5c74aff">
            <a:extLst>
              <a:ext uri="{96DAC541-7B7A-43D3-8B79-37D633B846F1}">
                <asvg:svgBlip xmlns:asvg="http://schemas.microsoft.com/office/drawing/2016/SVG/main" r:embed="R4e3bd5be17f14b73"/>
              </a:ext>
            </a:extLst>
          </a:blip>
          <a:stretch xmlns:a="http://schemas.openxmlformats.org/drawingml/2006/main"/>
        </p:blipFill>
        <p:spPr>
          <a:xfrm xmlns:a="http://schemas.openxmlformats.org/drawingml/2006/main">
            <a:off x="933450" y="1809750"/>
            <a:ext cx="5651083" cy="90898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CC7C4B8-1B54-4F60-9FBF-7E4AEF43DDC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tête dispose de ses projections Q, K et V.</a:t>
            </a:r>
          </a:p>
        </p:txBody>
      </p:sp>
      <p:sp>
        <p:nvSpPr>
          <p:cNvPr id="162" name="course-text">
            <a:extLst xmlns:a="http://schemas.openxmlformats.org/drawingml/2006/main">
              <a:ext uri="{FF2B5EF4-FFF2-40B4-BE49-F238E27FC236}">
                <a16:creationId xmlns:a16="http://schemas.microsoft.com/office/drawing/2014/main" id="{0A4A4903-E503-4BEC-9BE9-9FC896BCC8B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résultats sont concaténés puis projetés.</a:t>
            </a:r>
          </a:p>
        </p:txBody>
      </p:sp>
      <p:sp>
        <p:nvSpPr>
          <p:cNvPr id="163" name="course-text">
            <a:extLst xmlns:a="http://schemas.openxmlformats.org/drawingml/2006/main">
              <a:ext uri="{FF2B5EF4-FFF2-40B4-BE49-F238E27FC236}">
                <a16:creationId xmlns:a16="http://schemas.microsoft.com/office/drawing/2014/main" id="{A1FC25FE-B849-4146-8D40-471285EDA7D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Plusieurs têtes ne signifient pas plusieurs interprétations humaines garanties.</a:t>
            </a:r>
          </a:p>
        </p:txBody>
      </p:sp>
    </p:spTree>
    <p:extLst>
      <p:ext uri="{BB962C8B-B14F-4D97-AF65-F5344CB8AC3E}">
        <p14:creationId xmlns:p14="http://schemas.microsoft.com/office/powerpoint/2010/main" val="304421154"/>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cba0eed4adc0486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dee3afc2cb66464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5FB087B-151F-4E7D-BE25-E70A7893742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100 / 135</a:t>
            </a:r>
          </a:p>
        </p:txBody>
      </p:sp>
      <p:sp>
        <p:nvSpPr>
          <p:cNvPr id="159" name="course-text">
            <a:extLst xmlns:a="http://schemas.openxmlformats.org/drawingml/2006/main">
              <a:ext uri="{FF2B5EF4-FFF2-40B4-BE49-F238E27FC236}">
                <a16:creationId xmlns:a16="http://schemas.microsoft.com/office/drawing/2014/main" id="{544B2E5A-4AA9-414F-AE3B-EEAF0F73E2C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DÉPLIAGE DES AXES MULTI-TÊTES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3032950"/>
                <a:gridCol w="3242120"/>
                <a:gridCol w="4183380"/>
              </a:tblGrid>
              <a:tr h="504825">
                <a:tc>
                  <a:txBody>
                    <a:bodyPr lIns="114300" tIns="76200" rIns="95250" bIns="57150">
                      <a:noAutofit/>
                    </a:bodyPr>
                    <a:lstStyle/>
                    <a:p>
                      <a:r>
                        <a:rPr sz="1650" b="1">
                          <a:solidFill>
                            <a:srgbClr val="FFFFFF"/>
                          </a:solidFill>
                          <a:latin typeface="DM Sans"/>
                          <a:ea typeface="DM Sans"/>
                          <a:cs typeface="DM Sans"/>
                        </a:rPr>
                        <a:t>Étape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Forme standard</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Exemple B=2,n=4,d=8,h=2</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Projection Q/K/V</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n × d</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2 × 4 × 8</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Séparation des têtes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h × n × dₕ</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2 × 2 × 4 × 4</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Scores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h × n × 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2 × 2 × 4 × 4</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Mélange des valeurs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h × n × dₕ</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2 × 2 × 4 × 4</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Concaténation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n × d</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2 × 4 × 8</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c1b54be6554416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7d33ea8c9cd42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F9BFDFC-0EC5-49FE-8AA1-DC01070A006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101 / 135</a:t>
            </a:r>
          </a:p>
        </p:txBody>
      </p:sp>
      <p:sp>
        <p:nvSpPr>
          <p:cNvPr id="159" name="course-text">
            <a:extLst xmlns:a="http://schemas.openxmlformats.org/drawingml/2006/main">
              <a:ext uri="{FF2B5EF4-FFF2-40B4-BE49-F238E27FC236}">
                <a16:creationId xmlns:a16="http://schemas.microsoft.com/office/drawing/2014/main" id="{1708D903-C51D-407C-B30F-8E63965D556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LAYERNORM : NORMALISER CHAQUE TOKEN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e5abe7b89fb4434">
            <a:extLst>
              <a:ext uri="{96DAC541-7B7A-43D3-8B79-37D633B846F1}">
                <asvg:svgBlip xmlns:asvg="http://schemas.microsoft.com/office/drawing/2016/SVG/main" r:embed="R81f66a5028d741c4"/>
              </a:ext>
            </a:extLst>
          </a:blip>
          <a:stretch xmlns:a="http://schemas.openxmlformats.org/drawingml/2006/main"/>
        </p:blipFill>
        <p:spPr>
          <a:xfrm xmlns:a="http://schemas.openxmlformats.org/drawingml/2006/main">
            <a:off x="933450" y="1809750"/>
            <a:ext cx="6263885" cy="94781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032DB31-0FBB-430F-9BB2-CFFA10182F9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statistiques portent sur les d caractéristiques d’un token.</a:t>
            </a:r>
          </a:p>
        </p:txBody>
      </p:sp>
      <p:sp>
        <p:nvSpPr>
          <p:cNvPr id="162" name="course-text">
            <a:extLst xmlns:a="http://schemas.openxmlformats.org/drawingml/2006/main">
              <a:ext uri="{FF2B5EF4-FFF2-40B4-BE49-F238E27FC236}">
                <a16:creationId xmlns:a16="http://schemas.microsoft.com/office/drawing/2014/main" id="{668A5C2B-1313-4DF1-8938-C36785F1D98C}"/>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Aucune moyenne sur le batch n’est nécessaire dans cette configuration.</a:t>
            </a:r>
          </a:p>
        </p:txBody>
      </p:sp>
      <p:sp>
        <p:nvSpPr>
          <p:cNvPr id="163" name="course-text">
            <a:extLst xmlns:a="http://schemas.openxmlformats.org/drawingml/2006/main">
              <a:ext uri="{FF2B5EF4-FFF2-40B4-BE49-F238E27FC236}">
                <a16:creationId xmlns:a16="http://schemas.microsoft.com/office/drawing/2014/main" id="{4DFBC075-7DD3-4F77-9710-97FE3AD9DD4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même calcul s’applique au train et à l’inférence.</a:t>
            </a:r>
          </a:p>
        </p:txBody>
      </p:sp>
    </p:spTree>
    <p:extLst>
      <p:ext uri="{BB962C8B-B14F-4D97-AF65-F5344CB8AC3E}">
        <p14:creationId xmlns:p14="http://schemas.microsoft.com/office/powerpoint/2010/main" val="304421154"/>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ca73ea03e1244f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399df82fd04409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5861554D-73D3-4394-B8AF-BE15FE28F49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102 / 135</a:t>
            </a:r>
          </a:p>
        </p:txBody>
      </p:sp>
      <p:sp>
        <p:nvSpPr>
          <p:cNvPr id="159" name="course-text">
            <a:extLst xmlns:a="http://schemas.openxmlformats.org/drawingml/2006/main">
              <a:ext uri="{FF2B5EF4-FFF2-40B4-BE49-F238E27FC236}">
                <a16:creationId xmlns:a16="http://schemas.microsoft.com/office/drawing/2014/main" id="{737A09F2-4DD4-459C-B6A7-30837FCB1BD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MLP POSITION PAR POSITION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27bf56eb4ecf4067">
            <a:extLst>
              <a:ext uri="{96DAC541-7B7A-43D3-8B79-37D633B846F1}">
                <asvg:svgBlip xmlns:asvg="http://schemas.microsoft.com/office/drawing/2016/SVG/main" r:embed="Rd378971bb89c4ec6"/>
              </a:ext>
            </a:extLst>
          </a:blip>
          <a:stretch xmlns:a="http://schemas.openxmlformats.org/drawingml/2006/main"/>
        </p:blipFill>
        <p:spPr>
          <a:xfrm xmlns:a="http://schemas.openxmlformats.org/drawingml/2006/main">
            <a:off x="933450" y="1809750"/>
            <a:ext cx="6755338"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75024D0C-9E0E-4ECD-AE88-DC4B1A76108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FFN transforme les caractéristiques de chaque token séparément.</a:t>
            </a:r>
          </a:p>
        </p:txBody>
      </p:sp>
      <p:sp>
        <p:nvSpPr>
          <p:cNvPr id="162" name="course-text">
            <a:extLst xmlns:a="http://schemas.openxmlformats.org/drawingml/2006/main">
              <a:ext uri="{FF2B5EF4-FFF2-40B4-BE49-F238E27FC236}">
                <a16:creationId xmlns:a16="http://schemas.microsoft.com/office/drawing/2014/main" id="{BFAA9D2E-97F7-4460-B658-3766A667834D}"/>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Il élargit souvent la dimension avant de la réduire.</a:t>
            </a:r>
          </a:p>
        </p:txBody>
      </p:sp>
      <p:sp>
        <p:nvSpPr>
          <p:cNvPr id="163" name="course-text">
            <a:extLst xmlns:a="http://schemas.openxmlformats.org/drawingml/2006/main">
              <a:ext uri="{FF2B5EF4-FFF2-40B4-BE49-F238E27FC236}">
                <a16:creationId xmlns:a16="http://schemas.microsoft.com/office/drawing/2014/main" id="{C151E134-627E-446D-A3F9-ED84D5216BE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mêmes poids sont partagés entre toutes les positions.</a:t>
            </a:r>
          </a:p>
        </p:txBody>
      </p:sp>
    </p:spTree>
    <p:extLst>
      <p:ext uri="{BB962C8B-B14F-4D97-AF65-F5344CB8AC3E}">
        <p14:creationId xmlns:p14="http://schemas.microsoft.com/office/powerpoint/2010/main" val="304421154"/>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e41a5e2470e45f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fb762bd75414ec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8434632-55FC-418C-AC69-4AA7F2A2FDC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103 / 135</a:t>
            </a:r>
          </a:p>
        </p:txBody>
      </p:sp>
      <p:sp>
        <p:nvSpPr>
          <p:cNvPr id="159" name="course-text">
            <a:extLst xmlns:a="http://schemas.openxmlformats.org/drawingml/2006/main">
              <a:ext uri="{FF2B5EF4-FFF2-40B4-BE49-F238E27FC236}">
                <a16:creationId xmlns:a16="http://schemas.microsoft.com/office/drawing/2014/main" id="{28869D3A-D700-4DAF-AEE0-F53040F303F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UN BLOC TRANSFORMER PRE-LN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b62578f0f47640d1">
            <a:extLst>
              <a:ext uri="{96DAC541-7B7A-43D3-8B79-37D633B846F1}">
                <asvg:svgBlip xmlns:asvg="http://schemas.microsoft.com/office/drawing/2016/SVG/main" r:embed="Rffff2d170a424578"/>
              </a:ext>
            </a:extLst>
          </a:blip>
          <a:stretch xmlns:a="http://schemas.openxmlformats.org/drawingml/2006/main"/>
        </p:blipFill>
        <p:spPr>
          <a:xfrm xmlns:a="http://schemas.openxmlformats.org/drawingml/2006/main">
            <a:off x="933450" y="1809750"/>
            <a:ext cx="3437307" cy="77934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A275534-BB86-4C26-BF66-7D94E6586EF2}"/>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sous-couche est précédée d’une LayerNorm.</a:t>
            </a:r>
          </a:p>
        </p:txBody>
      </p:sp>
      <p:sp>
        <p:nvSpPr>
          <p:cNvPr id="162" name="course-text">
            <a:extLst xmlns:a="http://schemas.openxmlformats.org/drawingml/2006/main">
              <a:ext uri="{FF2B5EF4-FFF2-40B4-BE49-F238E27FC236}">
                <a16:creationId xmlns:a16="http://schemas.microsoft.com/office/drawing/2014/main" id="{7147A0AC-8CCD-4A63-8E6A-3BCA695276F1}"/>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additions résiduelles conservent la forme B×n×d.</a:t>
            </a:r>
          </a:p>
        </p:txBody>
      </p:sp>
      <p:sp>
        <p:nvSpPr>
          <p:cNvPr id="163" name="course-text">
            <a:extLst xmlns:a="http://schemas.openxmlformats.org/drawingml/2006/main">
              <a:ext uri="{FF2B5EF4-FFF2-40B4-BE49-F238E27FC236}">
                <a16:creationId xmlns:a16="http://schemas.microsoft.com/office/drawing/2014/main" id="{39DB815A-8498-4869-9AFD-F812A74E644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normalisation finale peut compléter la pile.</a:t>
            </a:r>
          </a:p>
        </p:txBody>
      </p:sp>
    </p:spTree>
    <p:extLst>
      <p:ext uri="{BB962C8B-B14F-4D97-AF65-F5344CB8AC3E}">
        <p14:creationId xmlns:p14="http://schemas.microsoft.com/office/powerpoint/2010/main" val="304421154"/>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0ff3cfeebd3454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c86a3ddada3448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1858280-0328-4F5D-92FA-66A83B1A0BBE}"/>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104 / 135</a:t>
            </a:r>
          </a:p>
        </p:txBody>
      </p:sp>
      <p:sp>
        <p:nvSpPr>
          <p:cNvPr id="159" name="course-text">
            <a:extLst xmlns:a="http://schemas.openxmlformats.org/drawingml/2006/main">
              <a:ext uri="{FF2B5EF4-FFF2-40B4-BE49-F238E27FC236}">
                <a16:creationId xmlns:a16="http://schemas.microsoft.com/office/drawing/2014/main" id="{6A0294E0-FA7B-4DBF-AE99-7AFC8129E02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ENCODEUR : CONTEXTUALISER UNE SÉQUENCE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6dc8add36544eca">
            <a:extLst>
              <a:ext uri="{96DAC541-7B7A-43D3-8B79-37D633B846F1}">
                <asvg:svgBlip xmlns:asvg="http://schemas.microsoft.com/office/drawing/2016/SVG/main" r:embed="R70629824f82c4350"/>
              </a:ext>
            </a:extLst>
          </a:blip>
          <a:stretch xmlns:a="http://schemas.openxmlformats.org/drawingml/2006/main"/>
        </p:blipFill>
        <p:spPr>
          <a:xfrm xmlns:a="http://schemas.openxmlformats.org/drawingml/2006/main">
            <a:off x="933450" y="1809750"/>
            <a:ext cx="4258981"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909CF74-2EA2-4330-86A9-92C33504FBD7}"/>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L’attention peut consulter toutes les positions non masquées.</a:t>
            </a:r>
          </a:p>
        </p:txBody>
      </p:sp>
      <p:sp>
        <p:nvSpPr>
          <p:cNvPr id="162" name="course-text">
            <a:extLst xmlns:a="http://schemas.openxmlformats.org/drawingml/2006/main">
              <a:ext uri="{FF2B5EF4-FFF2-40B4-BE49-F238E27FC236}">
                <a16:creationId xmlns:a16="http://schemas.microsoft.com/office/drawing/2014/main" id="{3EC461D0-0585-45F8-BEE0-52839B582B6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pile produit une représentation contextualisée par token.</a:t>
            </a:r>
          </a:p>
        </p:txBody>
      </p:sp>
      <p:sp>
        <p:nvSpPr>
          <p:cNvPr id="163" name="course-text">
            <a:extLst xmlns:a="http://schemas.openxmlformats.org/drawingml/2006/main">
              <a:ext uri="{FF2B5EF4-FFF2-40B4-BE49-F238E27FC236}">
                <a16:creationId xmlns:a16="http://schemas.microsoft.com/office/drawing/2014/main" id="{DBA5632B-81B7-47EA-A9D0-D97C9E96C181}"/>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tête adapte cette représentation à la tâche.</a:t>
            </a:r>
          </a:p>
        </p:txBody>
      </p:sp>
    </p:spTree>
    <p:extLst>
      <p:ext uri="{BB962C8B-B14F-4D97-AF65-F5344CB8AC3E}">
        <p14:creationId xmlns:p14="http://schemas.microsoft.com/office/powerpoint/2010/main" val="304421154"/>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9d77131f7ce4e1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e0593e3a81847e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A563CA2-34D4-47AB-A4C4-D7B1A03FE8A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105 / 135</a:t>
            </a:r>
          </a:p>
        </p:txBody>
      </p:sp>
      <p:sp>
        <p:nvSpPr>
          <p:cNvPr id="159" name="course-text">
            <a:extLst xmlns:a="http://schemas.openxmlformats.org/drawingml/2006/main">
              <a:ext uri="{FF2B5EF4-FFF2-40B4-BE49-F238E27FC236}">
                <a16:creationId xmlns:a16="http://schemas.microsoft.com/office/drawing/2014/main" id="{804CDD16-B7E9-42CC-9D9E-AB4F5C980CD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CROSS-ATTENTION : RELIER DEUX SÉQUENCES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21e589bf88a64456">
            <a:extLst>
              <a:ext uri="{96DAC541-7B7A-43D3-8B79-37D633B846F1}">
                <asvg:svgBlip xmlns:asvg="http://schemas.microsoft.com/office/drawing/2016/SVG/main" r:embed="R8d786ae20f5e4357"/>
              </a:ext>
            </a:extLst>
          </a:blip>
          <a:stretch xmlns:a="http://schemas.openxmlformats.org/drawingml/2006/main"/>
        </p:blipFill>
        <p:spPr>
          <a:xfrm xmlns:a="http://schemas.openxmlformats.org/drawingml/2006/main">
            <a:off x="933450" y="1809750"/>
            <a:ext cx="6960971" cy="32465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CE2534CB-C537-4AC2-9547-9E3BE812B2E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requêtes proviennent de la séquence cible.</a:t>
            </a:r>
          </a:p>
        </p:txBody>
      </p:sp>
      <p:sp>
        <p:nvSpPr>
          <p:cNvPr id="162" name="course-text">
            <a:extLst xmlns:a="http://schemas.openxmlformats.org/drawingml/2006/main">
              <a:ext uri="{FF2B5EF4-FFF2-40B4-BE49-F238E27FC236}">
                <a16:creationId xmlns:a16="http://schemas.microsoft.com/office/drawing/2014/main" id="{4B2C5B75-8EF8-4E53-8427-C01CB312F427}"/>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clés et valeurs proviennent de la mémoire source.</a:t>
            </a:r>
          </a:p>
        </p:txBody>
      </p:sp>
      <p:sp>
        <p:nvSpPr>
          <p:cNvPr id="163" name="course-text">
            <a:extLst xmlns:a="http://schemas.openxmlformats.org/drawingml/2006/main">
              <a:ext uri="{FF2B5EF4-FFF2-40B4-BE49-F238E27FC236}">
                <a16:creationId xmlns:a16="http://schemas.microsoft.com/office/drawing/2014/main" id="{F579EB70-CA3E-49F4-A96C-1416BBFCAE56}"/>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longueurs cible et source peuvent différer.</a:t>
            </a:r>
          </a:p>
        </p:txBody>
      </p:sp>
    </p:spTree>
    <p:extLst>
      <p:ext uri="{BB962C8B-B14F-4D97-AF65-F5344CB8AC3E}">
        <p14:creationId xmlns:p14="http://schemas.microsoft.com/office/powerpoint/2010/main" val="304421154"/>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eaae97056846412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3f1facba14304f6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7A9E711-DC5F-4625-A6F3-4048CF1DC87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106 / 135</a:t>
            </a:r>
          </a:p>
        </p:txBody>
      </p:sp>
      <p:sp>
        <p:nvSpPr>
          <p:cNvPr id="159" name="course-text">
            <a:extLst xmlns:a="http://schemas.openxmlformats.org/drawingml/2006/main">
              <a:ext uri="{FF2B5EF4-FFF2-40B4-BE49-F238E27FC236}">
                <a16:creationId xmlns:a16="http://schemas.microsoft.com/office/drawing/2014/main" id="{D543A04D-A8B8-4F83-B4A9-F77D9D6545A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TROIS FAMILLES D’ARCHITECTURES</a:t>
            </a:r>
          </a:p>
        </p:txBody>
      </p:sp>
      <p:graphicFrame>
        <p:nvGraphicFramePr>
          <p:cNvPr id="173" name=""/>
          <p:cNvGraphicFramePr/>
          <p:nvPr/>
        </p:nvGraphicFramePr>
        <p:xfrm>
          <a:off xmlns:a="http://schemas.openxmlformats.org/drawingml/2006/main" x="876300" y="1762125"/>
          <a:ext xmlns:a="http://schemas.openxmlformats.org/drawingml/2006/main" cx="10458450" cy="2019300"/>
        </p:xfrm>
        <a:graphic xmlns:a="http://schemas.openxmlformats.org/drawingml/2006/main">
          <a:graphicData uri="http://schemas.openxmlformats.org/drawingml/2006/table">
            <a:tbl>
              <a:tblPr/>
              <a:tblGrid>
                <a:gridCol w="2823782"/>
                <a:gridCol w="3660457"/>
                <a:gridCol w="3974211"/>
              </a:tblGrid>
              <a:tr h="504825">
                <a:tc>
                  <a:txBody>
                    <a:bodyPr lIns="114300" tIns="76200" rIns="95250" bIns="57150">
                      <a:noAutofit/>
                    </a:bodyPr>
                    <a:lstStyle/>
                    <a:p>
                      <a:r>
                        <a:rPr sz="1650" b="1">
                          <a:solidFill>
                            <a:srgbClr val="FFFFFF"/>
                          </a:solidFill>
                          <a:latin typeface="DM Sans"/>
                          <a:ea typeface="DM Sans"/>
                          <a:cs typeface="DM Sans"/>
                        </a:rPr>
                        <a:t>Famille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Accès aux positions</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Exemple de tâche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Encodeur</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Toutes les positions disponibles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Classification / étiquetage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Décodeur seul</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Passé et position courante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Prédiction du prochain token</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Encodeur-décodeur</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Source complète + cible causale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Transformation d’une séquence en une autre</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1deda76116e455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e7390fe300043e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3F35851-3FC8-4FD2-A55F-6A4FC6B9801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107 / 135</a:t>
            </a:r>
          </a:p>
        </p:txBody>
      </p:sp>
      <p:sp>
        <p:nvSpPr>
          <p:cNvPr id="159" name="course-text">
            <a:extLst xmlns:a="http://schemas.openxmlformats.org/drawingml/2006/main">
              <a:ext uri="{FF2B5EF4-FFF2-40B4-BE49-F238E27FC236}">
                <a16:creationId xmlns:a16="http://schemas.microsoft.com/office/drawing/2014/main" id="{E481591E-6D3B-48E9-8133-7F96E7D36E1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COÛT DE L’ATTENTION DENSE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970ce2a57834ea6">
            <a:extLst>
              <a:ext uri="{96DAC541-7B7A-43D3-8B79-37D633B846F1}">
                <asvg:svgBlip xmlns:asvg="http://schemas.microsoft.com/office/drawing/2016/SVG/main" r:embed="R81348039f8c240a1"/>
              </a:ext>
            </a:extLst>
          </a:blip>
          <a:stretch xmlns:a="http://schemas.openxmlformats.org/drawingml/2006/main"/>
        </p:blipFill>
        <p:spPr>
          <a:xfrm xmlns:a="http://schemas.openxmlformats.org/drawingml/2006/main">
            <a:off x="933450" y="1809750"/>
            <a:ext cx="6726575" cy="835752"/>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B75EE1E-2E1D-4979-9E4B-C42EAF9AA8AA}"/>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interactions croissent quadratiquement avec n.</a:t>
            </a:r>
          </a:p>
        </p:txBody>
      </p:sp>
      <p:sp>
        <p:nvSpPr>
          <p:cNvPr id="162" name="course-text">
            <a:extLst xmlns:a="http://schemas.openxmlformats.org/drawingml/2006/main">
              <a:ext uri="{FF2B5EF4-FFF2-40B4-BE49-F238E27FC236}">
                <a16:creationId xmlns:a16="http://schemas.microsoft.com/office/drawing/2014/main" id="{4FF59B22-FC20-4F90-8728-E51E4313A267}"/>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projections et le FFN ajoutent un coût dépendant de d².</a:t>
            </a:r>
          </a:p>
        </p:txBody>
      </p:sp>
      <p:sp>
        <p:nvSpPr>
          <p:cNvPr id="163" name="course-text">
            <a:extLst xmlns:a="http://schemas.openxmlformats.org/drawingml/2006/main">
              <a:ext uri="{FF2B5EF4-FFF2-40B4-BE49-F238E27FC236}">
                <a16:creationId xmlns:a16="http://schemas.microsoft.com/office/drawing/2014/main" id="{154B623A-5249-47F0-B98E-AEF91EFBB5F1}"/>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implémentations optimisées peuvent réduire la mémoire matérialisée.</a:t>
            </a:r>
          </a:p>
        </p:txBody>
      </p:sp>
    </p:spTree>
    <p:extLst>
      <p:ext uri="{BB962C8B-B14F-4D97-AF65-F5344CB8AC3E}">
        <p14:creationId xmlns:p14="http://schemas.microsoft.com/office/powerpoint/2010/main" val="304421154"/>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84271b0e3674e0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c489e4f09bb470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C97B708-667B-4626-83F6-9F6A47DEDF3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108 / 135</a:t>
            </a:r>
          </a:p>
        </p:txBody>
      </p:sp>
      <p:sp>
        <p:nvSpPr>
          <p:cNvPr id="159" name="course-text">
            <a:extLst xmlns:a="http://schemas.openxmlformats.org/drawingml/2006/main">
              <a:ext uri="{FF2B5EF4-FFF2-40B4-BE49-F238E27FC236}">
                <a16:creationId xmlns:a16="http://schemas.microsoft.com/office/drawing/2014/main" id="{93718EF6-11C0-43E0-B8A8-EE44F731DCE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ATTENTION MANUELLE : LE CŒUR DU CODE</a:t>
            </a:r>
          </a:p>
        </p:txBody>
      </p:sp>
      <p:sp>
        <p:nvSpPr>
          <p:cNvPr id="160" name="course-text">
            <a:extLst xmlns:a="http://schemas.openxmlformats.org/drawingml/2006/main">
              <a:ext uri="{FF2B5EF4-FFF2-40B4-BE49-F238E27FC236}">
                <a16:creationId xmlns:a16="http://schemas.microsoft.com/office/drawing/2014/main" id="{B74A9283-4E92-4033-88C8-3AD471E0CCF1}"/>
              </a:ext>
            </a:extLst>
          </p:cNvPr>
          <p:cNvSpPr>
            <a:spLocks xmlns:a="http://schemas.openxmlformats.org/drawingml/2006/main" noGrp="1"/>
          </p:cNvSpPr>
          <p:nvPr/>
        </p:nvSpPr>
        <p:spPr>
          <a:xfrm xmlns:a="http://schemas.openxmlformats.org/drawingml/2006/main">
            <a:off x="933450" y="1771650"/>
            <a:ext cx="10382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scores = q @ k.transpose(-2, -1) / math.sqrt(d_head)</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scores = scores.masked_fill(forbidden, float("-inf"))</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weights = torch.softmax(scores, dim=-1)</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context = weights @ v</a:t>
            </a:r>
          </a:p>
        </p:txBody>
      </p:sp>
      <p:sp>
        <p:nvSpPr>
          <p:cNvPr id="161" name="course-text">
            <a:extLst xmlns:a="http://schemas.openxmlformats.org/drawingml/2006/main">
              <a:ext uri="{FF2B5EF4-FFF2-40B4-BE49-F238E27FC236}">
                <a16:creationId xmlns:a16="http://schemas.microsoft.com/office/drawing/2014/main" id="{7B15EBC0-21B2-40BF-980D-6D5AF0487023}"/>
              </a:ext>
            </a:extLst>
          </p:cNvPr>
          <p:cNvSpPr>
            <a:spLocks xmlns:a="http://schemas.openxmlformats.org/drawingml/2006/main" noGrp="1"/>
          </p:cNvSpPr>
          <p:nvPr/>
        </p:nvSpPr>
        <p:spPr>
          <a:xfrm xmlns:a="http://schemas.openxmlformats.org/drawingml/2006/main">
            <a:off x="933450" y="44386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Le dernier axe contient les clés.</a:t>
            </a:r>
          </a:p>
        </p:txBody>
      </p:sp>
      <p:sp>
        <p:nvSpPr>
          <p:cNvPr id="162" name="course-text">
            <a:extLst xmlns:a="http://schemas.openxmlformats.org/drawingml/2006/main">
              <a:ext uri="{FF2B5EF4-FFF2-40B4-BE49-F238E27FC236}">
                <a16:creationId xmlns:a16="http://schemas.microsoft.com/office/drawing/2014/main" id="{8BDAA36D-6965-4984-BEA7-B641F5F51D7C}"/>
              </a:ext>
            </a:extLst>
          </p:cNvPr>
          <p:cNvSpPr>
            <a:spLocks xmlns:a="http://schemas.openxmlformats.org/drawingml/2006/main" noGrp="1"/>
          </p:cNvSpPr>
          <p:nvPr/>
        </p:nvSpPr>
        <p:spPr>
          <a:xfrm xmlns:a="http://schemas.openxmlformats.org/drawingml/2006/main">
            <a:off x="933450" y="48482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Le masque booléen True signifie « interdit » dans ce code.</a:t>
            </a:r>
          </a:p>
        </p:txBody>
      </p:sp>
      <p:sp>
        <p:nvSpPr>
          <p:cNvPr id="163" name="course-text">
            <a:extLst xmlns:a="http://schemas.openxmlformats.org/drawingml/2006/main">
              <a:ext uri="{FF2B5EF4-FFF2-40B4-BE49-F238E27FC236}">
                <a16:creationId xmlns:a16="http://schemas.microsoft.com/office/drawing/2014/main" id="{849738CE-9450-4875-BF8D-6E5828431EBD}"/>
              </a:ext>
            </a:extLst>
          </p:cNvPr>
          <p:cNvSpPr>
            <a:spLocks xmlns:a="http://schemas.openxmlformats.org/drawingml/2006/main" noGrp="1"/>
          </p:cNvSpPr>
          <p:nvPr/>
        </p:nvSpPr>
        <p:spPr>
          <a:xfrm xmlns:a="http://schemas.openxmlformats.org/drawingml/2006/main">
            <a:off x="933450" y="52578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Les valeurs n’interviennent qu’après le calcul des poids.</a:t>
            </a:r>
          </a:p>
        </p:txBody>
      </p:sp>
    </p:spTree>
    <p:extLst>
      <p:ext uri="{BB962C8B-B14F-4D97-AF65-F5344CB8AC3E}">
        <p14:creationId xmlns:p14="http://schemas.microsoft.com/office/powerpoint/2010/main" val="304421154"/>
      </p:ext>
    </p:extLst>
  </p:cSld>
</p:sld>
</file>

<file path=ppt/slides/slide109.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04 · VÉRIFIER L’ATTENTION</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bf3d4ce9ecb8464c">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04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Un exemple 2×2 calculé à la main, puis un batch multi-têtes.</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f1e7b4134ca4431f">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Implémenter et inspecter les projections, poids, masques et gradients.</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f9b903bf9b9746bb">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Sommes des lignes, dimensions et test de non-accès au futur.</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e02b6176bd994088">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150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83bbaf126ab940e1">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7ffe917537294c08">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485ee83415624a6e">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4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9d86a6cec35d46e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794c5d02c75f45e3">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35E69385-73B6-4EB4-9BDD-76796C0E4A8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109 / 135</a:t>
            </a:r>
          </a:p>
        </p:txBody>
      </p:sp>
    </p:spTree>
    <p:extLst>
      <p:ext uri="{BB962C8B-B14F-4D97-AF65-F5344CB8AC3E}">
        <p14:creationId xmlns:p14="http://schemas.microsoft.com/office/powerpoint/2010/main" val="1432818840"/>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e980aba7102c42c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8139acff0da14a8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22E41CA-EE84-44A1-BD26-D90817AE5AC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110 / 135</a:t>
            </a:r>
          </a:p>
        </p:txBody>
      </p:sp>
      <p:sp>
        <p:nvSpPr>
          <p:cNvPr id="159" name="course-text">
            <a:extLst xmlns:a="http://schemas.openxmlformats.org/drawingml/2006/main">
              <a:ext uri="{FF2B5EF4-FFF2-40B4-BE49-F238E27FC236}">
                <a16:creationId xmlns:a16="http://schemas.microsoft.com/office/drawing/2014/main" id="{4660D585-10FF-487D-89F6-ADCDBAC83CF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EXERCICE · UN BLOC À 256 DIMENSIONS</a:t>
            </a:r>
          </a:p>
        </p:txBody>
      </p:sp>
      <p:sp>
        <p:nvSpPr>
          <p:cNvPr id="160" name="course-text">
            <a:extLst xmlns:a="http://schemas.openxmlformats.org/drawingml/2006/main">
              <a:ext uri="{FF2B5EF4-FFF2-40B4-BE49-F238E27FC236}">
                <a16:creationId xmlns:a16="http://schemas.microsoft.com/office/drawing/2014/main" id="{3ABB21A7-274E-49B2-BBD5-65F10B1F40B2}"/>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d=256, h=8, d_ff=1024 ; ignorer les biais et normalisations.</a:t>
            </a:r>
          </a:p>
        </p:txBody>
      </p:sp>
      <p:sp>
        <p:nvSpPr>
          <p:cNvPr id="161" name="course-text">
            <a:extLst xmlns:a="http://schemas.openxmlformats.org/drawingml/2006/main">
              <a:ext uri="{FF2B5EF4-FFF2-40B4-BE49-F238E27FC236}">
                <a16:creationId xmlns:a16="http://schemas.microsoft.com/office/drawing/2014/main" id="{F150665E-6DBF-4BFA-9CFA-09C11C5952FD}"/>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Compter les paramètres Q, K, V, O puis ceux du FFN.</a:t>
            </a:r>
          </a:p>
        </p:txBody>
      </p:sp>
      <p:sp>
        <p:nvSpPr>
          <p:cNvPr id="162" name="course-text">
            <a:extLst xmlns:a="http://schemas.openxmlformats.org/drawingml/2006/main">
              <a:ext uri="{FF2B5EF4-FFF2-40B4-BE49-F238E27FC236}">
                <a16:creationId xmlns:a16="http://schemas.microsoft.com/office/drawing/2014/main" id="{5EDDC099-B711-421E-94D9-005737D081DA}"/>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Comparer leur poids relatif et donner la largeur de chaque tête.</a:t>
            </a:r>
          </a:p>
        </p:txBody>
      </p:sp>
    </p:spTree>
    <p:extLst>
      <p:ext uri="{BB962C8B-B14F-4D97-AF65-F5344CB8AC3E}">
        <p14:creationId xmlns:p14="http://schemas.microsoft.com/office/powerpoint/2010/main" val="304421154"/>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96e4821ba6d48d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99ba7f6f34f499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C2EEC95-2A32-440B-8C5B-6BD05E6CF36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111 / 135</a:t>
            </a:r>
          </a:p>
        </p:txBody>
      </p:sp>
      <p:sp>
        <p:nvSpPr>
          <p:cNvPr id="159" name="course-text">
            <a:extLst xmlns:a="http://schemas.openxmlformats.org/drawingml/2006/main">
              <a:ext uri="{FF2B5EF4-FFF2-40B4-BE49-F238E27FC236}">
                <a16:creationId xmlns:a16="http://schemas.microsoft.com/office/drawing/2014/main" id="{6E36F02E-3BFF-4E6F-9F98-9825E9D2F5E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4 · À RETENIR</a:t>
            </a:r>
          </a:p>
        </p:txBody>
      </p:sp>
      <p:sp>
        <p:nvSpPr>
          <p:cNvPr id="160" name="course-text">
            <a:extLst xmlns:a="http://schemas.openxmlformats.org/drawingml/2006/main">
              <a:ext uri="{FF2B5EF4-FFF2-40B4-BE49-F238E27FC236}">
                <a16:creationId xmlns:a16="http://schemas.microsoft.com/office/drawing/2014/main" id="{03454A65-ABFF-4098-BBE6-4E973B5430F4}"/>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QKᵀ compare ; softmax normalise ; AV agrège.</a:t>
            </a:r>
          </a:p>
        </p:txBody>
      </p:sp>
      <p:sp>
        <p:nvSpPr>
          <p:cNvPr id="161" name="course-text">
            <a:extLst xmlns:a="http://schemas.openxmlformats.org/drawingml/2006/main">
              <a:ext uri="{FF2B5EF4-FFF2-40B4-BE49-F238E27FC236}">
                <a16:creationId xmlns:a16="http://schemas.microsoft.com/office/drawing/2014/main" id="{A046DF48-4523-4C59-B481-4AA1C1B6A58D}"/>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Positions et masques définissent l’information accessible.</a:t>
            </a:r>
          </a:p>
        </p:txBody>
      </p:sp>
      <p:sp>
        <p:nvSpPr>
          <p:cNvPr id="162" name="course-text">
            <a:extLst xmlns:a="http://schemas.openxmlformats.org/drawingml/2006/main">
              <a:ext uri="{FF2B5EF4-FFF2-40B4-BE49-F238E27FC236}">
                <a16:creationId xmlns:a16="http://schemas.microsoft.com/office/drawing/2014/main" id="{9AFC8CD1-3BBF-462E-8262-549A3F2D452C}"/>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Résidus, LayerNorm et FFN complètent l’attention dans un bloc.</a:t>
            </a:r>
          </a:p>
        </p:txBody>
      </p:sp>
      <p:sp>
        <p:nvSpPr>
          <p:cNvPr id="163" name="course-text">
            <a:extLst xmlns:a="http://schemas.openxmlformats.org/drawingml/2006/main">
              <a:ext uri="{FF2B5EF4-FFF2-40B4-BE49-F238E27FC236}">
                <a16:creationId xmlns:a16="http://schemas.microsoft.com/office/drawing/2014/main" id="{40151A3C-F5B5-430D-B19E-0A065E31EC1D}"/>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justesse se vérifie par les axes, les sommes et la causalité.</a:t>
            </a:r>
          </a:p>
        </p:txBody>
      </p:sp>
    </p:spTree>
    <p:extLst>
      <p:ext uri="{BB962C8B-B14F-4D97-AF65-F5344CB8AC3E}">
        <p14:creationId xmlns:p14="http://schemas.microsoft.com/office/powerpoint/2010/main" val="304421154"/>
      </p:ext>
    </p:extLst>
  </p:cSld>
</p:sld>
</file>

<file path=ppt/slides/slide112.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05</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MODÈLES CAUSAUX
ET SYNTHÈSE</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867411dbcf2746b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5ae5b905d443489a">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59AD2094-E041-4B17-92E6-FFB499595BE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112 / 135</a:t>
            </a:r>
          </a:p>
        </p:txBody>
      </p:sp>
      <p:sp>
        <p:nvSpPr>
          <p:cNvPr id="144" name="course-text">
            <a:extLst xmlns:a="http://schemas.openxmlformats.org/drawingml/2006/main">
              <a:ext uri="{FF2B5EF4-FFF2-40B4-BE49-F238E27FC236}">
                <a16:creationId xmlns:a16="http://schemas.microsoft.com/office/drawing/2014/main" id="{16FB6479-9CF6-4BF8-93B6-F9441F702458}"/>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Entraîner, générer, comparer et expliquer</a:t>
            </a:r>
          </a:p>
        </p:txBody>
      </p:sp>
    </p:spTree>
    <p:extLst>
      <p:ext uri="{BB962C8B-B14F-4D97-AF65-F5344CB8AC3E}">
        <p14:creationId xmlns:p14="http://schemas.microsoft.com/office/powerpoint/2010/main" val="375643571"/>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405287567286450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75677cc3e57c42c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918640FB-DCAF-4E98-8E46-2379E4EC1A0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113 / 135</a:t>
            </a:r>
          </a:p>
        </p:txBody>
      </p:sp>
      <p:sp>
        <p:nvSpPr>
          <p:cNvPr id="159" name="course-text">
            <a:extLst xmlns:a="http://schemas.openxmlformats.org/drawingml/2006/main">
              <a:ext uri="{FF2B5EF4-FFF2-40B4-BE49-F238E27FC236}">
                <a16:creationId xmlns:a16="http://schemas.microsoft.com/office/drawing/2014/main" id="{D86A88EE-55AA-4521-B50A-CE611ADA7B6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5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Modélisation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Objectif causal, génération et perplexité</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75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Vision Transformer</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Patches, position et comparaison aux CNN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60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Protocole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Ablations, limites et préparation du projet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45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05</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Mini-Transformer causal sur séquences synthétiques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180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Évaluation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Restitution argumentée et synthèse transversale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A54B9160-CB56-4297-958A-EE861EE2B5D9}"/>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d3f82208ea842c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fcce1fe2d87468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EA5AF3B-874B-4715-BE07-9F962120616D}"/>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114 / 135</a:t>
            </a:r>
          </a:p>
        </p:txBody>
      </p:sp>
      <p:sp>
        <p:nvSpPr>
          <p:cNvPr id="159" name="course-text">
            <a:extLst xmlns:a="http://schemas.openxmlformats.org/drawingml/2006/main">
              <a:ext uri="{FF2B5EF4-FFF2-40B4-BE49-F238E27FC236}">
                <a16:creationId xmlns:a16="http://schemas.microsoft.com/office/drawing/2014/main" id="{270012CC-2368-4CA6-8889-CB95FB74528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OBJECTIF AUTO-RÉGRESSIF</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49f8504d9c64d08">
            <a:extLst>
              <a:ext uri="{96DAC541-7B7A-43D3-8B79-37D633B846F1}">
                <asvg:svgBlip xmlns:asvg="http://schemas.microsoft.com/office/drawing/2016/SVG/main" r:embed="Rb6e9899e3bc34367"/>
              </a:ext>
            </a:extLst>
          </a:blip>
          <a:stretch xmlns:a="http://schemas.openxmlformats.org/drawingml/2006/main"/>
        </p:blipFill>
        <p:spPr>
          <a:xfrm xmlns:a="http://schemas.openxmlformats.org/drawingml/2006/main">
            <a:off x="933450" y="1809750"/>
            <a:ext cx="3377752" cy="180975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C31CBB5-3342-4A34-BD9F-1E80F4EB53CD}"/>
              </a:ext>
            </a:extLst>
          </p:cNvPr>
          <p:cNvSpPr>
            <a:spLocks xmlns:a="http://schemas.openxmlformats.org/drawingml/2006/main" noGrp="1"/>
          </p:cNvSpPr>
          <p:nvPr/>
        </p:nvSpPr>
        <p:spPr>
          <a:xfrm xmlns:a="http://schemas.openxmlformats.org/drawingml/2006/main">
            <a:off x="933450" y="3895725"/>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modèle factorise la probabilité de la séquence.</a:t>
            </a:r>
          </a:p>
        </p:txBody>
      </p:sp>
      <p:sp>
        <p:nvSpPr>
          <p:cNvPr id="162" name="course-text">
            <a:extLst xmlns:a="http://schemas.openxmlformats.org/drawingml/2006/main">
              <a:ext uri="{FF2B5EF4-FFF2-40B4-BE49-F238E27FC236}">
                <a16:creationId xmlns:a16="http://schemas.microsoft.com/office/drawing/2014/main" id="{5FACD7B1-A7A9-4143-A568-A35CD9DEBC8B}"/>
              </a:ext>
            </a:extLst>
          </p:cNvPr>
          <p:cNvSpPr>
            <a:spLocks xmlns:a="http://schemas.openxmlformats.org/drawingml/2006/main" noGrp="1"/>
          </p:cNvSpPr>
          <p:nvPr/>
        </p:nvSpPr>
        <p:spPr>
          <a:xfrm xmlns:a="http://schemas.openxmlformats.org/drawingml/2006/main">
            <a:off x="933450" y="4483100"/>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terme ne conditionne que sur les tokens précédents.</a:t>
            </a:r>
          </a:p>
        </p:txBody>
      </p:sp>
      <p:sp>
        <p:nvSpPr>
          <p:cNvPr id="163" name="course-text">
            <a:extLst xmlns:a="http://schemas.openxmlformats.org/drawingml/2006/main">
              <a:ext uri="{FF2B5EF4-FFF2-40B4-BE49-F238E27FC236}">
                <a16:creationId xmlns:a16="http://schemas.microsoft.com/office/drawing/2014/main" id="{5872BEBC-ACBC-462C-A20A-2154387CD6C8}"/>
              </a:ext>
            </a:extLst>
          </p:cNvPr>
          <p:cNvSpPr>
            <a:spLocks xmlns:a="http://schemas.openxmlformats.org/drawingml/2006/main" noGrp="1"/>
          </p:cNvSpPr>
          <p:nvPr/>
        </p:nvSpPr>
        <p:spPr>
          <a:xfrm xmlns:a="http://schemas.openxmlformats.org/drawingml/2006/main">
            <a:off x="933450" y="5070475"/>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L’entraînement minimise la log-vraisemblance négative.</a:t>
            </a:r>
          </a:p>
        </p:txBody>
      </p:sp>
    </p:spTree>
    <p:extLst>
      <p:ext uri="{BB962C8B-B14F-4D97-AF65-F5344CB8AC3E}">
        <p14:creationId xmlns:p14="http://schemas.microsoft.com/office/powerpoint/2010/main" val="304421154"/>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a7aaa3986c84bf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cef08b8e5d3480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6A0404E-BAEF-4C15-A593-4E66DF4A686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115 / 135</a:t>
            </a:r>
          </a:p>
        </p:txBody>
      </p:sp>
      <p:sp>
        <p:nvSpPr>
          <p:cNvPr id="159" name="course-text">
            <a:extLst xmlns:a="http://schemas.openxmlformats.org/drawingml/2006/main">
              <a:ext uri="{FF2B5EF4-FFF2-40B4-BE49-F238E27FC236}">
                <a16:creationId xmlns:a16="http://schemas.microsoft.com/office/drawing/2014/main" id="{B8794EB3-ECD9-4F63-A0B7-00B825328D57}"/>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DÉCALER ENTRÉES ET CIBLES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1c658b589fc4871">
            <a:extLst>
              <a:ext uri="{96DAC541-7B7A-43D3-8B79-37D633B846F1}">
                <asvg:svgBlip xmlns:asvg="http://schemas.microsoft.com/office/drawing/2016/SVG/main" r:embed="R6bf0758f7d8e41b8"/>
              </a:ext>
            </a:extLst>
          </a:blip>
          <a:stretch xmlns:a="http://schemas.openxmlformats.org/drawingml/2006/main"/>
        </p:blipFill>
        <p:spPr>
          <a:xfrm xmlns:a="http://schemas.openxmlformats.org/drawingml/2006/main">
            <a:off x="933450" y="1809750"/>
            <a:ext cx="4638669" cy="28961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97260062-F4FC-43E2-85F7-4FBC0D5B44C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Entrée : début, x₁, x₂, …, xₜ₋₁.</a:t>
            </a:r>
          </a:p>
        </p:txBody>
      </p:sp>
      <p:sp>
        <p:nvSpPr>
          <p:cNvPr id="162" name="course-text">
            <a:extLst xmlns:a="http://schemas.openxmlformats.org/drawingml/2006/main">
              <a:ext uri="{FF2B5EF4-FFF2-40B4-BE49-F238E27FC236}">
                <a16:creationId xmlns:a16="http://schemas.microsoft.com/office/drawing/2014/main" id="{9B8F3D46-5F70-46FA-AB01-EBE9AE466711}"/>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Cible : x₁, x₂, …, xₜ.</a:t>
            </a:r>
          </a:p>
        </p:txBody>
      </p:sp>
      <p:sp>
        <p:nvSpPr>
          <p:cNvPr id="163" name="course-text">
            <a:extLst xmlns:a="http://schemas.openxmlformats.org/drawingml/2006/main">
              <a:ext uri="{FF2B5EF4-FFF2-40B4-BE49-F238E27FC236}">
                <a16:creationId xmlns:a16="http://schemas.microsoft.com/office/drawing/2014/main" id="{33BFF079-F267-461B-A5E5-FBCDDE09F705}"/>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masque causal ne remplace pas ce décalage.</a:t>
            </a:r>
          </a:p>
        </p:txBody>
      </p:sp>
    </p:spTree>
    <p:extLst>
      <p:ext uri="{BB962C8B-B14F-4D97-AF65-F5344CB8AC3E}">
        <p14:creationId xmlns:p14="http://schemas.microsoft.com/office/powerpoint/2010/main" val="304421154"/>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f1a79cb216454a7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df79c63a83524d9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CF58D37-D7C0-445F-88EE-351B42A116B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116 / 135</a:t>
            </a:r>
          </a:p>
        </p:txBody>
      </p:sp>
      <p:sp>
        <p:nvSpPr>
          <p:cNvPr id="159" name="course-text">
            <a:extLst xmlns:a="http://schemas.openxmlformats.org/drawingml/2006/main">
              <a:ext uri="{FF2B5EF4-FFF2-40B4-BE49-F238E27FC236}">
                <a16:creationId xmlns:a16="http://schemas.microsoft.com/office/drawing/2014/main" id="{FF39942B-D7D6-450E-A576-C2D9F5BB971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TEACHER FORCING ET GÉNÉRATION</a:t>
            </a:r>
          </a:p>
        </p:txBody>
      </p:sp>
      <p:sp>
        <p:nvSpPr>
          <p:cNvPr id="160" name="course-text">
            <a:extLst xmlns:a="http://schemas.openxmlformats.org/drawingml/2006/main">
              <a:ext uri="{FF2B5EF4-FFF2-40B4-BE49-F238E27FC236}">
                <a16:creationId xmlns:a16="http://schemas.microsoft.com/office/drawing/2014/main" id="{8211A820-0E69-45E5-A63E-79B3F37B326B}"/>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Au train, les préfixes contiennent les vrais tokens.</a:t>
            </a:r>
          </a:p>
        </p:txBody>
      </p:sp>
      <p:sp>
        <p:nvSpPr>
          <p:cNvPr id="161" name="course-text">
            <a:extLst xmlns:a="http://schemas.openxmlformats.org/drawingml/2006/main">
              <a:ext uri="{FF2B5EF4-FFF2-40B4-BE49-F238E27FC236}">
                <a16:creationId xmlns:a16="http://schemas.microsoft.com/office/drawing/2014/main" id="{D24D1BCC-8646-412C-9B2D-EF5E3F96F18F}"/>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À l’inférence, le modèle réutilise ses propres sorties.</a:t>
            </a:r>
          </a:p>
        </p:txBody>
      </p:sp>
      <p:sp>
        <p:nvSpPr>
          <p:cNvPr id="162" name="course-text">
            <a:extLst xmlns:a="http://schemas.openxmlformats.org/drawingml/2006/main">
              <a:ext uri="{FF2B5EF4-FFF2-40B4-BE49-F238E27FC236}">
                <a16:creationId xmlns:a16="http://schemas.microsoft.com/office/drawing/2014/main" id="{CBCFC259-4CA2-4EBA-9C9D-230278DD0EFE}"/>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erreur peut donc modifier les contextes futurs.</a:t>
            </a:r>
          </a:p>
        </p:txBody>
      </p:sp>
    </p:spTree>
    <p:extLst>
      <p:ext uri="{BB962C8B-B14F-4D97-AF65-F5344CB8AC3E}">
        <p14:creationId xmlns:p14="http://schemas.microsoft.com/office/powerpoint/2010/main" val="304421154"/>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88017606acd43b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4dd003036ca4c6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1E566BA-77D7-4716-8192-BBFFF9D820D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117 / 135</a:t>
            </a:r>
          </a:p>
        </p:txBody>
      </p:sp>
      <p:sp>
        <p:nvSpPr>
          <p:cNvPr id="159" name="course-text">
            <a:extLst xmlns:a="http://schemas.openxmlformats.org/drawingml/2006/main">
              <a:ext uri="{FF2B5EF4-FFF2-40B4-BE49-F238E27FC236}">
                <a16:creationId xmlns:a16="http://schemas.microsoft.com/office/drawing/2014/main" id="{8E8A97B8-EB59-4760-84B1-C85E74603D2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DÉCODAGE : ARGMAX, TEMPÉRATURE ET ÉCHANTILLONNAGE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f448bea258b442bf">
            <a:extLst>
              <a:ext uri="{96DAC541-7B7A-43D3-8B79-37D633B846F1}">
                <asvg:svgBlip xmlns:asvg="http://schemas.microsoft.com/office/drawing/2016/SVG/main" r:embed="R4b5c62d061a241fd"/>
              </a:ext>
            </a:extLst>
          </a:blip>
          <a:stretch xmlns:a="http://schemas.openxmlformats.org/drawingml/2006/main"/>
        </p:blipFill>
        <p:spPr>
          <a:xfrm xmlns:a="http://schemas.openxmlformats.org/drawingml/2006/main">
            <a:off x="933450" y="1809750"/>
            <a:ext cx="6059142" cy="33525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EFD19FC-3847-4AB5-A599-5F7BD5954B60}"/>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Argmax produit une continuation déterministe pour un modèle fixé.</a:t>
            </a:r>
          </a:p>
        </p:txBody>
      </p:sp>
      <p:sp>
        <p:nvSpPr>
          <p:cNvPr id="162" name="course-text">
            <a:extLst xmlns:a="http://schemas.openxmlformats.org/drawingml/2006/main">
              <a:ext uri="{FF2B5EF4-FFF2-40B4-BE49-F238E27FC236}">
                <a16:creationId xmlns:a16="http://schemas.microsoft.com/office/drawing/2014/main" id="{C81A69F5-9821-45CA-B8F3-2E01020085F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température agit sur la concentration de la distribution.</a:t>
            </a:r>
          </a:p>
        </p:txBody>
      </p:sp>
      <p:sp>
        <p:nvSpPr>
          <p:cNvPr id="163" name="course-text">
            <a:extLst xmlns:a="http://schemas.openxmlformats.org/drawingml/2006/main">
              <a:ext uri="{FF2B5EF4-FFF2-40B4-BE49-F238E27FC236}">
                <a16:creationId xmlns:a16="http://schemas.microsoft.com/office/drawing/2014/main" id="{AEF1C900-E6E2-4DD4-BC9D-DE433C449E8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Top-k et top-p restreignent les candidats selon des règles différentes.</a:t>
            </a:r>
          </a:p>
        </p:txBody>
      </p:sp>
    </p:spTree>
    <p:extLst>
      <p:ext uri="{BB962C8B-B14F-4D97-AF65-F5344CB8AC3E}">
        <p14:creationId xmlns:p14="http://schemas.microsoft.com/office/powerpoint/2010/main" val="304421154"/>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a58435ceeb1485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b09bf0173d3412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8851C91-9237-438A-A95F-88226C276F7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118 / 135</a:t>
            </a:r>
          </a:p>
        </p:txBody>
      </p:sp>
      <p:sp>
        <p:nvSpPr>
          <p:cNvPr id="159" name="course-text">
            <a:extLst xmlns:a="http://schemas.openxmlformats.org/drawingml/2006/main">
              <a:ext uri="{FF2B5EF4-FFF2-40B4-BE49-F238E27FC236}">
                <a16:creationId xmlns:a16="http://schemas.microsoft.com/office/drawing/2014/main" id="{E0021995-0F4F-4826-B95C-30FB913E789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PERPLEXITÉ ET NORMALISATION DE LA PERTE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604c311bd82a4f80">
            <a:extLst>
              <a:ext uri="{96DAC541-7B7A-43D3-8B79-37D633B846F1}">
                <asvg:svgBlip xmlns:asvg="http://schemas.microsoft.com/office/drawing/2016/SVG/main" r:embed="R0ae6ef6debf04501"/>
              </a:ext>
            </a:extLst>
          </a:blip>
          <a:stretch xmlns:a="http://schemas.openxmlformats.org/drawingml/2006/main"/>
        </p:blipFill>
        <p:spPr>
          <a:xfrm xmlns:a="http://schemas.openxmlformats.org/drawingml/2006/main">
            <a:off x="933450" y="1809750"/>
            <a:ext cx="6939370" cy="97020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33C3CB0-20D1-48CD-8A81-6913C4D7EFB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des logarithmes naturels, la perplexité vaut exp(entropie croisée).</a:t>
            </a:r>
          </a:p>
        </p:txBody>
      </p:sp>
      <p:sp>
        <p:nvSpPr>
          <p:cNvPr id="162" name="course-text">
            <a:extLst xmlns:a="http://schemas.openxmlformats.org/drawingml/2006/main">
              <a:ext uri="{FF2B5EF4-FFF2-40B4-BE49-F238E27FC236}">
                <a16:creationId xmlns:a16="http://schemas.microsoft.com/office/drawing/2014/main" id="{FCB7AAFF-6020-4B9D-8AFF-FA00EF978C7B}"/>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Elle dépend des tokens, de la distribution et du protocole.</a:t>
            </a:r>
          </a:p>
        </p:txBody>
      </p:sp>
      <p:sp>
        <p:nvSpPr>
          <p:cNvPr id="163" name="course-text">
            <a:extLst xmlns:a="http://schemas.openxmlformats.org/drawingml/2006/main">
              <a:ext uri="{FF2B5EF4-FFF2-40B4-BE49-F238E27FC236}">
                <a16:creationId xmlns:a16="http://schemas.microsoft.com/office/drawing/2014/main" id="{756A7485-E224-4D8D-BB87-B355636BE872}"/>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Comparer uniquement des évaluations réellement compatibles.</a:t>
            </a:r>
          </a:p>
        </p:txBody>
      </p:sp>
    </p:spTree>
    <p:extLst>
      <p:ext uri="{BB962C8B-B14F-4D97-AF65-F5344CB8AC3E}">
        <p14:creationId xmlns:p14="http://schemas.microsoft.com/office/powerpoint/2010/main" val="304421154"/>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6f2996cc9b64d3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84b5d0ada3947a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7A2EF97-727E-4090-9372-DB48A9B544F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119 / 135</a:t>
            </a:r>
          </a:p>
        </p:txBody>
      </p:sp>
      <p:sp>
        <p:nvSpPr>
          <p:cNvPr id="159" name="course-text">
            <a:extLst xmlns:a="http://schemas.openxmlformats.org/drawingml/2006/main">
              <a:ext uri="{FF2B5EF4-FFF2-40B4-BE49-F238E27FC236}">
                <a16:creationId xmlns:a16="http://schemas.microsoft.com/office/drawing/2014/main" id="{3E8876D1-DDA1-475B-8876-0ED3DC81DFE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CACHE K/V À L’INFÉRENCE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dc5133d0cc184c5e">
            <a:extLst>
              <a:ext uri="{96DAC541-7B7A-43D3-8B79-37D633B846F1}">
                <asvg:svgBlip xmlns:asvg="http://schemas.microsoft.com/office/drawing/2016/SVG/main" r:embed="Rd47fee61cca7489b"/>
              </a:ext>
            </a:extLst>
          </a:blip>
          <a:stretch xmlns:a="http://schemas.openxmlformats.org/drawingml/2006/main"/>
        </p:blipFill>
        <p:spPr>
          <a:xfrm xmlns:a="http://schemas.openxmlformats.org/drawingml/2006/main">
            <a:off x="933450" y="1809750"/>
            <a:ext cx="5457894" cy="29802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9993D1EB-BB7C-4B55-BB3C-B5B29D20DEC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clés et valeurs des tokens passés peuvent être conservées par couche.</a:t>
            </a:r>
          </a:p>
        </p:txBody>
      </p:sp>
      <p:sp>
        <p:nvSpPr>
          <p:cNvPr id="162" name="course-text">
            <a:extLst xmlns:a="http://schemas.openxmlformats.org/drawingml/2006/main">
              <a:ext uri="{FF2B5EF4-FFF2-40B4-BE49-F238E27FC236}">
                <a16:creationId xmlns:a16="http://schemas.microsoft.com/office/drawing/2014/main" id="{76D4E3E1-024F-421F-A9E5-C72FC38B20B4}"/>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nouvelle requête consulte ce passé déjà calculé.</a:t>
            </a:r>
          </a:p>
        </p:txBody>
      </p:sp>
      <p:sp>
        <p:nvSpPr>
          <p:cNvPr id="163" name="course-text">
            <a:extLst xmlns:a="http://schemas.openxmlformats.org/drawingml/2006/main">
              <a:ext uri="{FF2B5EF4-FFF2-40B4-BE49-F238E27FC236}">
                <a16:creationId xmlns:a16="http://schemas.microsoft.com/office/drawing/2014/main" id="{72ADDDD2-20BB-41DA-A124-51AA105D715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cache économise du recalcul mais occupe une mémoire croissante.</a:t>
            </a:r>
          </a:p>
        </p:txBody>
      </p:sp>
    </p:spTree>
    <p:extLst>
      <p:ext uri="{BB962C8B-B14F-4D97-AF65-F5344CB8AC3E}">
        <p14:creationId xmlns:p14="http://schemas.microsoft.com/office/powerpoint/2010/main" val="304421154"/>
      </p:ext>
    </p:extLst>
  </p:cSld>
</p:sld>
</file>

<file path=ppt/slides/slide12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b83b53401fc46e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be95f9e0a1f466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86C85D6-2E4B-428A-9BF0-409313C7431E}"/>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120 / 135</a:t>
            </a:r>
          </a:p>
        </p:txBody>
      </p:sp>
      <p:sp>
        <p:nvSpPr>
          <p:cNvPr id="159" name="course-text">
            <a:extLst xmlns:a="http://schemas.openxmlformats.org/drawingml/2006/main">
              <a:ext uri="{FF2B5EF4-FFF2-40B4-BE49-F238E27FC236}">
                <a16:creationId xmlns:a16="http://schemas.microsoft.com/office/drawing/2014/main" id="{5D2407F4-B589-4D7F-AB3F-F1C3A4C66B9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VISION TRANSFORMER : UNE IMAGE EN PATCHES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58acd69817af44d2">
            <a:extLst>
              <a:ext uri="{96DAC541-7B7A-43D3-8B79-37D633B846F1}">
                <asvg:svgBlip xmlns:asvg="http://schemas.microsoft.com/office/drawing/2016/SVG/main" r:embed="Rfa61653ee5ea4a2f"/>
              </a:ext>
            </a:extLst>
          </a:blip>
          <a:stretch xmlns:a="http://schemas.openxmlformats.org/drawingml/2006/main"/>
        </p:blipFill>
        <p:spPr>
          <a:xfrm xmlns:a="http://schemas.openxmlformats.org/drawingml/2006/main">
            <a:off x="933450" y="1809750"/>
            <a:ext cx="6266527" cy="68586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0470034-EFDE-4094-AC06-98BA82DDD64C}"/>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Découper l’image en patches non chevauchants.</a:t>
            </a:r>
          </a:p>
        </p:txBody>
      </p:sp>
      <p:sp>
        <p:nvSpPr>
          <p:cNvPr id="162" name="course-text">
            <a:extLst xmlns:a="http://schemas.openxmlformats.org/drawingml/2006/main">
              <a:ext uri="{FF2B5EF4-FFF2-40B4-BE49-F238E27FC236}">
                <a16:creationId xmlns:a16="http://schemas.microsoft.com/office/drawing/2014/main" id="{DE1038F4-B4A1-452A-B876-65DA0C31881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Aplatir puis projeter chaque patch vers une dimension d.</a:t>
            </a:r>
          </a:p>
        </p:txBody>
      </p:sp>
      <p:sp>
        <p:nvSpPr>
          <p:cNvPr id="163" name="course-text">
            <a:extLst xmlns:a="http://schemas.openxmlformats.org/drawingml/2006/main">
              <a:ext uri="{FF2B5EF4-FFF2-40B4-BE49-F238E27FC236}">
                <a16:creationId xmlns:a16="http://schemas.microsoft.com/office/drawing/2014/main" id="{22BA8A5E-6FE4-467B-BC6F-FE76368ACA3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Ajouter l’information de position avant les blocs encodeurs.</a:t>
            </a:r>
          </a:p>
        </p:txBody>
      </p:sp>
    </p:spTree>
    <p:extLst>
      <p:ext uri="{BB962C8B-B14F-4D97-AF65-F5344CB8AC3E}">
        <p14:creationId xmlns:p14="http://schemas.microsoft.com/office/powerpoint/2010/main" val="304421154"/>
      </p:ext>
    </p:extLst>
  </p:cSld>
</p:sld>
</file>

<file path=ppt/slides/slide1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8e90810d9534b7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37ecc83067d454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26520D1-6B08-4478-8FBA-47C08E8D8E7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121 / 135</a:t>
            </a:r>
          </a:p>
        </p:txBody>
      </p:sp>
      <p:sp>
        <p:nvSpPr>
          <p:cNvPr id="159" name="course-text">
            <a:extLst xmlns:a="http://schemas.openxmlformats.org/drawingml/2006/main">
              <a:ext uri="{FF2B5EF4-FFF2-40B4-BE49-F238E27FC236}">
                <a16:creationId xmlns:a16="http://schemas.microsoft.com/office/drawing/2014/main" id="{4B95734F-5875-463B-A2DB-409BE99938B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PATCHES : CALCULER LE COÛT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c395a0d3fe374fd0">
            <a:extLst>
              <a:ext uri="{96DAC541-7B7A-43D3-8B79-37D633B846F1}">
                <asvg:svgBlip xmlns:asvg="http://schemas.microsoft.com/office/drawing/2016/SVG/main" r:embed="R4bd95acd91d442da"/>
              </a:ext>
            </a:extLst>
          </a:blip>
          <a:stretch xmlns:a="http://schemas.openxmlformats.org/drawingml/2006/main"/>
        </p:blipFill>
        <p:spPr>
          <a:xfrm xmlns:a="http://schemas.openxmlformats.org/drawingml/2006/main">
            <a:off x="933450" y="1809750"/>
            <a:ext cx="4706277" cy="161879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82CA202F-7737-4C72-9ED4-FAF35923FDA8}"/>
              </a:ext>
            </a:extLst>
          </p:cNvPr>
          <p:cNvSpPr>
            <a:spLocks xmlns:a="http://schemas.openxmlformats.org/drawingml/2006/main" noGrp="1"/>
          </p:cNvSpPr>
          <p:nvPr/>
        </p:nvSpPr>
        <p:spPr>
          <a:xfrm xmlns:a="http://schemas.openxmlformats.org/drawingml/2006/main">
            <a:off x="933450" y="3704765"/>
            <a:ext cx="10382250" cy="57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Image 224×224, patches 16×16 : 196 tokens visuels.</a:t>
            </a:r>
          </a:p>
        </p:txBody>
      </p:sp>
      <p:sp>
        <p:nvSpPr>
          <p:cNvPr id="162" name="course-text">
            <a:extLst xmlns:a="http://schemas.openxmlformats.org/drawingml/2006/main">
              <a:ext uri="{FF2B5EF4-FFF2-40B4-BE49-F238E27FC236}">
                <a16:creationId xmlns:a16="http://schemas.microsoft.com/office/drawing/2014/main" id="{E6A605AF-04C3-47FF-9B29-6A02CBD23ACE}"/>
              </a:ext>
            </a:extLst>
          </p:cNvPr>
          <p:cNvSpPr>
            <a:spLocks xmlns:a="http://schemas.openxmlformats.org/drawingml/2006/main" noGrp="1"/>
          </p:cNvSpPr>
          <p:nvPr/>
        </p:nvSpPr>
        <p:spPr>
          <a:xfrm xmlns:a="http://schemas.openxmlformats.org/drawingml/2006/main">
            <a:off x="933450" y="4355793"/>
            <a:ext cx="10382250" cy="57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un token de classification : 197 tokens.</a:t>
            </a:r>
          </a:p>
        </p:txBody>
      </p:sp>
      <p:sp>
        <p:nvSpPr>
          <p:cNvPr id="163" name="course-text">
            <a:extLst xmlns:a="http://schemas.openxmlformats.org/drawingml/2006/main">
              <a:ext uri="{FF2B5EF4-FFF2-40B4-BE49-F238E27FC236}">
                <a16:creationId xmlns:a16="http://schemas.microsoft.com/office/drawing/2014/main" id="{2BC46185-16D2-4B04-A06E-AD0B27CE3755}"/>
              </a:ext>
            </a:extLst>
          </p:cNvPr>
          <p:cNvSpPr>
            <a:spLocks xmlns:a="http://schemas.openxmlformats.org/drawingml/2006/main" noGrp="1"/>
          </p:cNvSpPr>
          <p:nvPr/>
        </p:nvSpPr>
        <p:spPr>
          <a:xfrm xmlns:a="http://schemas.openxmlformats.org/drawingml/2006/main">
            <a:off x="933450" y="5006822"/>
            <a:ext cx="10382250" cy="57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Passer à des patches 8×8 donne 784 tokens visuels.</a:t>
            </a:r>
          </a:p>
        </p:txBody>
      </p:sp>
    </p:spTree>
    <p:extLst>
      <p:ext uri="{BB962C8B-B14F-4D97-AF65-F5344CB8AC3E}">
        <p14:creationId xmlns:p14="http://schemas.microsoft.com/office/powerpoint/2010/main" val="304421154"/>
      </p:ext>
    </p:extLst>
  </p:cSld>
</p:sld>
</file>

<file path=ppt/slides/slide12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af879e36bc964b7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ed20534a82ab4d0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5483457D-C869-4626-8632-F2516F275CE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122 / 135</a:t>
            </a:r>
          </a:p>
        </p:txBody>
      </p:sp>
      <p:sp>
        <p:nvSpPr>
          <p:cNvPr id="159" name="course-text">
            <a:extLst xmlns:a="http://schemas.openxmlformats.org/drawingml/2006/main">
              <a:ext uri="{FF2B5EF4-FFF2-40B4-BE49-F238E27FC236}">
                <a16:creationId xmlns:a16="http://schemas.microsoft.com/office/drawing/2014/main" id="{442BECE3-9760-46B6-A01F-453B6A94938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CNN ET VIT : COMPARER LES HYPOTHÈSES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614613"/>
                <a:gridCol w="3869627"/>
                <a:gridCol w="3974211"/>
              </a:tblGrid>
              <a:tr h="504825">
                <a:tc>
                  <a:txBody>
                    <a:bodyPr lIns="114300" tIns="76200" rIns="95250" bIns="57150">
                      <a:noAutofit/>
                    </a:bodyPr>
                    <a:lstStyle/>
                    <a:p>
                      <a:r>
                        <a:rPr sz="1650" b="1">
                          <a:solidFill>
                            <a:srgbClr val="FFFFFF"/>
                          </a:solidFill>
                          <a:latin typeface="DM Sans"/>
                          <a:ea typeface="DM Sans"/>
                          <a:cs typeface="DM Sans"/>
                        </a:rPr>
                        <a:t>Aspect</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CNN standard</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ViT standard</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Interaction initiale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Locale, noyaux partagés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Patches puis attention globale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Position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Structure de grille dans les opérations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Encodage explicite des positions</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Résolution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Champ réceptif progressif</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Nombre de patches / tokens</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Coût typique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Dépend des cartes et des noyaux</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Attention dense quadratique en tokens</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Conclusion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À valider pour la tâche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À valider pour la tâche</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12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ebbafac3507f487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1184b4a1722a447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F5D35AF-327B-48D6-B175-A5130330C72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123 / 135</a:t>
            </a:r>
          </a:p>
        </p:txBody>
      </p:sp>
      <p:sp>
        <p:nvSpPr>
          <p:cNvPr id="159" name="course-text">
            <a:extLst xmlns:a="http://schemas.openxmlformats.org/drawingml/2006/main">
              <a:ext uri="{FF2B5EF4-FFF2-40B4-BE49-F238E27FC236}">
                <a16:creationId xmlns:a16="http://schemas.microsoft.com/office/drawing/2014/main" id="{02D27956-9A72-4740-9C01-7A730D31AE2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TRANSFERT DANS UN TRANSFORMER</a:t>
            </a:r>
          </a:p>
        </p:txBody>
      </p:sp>
      <p:sp>
        <p:nvSpPr>
          <p:cNvPr id="160" name="course-text">
            <a:extLst xmlns:a="http://schemas.openxmlformats.org/drawingml/2006/main">
              <a:ext uri="{FF2B5EF4-FFF2-40B4-BE49-F238E27FC236}">
                <a16:creationId xmlns:a16="http://schemas.microsoft.com/office/drawing/2014/main" id="{DA5C9CC4-B88F-4BA8-8CDA-5ABE73880BFB}"/>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Adapter la tête, le régime de masque et les sorties à la tâche.</a:t>
            </a:r>
          </a:p>
        </p:txBody>
      </p:sp>
      <p:sp>
        <p:nvSpPr>
          <p:cNvPr id="161" name="course-text">
            <a:extLst xmlns:a="http://schemas.openxmlformats.org/drawingml/2006/main">
              <a:ext uri="{FF2B5EF4-FFF2-40B4-BE49-F238E27FC236}">
                <a16:creationId xmlns:a16="http://schemas.microsoft.com/office/drawing/2014/main" id="{60EDCC47-BBF3-4D15-8A25-EE7498787A39}"/>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Contrôler tokenisation, longueur maximale et prétraitement.</a:t>
            </a:r>
          </a:p>
        </p:txBody>
      </p:sp>
      <p:sp>
        <p:nvSpPr>
          <p:cNvPr id="162" name="course-text">
            <a:extLst xmlns:a="http://schemas.openxmlformats.org/drawingml/2006/main">
              <a:ext uri="{FF2B5EF4-FFF2-40B4-BE49-F238E27FC236}">
                <a16:creationId xmlns:a16="http://schemas.microsoft.com/office/drawing/2014/main" id="{2FCE980A-4FE0-45F2-B13B-AEBD7AC33EB7}"/>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 fine-tuning peut être complet ou limité à certains paramètres.</a:t>
            </a:r>
          </a:p>
        </p:txBody>
      </p:sp>
    </p:spTree>
    <p:extLst>
      <p:ext uri="{BB962C8B-B14F-4D97-AF65-F5344CB8AC3E}">
        <p14:creationId xmlns:p14="http://schemas.microsoft.com/office/powerpoint/2010/main" val="304421154"/>
      </p:ext>
    </p:extLst>
  </p:cSld>
</p:sld>
</file>

<file path=ppt/slides/slide12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35d7c0b8772946f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8ac52d8662944da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31FC448-D3D8-4B05-8AA7-4E01AE22E9A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124 / 135</a:t>
            </a:r>
          </a:p>
        </p:txBody>
      </p:sp>
      <p:sp>
        <p:nvSpPr>
          <p:cNvPr id="159" name="course-text">
            <a:extLst xmlns:a="http://schemas.openxmlformats.org/drawingml/2006/main">
              <a:ext uri="{FF2B5EF4-FFF2-40B4-BE49-F238E27FC236}">
                <a16:creationId xmlns:a16="http://schemas.microsoft.com/office/drawing/2014/main" id="{6519A16E-3688-4B52-97C2-1663F9BEC4D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LIMITES ET INTERPRÉTATION</a:t>
            </a:r>
          </a:p>
        </p:txBody>
      </p:sp>
      <p:sp>
        <p:nvSpPr>
          <p:cNvPr id="160" name="course-text">
            <a:extLst xmlns:a="http://schemas.openxmlformats.org/drawingml/2006/main">
              <a:ext uri="{FF2B5EF4-FFF2-40B4-BE49-F238E27FC236}">
                <a16:creationId xmlns:a16="http://schemas.microsoft.com/office/drawing/2014/main" id="{70C349D5-D033-4B2F-AF07-1424A0802B56}"/>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 poids d’attention ne constitue pas à lui seul une explication causale.</a:t>
            </a:r>
          </a:p>
        </p:txBody>
      </p:sp>
      <p:sp>
        <p:nvSpPr>
          <p:cNvPr id="161" name="course-text">
            <a:extLst xmlns:a="http://schemas.openxmlformats.org/drawingml/2006/main">
              <a:ext uri="{FF2B5EF4-FFF2-40B4-BE49-F238E27FC236}">
                <a16:creationId xmlns:a16="http://schemas.microsoft.com/office/drawing/2014/main" id="{E49C151E-688E-4010-A5B9-0D57BB936172}"/>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sortie fluide ne garantit pas l’exactitude du contenu.</a:t>
            </a:r>
          </a:p>
        </p:txBody>
      </p:sp>
      <p:sp>
        <p:nvSpPr>
          <p:cNvPr id="162" name="course-text">
            <a:extLst xmlns:a="http://schemas.openxmlformats.org/drawingml/2006/main">
              <a:ext uri="{FF2B5EF4-FFF2-40B4-BE49-F238E27FC236}">
                <a16:creationId xmlns:a16="http://schemas.microsoft.com/office/drawing/2014/main" id="{A79566F8-63A5-454E-9BE0-02B7F95D833F}"/>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Les performances dépendent de la distribution, des données et des choix d’évaluation.</a:t>
            </a:r>
          </a:p>
        </p:txBody>
      </p:sp>
    </p:spTree>
    <p:extLst>
      <p:ext uri="{BB962C8B-B14F-4D97-AF65-F5344CB8AC3E}">
        <p14:creationId xmlns:p14="http://schemas.microsoft.com/office/powerpoint/2010/main" val="304421154"/>
      </p:ext>
    </p:extLst>
  </p:cSld>
</p:sld>
</file>

<file path=ppt/slides/slide12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5c9dc1e8add4aa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96168b3f8774f8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CF7D6C8-9BBF-47C4-97B8-BCB89E0AB45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125 / 135</a:t>
            </a:r>
          </a:p>
        </p:txBody>
      </p:sp>
      <p:sp>
        <p:nvSpPr>
          <p:cNvPr id="159" name="course-text">
            <a:extLst xmlns:a="http://schemas.openxmlformats.org/drawingml/2006/main">
              <a:ext uri="{FF2B5EF4-FFF2-40B4-BE49-F238E27FC236}">
                <a16:creationId xmlns:a16="http://schemas.microsoft.com/office/drawing/2014/main" id="{FE606B53-870A-45B6-BA1F-E7025A14C82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TP 05 : LA TÂCHE ET SON PROTOCOLE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b328d9411f024b44">
            <a:extLst>
              <a:ext uri="{96DAC541-7B7A-43D3-8B79-37D633B846F1}">
                <asvg:svgBlip xmlns:asvg="http://schemas.microsoft.com/office/drawing/2016/SVG/main" r:embed="Rd6333602e085473d"/>
              </a:ext>
            </a:extLst>
          </a:blip>
          <a:stretch xmlns:a="http://schemas.openxmlformats.org/drawingml/2006/main"/>
        </p:blipFill>
        <p:spPr>
          <a:xfrm xmlns:a="http://schemas.openxmlformats.org/drawingml/2006/main">
            <a:off x="933450" y="1809750"/>
            <a:ext cx="6201166" cy="33525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D5C79ED-540A-49EE-A0B1-86149171B4F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Apprendre des séquences où un motif de quatre symboles est répété.</a:t>
            </a:r>
          </a:p>
        </p:txBody>
      </p:sp>
      <p:sp>
        <p:nvSpPr>
          <p:cNvPr id="162" name="course-text">
            <a:extLst xmlns:a="http://schemas.openxmlformats.org/drawingml/2006/main">
              <a:ext uri="{FF2B5EF4-FFF2-40B4-BE49-F238E27FC236}">
                <a16:creationId xmlns:a16="http://schemas.microsoft.com/office/drawing/2014/main" id="{96E18F51-A2CA-42CF-A5CF-1600BC79E29F}"/>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Séparer les motifs complets entre train, validation et test.</a:t>
            </a:r>
          </a:p>
        </p:txBody>
      </p:sp>
      <p:sp>
        <p:nvSpPr>
          <p:cNvPr id="163" name="course-text">
            <a:extLst xmlns:a="http://schemas.openxmlformats.org/drawingml/2006/main">
              <a:ext uri="{FF2B5EF4-FFF2-40B4-BE49-F238E27FC236}">
                <a16:creationId xmlns:a16="http://schemas.microsoft.com/office/drawing/2014/main" id="{892FDA7E-6BA0-4B27-A99F-5BEDCA2E74DA}"/>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Mesurer la perte globale et la précision sur les positions de copie.</a:t>
            </a:r>
          </a:p>
        </p:txBody>
      </p:sp>
    </p:spTree>
    <p:extLst>
      <p:ext uri="{BB962C8B-B14F-4D97-AF65-F5344CB8AC3E}">
        <p14:creationId xmlns:p14="http://schemas.microsoft.com/office/powerpoint/2010/main" val="304421154"/>
      </p:ext>
    </p:extLst>
  </p:cSld>
</p:sld>
</file>

<file path=ppt/slides/slide126.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05 · ENTRAÎNER UN MINI-TRANSFORMER</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edc62b7bd48b4420">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05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Alphabet de huit symboles, deux couches, deux têtes, largeur 32.</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b6a382124746498d">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Vérifier le décalage, entraîner, tester la causalité puis générer une continuation.</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409fa82481e64f1f">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Perte, perplexité, précision de copie et ablation documentée.</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8a3f69c03be24c2a">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180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3356bae0e350416f">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7b1fc32fc4f645c7">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2e5319ab80184b3a">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5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06dba437322744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ac234a3e94cb4d01">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FD49B9BF-E3E2-4065-9499-8F1AC653824D}"/>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126 / 135</a:t>
            </a:r>
          </a:p>
        </p:txBody>
      </p:sp>
    </p:spTree>
    <p:extLst>
      <p:ext uri="{BB962C8B-B14F-4D97-AF65-F5344CB8AC3E}">
        <p14:creationId xmlns:p14="http://schemas.microsoft.com/office/powerpoint/2010/main" val="1432818840"/>
      </p:ext>
    </p:extLst>
  </p:cSld>
</p:sld>
</file>

<file path=ppt/slides/slide12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46b1229d2eba4e3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11d223bd95664e7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872D36F-C582-4A22-B731-C11F6106DA7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127 / 135</a:t>
            </a:r>
          </a:p>
        </p:txBody>
      </p:sp>
      <p:sp>
        <p:nvSpPr>
          <p:cNvPr id="159" name="course-text">
            <a:extLst xmlns:a="http://schemas.openxmlformats.org/drawingml/2006/main">
              <a:ext uri="{FF2B5EF4-FFF2-40B4-BE49-F238E27FC236}">
                <a16:creationId xmlns:a16="http://schemas.microsoft.com/office/drawing/2014/main" id="{8482B202-A015-4172-AD19-8CDB46C490B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ABLATIONS : CHANGER UN FACTEUR</a:t>
            </a:r>
          </a:p>
        </p:txBody>
      </p:sp>
      <p:graphicFrame>
        <p:nvGraphicFramePr>
          <p:cNvPr id="173" name=""/>
          <p:cNvGraphicFramePr/>
          <p:nvPr/>
        </p:nvGraphicFramePr>
        <p:xfrm>
          <a:off xmlns:a="http://schemas.openxmlformats.org/drawingml/2006/main" x="876300" y="1762125"/>
          <a:ext xmlns:a="http://schemas.openxmlformats.org/drawingml/2006/main" cx="10458450" cy="2524125"/>
        </p:xfrm>
        <a:graphic xmlns:a="http://schemas.openxmlformats.org/drawingml/2006/main">
          <a:graphicData uri="http://schemas.openxmlformats.org/drawingml/2006/table">
            <a:tbl>
              <a:tblPr/>
              <a:tblGrid>
                <a:gridCol w="2719197"/>
                <a:gridCol w="3974211"/>
                <a:gridCol w="3765042"/>
              </a:tblGrid>
              <a:tr h="504825">
                <a:tc>
                  <a:txBody>
                    <a:bodyPr lIns="114300" tIns="76200" rIns="95250" bIns="57150">
                      <a:noAutofit/>
                    </a:bodyPr>
                    <a:lstStyle/>
                    <a:p>
                      <a:r>
                        <a:rPr sz="1650" b="1">
                          <a:solidFill>
                            <a:srgbClr val="FFFFFF"/>
                          </a:solidFill>
                          <a:latin typeface="DM Sans"/>
                          <a:ea typeface="DM Sans"/>
                          <a:cs typeface="DM Sans"/>
                        </a:rPr>
                        <a:t>Modification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Hypothèse à tester</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Contrôle requis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Sans position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Effet de l’information d’ordre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Même données et budget</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Une seule tête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Diversité des projections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Largeur totale fixée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Plus de couches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Capacité / optimisation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Coût et normes des gradients</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Sans masque causal</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Détection de fuite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Test de préfixe doit échouer</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12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81f4fc3e9e1c45d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f28743eba5d4463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60C1E3D-D4E3-408D-9A72-96BDB47A374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128 / 135</a:t>
            </a:r>
          </a:p>
        </p:txBody>
      </p:sp>
      <p:sp>
        <p:nvSpPr>
          <p:cNvPr id="159" name="course-text">
            <a:extLst xmlns:a="http://schemas.openxmlformats.org/drawingml/2006/main">
              <a:ext uri="{FF2B5EF4-FFF2-40B4-BE49-F238E27FC236}">
                <a16:creationId xmlns:a16="http://schemas.microsoft.com/office/drawing/2014/main" id="{72EFF756-1B52-42BF-BFC9-B08BADB3398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ÉVALUATION FINALE : EXPLIQUER ET PROUVER</a:t>
            </a:r>
          </a:p>
        </p:txBody>
      </p:sp>
      <p:graphicFrame>
        <p:nvGraphicFramePr>
          <p:cNvPr id="173" name=""/>
          <p:cNvGraphicFramePr/>
          <p:nvPr/>
        </p:nvGraphicFramePr>
        <p:xfrm>
          <a:off xmlns:a="http://schemas.openxmlformats.org/drawingml/2006/main" x="876300" y="1762125"/>
          <a:ext xmlns:a="http://schemas.openxmlformats.org/drawingml/2006/main" cx="10458450" cy="2524125"/>
        </p:xfrm>
        <a:graphic xmlns:a="http://schemas.openxmlformats.org/drawingml/2006/main">
          <a:graphicData uri="http://schemas.openxmlformats.org/drawingml/2006/table">
            <a:tbl>
              <a:tblPr/>
              <a:tblGrid>
                <a:gridCol w="3346704"/>
                <a:gridCol w="5647563"/>
                <a:gridCol w="1464183"/>
              </a:tblGrid>
              <a:tr h="504825">
                <a:tc>
                  <a:txBody>
                    <a:bodyPr lIns="114300" tIns="76200" rIns="95250" bIns="57150">
                      <a:noAutofit/>
                    </a:bodyPr>
                    <a:lstStyle/>
                    <a:p>
                      <a:r>
                        <a:rPr sz="1650" b="1">
                          <a:solidFill>
                            <a:srgbClr val="FFFFFF"/>
                          </a:solidFill>
                          <a:latin typeface="DM Sans"/>
                          <a:ea typeface="DM Sans"/>
                          <a:cs typeface="DM Sans"/>
                        </a:rPr>
                        <a:t>Critère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Preuve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Points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Compréhension mathématique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Dérivation et dimensions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Implémentation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Calcul vérifié et masques corrects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5</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Protocole expérimental</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Séparation et sélection sans fuite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Analyse et limites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Erreurs, ablation et discussion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5</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12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641cbc91e02433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3ec7c9b2264437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0DCA8BE-1447-460B-B707-9334D6A835E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129 / 135</a:t>
            </a:r>
          </a:p>
        </p:txBody>
      </p:sp>
      <p:sp>
        <p:nvSpPr>
          <p:cNvPr id="159" name="course-text">
            <a:extLst xmlns:a="http://schemas.openxmlformats.org/drawingml/2006/main">
              <a:ext uri="{FF2B5EF4-FFF2-40B4-BE49-F238E27FC236}">
                <a16:creationId xmlns:a16="http://schemas.microsoft.com/office/drawing/2014/main" id="{C9A45002-E77A-42FF-A74C-1DD69586EC2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SYNTHÈSE : UN MÊME CADRE, PLUSIEURS STRUCTURES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9b8815676954440">
            <a:extLst>
              <a:ext uri="{96DAC541-7B7A-43D3-8B79-37D633B846F1}">
                <asvg:svgBlip xmlns:asvg="http://schemas.microsoft.com/office/drawing/2016/SVG/main" r:embed="R0936179712ef4938"/>
              </a:ext>
            </a:extLst>
          </a:blip>
          <a:stretch xmlns:a="http://schemas.openxmlformats.org/drawingml/2006/main"/>
        </p:blipFill>
        <p:spPr>
          <a:xfrm xmlns:a="http://schemas.openxmlformats.org/drawingml/2006/main">
            <a:off x="933450" y="1809750"/>
            <a:ext cx="7264372" cy="43111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5B20F07-CC37-40E2-8F98-A2A63B5A045C}"/>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MLP : mélange dense des caractéristiques.</a:t>
            </a:r>
          </a:p>
        </p:txBody>
      </p:sp>
      <p:sp>
        <p:nvSpPr>
          <p:cNvPr id="162" name="course-text">
            <a:extLst xmlns:a="http://schemas.openxmlformats.org/drawingml/2006/main">
              <a:ext uri="{FF2B5EF4-FFF2-40B4-BE49-F238E27FC236}">
                <a16:creationId xmlns:a16="http://schemas.microsoft.com/office/drawing/2014/main" id="{4EB4B938-0637-4341-AAE7-B0F2DEB9B8BC}"/>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CNN : localité et partage spatial.</a:t>
            </a:r>
          </a:p>
        </p:txBody>
      </p:sp>
      <p:sp>
        <p:nvSpPr>
          <p:cNvPr id="163" name="course-text">
            <a:extLst xmlns:a="http://schemas.openxmlformats.org/drawingml/2006/main">
              <a:ext uri="{FF2B5EF4-FFF2-40B4-BE49-F238E27FC236}">
                <a16:creationId xmlns:a16="http://schemas.microsoft.com/office/drawing/2014/main" id="{768E6770-A714-48C4-AD24-19CCE3D6E24E}"/>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Transformer : interactions dépendant du contenu.</a:t>
            </a:r>
          </a:p>
        </p:txBody>
      </p:sp>
    </p:spTree>
    <p:extLst>
      <p:ext uri="{BB962C8B-B14F-4D97-AF65-F5344CB8AC3E}">
        <p14:creationId xmlns:p14="http://schemas.microsoft.com/office/powerpoint/2010/main" val="304421154"/>
      </p:ext>
    </p:extLst>
  </p:cSld>
</p:sld>
</file>

<file path=ppt/slides/slide13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8697c0e058145d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bdcbdbfe33d4b7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F3AEABC-9207-475A-A0F9-5C2B7C0F71D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130 / 135</a:t>
            </a:r>
          </a:p>
        </p:txBody>
      </p:sp>
      <p:sp>
        <p:nvSpPr>
          <p:cNvPr id="159" name="course-text">
            <a:extLst xmlns:a="http://schemas.openxmlformats.org/drawingml/2006/main">
              <a:ext uri="{FF2B5EF4-FFF2-40B4-BE49-F238E27FC236}">
                <a16:creationId xmlns:a16="http://schemas.microsoft.com/office/drawing/2014/main" id="{06942ED9-8AD1-4EC4-BCA7-822F24FFE88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EXERCICE DE SYNTHÈSE : AUDIT D’UN MODÈLE</a:t>
            </a:r>
          </a:p>
        </p:txBody>
      </p:sp>
      <p:sp>
        <p:nvSpPr>
          <p:cNvPr id="160" name="course-text">
            <a:extLst xmlns:a="http://schemas.openxmlformats.org/drawingml/2006/main">
              <a:ext uri="{FF2B5EF4-FFF2-40B4-BE49-F238E27FC236}">
                <a16:creationId xmlns:a16="http://schemas.microsoft.com/office/drawing/2014/main" id="{26CF1E5B-109D-4682-B089-A10F8324A3B2}"/>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excellente perte train accompagne une mauvaise génération.</a:t>
            </a:r>
          </a:p>
        </p:txBody>
      </p:sp>
      <p:sp>
        <p:nvSpPr>
          <p:cNvPr id="161" name="course-text">
            <a:extLst xmlns:a="http://schemas.openxmlformats.org/drawingml/2006/main">
              <a:ext uri="{FF2B5EF4-FFF2-40B4-BE49-F238E27FC236}">
                <a16:creationId xmlns:a16="http://schemas.microsoft.com/office/drawing/2014/main" id="{595393A7-C15D-4F18-8D8D-AAD1DEBACC2F}"/>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 modèle reçoit la même séquence en entrée et en cible.</a:t>
            </a:r>
          </a:p>
        </p:txBody>
      </p:sp>
      <p:sp>
        <p:nvSpPr>
          <p:cNvPr id="162" name="course-text">
            <a:extLst xmlns:a="http://schemas.openxmlformats.org/drawingml/2006/main">
              <a:ext uri="{FF2B5EF4-FFF2-40B4-BE49-F238E27FC236}">
                <a16:creationId xmlns:a16="http://schemas.microsoft.com/office/drawing/2014/main" id="{4F3F8CE0-9BCC-4D81-9E2D-EF07FA621C2D}"/>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 masque est une matrice triangulaire de zéros et de uns ajoutée aux scores.</a:t>
            </a:r>
          </a:p>
        </p:txBody>
      </p:sp>
      <p:sp>
        <p:nvSpPr>
          <p:cNvPr id="163" name="course-text">
            <a:extLst xmlns:a="http://schemas.openxmlformats.org/drawingml/2006/main">
              <a:ext uri="{FF2B5EF4-FFF2-40B4-BE49-F238E27FC236}">
                <a16:creationId xmlns:a16="http://schemas.microsoft.com/office/drawing/2014/main" id="{C5483789-9DCB-4791-B17B-43B53DCAF5F2}"/>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Identifier deux erreurs et proposer des tests qui les détectent.</a:t>
            </a:r>
          </a:p>
        </p:txBody>
      </p:sp>
    </p:spTree>
    <p:extLst>
      <p:ext uri="{BB962C8B-B14F-4D97-AF65-F5344CB8AC3E}">
        <p14:creationId xmlns:p14="http://schemas.microsoft.com/office/powerpoint/2010/main" val="304421154"/>
      </p:ext>
    </p:extLst>
  </p:cSld>
</p:sld>
</file>

<file path=ppt/slides/slide13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dfbef2dbac714c2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e9dbae78695341c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109702F-66F6-45BD-AABA-D00B869661B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131 / 135</a:t>
            </a:r>
          </a:p>
        </p:txBody>
      </p:sp>
      <p:sp>
        <p:nvSpPr>
          <p:cNvPr id="159" name="course-text">
            <a:extLst xmlns:a="http://schemas.openxmlformats.org/drawingml/2006/main">
              <a:ext uri="{FF2B5EF4-FFF2-40B4-BE49-F238E27FC236}">
                <a16:creationId xmlns:a16="http://schemas.microsoft.com/office/drawing/2014/main" id="{0C6B3002-CD48-48D2-8326-3829D591F5D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LECTURES FOURNIES : FONDEMENTS ET MÉTHODE</a:t>
            </a:r>
          </a:p>
        </p:txBody>
      </p:sp>
      <p:sp>
        <p:nvSpPr>
          <p:cNvPr id="160" name="course-text">
            <a:extLst xmlns:a="http://schemas.openxmlformats.org/drawingml/2006/main">
              <a:ext uri="{FF2B5EF4-FFF2-40B4-BE49-F238E27FC236}">
                <a16:creationId xmlns:a16="http://schemas.microsoft.com/office/drawing/2014/main" id="{C8415F95-858A-464A-89D3-A39E17DD8B06}"/>
              </a:ext>
            </a:extLst>
          </p:cNvPr>
          <p:cNvSpPr>
            <a:spLocks xmlns:a="http://schemas.openxmlformats.org/drawingml/2006/main" noGrp="1"/>
          </p:cNvSpPr>
          <p:nvPr/>
        </p:nvSpPr>
        <p:spPr>
          <a:xfrm xmlns:a="http://schemas.openxmlformats.org/drawingml/2006/main">
            <a:off x="914400" y="18097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4926c69fdec5430c"/>
              </a:rPr>
              <a:t>Jérémie Bigot — Introduction au Deep Learning</a:t>
            </a:r>
          </a:p>
        </p:txBody>
      </p:sp>
      <p:sp>
        <p:nvSpPr>
          <p:cNvPr id="161" name="course-text">
            <a:extLst xmlns:a="http://schemas.openxmlformats.org/drawingml/2006/main">
              <a:ext uri="{FF2B5EF4-FFF2-40B4-BE49-F238E27FC236}">
                <a16:creationId xmlns:a16="http://schemas.microsoft.com/office/drawing/2014/main" id="{12FD6C4A-EC17-4D82-AC2C-A702A314402C}"/>
              </a:ext>
            </a:extLst>
          </p:cNvPr>
          <p:cNvSpPr>
            <a:spLocks xmlns:a="http://schemas.openxmlformats.org/drawingml/2006/main" noGrp="1"/>
          </p:cNvSpPr>
          <p:nvPr/>
        </p:nvSpPr>
        <p:spPr>
          <a:xfrm xmlns:a="http://schemas.openxmlformats.org/drawingml/2006/main">
            <a:off x="914400" y="23907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c633243255894117"/>
              </a:rPr>
              <a:t>Romain Tavenard — Introduction au Deep Learning, 2025</a:t>
            </a:r>
          </a:p>
        </p:txBody>
      </p:sp>
      <p:sp>
        <p:nvSpPr>
          <p:cNvPr id="162" name="course-text">
            <a:extLst xmlns:a="http://schemas.openxmlformats.org/drawingml/2006/main">
              <a:ext uri="{FF2B5EF4-FFF2-40B4-BE49-F238E27FC236}">
                <a16:creationId xmlns:a16="http://schemas.microsoft.com/office/drawing/2014/main" id="{B2F671C7-E211-4C4F-9B4E-67B493982ECD}"/>
              </a:ext>
            </a:extLst>
          </p:cNvPr>
          <p:cNvSpPr>
            <a:spLocks xmlns:a="http://schemas.openxmlformats.org/drawingml/2006/main" noGrp="1"/>
          </p:cNvSpPr>
          <p:nvPr/>
        </p:nvSpPr>
        <p:spPr>
          <a:xfrm xmlns:a="http://schemas.openxmlformats.org/drawingml/2006/main">
            <a:off x="914400" y="297180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167655b008a84039"/>
              </a:rPr>
              <a:t>Javiera Castillo Navarro — RCP 209, 2025–2026</a:t>
            </a:r>
          </a:p>
        </p:txBody>
      </p:sp>
      <p:sp>
        <p:nvSpPr>
          <p:cNvPr id="163" name="course-text">
            <a:extLst xmlns:a="http://schemas.openxmlformats.org/drawingml/2006/main">
              <a:ext uri="{FF2B5EF4-FFF2-40B4-BE49-F238E27FC236}">
                <a16:creationId xmlns:a16="http://schemas.microsoft.com/office/drawing/2014/main" id="{B6BAABF0-740D-45E6-93DF-3FEE864B8261}"/>
              </a:ext>
            </a:extLst>
          </p:cNvPr>
          <p:cNvSpPr>
            <a:spLocks xmlns:a="http://schemas.openxmlformats.org/drawingml/2006/main" noGrp="1"/>
          </p:cNvSpPr>
          <p:nvPr/>
        </p:nvSpPr>
        <p:spPr>
          <a:xfrm xmlns:a="http://schemas.openxmlformats.org/drawingml/2006/main">
            <a:off x="914400" y="3552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1b604622bc3c4010"/>
              </a:rPr>
              <a:t>Geoffrey Daniel — Réseaux de neurones et deep learning : utilisation et méthodologie</a:t>
            </a:r>
          </a:p>
        </p:txBody>
      </p:sp>
      <p:sp>
        <p:nvSpPr>
          <p:cNvPr id="164" name="course-text">
            <a:extLst xmlns:a="http://schemas.openxmlformats.org/drawingml/2006/main">
              <a:ext uri="{FF2B5EF4-FFF2-40B4-BE49-F238E27FC236}">
                <a16:creationId xmlns:a16="http://schemas.microsoft.com/office/drawing/2014/main" id="{3767857E-746F-42C1-B7CE-28BA36987B84}"/>
              </a:ext>
            </a:extLst>
          </p:cNvPr>
          <p:cNvSpPr>
            <a:spLocks xmlns:a="http://schemas.openxmlformats.org/drawingml/2006/main" noGrp="1"/>
          </p:cNvSpPr>
          <p:nvPr/>
        </p:nvSpPr>
        <p:spPr>
          <a:xfrm xmlns:a="http://schemas.openxmlformats.org/drawingml/2006/main">
            <a:off x="914400" y="41338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b089ecf4f02a4d14"/>
              </a:rPr>
              <a:t>Romain Tavenard — Version HTML du cours</a:t>
            </a:r>
          </a:p>
        </p:txBody>
      </p:sp>
    </p:spTree>
    <p:extLst>
      <p:ext uri="{BB962C8B-B14F-4D97-AF65-F5344CB8AC3E}">
        <p14:creationId xmlns:p14="http://schemas.microsoft.com/office/powerpoint/2010/main" val="304421154"/>
      </p:ext>
    </p:extLst>
  </p:cSld>
</p:sld>
</file>

<file path=ppt/slides/slide13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406ade015d2e410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16848265cfce4b1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D14695E-E073-471B-9C83-D23CD66CF70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132 / 135</a:t>
            </a:r>
          </a:p>
        </p:txBody>
      </p:sp>
      <p:sp>
        <p:nvSpPr>
          <p:cNvPr id="159" name="course-text">
            <a:extLst xmlns:a="http://schemas.openxmlformats.org/drawingml/2006/main">
              <a:ext uri="{FF2B5EF4-FFF2-40B4-BE49-F238E27FC236}">
                <a16:creationId xmlns:a16="http://schemas.microsoft.com/office/drawing/2014/main" id="{BA48CA85-4B1E-46F9-B096-9F3F48AF0EA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ARTICLES : ARCHITECTURES ET OPTIMISATION</a:t>
            </a:r>
          </a:p>
        </p:txBody>
      </p:sp>
      <p:sp>
        <p:nvSpPr>
          <p:cNvPr id="160" name="course-text">
            <a:extLst xmlns:a="http://schemas.openxmlformats.org/drawingml/2006/main">
              <a:ext uri="{FF2B5EF4-FFF2-40B4-BE49-F238E27FC236}">
                <a16:creationId xmlns:a16="http://schemas.microsoft.com/office/drawing/2014/main" id="{D7067513-2C1C-4E44-848E-2F03395CBE7B}"/>
              </a:ext>
            </a:extLst>
          </p:cNvPr>
          <p:cNvSpPr>
            <a:spLocks xmlns:a="http://schemas.openxmlformats.org/drawingml/2006/main" noGrp="1"/>
          </p:cNvSpPr>
          <p:nvPr/>
        </p:nvSpPr>
        <p:spPr>
          <a:xfrm xmlns:a="http://schemas.openxmlformats.org/drawingml/2006/main">
            <a:off x="914400" y="18097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920d5adb0a394869"/>
              </a:rPr>
              <a:t>Vaswani et al. — Attention Is All You Need, 2017</a:t>
            </a:r>
          </a:p>
        </p:txBody>
      </p:sp>
      <p:sp>
        <p:nvSpPr>
          <p:cNvPr id="161" name="course-text">
            <a:extLst xmlns:a="http://schemas.openxmlformats.org/drawingml/2006/main">
              <a:ext uri="{FF2B5EF4-FFF2-40B4-BE49-F238E27FC236}">
                <a16:creationId xmlns:a16="http://schemas.microsoft.com/office/drawing/2014/main" id="{36F2F096-A51E-4421-B8D7-B2EEE2C82EC1}"/>
              </a:ext>
            </a:extLst>
          </p:cNvPr>
          <p:cNvSpPr>
            <a:spLocks xmlns:a="http://schemas.openxmlformats.org/drawingml/2006/main" noGrp="1"/>
          </p:cNvSpPr>
          <p:nvPr/>
        </p:nvSpPr>
        <p:spPr>
          <a:xfrm xmlns:a="http://schemas.openxmlformats.org/drawingml/2006/main">
            <a:off x="914400" y="23907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50c678e57f1c4730"/>
              </a:rPr>
              <a:t>He et al. — Deep Residual Learning for Image Recognition, 2015</a:t>
            </a:r>
          </a:p>
        </p:txBody>
      </p:sp>
      <p:sp>
        <p:nvSpPr>
          <p:cNvPr id="162" name="course-text">
            <a:extLst xmlns:a="http://schemas.openxmlformats.org/drawingml/2006/main">
              <a:ext uri="{FF2B5EF4-FFF2-40B4-BE49-F238E27FC236}">
                <a16:creationId xmlns:a16="http://schemas.microsoft.com/office/drawing/2014/main" id="{06176DEB-F0A9-46A8-BB78-F7B16876F516}"/>
              </a:ext>
            </a:extLst>
          </p:cNvPr>
          <p:cNvSpPr>
            <a:spLocks xmlns:a="http://schemas.openxmlformats.org/drawingml/2006/main" noGrp="1"/>
          </p:cNvSpPr>
          <p:nvPr/>
        </p:nvSpPr>
        <p:spPr>
          <a:xfrm xmlns:a="http://schemas.openxmlformats.org/drawingml/2006/main">
            <a:off x="914400" y="297180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b188d6e95fba433d"/>
              </a:rPr>
              <a:t>Dosovitskiy et al. — An Image is Worth 16x16 Words, 2020</a:t>
            </a:r>
          </a:p>
        </p:txBody>
      </p:sp>
      <p:sp>
        <p:nvSpPr>
          <p:cNvPr id="163" name="course-text">
            <a:extLst xmlns:a="http://schemas.openxmlformats.org/drawingml/2006/main">
              <a:ext uri="{FF2B5EF4-FFF2-40B4-BE49-F238E27FC236}">
                <a16:creationId xmlns:a16="http://schemas.microsoft.com/office/drawing/2014/main" id="{C937EACD-09EA-4F1D-BA28-F505FD68BD8C}"/>
              </a:ext>
            </a:extLst>
          </p:cNvPr>
          <p:cNvSpPr>
            <a:spLocks xmlns:a="http://schemas.openxmlformats.org/drawingml/2006/main" noGrp="1"/>
          </p:cNvSpPr>
          <p:nvPr/>
        </p:nvSpPr>
        <p:spPr>
          <a:xfrm xmlns:a="http://schemas.openxmlformats.org/drawingml/2006/main">
            <a:off x="914400" y="3552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b806dea402a84d17"/>
              </a:rPr>
              <a:t>Kingma et Ba — Adam, 2014</a:t>
            </a:r>
          </a:p>
        </p:txBody>
      </p:sp>
      <p:sp>
        <p:nvSpPr>
          <p:cNvPr id="164" name="course-text">
            <a:extLst xmlns:a="http://schemas.openxmlformats.org/drawingml/2006/main">
              <a:ext uri="{FF2B5EF4-FFF2-40B4-BE49-F238E27FC236}">
                <a16:creationId xmlns:a16="http://schemas.microsoft.com/office/drawing/2014/main" id="{D9A7EF14-687D-4AE0-A46B-9F444B5675AE}"/>
              </a:ext>
            </a:extLst>
          </p:cNvPr>
          <p:cNvSpPr>
            <a:spLocks xmlns:a="http://schemas.openxmlformats.org/drawingml/2006/main" noGrp="1"/>
          </p:cNvSpPr>
          <p:nvPr/>
        </p:nvSpPr>
        <p:spPr>
          <a:xfrm xmlns:a="http://schemas.openxmlformats.org/drawingml/2006/main">
            <a:off x="914400" y="41338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e90b08be4a4a4a5d"/>
              </a:rPr>
              <a:t>Loshchilov et Hutter — Decoupled Weight Decay Regularization, 2017</a:t>
            </a:r>
          </a:p>
        </p:txBody>
      </p:sp>
    </p:spTree>
    <p:extLst>
      <p:ext uri="{BB962C8B-B14F-4D97-AF65-F5344CB8AC3E}">
        <p14:creationId xmlns:p14="http://schemas.microsoft.com/office/powerpoint/2010/main" val="304421154"/>
      </p:ext>
    </p:extLst>
  </p:cSld>
</p:sld>
</file>

<file path=ppt/slides/slide13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70" name="Google Shape;150;p8"/>
          <p:cNvPicPr>
            <a:picLocks xmlns:a="http://schemas.openxmlformats.org/drawingml/2006/main" noChangeAspect="1"/>
          </p:cNvPicPr>
          <p:nvPr/>
        </p:nvPicPr>
        <p:blipFill>
          <a:blip xmlns:r="http://schemas.openxmlformats.org/officeDocument/2006/relationships" xmlns:a="http://schemas.openxmlformats.org/drawingml/2006/main" r:embed="R3545bead504842e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1" name="Google Shape;151;p8"/>
          <p:cNvPicPr>
            <a:picLocks xmlns:a="http://schemas.openxmlformats.org/drawingml/2006/main" noChangeAspect="1"/>
          </p:cNvPicPr>
          <p:nvPr/>
        </p:nvPicPr>
        <p:blipFill>
          <a:blip xmlns:r="http://schemas.openxmlformats.org/officeDocument/2006/relationships" xmlns:a="http://schemas.openxmlformats.org/drawingml/2006/main" r:embed="R35f25378f8474e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58E9D4E9-D90A-4D58-BBAD-B9C70DD9662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133 / 135</a:t>
            </a:r>
          </a:p>
        </p:txBody>
      </p:sp>
      <p:sp>
        <p:nvSpPr>
          <p:cNvPr id="159" name="course-text">
            <a:extLst xmlns:a="http://schemas.openxmlformats.org/drawingml/2006/main">
              <a:ext uri="{FF2B5EF4-FFF2-40B4-BE49-F238E27FC236}">
                <a16:creationId xmlns:a16="http://schemas.microsoft.com/office/drawing/2014/main" id="{7F8FAEFC-B30D-419D-A82B-AFC01E04BB3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NORMALISATION ET DOCUMENTATION DES API</a:t>
            </a:r>
          </a:p>
        </p:txBody>
      </p:sp>
      <p:sp>
        <p:nvSpPr>
          <p:cNvPr id="160" name="course-text">
            <a:extLst xmlns:a="http://schemas.openxmlformats.org/drawingml/2006/main">
              <a:ext uri="{FF2B5EF4-FFF2-40B4-BE49-F238E27FC236}">
                <a16:creationId xmlns:a16="http://schemas.microsoft.com/office/drawing/2014/main" id="{D897A116-D9D3-431C-99F8-B86EA3288E1C}"/>
              </a:ext>
            </a:extLst>
          </p:cNvPr>
          <p:cNvSpPr>
            <a:spLocks xmlns:a="http://schemas.openxmlformats.org/drawingml/2006/main" noGrp="1"/>
          </p:cNvSpPr>
          <p:nvPr/>
        </p:nvSpPr>
        <p:spPr>
          <a:xfrm xmlns:a="http://schemas.openxmlformats.org/drawingml/2006/main">
            <a:off x="914400" y="18097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459555c9722540e6"/>
              </a:rPr>
              <a:t>Ioffe et Szegedy — Batch Normalization, 2015</a:t>
            </a:r>
          </a:p>
        </p:txBody>
      </p:sp>
      <p:sp>
        <p:nvSpPr>
          <p:cNvPr id="161" name="course-text">
            <a:extLst xmlns:a="http://schemas.openxmlformats.org/drawingml/2006/main">
              <a:ext uri="{FF2B5EF4-FFF2-40B4-BE49-F238E27FC236}">
                <a16:creationId xmlns:a16="http://schemas.microsoft.com/office/drawing/2014/main" id="{4A154C68-B9BD-4186-8F77-AE67A5D956C6}"/>
              </a:ext>
            </a:extLst>
          </p:cNvPr>
          <p:cNvSpPr>
            <a:spLocks xmlns:a="http://schemas.openxmlformats.org/drawingml/2006/main" noGrp="1"/>
          </p:cNvSpPr>
          <p:nvPr/>
        </p:nvSpPr>
        <p:spPr>
          <a:xfrm xmlns:a="http://schemas.openxmlformats.org/drawingml/2006/main">
            <a:off x="914400" y="23907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1b3348aeda5c4563"/>
              </a:rPr>
              <a:t>Ba et al. — Layer Normalization, 2016</a:t>
            </a:r>
          </a:p>
        </p:txBody>
      </p:sp>
      <p:sp>
        <p:nvSpPr>
          <p:cNvPr id="162" name="course-text">
            <a:extLst xmlns:a="http://schemas.openxmlformats.org/drawingml/2006/main">
              <a:ext uri="{FF2B5EF4-FFF2-40B4-BE49-F238E27FC236}">
                <a16:creationId xmlns:a16="http://schemas.microsoft.com/office/drawing/2014/main" id="{4A11937E-68EA-4DF4-A5AB-8595AB203F88}"/>
              </a:ext>
            </a:extLst>
          </p:cNvPr>
          <p:cNvSpPr>
            <a:spLocks xmlns:a="http://schemas.openxmlformats.org/drawingml/2006/main" noGrp="1"/>
          </p:cNvSpPr>
          <p:nvPr/>
        </p:nvSpPr>
        <p:spPr>
          <a:xfrm xmlns:a="http://schemas.openxmlformats.org/drawingml/2006/main">
            <a:off x="914400" y="297180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0f76327ae6aa4e0b"/>
              </a:rPr>
              <a:t>Xiong et al. — On Layer Normalization in the Transformer Architecture, 2020</a:t>
            </a:r>
          </a:p>
        </p:txBody>
      </p:sp>
      <p:sp>
        <p:nvSpPr>
          <p:cNvPr id="163" name="course-text">
            <a:extLst xmlns:a="http://schemas.openxmlformats.org/drawingml/2006/main">
              <a:ext uri="{FF2B5EF4-FFF2-40B4-BE49-F238E27FC236}">
                <a16:creationId xmlns:a16="http://schemas.microsoft.com/office/drawing/2014/main" id="{F6D1DD8D-A407-4BAB-BA21-E493875EF3A4}"/>
              </a:ext>
            </a:extLst>
          </p:cNvPr>
          <p:cNvSpPr>
            <a:spLocks xmlns:a="http://schemas.openxmlformats.org/drawingml/2006/main" noGrp="1"/>
          </p:cNvSpPr>
          <p:nvPr/>
        </p:nvSpPr>
        <p:spPr>
          <a:xfrm xmlns:a="http://schemas.openxmlformats.org/drawingml/2006/main">
            <a:off x="914400" y="3552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03fab7f30c7f451d"/>
              </a:rPr>
              <a:t>PyTorch 2.8 — Conv2d</a:t>
            </a:r>
          </a:p>
        </p:txBody>
      </p:sp>
      <p:sp>
        <p:nvSpPr>
          <p:cNvPr id="164" name="course-text">
            <a:extLst xmlns:a="http://schemas.openxmlformats.org/drawingml/2006/main">
              <a:ext uri="{FF2B5EF4-FFF2-40B4-BE49-F238E27FC236}">
                <a16:creationId xmlns:a16="http://schemas.microsoft.com/office/drawing/2014/main" id="{3C766088-DBD7-415A-B716-29CB6BBB7FF5}"/>
              </a:ext>
            </a:extLst>
          </p:cNvPr>
          <p:cNvSpPr>
            <a:spLocks xmlns:a="http://schemas.openxmlformats.org/drawingml/2006/main" noGrp="1"/>
          </p:cNvSpPr>
          <p:nvPr/>
        </p:nvSpPr>
        <p:spPr>
          <a:xfrm xmlns:a="http://schemas.openxmlformats.org/drawingml/2006/main">
            <a:off x="914400" y="41338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e9282214c9614eed"/>
              </a:rPr>
              <a:t>PyTorch 2.8 — CrossEntropyLoss</a:t>
            </a:r>
          </a:p>
        </p:txBody>
      </p:sp>
      <p:sp>
        <p:nvSpPr>
          <p:cNvPr id="165" name="course-text">
            <a:extLst xmlns:a="http://schemas.openxmlformats.org/drawingml/2006/main">
              <a:ext uri="{FF2B5EF4-FFF2-40B4-BE49-F238E27FC236}">
                <a16:creationId xmlns:a16="http://schemas.microsoft.com/office/drawing/2014/main" id="{C884F8C7-957E-4483-BEBE-68D41AF42E92}"/>
              </a:ext>
            </a:extLst>
          </p:cNvPr>
          <p:cNvSpPr>
            <a:spLocks xmlns:a="http://schemas.openxmlformats.org/drawingml/2006/main" noGrp="1"/>
          </p:cNvSpPr>
          <p:nvPr/>
        </p:nvSpPr>
        <p:spPr>
          <a:xfrm xmlns:a="http://schemas.openxmlformats.org/drawingml/2006/main">
            <a:off x="914400" y="47148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4e30e392f807438d"/>
              </a:rPr>
              <a:t>PyTorch 2.8 — MultiheadAttention</a:t>
            </a:r>
          </a:p>
        </p:txBody>
      </p:sp>
    </p:spTree>
    <p:extLst>
      <p:ext uri="{BB962C8B-B14F-4D97-AF65-F5344CB8AC3E}">
        <p14:creationId xmlns:p14="http://schemas.microsoft.com/office/powerpoint/2010/main" val="304421154"/>
      </p:ext>
    </p:extLst>
  </p:cSld>
</p:sld>
</file>

<file path=ppt/slides/slide13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f5899a015e4490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86b51aee664423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FF01BFD-505A-4226-9D01-4D4810605E6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134 / 135</a:t>
            </a:r>
          </a:p>
        </p:txBody>
      </p:sp>
      <p:sp>
        <p:nvSpPr>
          <p:cNvPr id="159" name="course-text">
            <a:extLst xmlns:a="http://schemas.openxmlformats.org/drawingml/2006/main">
              <a:ext uri="{FF2B5EF4-FFF2-40B4-BE49-F238E27FC236}">
                <a16:creationId xmlns:a16="http://schemas.microsoft.com/office/drawing/2014/main" id="{BE1E30C6-60BE-456D-B330-0964289631F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VOTRE CHECKLIST TECHNIQUE</a:t>
            </a:r>
          </a:p>
        </p:txBody>
      </p:sp>
      <p:sp>
        <p:nvSpPr>
          <p:cNvPr id="160" name="course-text">
            <a:extLst xmlns:a="http://schemas.openxmlformats.org/drawingml/2006/main">
              <a:ext uri="{FF2B5EF4-FFF2-40B4-BE49-F238E27FC236}">
                <a16:creationId xmlns:a16="http://schemas.microsoft.com/office/drawing/2014/main" id="{40B4A57E-6697-48D6-9F34-613D3CECA68F}"/>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Je peux dériver et contrôler le gradient d’un réseau à deux couches.</a:t>
            </a:r>
          </a:p>
        </p:txBody>
      </p:sp>
      <p:sp>
        <p:nvSpPr>
          <p:cNvPr id="161" name="course-text">
            <a:extLst xmlns:a="http://schemas.openxmlformats.org/drawingml/2006/main">
              <a:ext uri="{FF2B5EF4-FFF2-40B4-BE49-F238E27FC236}">
                <a16:creationId xmlns:a16="http://schemas.microsoft.com/office/drawing/2014/main" id="{F24FC048-F5BD-48E3-A921-974CF61E1124}"/>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Je peux calculer les formes, paramètres et champ réceptif d’un CNN.</a:t>
            </a:r>
          </a:p>
        </p:txBody>
      </p:sp>
      <p:sp>
        <p:nvSpPr>
          <p:cNvPr id="162" name="course-text">
            <a:extLst xmlns:a="http://schemas.openxmlformats.org/drawingml/2006/main">
              <a:ext uri="{FF2B5EF4-FFF2-40B4-BE49-F238E27FC236}">
                <a16:creationId xmlns:a16="http://schemas.microsoft.com/office/drawing/2014/main" id="{0C49BFED-E59B-49FA-BBFB-FC10F9D6DAF6}"/>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Je peux reconstruire une attention multi-têtes et son masque causal.</a:t>
            </a:r>
          </a:p>
        </p:txBody>
      </p:sp>
      <p:sp>
        <p:nvSpPr>
          <p:cNvPr id="163" name="course-text">
            <a:extLst xmlns:a="http://schemas.openxmlformats.org/drawingml/2006/main">
              <a:ext uri="{FF2B5EF4-FFF2-40B4-BE49-F238E27FC236}">
                <a16:creationId xmlns:a16="http://schemas.microsoft.com/office/drawing/2014/main" id="{4F9BC51D-54CE-4F16-8657-C78E727CF3B1}"/>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Je peux justifier un protocole de transfert et expliquer ses limites.</a:t>
            </a:r>
          </a:p>
        </p:txBody>
      </p:sp>
    </p:spTree>
    <p:extLst>
      <p:ext uri="{BB962C8B-B14F-4D97-AF65-F5344CB8AC3E}">
        <p14:creationId xmlns:p14="http://schemas.microsoft.com/office/powerpoint/2010/main" val="304421154"/>
      </p:ext>
    </p:extLst>
  </p:cSld>
</p:sld>
</file>

<file path=ppt/slides/slide135.xml><?xml version="1.0" encoding="utf-8"?>
<p:sld xmlns:p="http://schemas.openxmlformats.org/presentationml/2006/main">
  <p:cSld>
    <p:bg>
      <p:bgPr>
        <a:solidFill xmlns:a="http://schemas.openxmlformats.org/drawingml/2006/main">
          <a:srgbClr val="BF2E00"/>
        </a:solidFill>
      </p:bgPr>
    </p:bg>
    <p:spTree>
      <p:nvGrpSpPr>
        <p:cNvPr id="1" name=""/>
        <p:cNvGrpSpPr/>
        <p:nvPr/>
      </p:nvGrpSpPr>
      <p:grpSpPr>
        <a:xfrm xmlns:a="http://schemas.openxmlformats.org/drawingml/2006/main"/>
      </p:grpSpPr>
      <p:sp>
        <p:nvSpPr>
          <p:cNvPr id="754" name="Google Shape;754;p19">
            <a:extLst xmlns:a="http://schemas.openxmlformats.org/drawingml/2006/main">
              <a:ext uri="{FF2B5EF4-FFF2-40B4-BE49-F238E27FC236}">
                <a16:creationId xmlns:a16="http://schemas.microsoft.com/office/drawing/2014/main" id="{251F5DA7-C6BD-4DB9-B70B-3CEEA7B70898}"/>
              </a:ext>
            </a:extLst>
          </p:cNvPr>
          <p:cNvSpPr>
            <a:spLocks xmlns:a="http://schemas.openxmlformats.org/drawingml/2006/main" noGrp="1"/>
          </p:cNvSpPr>
          <p:nvPr/>
        </p:nvSpPr>
        <p:spPr>
          <a:xfrm xmlns:a="http://schemas.openxmlformats.org/drawingml/2006/main">
            <a:off x="952805" y="3124505"/>
            <a:ext cx="6477610" cy="152430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2000"/>
              <a:buFont typeface="Archivo Black"/>
              <a:buNone/>
            </a:pPr>
            <a:r>
              <a:rPr sz="12000" b="0" i="0" u="none" cap="none">
                <a:solidFill>
                  <a:srgbClr val="FFFFFF"/>
                </a:solidFill>
                <a:latin typeface="Archivo Black"/>
                <a:ea typeface="Archivo Black"/>
                <a:cs typeface="Archivo Black"/>
              </a:rPr>
              <a:t>MERCI</a:t>
            </a:r>
            <a:endParaRPr sz="12000" b="0" i="0" u="none" cap="none">
              <a:solidFill>
                <a:schemeClr val="dk1"/>
              </a:solidFill>
              <a:latin typeface="Calibri"/>
              <a:ea typeface="Calibri"/>
              <a:cs typeface="Calibri"/>
            </a:endParaRPr>
          </a:p>
        </p:txBody>
      </p:sp>
      <p:sp>
        <p:nvSpPr>
          <p:cNvPr id="755" name="Google Shape;755;p19">
            <a:extLst xmlns:a="http://schemas.openxmlformats.org/drawingml/2006/main">
              <a:ext uri="{FF2B5EF4-FFF2-40B4-BE49-F238E27FC236}">
                <a16:creationId xmlns:a16="http://schemas.microsoft.com/office/drawing/2014/main" id="{0FA19DA3-21D1-4C4F-8EFD-D66E7B53D276}"/>
              </a:ext>
            </a:extLst>
          </p:cNvPr>
          <p:cNvSpPr>
            <a:spLocks xmlns:a="http://schemas.openxmlformats.org/drawingml/2006/main" noGrp="1"/>
          </p:cNvSpPr>
          <p:nvPr/>
        </p:nvSpPr>
        <p:spPr>
          <a:xfrm xmlns:a="http://schemas.openxmlformats.org/drawingml/2006/main">
            <a:off x="952805" y="5219395"/>
            <a:ext cx="10287000" cy="1920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56" name="Google Shape;756;p19">
            <a:extLst xmlns:a="http://schemas.openxmlformats.org/drawingml/2006/main">
              <a:ext uri="{FF2B5EF4-FFF2-40B4-BE49-F238E27FC236}">
                <a16:creationId xmlns:a16="http://schemas.microsoft.com/office/drawing/2014/main" id="{307237C8-8A9E-4447-84BE-952F6927A52D}"/>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766" name="Google Shape;757;p19"/>
          <p:cNvPicPr>
            <a:picLocks xmlns:a="http://schemas.openxmlformats.org/drawingml/2006/main" noChangeAspect="1"/>
          </p:cNvPicPr>
          <p:nvPr/>
        </p:nvPicPr>
        <p:blipFill>
          <a:blip xmlns:r="http://schemas.openxmlformats.org/officeDocument/2006/relationships" xmlns:a="http://schemas.openxmlformats.org/drawingml/2006/main" r:embed="R8a237a7c68464b9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758" name="Google Shape;758;p19">
            <a:extLst xmlns:a="http://schemas.openxmlformats.org/drawingml/2006/main">
              <a:ext uri="{FF2B5EF4-FFF2-40B4-BE49-F238E27FC236}">
                <a16:creationId xmlns:a16="http://schemas.microsoft.com/office/drawing/2014/main" id="{D6558264-2C43-4F50-A387-7D28271EC887}"/>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768" name="Google Shape;759;p19"/>
          <p:cNvPicPr>
            <a:picLocks xmlns:a="http://schemas.openxmlformats.org/drawingml/2006/main" noChangeAspect="1"/>
          </p:cNvPicPr>
          <p:nvPr/>
        </p:nvPicPr>
        <p:blipFill>
          <a:blip xmlns:r="http://schemas.openxmlformats.org/officeDocument/2006/relationships" xmlns:a="http://schemas.openxmlformats.org/drawingml/2006/main" r:embed="R65670192c2954a8d">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761" name="course-text">
            <a:extLst xmlns:a="http://schemas.openxmlformats.org/drawingml/2006/main">
              <a:ext uri="{FF2B5EF4-FFF2-40B4-BE49-F238E27FC236}">
                <a16:creationId xmlns:a16="http://schemas.microsoft.com/office/drawing/2014/main" id="{792A07CB-4A8D-4579-8144-084DAD7B983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135 / 135</a:t>
            </a:r>
          </a:p>
        </p:txBody>
      </p:sp>
      <p:sp>
        <p:nvSpPr>
          <p:cNvPr id="762" name="course-text">
            <a:extLst xmlns:a="http://schemas.openxmlformats.org/drawingml/2006/main">
              <a:ext uri="{FF2B5EF4-FFF2-40B4-BE49-F238E27FC236}">
                <a16:creationId xmlns:a16="http://schemas.microsoft.com/office/drawing/2014/main" id="{2C99CD35-D119-40F6-A957-B7D29CF47553}"/>
              </a:ext>
            </a:extLst>
          </p:cNvPr>
          <p:cNvSpPr>
            <a:spLocks xmlns:a="http://schemas.openxmlformats.org/drawingml/2006/main" noGrp="1"/>
          </p:cNvSpPr>
          <p:nvPr/>
        </p:nvSpPr>
        <p:spPr>
          <a:xfrm xmlns:a="http://schemas.openxmlformats.org/drawingml/2006/main">
            <a:off x="952500" y="1905000"/>
            <a:ext cx="1019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FFFFFF"/>
                </a:solidFill>
                <a:latin typeface="DM Sans"/>
                <a:ea typeface="DM Sans"/>
                <a:cs typeface="DM Sans"/>
              </a:defRPr>
            </a:pPr>
            <a:r>
              <a:rPr sz="2400" b="0">
                <a:solidFill>
                  <a:srgbClr val="FFFFFF"/>
                </a:solidFill>
                <a:latin typeface="DM Sans"/>
                <a:ea typeface="DM Sans"/>
                <a:cs typeface="DM Sans"/>
              </a:rPr>
              <a:t>Questions, démonstrations et discussion</a:t>
            </a:r>
          </a:p>
        </p:txBody>
      </p:sp>
    </p:spTree>
    <p:extLst>
      <p:ext uri="{BB962C8B-B14F-4D97-AF65-F5344CB8AC3E}">
        <p14:creationId xmlns:p14="http://schemas.microsoft.com/office/powerpoint/2010/main" val="695351825"/>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135</ap:Slides>
  <ap:Notes>135</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Chrys NIONGOLO</dc:creator>
  <lastModifiedBy>Chrys NIONGOLO</lastModifiedBy>
  <dc:title>Deep Learning — CNN et Transformers — Master 2 IA</dc:title>
  <dcterms:created xsi:type="dcterms:W3CDTF">2026-09-27T13:00:14.2830000Z</dcterms:created>
  <dcterms:modified xsi:type="dcterms:W3CDTF">2026-09-27T13:00:14.2830000Z</dcterms:modified>
</coreProperties>
</file>